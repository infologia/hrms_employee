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Barlow 2 Bold" panose="020B0604020202020204" charset="0"/>
      <p:regular r:id="rId15"/>
    </p:embeddedFont>
    <p:embeddedFont>
      <p:font typeface="Montserrat Bold" panose="020B0604020202020204" charset="0"/>
      <p:regular r:id="rId16"/>
    </p:embeddedFont>
    <p:embeddedFont>
      <p:font typeface="Public Sans" panose="020B0604020202020204" charset="0"/>
      <p:regular r:id="rId17"/>
    </p:embeddedFont>
    <p:embeddedFont>
      <p:font typeface="Public Sans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8.png"/><Relationship Id="rId18" Type="http://schemas.openxmlformats.org/officeDocument/2006/relationships/image" Target="../media/image33.svg"/><Relationship Id="rId26" Type="http://schemas.openxmlformats.org/officeDocument/2006/relationships/image" Target="../media/image37.svg"/><Relationship Id="rId3" Type="http://schemas.openxmlformats.org/officeDocument/2006/relationships/image" Target="../media/image7.png"/><Relationship Id="rId21" Type="http://schemas.openxmlformats.org/officeDocument/2006/relationships/image" Target="../media/image34.png"/><Relationship Id="rId7" Type="http://schemas.openxmlformats.org/officeDocument/2006/relationships/image" Target="../media/image23.png"/><Relationship Id="rId12" Type="http://schemas.openxmlformats.org/officeDocument/2006/relationships/image" Target="../media/image27.jpeg"/><Relationship Id="rId17" Type="http://schemas.openxmlformats.org/officeDocument/2006/relationships/image" Target="../media/image32.png"/><Relationship Id="rId25" Type="http://schemas.openxmlformats.org/officeDocument/2006/relationships/image" Target="../media/image36.png"/><Relationship Id="rId2" Type="http://schemas.openxmlformats.org/officeDocument/2006/relationships/image" Target="../media/image20.jpeg"/><Relationship Id="rId16" Type="http://schemas.openxmlformats.org/officeDocument/2006/relationships/image" Target="../media/image31.svg"/><Relationship Id="rId20"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6.svg"/><Relationship Id="rId24" Type="http://schemas.openxmlformats.org/officeDocument/2006/relationships/image" Target="../media/image18.svg"/><Relationship Id="rId5" Type="http://schemas.openxmlformats.org/officeDocument/2006/relationships/image" Target="../media/image21.png"/><Relationship Id="rId15" Type="http://schemas.openxmlformats.org/officeDocument/2006/relationships/image" Target="../media/image30.png"/><Relationship Id="rId23" Type="http://schemas.openxmlformats.org/officeDocument/2006/relationships/image" Target="../media/image17.png"/><Relationship Id="rId28" Type="http://schemas.openxmlformats.org/officeDocument/2006/relationships/image" Target="../media/image39.svg"/><Relationship Id="rId10" Type="http://schemas.openxmlformats.org/officeDocument/2006/relationships/image" Target="../media/image25.png"/><Relationship Id="rId19" Type="http://schemas.openxmlformats.org/officeDocument/2006/relationships/image" Target="../media/image1.png"/><Relationship Id="rId4" Type="http://schemas.openxmlformats.org/officeDocument/2006/relationships/image" Target="../media/image8.svg"/><Relationship Id="rId9" Type="http://schemas.openxmlformats.org/officeDocument/2006/relationships/image" Target="../media/image11.png"/><Relationship Id="rId14" Type="http://schemas.openxmlformats.org/officeDocument/2006/relationships/image" Target="../media/image29.svg"/><Relationship Id="rId22" Type="http://schemas.openxmlformats.org/officeDocument/2006/relationships/image" Target="../media/image35.svg"/><Relationship Id="rId27" Type="http://schemas.openxmlformats.org/officeDocument/2006/relationships/image" Target="../media/image38.png"/></Relationships>
</file>

<file path=ppt/slides/_rels/slide3.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48.png"/><Relationship Id="rId18" Type="http://schemas.openxmlformats.org/officeDocument/2006/relationships/image" Target="../media/image53.svg"/><Relationship Id="rId3" Type="http://schemas.openxmlformats.org/officeDocument/2006/relationships/image" Target="../media/image41.png"/><Relationship Id="rId21" Type="http://schemas.openxmlformats.org/officeDocument/2006/relationships/image" Target="../media/image56.png"/><Relationship Id="rId7" Type="http://schemas.openxmlformats.org/officeDocument/2006/relationships/image" Target="../media/image1.png"/><Relationship Id="rId12" Type="http://schemas.openxmlformats.org/officeDocument/2006/relationships/image" Target="../media/image47.svg"/><Relationship Id="rId17" Type="http://schemas.openxmlformats.org/officeDocument/2006/relationships/image" Target="../media/image52.png"/><Relationship Id="rId2" Type="http://schemas.openxmlformats.org/officeDocument/2006/relationships/image" Target="../media/image40.jpeg"/><Relationship Id="rId16" Type="http://schemas.openxmlformats.org/officeDocument/2006/relationships/image" Target="../media/image51.svg"/><Relationship Id="rId20" Type="http://schemas.openxmlformats.org/officeDocument/2006/relationships/image" Target="../media/image55.svg"/><Relationship Id="rId1" Type="http://schemas.openxmlformats.org/officeDocument/2006/relationships/slideLayout" Target="../slideLayouts/slideLayout7.xml"/><Relationship Id="rId6" Type="http://schemas.openxmlformats.org/officeDocument/2006/relationships/image" Target="../media/image43.svg"/><Relationship Id="rId11" Type="http://schemas.openxmlformats.org/officeDocument/2006/relationships/image" Target="../media/image46.png"/><Relationship Id="rId24" Type="http://schemas.openxmlformats.org/officeDocument/2006/relationships/image" Target="../media/image59.svg"/><Relationship Id="rId5" Type="http://schemas.openxmlformats.org/officeDocument/2006/relationships/image" Target="../media/image21.png"/><Relationship Id="rId15" Type="http://schemas.openxmlformats.org/officeDocument/2006/relationships/image" Target="../media/image50.png"/><Relationship Id="rId23" Type="http://schemas.openxmlformats.org/officeDocument/2006/relationships/image" Target="../media/image58.png"/><Relationship Id="rId10" Type="http://schemas.openxmlformats.org/officeDocument/2006/relationships/image" Target="../media/image45.svg"/><Relationship Id="rId19" Type="http://schemas.openxmlformats.org/officeDocument/2006/relationships/image" Target="../media/image54.png"/><Relationship Id="rId4" Type="http://schemas.openxmlformats.org/officeDocument/2006/relationships/image" Target="../media/image42.svg"/><Relationship Id="rId9" Type="http://schemas.openxmlformats.org/officeDocument/2006/relationships/image" Target="../media/image17.png"/><Relationship Id="rId14" Type="http://schemas.openxmlformats.org/officeDocument/2006/relationships/image" Target="../media/image49.svg"/><Relationship Id="rId22" Type="http://schemas.openxmlformats.org/officeDocument/2006/relationships/image" Target="../media/image57.svg"/></Relationships>
</file>

<file path=ppt/slides/_rels/slide4.xml.rels><?xml version="1.0" encoding="UTF-8" standalone="yes"?>
<Relationships xmlns="http://schemas.openxmlformats.org/package/2006/relationships"><Relationship Id="rId13" Type="http://schemas.openxmlformats.org/officeDocument/2006/relationships/image" Target="../media/image24.svg"/><Relationship Id="rId18" Type="http://schemas.openxmlformats.org/officeDocument/2006/relationships/image" Target="../media/image17.png"/><Relationship Id="rId26" Type="http://schemas.openxmlformats.org/officeDocument/2006/relationships/image" Target="../media/image71.png"/><Relationship Id="rId3" Type="http://schemas.openxmlformats.org/officeDocument/2006/relationships/image" Target="../media/image30.png"/><Relationship Id="rId21" Type="http://schemas.openxmlformats.org/officeDocument/2006/relationships/image" Target="../media/image39.svg"/><Relationship Id="rId34" Type="http://schemas.openxmlformats.org/officeDocument/2006/relationships/image" Target="../media/image79.png"/><Relationship Id="rId7" Type="http://schemas.openxmlformats.org/officeDocument/2006/relationships/image" Target="../media/image60.svg"/><Relationship Id="rId12" Type="http://schemas.openxmlformats.org/officeDocument/2006/relationships/image" Target="../media/image23.png"/><Relationship Id="rId17" Type="http://schemas.openxmlformats.org/officeDocument/2006/relationships/image" Target="../media/image2.svg"/><Relationship Id="rId25" Type="http://schemas.openxmlformats.org/officeDocument/2006/relationships/image" Target="../media/image70.svg"/><Relationship Id="rId33" Type="http://schemas.openxmlformats.org/officeDocument/2006/relationships/image" Target="../media/image78.svg"/><Relationship Id="rId2" Type="http://schemas.openxmlformats.org/officeDocument/2006/relationships/image" Target="../media/image20.jpeg"/><Relationship Id="rId16" Type="http://schemas.openxmlformats.org/officeDocument/2006/relationships/image" Target="../media/image1.png"/><Relationship Id="rId20" Type="http://schemas.openxmlformats.org/officeDocument/2006/relationships/image" Target="../media/image38.png"/><Relationship Id="rId29" Type="http://schemas.openxmlformats.org/officeDocument/2006/relationships/image" Target="../media/image74.svg"/><Relationship Id="rId1" Type="http://schemas.openxmlformats.org/officeDocument/2006/relationships/slideLayout" Target="../slideLayouts/slideLayout7.xml"/><Relationship Id="rId6" Type="http://schemas.openxmlformats.org/officeDocument/2006/relationships/image" Target="../media/image33.svg"/><Relationship Id="rId11" Type="http://schemas.openxmlformats.org/officeDocument/2006/relationships/image" Target="../media/image64.svg"/><Relationship Id="rId24" Type="http://schemas.openxmlformats.org/officeDocument/2006/relationships/image" Target="../media/image69.png"/><Relationship Id="rId32" Type="http://schemas.openxmlformats.org/officeDocument/2006/relationships/image" Target="../media/image77.png"/><Relationship Id="rId5" Type="http://schemas.openxmlformats.org/officeDocument/2006/relationships/image" Target="../media/image32.png"/><Relationship Id="rId15" Type="http://schemas.openxmlformats.org/officeDocument/2006/relationships/image" Target="../media/image66.svg"/><Relationship Id="rId23" Type="http://schemas.openxmlformats.org/officeDocument/2006/relationships/image" Target="../media/image68.svg"/><Relationship Id="rId28" Type="http://schemas.openxmlformats.org/officeDocument/2006/relationships/image" Target="../media/image73.png"/><Relationship Id="rId10" Type="http://schemas.openxmlformats.org/officeDocument/2006/relationships/image" Target="../media/image63.png"/><Relationship Id="rId19" Type="http://schemas.openxmlformats.org/officeDocument/2006/relationships/image" Target="../media/image18.svg"/><Relationship Id="rId31" Type="http://schemas.openxmlformats.org/officeDocument/2006/relationships/image" Target="../media/image76.svg"/><Relationship Id="rId4" Type="http://schemas.openxmlformats.org/officeDocument/2006/relationships/image" Target="../media/image31.svg"/><Relationship Id="rId9" Type="http://schemas.openxmlformats.org/officeDocument/2006/relationships/image" Target="../media/image62.svg"/><Relationship Id="rId14" Type="http://schemas.openxmlformats.org/officeDocument/2006/relationships/image" Target="../media/image65.png"/><Relationship Id="rId22" Type="http://schemas.openxmlformats.org/officeDocument/2006/relationships/image" Target="../media/image67.png"/><Relationship Id="rId27" Type="http://schemas.openxmlformats.org/officeDocument/2006/relationships/image" Target="../media/image72.svg"/><Relationship Id="rId30" Type="http://schemas.openxmlformats.org/officeDocument/2006/relationships/image" Target="../media/image75.png"/><Relationship Id="rId35" Type="http://schemas.openxmlformats.org/officeDocument/2006/relationships/image" Target="../media/image80.svg"/><Relationship Id="rId8" Type="http://schemas.openxmlformats.org/officeDocument/2006/relationships/image" Target="../media/image61.png"/></Relationships>
</file>

<file path=ppt/slides/_rels/slide5.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17.png"/><Relationship Id="rId7" Type="http://schemas.openxmlformats.org/officeDocument/2006/relationships/image" Target="../media/image67.png"/><Relationship Id="rId2" Type="http://schemas.openxmlformats.org/officeDocument/2006/relationships/image" Target="../media/image81.jpeg"/><Relationship Id="rId1" Type="http://schemas.openxmlformats.org/officeDocument/2006/relationships/slideLayout" Target="../slideLayouts/slideLayout7.xml"/><Relationship Id="rId6" Type="http://schemas.openxmlformats.org/officeDocument/2006/relationships/image" Target="../media/image82.svg"/><Relationship Id="rId11" Type="http://schemas.openxmlformats.org/officeDocument/2006/relationships/image" Target="../media/image86.jpeg"/><Relationship Id="rId5" Type="http://schemas.openxmlformats.org/officeDocument/2006/relationships/image" Target="../media/image38.png"/><Relationship Id="rId10" Type="http://schemas.openxmlformats.org/officeDocument/2006/relationships/image" Target="../media/image85.svg"/><Relationship Id="rId4" Type="http://schemas.openxmlformats.org/officeDocument/2006/relationships/image" Target="../media/image45.svg"/><Relationship Id="rId9" Type="http://schemas.openxmlformats.org/officeDocument/2006/relationships/image" Target="../media/image84.png"/></Relationships>
</file>

<file path=ppt/slides/_rels/slide6.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17.png"/><Relationship Id="rId7" Type="http://schemas.openxmlformats.org/officeDocument/2006/relationships/image" Target="../media/image67.png"/><Relationship Id="rId2" Type="http://schemas.openxmlformats.org/officeDocument/2006/relationships/image" Target="../media/image81.jpeg"/><Relationship Id="rId1" Type="http://schemas.openxmlformats.org/officeDocument/2006/relationships/slideLayout" Target="../slideLayouts/slideLayout7.xml"/><Relationship Id="rId6" Type="http://schemas.openxmlformats.org/officeDocument/2006/relationships/image" Target="../media/image82.svg"/><Relationship Id="rId11" Type="http://schemas.openxmlformats.org/officeDocument/2006/relationships/image" Target="../media/image87.jpeg"/><Relationship Id="rId5" Type="http://schemas.openxmlformats.org/officeDocument/2006/relationships/image" Target="../media/image38.png"/><Relationship Id="rId10" Type="http://schemas.openxmlformats.org/officeDocument/2006/relationships/image" Target="../media/image85.svg"/><Relationship Id="rId4" Type="http://schemas.openxmlformats.org/officeDocument/2006/relationships/image" Target="../media/image45.svg"/><Relationship Id="rId9" Type="http://schemas.openxmlformats.org/officeDocument/2006/relationships/image" Target="../media/image84.png"/></Relationships>
</file>

<file path=ppt/slides/_rels/slide7.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17.png"/><Relationship Id="rId7" Type="http://schemas.openxmlformats.org/officeDocument/2006/relationships/image" Target="../media/image67.png"/><Relationship Id="rId2" Type="http://schemas.openxmlformats.org/officeDocument/2006/relationships/image" Target="../media/image81.jpeg"/><Relationship Id="rId1" Type="http://schemas.openxmlformats.org/officeDocument/2006/relationships/slideLayout" Target="../slideLayouts/slideLayout7.xml"/><Relationship Id="rId6" Type="http://schemas.openxmlformats.org/officeDocument/2006/relationships/image" Target="../media/image82.svg"/><Relationship Id="rId11" Type="http://schemas.openxmlformats.org/officeDocument/2006/relationships/image" Target="../media/image88.jpeg"/><Relationship Id="rId5" Type="http://schemas.openxmlformats.org/officeDocument/2006/relationships/image" Target="../media/image38.png"/><Relationship Id="rId10" Type="http://schemas.openxmlformats.org/officeDocument/2006/relationships/image" Target="../media/image85.svg"/><Relationship Id="rId4" Type="http://schemas.openxmlformats.org/officeDocument/2006/relationships/image" Target="../media/image45.svg"/><Relationship Id="rId9" Type="http://schemas.openxmlformats.org/officeDocument/2006/relationships/image" Target="../media/image84.png"/></Relationships>
</file>

<file path=ppt/slides/_rels/slide8.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17.png"/><Relationship Id="rId7" Type="http://schemas.openxmlformats.org/officeDocument/2006/relationships/image" Target="../media/image67.png"/><Relationship Id="rId2" Type="http://schemas.openxmlformats.org/officeDocument/2006/relationships/image" Target="../media/image81.jpeg"/><Relationship Id="rId1" Type="http://schemas.openxmlformats.org/officeDocument/2006/relationships/slideLayout" Target="../slideLayouts/slideLayout7.xml"/><Relationship Id="rId6" Type="http://schemas.openxmlformats.org/officeDocument/2006/relationships/image" Target="../media/image82.svg"/><Relationship Id="rId11" Type="http://schemas.openxmlformats.org/officeDocument/2006/relationships/image" Target="../media/image89.jpeg"/><Relationship Id="rId5" Type="http://schemas.openxmlformats.org/officeDocument/2006/relationships/image" Target="../media/image38.png"/><Relationship Id="rId10" Type="http://schemas.openxmlformats.org/officeDocument/2006/relationships/image" Target="../media/image85.svg"/><Relationship Id="rId4" Type="http://schemas.openxmlformats.org/officeDocument/2006/relationships/image" Target="../media/image45.svg"/><Relationship Id="rId9" Type="http://schemas.openxmlformats.org/officeDocument/2006/relationships/image" Target="../media/image84.png"/></Relationships>
</file>

<file path=ppt/slides/_rels/slide9.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17.png"/><Relationship Id="rId7" Type="http://schemas.openxmlformats.org/officeDocument/2006/relationships/image" Target="../media/image67.png"/><Relationship Id="rId2" Type="http://schemas.openxmlformats.org/officeDocument/2006/relationships/image" Target="../media/image81.jpeg"/><Relationship Id="rId1" Type="http://schemas.openxmlformats.org/officeDocument/2006/relationships/slideLayout" Target="../slideLayouts/slideLayout7.xml"/><Relationship Id="rId6" Type="http://schemas.openxmlformats.org/officeDocument/2006/relationships/image" Target="../media/image82.svg"/><Relationship Id="rId11" Type="http://schemas.openxmlformats.org/officeDocument/2006/relationships/image" Target="../media/image85.svg"/><Relationship Id="rId5" Type="http://schemas.openxmlformats.org/officeDocument/2006/relationships/image" Target="../media/image38.png"/><Relationship Id="rId10" Type="http://schemas.openxmlformats.org/officeDocument/2006/relationships/image" Target="../media/image84.png"/><Relationship Id="rId4" Type="http://schemas.openxmlformats.org/officeDocument/2006/relationships/image" Target="../media/image45.svg"/><Relationship Id="rId9" Type="http://schemas.openxmlformats.org/officeDocument/2006/relationships/image" Target="../media/image90.jpeg"/></Relationships>
</file>

<file path=ppt/slides/_rels/slide10.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35.svg"/><Relationship Id="rId18" Type="http://schemas.openxmlformats.org/officeDocument/2006/relationships/image" Target="../media/image103.png"/><Relationship Id="rId3" Type="http://schemas.openxmlformats.org/officeDocument/2006/relationships/image" Target="../media/image92.jpeg"/><Relationship Id="rId21" Type="http://schemas.openxmlformats.org/officeDocument/2006/relationships/image" Target="../media/image106.png"/><Relationship Id="rId7" Type="http://schemas.openxmlformats.org/officeDocument/2006/relationships/image" Target="../media/image96.svg"/><Relationship Id="rId12" Type="http://schemas.openxmlformats.org/officeDocument/2006/relationships/image" Target="../media/image34.png"/><Relationship Id="rId17" Type="http://schemas.openxmlformats.org/officeDocument/2006/relationships/image" Target="../media/image102.png"/><Relationship Id="rId2" Type="http://schemas.openxmlformats.org/officeDocument/2006/relationships/image" Target="../media/image91.jpeg"/><Relationship Id="rId16" Type="http://schemas.openxmlformats.org/officeDocument/2006/relationships/image" Target="../media/image101.jpeg"/><Relationship Id="rId20"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95.png"/><Relationship Id="rId11" Type="http://schemas.openxmlformats.org/officeDocument/2006/relationships/image" Target="../media/image66.svg"/><Relationship Id="rId5" Type="http://schemas.openxmlformats.org/officeDocument/2006/relationships/image" Target="../media/image94.svg"/><Relationship Id="rId15" Type="http://schemas.openxmlformats.org/officeDocument/2006/relationships/image" Target="../media/image100.png"/><Relationship Id="rId10" Type="http://schemas.openxmlformats.org/officeDocument/2006/relationships/image" Target="../media/image65.png"/><Relationship Id="rId19" Type="http://schemas.openxmlformats.org/officeDocument/2006/relationships/image" Target="../media/image104.png"/><Relationship Id="rId4" Type="http://schemas.openxmlformats.org/officeDocument/2006/relationships/image" Target="../media/image93.png"/><Relationship Id="rId9" Type="http://schemas.openxmlformats.org/officeDocument/2006/relationships/image" Target="../media/image98.svg"/><Relationship Id="rId14" Type="http://schemas.openxmlformats.org/officeDocument/2006/relationships/image" Target="../media/image99.jpeg"/><Relationship Id="rId22" Type="http://schemas.openxmlformats.org/officeDocument/2006/relationships/image" Target="../media/image107.jpeg"/></Relationships>
</file>

<file path=ppt/slides/_rels/slide11.xml.rels><?xml version="1.0" encoding="UTF-8" standalone="yes"?>
<Relationships xmlns="http://schemas.openxmlformats.org/package/2006/relationships"><Relationship Id="rId8" Type="http://schemas.openxmlformats.org/officeDocument/2006/relationships/image" Target="../media/image109.svg"/><Relationship Id="rId13" Type="http://schemas.openxmlformats.org/officeDocument/2006/relationships/image" Target="../media/image114.png"/><Relationship Id="rId18" Type="http://schemas.openxmlformats.org/officeDocument/2006/relationships/image" Target="../media/image119.svg"/><Relationship Id="rId3" Type="http://schemas.openxmlformats.org/officeDocument/2006/relationships/image" Target="../media/image1.png"/><Relationship Id="rId21" Type="http://schemas.openxmlformats.org/officeDocument/2006/relationships/image" Target="../media/image122.png"/><Relationship Id="rId7" Type="http://schemas.openxmlformats.org/officeDocument/2006/relationships/image" Target="../media/image108.png"/><Relationship Id="rId12" Type="http://schemas.openxmlformats.org/officeDocument/2006/relationships/image" Target="../media/image113.svg"/><Relationship Id="rId17" Type="http://schemas.openxmlformats.org/officeDocument/2006/relationships/image" Target="../media/image118.png"/><Relationship Id="rId2" Type="http://schemas.openxmlformats.org/officeDocument/2006/relationships/image" Target="../media/image91.jpeg"/><Relationship Id="rId16" Type="http://schemas.openxmlformats.org/officeDocument/2006/relationships/image" Target="../media/image117.svg"/><Relationship Id="rId20" Type="http://schemas.openxmlformats.org/officeDocument/2006/relationships/image" Target="../media/image121.svg"/><Relationship Id="rId1" Type="http://schemas.openxmlformats.org/officeDocument/2006/relationships/slideLayout" Target="../slideLayouts/slideLayout7.xml"/><Relationship Id="rId6" Type="http://schemas.openxmlformats.org/officeDocument/2006/relationships/image" Target="../media/image98.svg"/><Relationship Id="rId11" Type="http://schemas.openxmlformats.org/officeDocument/2006/relationships/image" Target="../media/image112.png"/><Relationship Id="rId24" Type="http://schemas.openxmlformats.org/officeDocument/2006/relationships/image" Target="../media/image125.svg"/><Relationship Id="rId5" Type="http://schemas.openxmlformats.org/officeDocument/2006/relationships/image" Target="../media/image97.png"/><Relationship Id="rId15" Type="http://schemas.openxmlformats.org/officeDocument/2006/relationships/image" Target="../media/image116.png"/><Relationship Id="rId23" Type="http://schemas.openxmlformats.org/officeDocument/2006/relationships/image" Target="../media/image124.png"/><Relationship Id="rId10" Type="http://schemas.openxmlformats.org/officeDocument/2006/relationships/image" Target="../media/image111.svg"/><Relationship Id="rId19" Type="http://schemas.openxmlformats.org/officeDocument/2006/relationships/image" Target="../media/image120.png"/><Relationship Id="rId4" Type="http://schemas.openxmlformats.org/officeDocument/2006/relationships/image" Target="../media/image2.svg"/><Relationship Id="rId9" Type="http://schemas.openxmlformats.org/officeDocument/2006/relationships/image" Target="../media/image110.png"/><Relationship Id="rId14" Type="http://schemas.openxmlformats.org/officeDocument/2006/relationships/image" Target="../media/image115.svg"/><Relationship Id="rId22" Type="http://schemas.openxmlformats.org/officeDocument/2006/relationships/image" Target="../media/image123.svg"/></Relationships>
</file>

<file path=ppt/slides/_rels/slide12.xml.rels><?xml version="1.0" encoding="UTF-8" standalone="yes"?>
<Relationships xmlns="http://schemas.openxmlformats.org/package/2006/relationships"><Relationship Id="rId13" Type="http://schemas.openxmlformats.org/officeDocument/2006/relationships/image" Target="../media/image132.png"/><Relationship Id="rId18" Type="http://schemas.openxmlformats.org/officeDocument/2006/relationships/image" Target="../media/image137.svg"/><Relationship Id="rId26" Type="http://schemas.openxmlformats.org/officeDocument/2006/relationships/image" Target="../media/image35.svg"/><Relationship Id="rId39" Type="http://schemas.openxmlformats.org/officeDocument/2006/relationships/image" Target="../media/image148.png"/><Relationship Id="rId21" Type="http://schemas.openxmlformats.org/officeDocument/2006/relationships/image" Target="../media/image95.png"/><Relationship Id="rId34" Type="http://schemas.openxmlformats.org/officeDocument/2006/relationships/image" Target="../media/image113.svg"/><Relationship Id="rId42" Type="http://schemas.openxmlformats.org/officeDocument/2006/relationships/image" Target="../media/image151.svg"/><Relationship Id="rId7" Type="http://schemas.openxmlformats.org/officeDocument/2006/relationships/image" Target="../media/image129.png"/><Relationship Id="rId2" Type="http://schemas.openxmlformats.org/officeDocument/2006/relationships/image" Target="../media/image20.jpeg"/><Relationship Id="rId16" Type="http://schemas.openxmlformats.org/officeDocument/2006/relationships/image" Target="../media/image135.svg"/><Relationship Id="rId20" Type="http://schemas.openxmlformats.org/officeDocument/2006/relationships/image" Target="../media/image139.svg"/><Relationship Id="rId29" Type="http://schemas.openxmlformats.org/officeDocument/2006/relationships/image" Target="../media/image142.png"/><Relationship Id="rId41" Type="http://schemas.openxmlformats.org/officeDocument/2006/relationships/image" Target="../media/image150.png"/><Relationship Id="rId1" Type="http://schemas.openxmlformats.org/officeDocument/2006/relationships/slideLayout" Target="../slideLayouts/slideLayout7.xml"/><Relationship Id="rId6" Type="http://schemas.openxmlformats.org/officeDocument/2006/relationships/image" Target="../media/image128.svg"/><Relationship Id="rId11" Type="http://schemas.openxmlformats.org/officeDocument/2006/relationships/image" Target="../media/image131.jpeg"/><Relationship Id="rId24" Type="http://schemas.openxmlformats.org/officeDocument/2006/relationships/image" Target="../media/image141.svg"/><Relationship Id="rId32" Type="http://schemas.openxmlformats.org/officeDocument/2006/relationships/image" Target="../media/image145.svg"/><Relationship Id="rId37" Type="http://schemas.openxmlformats.org/officeDocument/2006/relationships/image" Target="../media/image146.png"/><Relationship Id="rId40" Type="http://schemas.openxmlformats.org/officeDocument/2006/relationships/image" Target="../media/image149.svg"/><Relationship Id="rId5" Type="http://schemas.openxmlformats.org/officeDocument/2006/relationships/image" Target="../media/image7.png"/><Relationship Id="rId15" Type="http://schemas.openxmlformats.org/officeDocument/2006/relationships/image" Target="../media/image134.png"/><Relationship Id="rId23" Type="http://schemas.openxmlformats.org/officeDocument/2006/relationships/image" Target="../media/image140.png"/><Relationship Id="rId28" Type="http://schemas.openxmlformats.org/officeDocument/2006/relationships/image" Target="../media/image18.svg"/><Relationship Id="rId36" Type="http://schemas.openxmlformats.org/officeDocument/2006/relationships/image" Target="../media/image115.svg"/><Relationship Id="rId10" Type="http://schemas.openxmlformats.org/officeDocument/2006/relationships/image" Target="../media/image78.svg"/><Relationship Id="rId19" Type="http://schemas.openxmlformats.org/officeDocument/2006/relationships/image" Target="../media/image138.png"/><Relationship Id="rId31" Type="http://schemas.openxmlformats.org/officeDocument/2006/relationships/image" Target="../media/image144.png"/><Relationship Id="rId44" Type="http://schemas.openxmlformats.org/officeDocument/2006/relationships/image" Target="../media/image153.svg"/><Relationship Id="rId4" Type="http://schemas.openxmlformats.org/officeDocument/2006/relationships/image" Target="../media/image127.svg"/><Relationship Id="rId9" Type="http://schemas.openxmlformats.org/officeDocument/2006/relationships/image" Target="../media/image77.png"/><Relationship Id="rId14" Type="http://schemas.openxmlformats.org/officeDocument/2006/relationships/image" Target="../media/image133.svg"/><Relationship Id="rId22" Type="http://schemas.openxmlformats.org/officeDocument/2006/relationships/image" Target="../media/image96.svg"/><Relationship Id="rId27" Type="http://schemas.openxmlformats.org/officeDocument/2006/relationships/image" Target="../media/image17.png"/><Relationship Id="rId30" Type="http://schemas.openxmlformats.org/officeDocument/2006/relationships/image" Target="../media/image143.svg"/><Relationship Id="rId35" Type="http://schemas.openxmlformats.org/officeDocument/2006/relationships/image" Target="../media/image114.png"/><Relationship Id="rId43" Type="http://schemas.openxmlformats.org/officeDocument/2006/relationships/image" Target="../media/image152.png"/><Relationship Id="rId8" Type="http://schemas.openxmlformats.org/officeDocument/2006/relationships/image" Target="../media/image130.svg"/><Relationship Id="rId3" Type="http://schemas.openxmlformats.org/officeDocument/2006/relationships/image" Target="../media/image126.png"/><Relationship Id="rId12" Type="http://schemas.openxmlformats.org/officeDocument/2006/relationships/image" Target="../media/image11.png"/><Relationship Id="rId17" Type="http://schemas.openxmlformats.org/officeDocument/2006/relationships/image" Target="../media/image136.png"/><Relationship Id="rId25" Type="http://schemas.openxmlformats.org/officeDocument/2006/relationships/image" Target="../media/image34.png"/><Relationship Id="rId33" Type="http://schemas.openxmlformats.org/officeDocument/2006/relationships/image" Target="../media/image112.png"/><Relationship Id="rId38" Type="http://schemas.openxmlformats.org/officeDocument/2006/relationships/image" Target="../media/image147.svg"/></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11.png"/><Relationship Id="rId18" Type="http://schemas.openxmlformats.org/officeDocument/2006/relationships/image" Target="../media/image160.svg"/><Relationship Id="rId26" Type="http://schemas.openxmlformats.org/officeDocument/2006/relationships/image" Target="../media/image168.svg"/><Relationship Id="rId3" Type="http://schemas.openxmlformats.org/officeDocument/2006/relationships/image" Target="../media/image5.png"/><Relationship Id="rId21" Type="http://schemas.openxmlformats.org/officeDocument/2006/relationships/image" Target="../media/image163.png"/><Relationship Id="rId7" Type="http://schemas.openxmlformats.org/officeDocument/2006/relationships/image" Target="../media/image32.png"/><Relationship Id="rId12" Type="http://schemas.openxmlformats.org/officeDocument/2006/relationships/image" Target="../media/image10.svg"/><Relationship Id="rId17" Type="http://schemas.openxmlformats.org/officeDocument/2006/relationships/image" Target="../media/image159.png"/><Relationship Id="rId25" Type="http://schemas.openxmlformats.org/officeDocument/2006/relationships/image" Target="../media/image167.png"/><Relationship Id="rId2" Type="http://schemas.openxmlformats.org/officeDocument/2006/relationships/image" Target="../media/image20.jpeg"/><Relationship Id="rId16" Type="http://schemas.openxmlformats.org/officeDocument/2006/relationships/image" Target="../media/image158.svg"/><Relationship Id="rId20" Type="http://schemas.openxmlformats.org/officeDocument/2006/relationships/image" Target="../media/image162.svg"/><Relationship Id="rId29"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5.svg"/><Relationship Id="rId11" Type="http://schemas.openxmlformats.org/officeDocument/2006/relationships/image" Target="../media/image9.png"/><Relationship Id="rId24" Type="http://schemas.openxmlformats.org/officeDocument/2006/relationships/image" Target="../media/image166.svg"/><Relationship Id="rId5" Type="http://schemas.openxmlformats.org/officeDocument/2006/relationships/image" Target="../media/image154.png"/><Relationship Id="rId15" Type="http://schemas.openxmlformats.org/officeDocument/2006/relationships/image" Target="../media/image157.png"/><Relationship Id="rId23" Type="http://schemas.openxmlformats.org/officeDocument/2006/relationships/image" Target="../media/image165.png"/><Relationship Id="rId28" Type="http://schemas.openxmlformats.org/officeDocument/2006/relationships/image" Target="../media/image170.svg"/><Relationship Id="rId10" Type="http://schemas.openxmlformats.org/officeDocument/2006/relationships/image" Target="../media/image8.svg"/><Relationship Id="rId19" Type="http://schemas.openxmlformats.org/officeDocument/2006/relationships/image" Target="../media/image161.png"/><Relationship Id="rId31" Type="http://schemas.openxmlformats.org/officeDocument/2006/relationships/image" Target="../media/image171.png"/><Relationship Id="rId4" Type="http://schemas.openxmlformats.org/officeDocument/2006/relationships/image" Target="../media/image6.svg"/><Relationship Id="rId9" Type="http://schemas.openxmlformats.org/officeDocument/2006/relationships/image" Target="../media/image7.png"/><Relationship Id="rId14" Type="http://schemas.openxmlformats.org/officeDocument/2006/relationships/image" Target="../media/image156.jpeg"/><Relationship Id="rId22" Type="http://schemas.openxmlformats.org/officeDocument/2006/relationships/image" Target="../media/image164.svg"/><Relationship Id="rId27" Type="http://schemas.openxmlformats.org/officeDocument/2006/relationships/image" Target="../media/image169.png"/><Relationship Id="rId30"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6011" y="4395746"/>
            <a:ext cx="3859024" cy="3342880"/>
          </a:xfrm>
          <a:custGeom>
            <a:avLst/>
            <a:gdLst/>
            <a:ahLst/>
            <a:cxnLst/>
            <a:rect l="l" t="t" r="r" b="b"/>
            <a:pathLst>
              <a:path w="3859024" h="3342880">
                <a:moveTo>
                  <a:pt x="0" y="0"/>
                </a:moveTo>
                <a:lnTo>
                  <a:pt x="3859024" y="0"/>
                </a:lnTo>
                <a:lnTo>
                  <a:pt x="3859024" y="3342880"/>
                </a:lnTo>
                <a:lnTo>
                  <a:pt x="0" y="3342880"/>
                </a:lnTo>
                <a:lnTo>
                  <a:pt x="0" y="0"/>
                </a:lnTo>
                <a:close/>
              </a:path>
            </a:pathLst>
          </a:custGeom>
          <a:blipFill>
            <a:blip r:embed="rId2">
              <a:alphaModFix amt="5000"/>
              <a:extLst>
                <a:ext uri="{96DAC541-7B7A-43D3-8B79-37D633B846F1}">
                  <asvg:svgBlip xmlns:asvg="http://schemas.microsoft.com/office/drawing/2016/SVG/main" r:embed="rId3"/>
                </a:ext>
              </a:extLst>
            </a:blip>
            <a:stretch>
              <a:fillRect l="-99" r="-99"/>
            </a:stretch>
          </a:blipFill>
        </p:spPr>
      </p:sp>
      <p:sp>
        <p:nvSpPr>
          <p:cNvPr id="3" name="Freeform 3"/>
          <p:cNvSpPr/>
          <p:nvPr/>
        </p:nvSpPr>
        <p:spPr>
          <a:xfrm>
            <a:off x="10575138" y="1722110"/>
            <a:ext cx="9932147" cy="9355535"/>
          </a:xfrm>
          <a:custGeom>
            <a:avLst/>
            <a:gdLst/>
            <a:ahLst/>
            <a:cxnLst/>
            <a:rect l="l" t="t" r="r" b="b"/>
            <a:pathLst>
              <a:path w="9932147" h="9355535">
                <a:moveTo>
                  <a:pt x="0" y="0"/>
                </a:moveTo>
                <a:lnTo>
                  <a:pt x="9932147" y="0"/>
                </a:lnTo>
                <a:lnTo>
                  <a:pt x="9932147" y="9355535"/>
                </a:lnTo>
                <a:lnTo>
                  <a:pt x="0" y="93555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153652" y="-3704493"/>
            <a:ext cx="8498911" cy="5095555"/>
          </a:xfrm>
          <a:custGeom>
            <a:avLst/>
            <a:gdLst/>
            <a:ahLst/>
            <a:cxnLst/>
            <a:rect l="l" t="t" r="r" b="b"/>
            <a:pathLst>
              <a:path w="8498911" h="5095555">
                <a:moveTo>
                  <a:pt x="0" y="0"/>
                </a:moveTo>
                <a:lnTo>
                  <a:pt x="8498911" y="0"/>
                </a:lnTo>
                <a:lnTo>
                  <a:pt x="8498911" y="5095555"/>
                </a:lnTo>
                <a:lnTo>
                  <a:pt x="0" y="50955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022296" y="6506752"/>
            <a:ext cx="8498911" cy="5095555"/>
          </a:xfrm>
          <a:custGeom>
            <a:avLst/>
            <a:gdLst/>
            <a:ahLst/>
            <a:cxnLst/>
            <a:rect l="l" t="t" r="r" b="b"/>
            <a:pathLst>
              <a:path w="8498911" h="5095555">
                <a:moveTo>
                  <a:pt x="0" y="0"/>
                </a:moveTo>
                <a:lnTo>
                  <a:pt x="8498911" y="0"/>
                </a:lnTo>
                <a:lnTo>
                  <a:pt x="8498911" y="5095555"/>
                </a:lnTo>
                <a:lnTo>
                  <a:pt x="0" y="50955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0957716" y="-1441536"/>
            <a:ext cx="10378556" cy="9641361"/>
          </a:xfrm>
          <a:custGeom>
            <a:avLst/>
            <a:gdLst/>
            <a:ahLst/>
            <a:cxnLst/>
            <a:rect l="l" t="t" r="r" b="b"/>
            <a:pathLst>
              <a:path w="10378556" h="9641361">
                <a:moveTo>
                  <a:pt x="0" y="0"/>
                </a:moveTo>
                <a:lnTo>
                  <a:pt x="10378556" y="0"/>
                </a:lnTo>
                <a:lnTo>
                  <a:pt x="10378556" y="9641361"/>
                </a:lnTo>
                <a:lnTo>
                  <a:pt x="0" y="964136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832569" y="8409909"/>
            <a:ext cx="12869033" cy="6384796"/>
          </a:xfrm>
          <a:custGeom>
            <a:avLst/>
            <a:gdLst/>
            <a:ahLst/>
            <a:cxnLst/>
            <a:rect l="l" t="t" r="r" b="b"/>
            <a:pathLst>
              <a:path w="12869033" h="6384796">
                <a:moveTo>
                  <a:pt x="0" y="0"/>
                </a:moveTo>
                <a:lnTo>
                  <a:pt x="12869033" y="0"/>
                </a:lnTo>
                <a:lnTo>
                  <a:pt x="12869033" y="6384796"/>
                </a:lnTo>
                <a:lnTo>
                  <a:pt x="0" y="63847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3600603" y="-4681705"/>
            <a:ext cx="12869033" cy="6384796"/>
          </a:xfrm>
          <a:custGeom>
            <a:avLst/>
            <a:gdLst/>
            <a:ahLst/>
            <a:cxnLst/>
            <a:rect l="l" t="t" r="r" b="b"/>
            <a:pathLst>
              <a:path w="12869033" h="6384796">
                <a:moveTo>
                  <a:pt x="0" y="0"/>
                </a:moveTo>
                <a:lnTo>
                  <a:pt x="12869033" y="0"/>
                </a:lnTo>
                <a:lnTo>
                  <a:pt x="12869033" y="6384796"/>
                </a:lnTo>
                <a:lnTo>
                  <a:pt x="0" y="63847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9" name="Group 9"/>
          <p:cNvGrpSpPr/>
          <p:nvPr/>
        </p:nvGrpSpPr>
        <p:grpSpPr>
          <a:xfrm rot="3827403">
            <a:off x="9865038" y="4686545"/>
            <a:ext cx="6279545" cy="1610757"/>
            <a:chOff x="0" y="0"/>
            <a:chExt cx="8372727" cy="2147676"/>
          </a:xfrm>
        </p:grpSpPr>
        <p:sp>
          <p:nvSpPr>
            <p:cNvPr id="10" name="Freeform 10"/>
            <p:cNvSpPr/>
            <p:nvPr/>
          </p:nvSpPr>
          <p:spPr>
            <a:xfrm>
              <a:off x="0" y="0"/>
              <a:ext cx="8372729" cy="2147697"/>
            </a:xfrm>
            <a:custGeom>
              <a:avLst/>
              <a:gdLst/>
              <a:ahLst/>
              <a:cxnLst/>
              <a:rect l="l" t="t" r="r" b="b"/>
              <a:pathLst>
                <a:path w="8372729" h="2147697">
                  <a:moveTo>
                    <a:pt x="0" y="0"/>
                  </a:moveTo>
                  <a:lnTo>
                    <a:pt x="8372729" y="0"/>
                  </a:lnTo>
                  <a:lnTo>
                    <a:pt x="8372729" y="2147697"/>
                  </a:lnTo>
                  <a:lnTo>
                    <a:pt x="0" y="2147697"/>
                  </a:lnTo>
                  <a:lnTo>
                    <a:pt x="0" y="0"/>
                  </a:lnTo>
                  <a:close/>
                </a:path>
              </a:pathLst>
            </a:custGeom>
            <a:blipFill>
              <a:blip r:embed="rId12">
                <a:alphaModFix amt="35000"/>
              </a:blip>
              <a:stretch>
                <a:fillRect t="-1147" b="-1146"/>
              </a:stretch>
            </a:blipFill>
          </p:spPr>
        </p:sp>
      </p:grpSp>
      <p:grpSp>
        <p:nvGrpSpPr>
          <p:cNvPr id="11" name="Group 11"/>
          <p:cNvGrpSpPr/>
          <p:nvPr/>
        </p:nvGrpSpPr>
        <p:grpSpPr>
          <a:xfrm>
            <a:off x="11176976" y="-1421439"/>
            <a:ext cx="11218872" cy="9921817"/>
            <a:chOff x="0" y="0"/>
            <a:chExt cx="14958496" cy="13229089"/>
          </a:xfrm>
        </p:grpSpPr>
        <p:sp>
          <p:nvSpPr>
            <p:cNvPr id="12" name="Freeform 12"/>
            <p:cNvSpPr/>
            <p:nvPr/>
          </p:nvSpPr>
          <p:spPr>
            <a:xfrm>
              <a:off x="99028" y="63500"/>
              <a:ext cx="13299885" cy="11641582"/>
            </a:xfrm>
            <a:custGeom>
              <a:avLst/>
              <a:gdLst/>
              <a:ahLst/>
              <a:cxnLst/>
              <a:rect l="l" t="t" r="r" b="b"/>
              <a:pathLst>
                <a:path w="13299885" h="11641582">
                  <a:moveTo>
                    <a:pt x="13193300" y="6216015"/>
                  </a:moveTo>
                  <a:lnTo>
                    <a:pt x="10266585" y="11246358"/>
                  </a:lnTo>
                  <a:cubicBezTo>
                    <a:pt x="10124218" y="11490960"/>
                    <a:pt x="9862598" y="11641582"/>
                    <a:pt x="9579515" y="11641582"/>
                  </a:cubicBezTo>
                  <a:lnTo>
                    <a:pt x="3720497" y="11641582"/>
                  </a:lnTo>
                  <a:cubicBezTo>
                    <a:pt x="3437414" y="11641582"/>
                    <a:pt x="3175794" y="11491087"/>
                    <a:pt x="3033427" y="11246358"/>
                  </a:cubicBezTo>
                  <a:lnTo>
                    <a:pt x="106585" y="6216015"/>
                  </a:lnTo>
                  <a:cubicBezTo>
                    <a:pt x="-35528" y="5971794"/>
                    <a:pt x="-35528" y="5669915"/>
                    <a:pt x="106585" y="5425694"/>
                  </a:cubicBezTo>
                  <a:lnTo>
                    <a:pt x="3033427" y="395224"/>
                  </a:lnTo>
                  <a:cubicBezTo>
                    <a:pt x="3175794" y="150495"/>
                    <a:pt x="3437414" y="0"/>
                    <a:pt x="3720497" y="0"/>
                  </a:cubicBezTo>
                  <a:lnTo>
                    <a:pt x="9579388" y="0"/>
                  </a:lnTo>
                  <a:cubicBezTo>
                    <a:pt x="9862471" y="0"/>
                    <a:pt x="10124091" y="150495"/>
                    <a:pt x="10266458" y="395224"/>
                  </a:cubicBezTo>
                  <a:lnTo>
                    <a:pt x="13193300" y="5425694"/>
                  </a:lnTo>
                  <a:cubicBezTo>
                    <a:pt x="13335414" y="5669915"/>
                    <a:pt x="13335414" y="5971794"/>
                    <a:pt x="13193300" y="6216015"/>
                  </a:cubicBezTo>
                  <a:close/>
                </a:path>
              </a:pathLst>
            </a:custGeom>
            <a:blipFill>
              <a:blip r:embed="rId13"/>
              <a:stretch>
                <a:fillRect l="-19048" t="-545" r="-30029" b="-13091"/>
              </a:stretch>
            </a:blipFill>
          </p:spPr>
        </p:sp>
        <p:sp>
          <p:nvSpPr>
            <p:cNvPr id="13" name="Freeform 13"/>
            <p:cNvSpPr/>
            <p:nvPr/>
          </p:nvSpPr>
          <p:spPr>
            <a:xfrm>
              <a:off x="35592" y="0"/>
              <a:ext cx="13426885" cy="11768582"/>
            </a:xfrm>
            <a:custGeom>
              <a:avLst/>
              <a:gdLst/>
              <a:ahLst/>
              <a:cxnLst/>
              <a:rect l="l" t="t" r="r" b="b"/>
              <a:pathLst>
                <a:path w="13426885" h="11768582">
                  <a:moveTo>
                    <a:pt x="13311727" y="6311392"/>
                  </a:moveTo>
                  <a:lnTo>
                    <a:pt x="10384885" y="11341862"/>
                  </a:lnTo>
                  <a:lnTo>
                    <a:pt x="10330021" y="11309985"/>
                  </a:lnTo>
                  <a:lnTo>
                    <a:pt x="10384885" y="11341862"/>
                  </a:lnTo>
                  <a:cubicBezTo>
                    <a:pt x="10231215" y="11606022"/>
                    <a:pt x="9948513" y="11768582"/>
                    <a:pt x="9642824" y="11768582"/>
                  </a:cubicBezTo>
                  <a:lnTo>
                    <a:pt x="9642824" y="11705082"/>
                  </a:lnTo>
                  <a:lnTo>
                    <a:pt x="9642824" y="11768582"/>
                  </a:lnTo>
                  <a:lnTo>
                    <a:pt x="3783933" y="11768582"/>
                  </a:lnTo>
                  <a:lnTo>
                    <a:pt x="3783933" y="11705082"/>
                  </a:lnTo>
                  <a:lnTo>
                    <a:pt x="3783933" y="11768582"/>
                  </a:lnTo>
                  <a:cubicBezTo>
                    <a:pt x="3478244" y="11768582"/>
                    <a:pt x="3195669" y="11606022"/>
                    <a:pt x="3041872" y="11341862"/>
                  </a:cubicBezTo>
                  <a:lnTo>
                    <a:pt x="3096736" y="11309985"/>
                  </a:lnTo>
                  <a:lnTo>
                    <a:pt x="3041872" y="11341862"/>
                  </a:lnTo>
                  <a:lnTo>
                    <a:pt x="115157" y="6311392"/>
                  </a:lnTo>
                  <a:cubicBezTo>
                    <a:pt x="-38386" y="6047359"/>
                    <a:pt x="-38386" y="5721223"/>
                    <a:pt x="115157" y="5457190"/>
                  </a:cubicBezTo>
                  <a:lnTo>
                    <a:pt x="3041999" y="426720"/>
                  </a:lnTo>
                  <a:lnTo>
                    <a:pt x="3096863" y="458597"/>
                  </a:lnTo>
                  <a:lnTo>
                    <a:pt x="3041999" y="426720"/>
                  </a:lnTo>
                  <a:cubicBezTo>
                    <a:pt x="3195669" y="162560"/>
                    <a:pt x="3478244" y="0"/>
                    <a:pt x="3783933" y="0"/>
                  </a:cubicBezTo>
                  <a:lnTo>
                    <a:pt x="3783933" y="63500"/>
                  </a:lnTo>
                  <a:lnTo>
                    <a:pt x="3783933" y="0"/>
                  </a:lnTo>
                  <a:lnTo>
                    <a:pt x="9642824" y="0"/>
                  </a:lnTo>
                  <a:lnTo>
                    <a:pt x="9642824" y="63500"/>
                  </a:lnTo>
                  <a:lnTo>
                    <a:pt x="9642824" y="0"/>
                  </a:lnTo>
                  <a:cubicBezTo>
                    <a:pt x="9948513" y="0"/>
                    <a:pt x="10231088" y="162560"/>
                    <a:pt x="10384885" y="426720"/>
                  </a:cubicBezTo>
                  <a:lnTo>
                    <a:pt x="10330021" y="458597"/>
                  </a:lnTo>
                  <a:lnTo>
                    <a:pt x="10384885" y="426720"/>
                  </a:lnTo>
                  <a:lnTo>
                    <a:pt x="13311727" y="5457190"/>
                  </a:lnTo>
                  <a:cubicBezTo>
                    <a:pt x="13465271" y="5721223"/>
                    <a:pt x="13465271" y="6047359"/>
                    <a:pt x="13311727" y="6311392"/>
                  </a:cubicBezTo>
                  <a:moveTo>
                    <a:pt x="13202000" y="6247511"/>
                  </a:moveTo>
                  <a:lnTo>
                    <a:pt x="13256863" y="6279388"/>
                  </a:lnTo>
                  <a:lnTo>
                    <a:pt x="13202000" y="6247511"/>
                  </a:lnTo>
                  <a:cubicBezTo>
                    <a:pt x="13332682" y="6022975"/>
                    <a:pt x="13332682" y="5745607"/>
                    <a:pt x="13202000" y="5521071"/>
                  </a:cubicBezTo>
                  <a:lnTo>
                    <a:pt x="13256863" y="5489194"/>
                  </a:lnTo>
                  <a:lnTo>
                    <a:pt x="13202000" y="5521071"/>
                  </a:lnTo>
                  <a:lnTo>
                    <a:pt x="10275030" y="490601"/>
                  </a:lnTo>
                  <a:cubicBezTo>
                    <a:pt x="10144093" y="265430"/>
                    <a:pt x="9903301" y="127000"/>
                    <a:pt x="9642824" y="127000"/>
                  </a:cubicBezTo>
                  <a:lnTo>
                    <a:pt x="3783933" y="127000"/>
                  </a:lnTo>
                  <a:cubicBezTo>
                    <a:pt x="3523456" y="127000"/>
                    <a:pt x="3282664" y="265430"/>
                    <a:pt x="3151727" y="490601"/>
                  </a:cubicBezTo>
                  <a:lnTo>
                    <a:pt x="224885" y="5521071"/>
                  </a:lnTo>
                  <a:lnTo>
                    <a:pt x="170021" y="5489194"/>
                  </a:lnTo>
                  <a:lnTo>
                    <a:pt x="224885" y="5521071"/>
                  </a:lnTo>
                  <a:cubicBezTo>
                    <a:pt x="94202" y="5745607"/>
                    <a:pt x="94202" y="6022975"/>
                    <a:pt x="224885" y="6247511"/>
                  </a:cubicBezTo>
                  <a:lnTo>
                    <a:pt x="170021" y="6279388"/>
                  </a:lnTo>
                  <a:lnTo>
                    <a:pt x="224885" y="6247511"/>
                  </a:lnTo>
                  <a:lnTo>
                    <a:pt x="3151727" y="11277981"/>
                  </a:lnTo>
                  <a:cubicBezTo>
                    <a:pt x="3282664" y="11503152"/>
                    <a:pt x="3523456" y="11641582"/>
                    <a:pt x="3783933" y="11641582"/>
                  </a:cubicBezTo>
                  <a:lnTo>
                    <a:pt x="9642824" y="11641582"/>
                  </a:lnTo>
                  <a:cubicBezTo>
                    <a:pt x="9903301" y="11641582"/>
                    <a:pt x="10144094" y="11503152"/>
                    <a:pt x="10275031" y="11277981"/>
                  </a:cubicBezTo>
                  <a:lnTo>
                    <a:pt x="13201873" y="6247511"/>
                  </a:lnTo>
                  <a:close/>
                </a:path>
              </a:pathLst>
            </a:custGeom>
            <a:solidFill>
              <a:srgbClr val="FFFFFF"/>
            </a:solidFill>
            <a:ln w="12700">
              <a:solidFill>
                <a:srgbClr val="000000"/>
              </a:solidFill>
            </a:ln>
          </p:spPr>
        </p:sp>
      </p:grpSp>
      <p:sp>
        <p:nvSpPr>
          <p:cNvPr id="14" name="Freeform 14"/>
          <p:cNvSpPr/>
          <p:nvPr/>
        </p:nvSpPr>
        <p:spPr>
          <a:xfrm>
            <a:off x="11211200" y="3113526"/>
            <a:ext cx="4749902" cy="4476005"/>
          </a:xfrm>
          <a:custGeom>
            <a:avLst/>
            <a:gdLst/>
            <a:ahLst/>
            <a:cxnLst/>
            <a:rect l="l" t="t" r="r" b="b"/>
            <a:pathLst>
              <a:path w="4749902" h="4476005">
                <a:moveTo>
                  <a:pt x="0" y="0"/>
                </a:moveTo>
                <a:lnTo>
                  <a:pt x="4749902" y="0"/>
                </a:lnTo>
                <a:lnTo>
                  <a:pt x="4749902" y="4476005"/>
                </a:lnTo>
                <a:lnTo>
                  <a:pt x="0" y="44760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a:off x="-498650" y="8664575"/>
            <a:ext cx="997301" cy="812800"/>
          </a:xfrm>
          <a:custGeom>
            <a:avLst/>
            <a:gdLst/>
            <a:ahLst/>
            <a:cxnLst/>
            <a:rect l="l" t="t" r="r" b="b"/>
            <a:pathLst>
              <a:path w="997301" h="812800">
                <a:moveTo>
                  <a:pt x="0" y="0"/>
                </a:moveTo>
                <a:lnTo>
                  <a:pt x="997301" y="0"/>
                </a:lnTo>
                <a:lnTo>
                  <a:pt x="997301" y="812800"/>
                </a:lnTo>
                <a:lnTo>
                  <a:pt x="0" y="812800"/>
                </a:lnTo>
                <a:lnTo>
                  <a:pt x="0" y="0"/>
                </a:lnTo>
                <a:close/>
              </a:path>
            </a:pathLst>
          </a:custGeom>
          <a:blipFill>
            <a:blip r:embed="rId16">
              <a:extLst>
                <a:ext uri="{96DAC541-7B7A-43D3-8B79-37D633B846F1}">
                  <asvg:svgBlip xmlns:asvg="http://schemas.microsoft.com/office/drawing/2016/SVG/main" r:embed="rId17"/>
                </a:ext>
              </a:extLst>
            </a:blip>
            <a:stretch>
              <a:fillRect t="-248" b="-248"/>
            </a:stretch>
          </a:blipFill>
        </p:spPr>
      </p:sp>
      <p:sp>
        <p:nvSpPr>
          <p:cNvPr id="16" name="Freeform 16"/>
          <p:cNvSpPr/>
          <p:nvPr/>
        </p:nvSpPr>
        <p:spPr>
          <a:xfrm>
            <a:off x="12009966" y="9944100"/>
            <a:ext cx="1177504" cy="797759"/>
          </a:xfrm>
          <a:custGeom>
            <a:avLst/>
            <a:gdLst/>
            <a:ahLst/>
            <a:cxnLst/>
            <a:rect l="l" t="t" r="r" b="b"/>
            <a:pathLst>
              <a:path w="1177504" h="797759">
                <a:moveTo>
                  <a:pt x="0" y="0"/>
                </a:moveTo>
                <a:lnTo>
                  <a:pt x="1177504" y="0"/>
                </a:lnTo>
                <a:lnTo>
                  <a:pt x="1177504" y="797759"/>
                </a:lnTo>
                <a:lnTo>
                  <a:pt x="0" y="797759"/>
                </a:lnTo>
                <a:lnTo>
                  <a:pt x="0" y="0"/>
                </a:lnTo>
                <a:close/>
              </a:path>
            </a:pathLst>
          </a:custGeom>
          <a:blipFill>
            <a:blip r:embed="rId18">
              <a:extLst>
                <a:ext uri="{96DAC541-7B7A-43D3-8B79-37D633B846F1}">
                  <asvg:svgBlip xmlns:asvg="http://schemas.microsoft.com/office/drawing/2016/SVG/main" r:embed="rId19"/>
                </a:ext>
              </a:extLst>
            </a:blip>
            <a:stretch>
              <a:fillRect l="-5" r="-5"/>
            </a:stretch>
          </a:blipFill>
        </p:spPr>
      </p:sp>
      <p:sp>
        <p:nvSpPr>
          <p:cNvPr id="17" name="Freeform 17"/>
          <p:cNvSpPr/>
          <p:nvPr/>
        </p:nvSpPr>
        <p:spPr>
          <a:xfrm>
            <a:off x="-588752" y="-398880"/>
            <a:ext cx="1177504" cy="797759"/>
          </a:xfrm>
          <a:custGeom>
            <a:avLst/>
            <a:gdLst/>
            <a:ahLst/>
            <a:cxnLst/>
            <a:rect l="l" t="t" r="r" b="b"/>
            <a:pathLst>
              <a:path w="1177504" h="797759">
                <a:moveTo>
                  <a:pt x="0" y="0"/>
                </a:moveTo>
                <a:lnTo>
                  <a:pt x="1177504" y="0"/>
                </a:lnTo>
                <a:lnTo>
                  <a:pt x="1177504" y="797759"/>
                </a:lnTo>
                <a:lnTo>
                  <a:pt x="0" y="797759"/>
                </a:lnTo>
                <a:lnTo>
                  <a:pt x="0" y="0"/>
                </a:lnTo>
                <a:close/>
              </a:path>
            </a:pathLst>
          </a:custGeom>
          <a:blipFill>
            <a:blip r:embed="rId18">
              <a:extLst>
                <a:ext uri="{96DAC541-7B7A-43D3-8B79-37D633B846F1}">
                  <asvg:svgBlip xmlns:asvg="http://schemas.microsoft.com/office/drawing/2016/SVG/main" r:embed="rId19"/>
                </a:ext>
              </a:extLst>
            </a:blip>
            <a:stretch>
              <a:fillRect l="-5" r="-5"/>
            </a:stretch>
          </a:blipFill>
        </p:spPr>
      </p:sp>
      <p:sp>
        <p:nvSpPr>
          <p:cNvPr id="18" name="Freeform 18"/>
          <p:cNvSpPr/>
          <p:nvPr/>
        </p:nvSpPr>
        <p:spPr>
          <a:xfrm>
            <a:off x="-114299" y="3428253"/>
            <a:ext cx="9130256" cy="2591308"/>
          </a:xfrm>
          <a:custGeom>
            <a:avLst/>
            <a:gdLst/>
            <a:ahLst/>
            <a:cxnLst/>
            <a:rect l="l" t="t" r="r" b="b"/>
            <a:pathLst>
              <a:path w="9130256" h="2591308">
                <a:moveTo>
                  <a:pt x="0" y="0"/>
                </a:moveTo>
                <a:lnTo>
                  <a:pt x="9130256" y="0"/>
                </a:lnTo>
                <a:lnTo>
                  <a:pt x="9130256" y="2591308"/>
                </a:lnTo>
                <a:lnTo>
                  <a:pt x="0" y="2591308"/>
                </a:lnTo>
                <a:lnTo>
                  <a:pt x="0" y="0"/>
                </a:lnTo>
                <a:close/>
              </a:path>
            </a:pathLst>
          </a:custGeom>
          <a:blipFill>
            <a:blip r:embed="rId20"/>
            <a:stretch>
              <a:fillRect/>
            </a:stretch>
          </a:blipFill>
        </p:spPr>
      </p:sp>
      <p:sp>
        <p:nvSpPr>
          <p:cNvPr id="19" name="TextBox 19"/>
          <p:cNvSpPr txBox="1"/>
          <p:nvPr/>
        </p:nvSpPr>
        <p:spPr>
          <a:xfrm>
            <a:off x="2549349" y="9622859"/>
            <a:ext cx="3402910" cy="565221"/>
          </a:xfrm>
          <a:prstGeom prst="rect">
            <a:avLst/>
          </a:prstGeom>
        </p:spPr>
        <p:txBody>
          <a:bodyPr lIns="0" tIns="0" rIns="0" bIns="0" rtlCol="0" anchor="t">
            <a:spAutoFit/>
          </a:bodyPr>
          <a:lstStyle/>
          <a:p>
            <a:pPr algn="l">
              <a:lnSpc>
                <a:spcPts val="4543"/>
              </a:lnSpc>
            </a:pPr>
            <a:r>
              <a:rPr lang="en-US" sz="3244" b="1">
                <a:solidFill>
                  <a:srgbClr val="FFFFFF"/>
                </a:solidFill>
                <a:latin typeface="Public Sans Bold"/>
                <a:ea typeface="Public Sans Bold"/>
                <a:cs typeface="Public Sans Bold"/>
                <a:sym typeface="Public Sans Bold"/>
              </a:rPr>
              <a:t>www.infologia.in</a:t>
            </a:r>
          </a:p>
        </p:txBody>
      </p:sp>
      <p:sp>
        <p:nvSpPr>
          <p:cNvPr id="20" name="TextBox 20"/>
          <p:cNvSpPr txBox="1"/>
          <p:nvPr/>
        </p:nvSpPr>
        <p:spPr>
          <a:xfrm>
            <a:off x="844015" y="47680"/>
            <a:ext cx="6147466" cy="1607786"/>
          </a:xfrm>
          <a:prstGeom prst="rect">
            <a:avLst/>
          </a:prstGeom>
        </p:spPr>
        <p:txBody>
          <a:bodyPr lIns="0" tIns="0" rIns="0" bIns="0" rtlCol="0" anchor="t">
            <a:spAutoFit/>
          </a:bodyPr>
          <a:lstStyle/>
          <a:p>
            <a:pPr algn="ctr">
              <a:lnSpc>
                <a:spcPts val="6499"/>
              </a:lnSpc>
            </a:pPr>
            <a:r>
              <a:rPr lang="en-US" sz="4642" b="1">
                <a:solidFill>
                  <a:srgbClr val="FFFFFF"/>
                </a:solidFill>
                <a:latin typeface="Montserrat Bold"/>
                <a:ea typeface="Montserrat Bold"/>
                <a:cs typeface="Montserrat Bold"/>
                <a:sym typeface="Montserrat Bold"/>
              </a:rPr>
              <a:t>Cargowise</a:t>
            </a:r>
          </a:p>
          <a:p>
            <a:pPr algn="ctr">
              <a:lnSpc>
                <a:spcPts val="6499"/>
              </a:lnSpc>
              <a:spcBef>
                <a:spcPct val="0"/>
              </a:spcBef>
            </a:pPr>
            <a:r>
              <a:rPr lang="en-US" sz="4642" b="1">
                <a:solidFill>
                  <a:srgbClr val="FFFFFF"/>
                </a:solidFill>
                <a:latin typeface="Montserrat Bold"/>
                <a:ea typeface="Montserrat Bold"/>
                <a:cs typeface="Montserrat Bold"/>
                <a:sym typeface="Montserrat Bold"/>
              </a:rPr>
              <a:t>Business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 b="-2"/>
              </a:stretch>
            </a:blipFill>
          </p:spPr>
        </p:sp>
      </p:grpSp>
      <p:sp>
        <p:nvSpPr>
          <p:cNvPr id="4" name="Freeform 4"/>
          <p:cNvSpPr/>
          <p:nvPr/>
        </p:nvSpPr>
        <p:spPr>
          <a:xfrm>
            <a:off x="-3381527" y="2658569"/>
            <a:ext cx="10378556" cy="9641361"/>
          </a:xfrm>
          <a:custGeom>
            <a:avLst/>
            <a:gdLst/>
            <a:ahLst/>
            <a:cxnLst/>
            <a:rect l="l" t="t" r="r" b="b"/>
            <a:pathLst>
              <a:path w="10378556" h="9641361">
                <a:moveTo>
                  <a:pt x="0" y="0"/>
                </a:moveTo>
                <a:lnTo>
                  <a:pt x="10378556" y="0"/>
                </a:lnTo>
                <a:lnTo>
                  <a:pt x="10378556" y="9641361"/>
                </a:lnTo>
                <a:lnTo>
                  <a:pt x="0" y="96413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V="1">
            <a:off x="9562753" y="9348534"/>
            <a:ext cx="3759752" cy="3332081"/>
          </a:xfrm>
          <a:custGeom>
            <a:avLst/>
            <a:gdLst/>
            <a:ahLst/>
            <a:cxnLst/>
            <a:rect l="l" t="t" r="r" b="b"/>
            <a:pathLst>
              <a:path w="3759752" h="3332081">
                <a:moveTo>
                  <a:pt x="0" y="3332081"/>
                </a:moveTo>
                <a:lnTo>
                  <a:pt x="3759752" y="3332081"/>
                </a:lnTo>
                <a:lnTo>
                  <a:pt x="3759752" y="0"/>
                </a:lnTo>
                <a:lnTo>
                  <a:pt x="0" y="0"/>
                </a:lnTo>
                <a:lnTo>
                  <a:pt x="0" y="3332081"/>
                </a:lnTo>
                <a:close/>
              </a:path>
            </a:pathLst>
          </a:custGeom>
          <a:blipFill>
            <a:blip r:embed="rId5">
              <a:alphaModFix amt="5000"/>
              <a:extLst>
                <a:ext uri="{96DAC541-7B7A-43D3-8B79-37D633B846F1}">
                  <asvg:svgBlip xmlns:asvg="http://schemas.microsoft.com/office/drawing/2016/SVG/main" r:embed="rId6"/>
                </a:ext>
              </a:extLst>
            </a:blip>
            <a:stretch>
              <a:fillRect l="-9" r="-9"/>
            </a:stretch>
          </a:blipFill>
        </p:spPr>
      </p:sp>
      <p:sp>
        <p:nvSpPr>
          <p:cNvPr id="6" name="Freeform 6"/>
          <p:cNvSpPr/>
          <p:nvPr/>
        </p:nvSpPr>
        <p:spPr>
          <a:xfrm>
            <a:off x="17078743" y="3579111"/>
            <a:ext cx="3309025" cy="2897071"/>
          </a:xfrm>
          <a:custGeom>
            <a:avLst/>
            <a:gdLst/>
            <a:ahLst/>
            <a:cxnLst/>
            <a:rect l="l" t="t" r="r" b="b"/>
            <a:pathLst>
              <a:path w="3309025" h="2897071">
                <a:moveTo>
                  <a:pt x="0" y="0"/>
                </a:moveTo>
                <a:lnTo>
                  <a:pt x="3309025" y="0"/>
                </a:lnTo>
                <a:lnTo>
                  <a:pt x="3309025" y="2897071"/>
                </a:lnTo>
                <a:lnTo>
                  <a:pt x="0" y="28970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7" name="Group 7"/>
          <p:cNvGrpSpPr/>
          <p:nvPr/>
        </p:nvGrpSpPr>
        <p:grpSpPr>
          <a:xfrm rot="7353578">
            <a:off x="1207125" y="8414815"/>
            <a:ext cx="6279545" cy="1610757"/>
            <a:chOff x="0" y="0"/>
            <a:chExt cx="8372727" cy="2147676"/>
          </a:xfrm>
        </p:grpSpPr>
        <p:sp>
          <p:nvSpPr>
            <p:cNvPr id="8" name="Freeform 8"/>
            <p:cNvSpPr/>
            <p:nvPr/>
          </p:nvSpPr>
          <p:spPr>
            <a:xfrm>
              <a:off x="0" y="0"/>
              <a:ext cx="8372729" cy="2147697"/>
            </a:xfrm>
            <a:custGeom>
              <a:avLst/>
              <a:gdLst/>
              <a:ahLst/>
              <a:cxnLst/>
              <a:rect l="l" t="t" r="r" b="b"/>
              <a:pathLst>
                <a:path w="8372729" h="2147697">
                  <a:moveTo>
                    <a:pt x="0" y="0"/>
                  </a:moveTo>
                  <a:lnTo>
                    <a:pt x="8372729" y="0"/>
                  </a:lnTo>
                  <a:lnTo>
                    <a:pt x="8372729" y="2147697"/>
                  </a:lnTo>
                  <a:lnTo>
                    <a:pt x="0" y="2147697"/>
                  </a:lnTo>
                  <a:lnTo>
                    <a:pt x="0" y="0"/>
                  </a:lnTo>
                  <a:close/>
                </a:path>
              </a:pathLst>
            </a:custGeom>
            <a:blipFill>
              <a:blip r:embed="rId9">
                <a:alphaModFix amt="35000"/>
              </a:blip>
              <a:stretch>
                <a:fillRect t="-1147" b="-1146"/>
              </a:stretch>
            </a:blipFill>
          </p:spPr>
        </p:sp>
      </p:grpSp>
      <p:sp>
        <p:nvSpPr>
          <p:cNvPr id="9" name="Freeform 9"/>
          <p:cNvSpPr/>
          <p:nvPr/>
        </p:nvSpPr>
        <p:spPr>
          <a:xfrm>
            <a:off x="1929236" y="6701464"/>
            <a:ext cx="3828458" cy="3489815"/>
          </a:xfrm>
          <a:custGeom>
            <a:avLst/>
            <a:gdLst/>
            <a:ahLst/>
            <a:cxnLst/>
            <a:rect l="l" t="t" r="r" b="b"/>
            <a:pathLst>
              <a:path w="3828458" h="3489815">
                <a:moveTo>
                  <a:pt x="0" y="0"/>
                </a:moveTo>
                <a:lnTo>
                  <a:pt x="3828459" y="0"/>
                </a:lnTo>
                <a:lnTo>
                  <a:pt x="3828459" y="3489816"/>
                </a:lnTo>
                <a:lnTo>
                  <a:pt x="0" y="34898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0" name="Group 10"/>
          <p:cNvGrpSpPr/>
          <p:nvPr/>
        </p:nvGrpSpPr>
        <p:grpSpPr>
          <a:xfrm>
            <a:off x="-4980815" y="1688066"/>
            <a:ext cx="11218872" cy="9921817"/>
            <a:chOff x="0" y="0"/>
            <a:chExt cx="14958496" cy="13229089"/>
          </a:xfrm>
        </p:grpSpPr>
        <p:sp>
          <p:nvSpPr>
            <p:cNvPr id="11" name="Freeform 11"/>
            <p:cNvSpPr/>
            <p:nvPr/>
          </p:nvSpPr>
          <p:spPr>
            <a:xfrm>
              <a:off x="99028" y="63500"/>
              <a:ext cx="13299885" cy="11641582"/>
            </a:xfrm>
            <a:custGeom>
              <a:avLst/>
              <a:gdLst/>
              <a:ahLst/>
              <a:cxnLst/>
              <a:rect l="l" t="t" r="r" b="b"/>
              <a:pathLst>
                <a:path w="13299885" h="11641582">
                  <a:moveTo>
                    <a:pt x="13193300" y="6216015"/>
                  </a:moveTo>
                  <a:lnTo>
                    <a:pt x="10266585" y="11246358"/>
                  </a:lnTo>
                  <a:cubicBezTo>
                    <a:pt x="10124218" y="11490960"/>
                    <a:pt x="9862598" y="11641582"/>
                    <a:pt x="9579515" y="11641582"/>
                  </a:cubicBezTo>
                  <a:lnTo>
                    <a:pt x="3720497" y="11641582"/>
                  </a:lnTo>
                  <a:cubicBezTo>
                    <a:pt x="3437414" y="11641582"/>
                    <a:pt x="3175794" y="11491087"/>
                    <a:pt x="3033427" y="11246358"/>
                  </a:cubicBezTo>
                  <a:lnTo>
                    <a:pt x="106585" y="6216015"/>
                  </a:lnTo>
                  <a:cubicBezTo>
                    <a:pt x="-35528" y="5971794"/>
                    <a:pt x="-35528" y="5669915"/>
                    <a:pt x="106585" y="5425694"/>
                  </a:cubicBezTo>
                  <a:lnTo>
                    <a:pt x="3033427" y="395224"/>
                  </a:lnTo>
                  <a:cubicBezTo>
                    <a:pt x="3175794" y="150495"/>
                    <a:pt x="3437414" y="0"/>
                    <a:pt x="3720497" y="0"/>
                  </a:cubicBezTo>
                  <a:lnTo>
                    <a:pt x="9579388" y="0"/>
                  </a:lnTo>
                  <a:cubicBezTo>
                    <a:pt x="9862471" y="0"/>
                    <a:pt x="10124091" y="150495"/>
                    <a:pt x="10266458" y="395224"/>
                  </a:cubicBezTo>
                  <a:lnTo>
                    <a:pt x="13193300" y="5425694"/>
                  </a:lnTo>
                  <a:cubicBezTo>
                    <a:pt x="13335414" y="5669915"/>
                    <a:pt x="13335414" y="5971794"/>
                    <a:pt x="13193300" y="6216015"/>
                  </a:cubicBezTo>
                  <a:close/>
                </a:path>
              </a:pathLst>
            </a:custGeom>
            <a:blipFill>
              <a:blip r:embed="rId12"/>
              <a:stretch>
                <a:fillRect l="-18808" t="-545" r="-29790" b="-13091"/>
              </a:stretch>
            </a:blipFill>
          </p:spPr>
        </p:sp>
        <p:sp>
          <p:nvSpPr>
            <p:cNvPr id="12" name="Freeform 12"/>
            <p:cNvSpPr/>
            <p:nvPr/>
          </p:nvSpPr>
          <p:spPr>
            <a:xfrm>
              <a:off x="35592" y="0"/>
              <a:ext cx="13426885" cy="11768582"/>
            </a:xfrm>
            <a:custGeom>
              <a:avLst/>
              <a:gdLst/>
              <a:ahLst/>
              <a:cxnLst/>
              <a:rect l="l" t="t" r="r" b="b"/>
              <a:pathLst>
                <a:path w="13426885" h="11768582">
                  <a:moveTo>
                    <a:pt x="13311727" y="6311392"/>
                  </a:moveTo>
                  <a:lnTo>
                    <a:pt x="10384885" y="11341862"/>
                  </a:lnTo>
                  <a:lnTo>
                    <a:pt x="10330021" y="11309985"/>
                  </a:lnTo>
                  <a:lnTo>
                    <a:pt x="10384885" y="11341862"/>
                  </a:lnTo>
                  <a:cubicBezTo>
                    <a:pt x="10231215" y="11606022"/>
                    <a:pt x="9948513" y="11768582"/>
                    <a:pt x="9642824" y="11768582"/>
                  </a:cubicBezTo>
                  <a:lnTo>
                    <a:pt x="9642824" y="11705082"/>
                  </a:lnTo>
                  <a:lnTo>
                    <a:pt x="9642824" y="11768582"/>
                  </a:lnTo>
                  <a:lnTo>
                    <a:pt x="3783933" y="11768582"/>
                  </a:lnTo>
                  <a:lnTo>
                    <a:pt x="3783933" y="11705082"/>
                  </a:lnTo>
                  <a:lnTo>
                    <a:pt x="3783933" y="11768582"/>
                  </a:lnTo>
                  <a:cubicBezTo>
                    <a:pt x="3478244" y="11768582"/>
                    <a:pt x="3195669" y="11606022"/>
                    <a:pt x="3041872" y="11341862"/>
                  </a:cubicBezTo>
                  <a:lnTo>
                    <a:pt x="3096736" y="11309985"/>
                  </a:lnTo>
                  <a:lnTo>
                    <a:pt x="3041872" y="11341862"/>
                  </a:lnTo>
                  <a:lnTo>
                    <a:pt x="115157" y="6311392"/>
                  </a:lnTo>
                  <a:cubicBezTo>
                    <a:pt x="-38386" y="6047359"/>
                    <a:pt x="-38386" y="5721223"/>
                    <a:pt x="115157" y="5457190"/>
                  </a:cubicBezTo>
                  <a:lnTo>
                    <a:pt x="3041999" y="426720"/>
                  </a:lnTo>
                  <a:lnTo>
                    <a:pt x="3096863" y="458597"/>
                  </a:lnTo>
                  <a:lnTo>
                    <a:pt x="3041999" y="426720"/>
                  </a:lnTo>
                  <a:cubicBezTo>
                    <a:pt x="3195669" y="162560"/>
                    <a:pt x="3478244" y="0"/>
                    <a:pt x="3783933" y="0"/>
                  </a:cubicBezTo>
                  <a:lnTo>
                    <a:pt x="3783933" y="63500"/>
                  </a:lnTo>
                  <a:lnTo>
                    <a:pt x="3783933" y="0"/>
                  </a:lnTo>
                  <a:lnTo>
                    <a:pt x="9642824" y="0"/>
                  </a:lnTo>
                  <a:lnTo>
                    <a:pt x="9642824" y="63500"/>
                  </a:lnTo>
                  <a:lnTo>
                    <a:pt x="9642824" y="0"/>
                  </a:lnTo>
                  <a:cubicBezTo>
                    <a:pt x="9948513" y="0"/>
                    <a:pt x="10231088" y="162560"/>
                    <a:pt x="10384885" y="426720"/>
                  </a:cubicBezTo>
                  <a:lnTo>
                    <a:pt x="10330021" y="458597"/>
                  </a:lnTo>
                  <a:lnTo>
                    <a:pt x="10384885" y="426720"/>
                  </a:lnTo>
                  <a:lnTo>
                    <a:pt x="13311727" y="5457190"/>
                  </a:lnTo>
                  <a:cubicBezTo>
                    <a:pt x="13465271" y="5721223"/>
                    <a:pt x="13465271" y="6047359"/>
                    <a:pt x="13311727" y="6311392"/>
                  </a:cubicBezTo>
                  <a:moveTo>
                    <a:pt x="13202000" y="6247511"/>
                  </a:moveTo>
                  <a:lnTo>
                    <a:pt x="13256863" y="6279388"/>
                  </a:lnTo>
                  <a:lnTo>
                    <a:pt x="13202000" y="6247511"/>
                  </a:lnTo>
                  <a:cubicBezTo>
                    <a:pt x="13332682" y="6022975"/>
                    <a:pt x="13332682" y="5745607"/>
                    <a:pt x="13202000" y="5521071"/>
                  </a:cubicBezTo>
                  <a:lnTo>
                    <a:pt x="13256863" y="5489194"/>
                  </a:lnTo>
                  <a:lnTo>
                    <a:pt x="13202000" y="5521071"/>
                  </a:lnTo>
                  <a:lnTo>
                    <a:pt x="10275030" y="490601"/>
                  </a:lnTo>
                  <a:cubicBezTo>
                    <a:pt x="10144093" y="265430"/>
                    <a:pt x="9903301" y="127000"/>
                    <a:pt x="9642824" y="127000"/>
                  </a:cubicBezTo>
                  <a:lnTo>
                    <a:pt x="3783933" y="127000"/>
                  </a:lnTo>
                  <a:cubicBezTo>
                    <a:pt x="3523456" y="127000"/>
                    <a:pt x="3282664" y="265430"/>
                    <a:pt x="3151727" y="490601"/>
                  </a:cubicBezTo>
                  <a:lnTo>
                    <a:pt x="224885" y="5521071"/>
                  </a:lnTo>
                  <a:lnTo>
                    <a:pt x="170021" y="5489194"/>
                  </a:lnTo>
                  <a:lnTo>
                    <a:pt x="224885" y="5521071"/>
                  </a:lnTo>
                  <a:cubicBezTo>
                    <a:pt x="94202" y="5745607"/>
                    <a:pt x="94202" y="6022975"/>
                    <a:pt x="224885" y="6247511"/>
                  </a:cubicBezTo>
                  <a:lnTo>
                    <a:pt x="170021" y="6279388"/>
                  </a:lnTo>
                  <a:lnTo>
                    <a:pt x="224885" y="6247511"/>
                  </a:lnTo>
                  <a:lnTo>
                    <a:pt x="3151727" y="11277981"/>
                  </a:lnTo>
                  <a:cubicBezTo>
                    <a:pt x="3282664" y="11503152"/>
                    <a:pt x="3523456" y="11641582"/>
                    <a:pt x="3783933" y="11641582"/>
                  </a:cubicBezTo>
                  <a:lnTo>
                    <a:pt x="9642824" y="11641582"/>
                  </a:lnTo>
                  <a:cubicBezTo>
                    <a:pt x="9903301" y="11641582"/>
                    <a:pt x="10144094" y="11503152"/>
                    <a:pt x="10275031" y="11277981"/>
                  </a:cubicBezTo>
                  <a:lnTo>
                    <a:pt x="13201873" y="6247511"/>
                  </a:lnTo>
                  <a:close/>
                </a:path>
              </a:pathLst>
            </a:custGeom>
            <a:solidFill>
              <a:srgbClr val="FFFFFF"/>
            </a:solidFill>
            <a:ln w="12700">
              <a:solidFill>
                <a:srgbClr val="000000"/>
              </a:solidFill>
            </a:ln>
          </p:spPr>
        </p:sp>
      </p:grpSp>
      <p:sp>
        <p:nvSpPr>
          <p:cNvPr id="13" name="TextBox 13"/>
          <p:cNvSpPr txBox="1"/>
          <p:nvPr/>
        </p:nvSpPr>
        <p:spPr>
          <a:xfrm>
            <a:off x="5708585" y="3065233"/>
            <a:ext cx="4183410" cy="914400"/>
          </a:xfrm>
          <a:prstGeom prst="rect">
            <a:avLst/>
          </a:prstGeom>
        </p:spPr>
        <p:txBody>
          <a:bodyPr lIns="0" tIns="0" rIns="0" bIns="0" rtlCol="0" anchor="t">
            <a:spAutoFit/>
          </a:bodyPr>
          <a:lstStyle/>
          <a:p>
            <a:pPr algn="l">
              <a:lnSpc>
                <a:spcPts val="7200"/>
              </a:lnSpc>
            </a:pPr>
            <a:r>
              <a:rPr lang="en-US" sz="6000" b="1">
                <a:solidFill>
                  <a:srgbClr val="243B55"/>
                </a:solidFill>
                <a:latin typeface="Montserrat Bold"/>
                <a:ea typeface="Montserrat Bold"/>
                <a:cs typeface="Montserrat Bold"/>
                <a:sym typeface="Montserrat Bold"/>
              </a:rPr>
              <a:t>ABOUT US</a:t>
            </a:r>
          </a:p>
        </p:txBody>
      </p:sp>
      <p:sp>
        <p:nvSpPr>
          <p:cNvPr id="14" name="Freeform 14"/>
          <p:cNvSpPr/>
          <p:nvPr/>
        </p:nvSpPr>
        <p:spPr>
          <a:xfrm>
            <a:off x="11504822" y="-6367386"/>
            <a:ext cx="10378556" cy="9641361"/>
          </a:xfrm>
          <a:custGeom>
            <a:avLst/>
            <a:gdLst/>
            <a:ahLst/>
            <a:cxnLst/>
            <a:rect l="l" t="t" r="r" b="b"/>
            <a:pathLst>
              <a:path w="10378556" h="9641361">
                <a:moveTo>
                  <a:pt x="0" y="0"/>
                </a:moveTo>
                <a:lnTo>
                  <a:pt x="10378556" y="0"/>
                </a:lnTo>
                <a:lnTo>
                  <a:pt x="10378556" y="9641361"/>
                </a:lnTo>
                <a:lnTo>
                  <a:pt x="0" y="964136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5" name="Freeform 15"/>
          <p:cNvSpPr/>
          <p:nvPr/>
        </p:nvSpPr>
        <p:spPr>
          <a:xfrm>
            <a:off x="13636093" y="-4565121"/>
            <a:ext cx="7875678" cy="7343795"/>
          </a:xfrm>
          <a:custGeom>
            <a:avLst/>
            <a:gdLst/>
            <a:ahLst/>
            <a:cxnLst/>
            <a:rect l="l" t="t" r="r" b="b"/>
            <a:pathLst>
              <a:path w="7875678" h="7343795">
                <a:moveTo>
                  <a:pt x="0" y="0"/>
                </a:moveTo>
                <a:lnTo>
                  <a:pt x="7875679" y="0"/>
                </a:lnTo>
                <a:lnTo>
                  <a:pt x="7875679" y="7343795"/>
                </a:lnTo>
                <a:lnTo>
                  <a:pt x="0" y="734379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6" name="Freeform 16"/>
          <p:cNvSpPr/>
          <p:nvPr/>
        </p:nvSpPr>
        <p:spPr>
          <a:xfrm>
            <a:off x="15883828" y="247235"/>
            <a:ext cx="3380208" cy="3084698"/>
          </a:xfrm>
          <a:custGeom>
            <a:avLst/>
            <a:gdLst/>
            <a:ahLst/>
            <a:cxnLst/>
            <a:rect l="l" t="t" r="r" b="b"/>
            <a:pathLst>
              <a:path w="3380208" h="3084698">
                <a:moveTo>
                  <a:pt x="0" y="0"/>
                </a:moveTo>
                <a:lnTo>
                  <a:pt x="3380208" y="0"/>
                </a:lnTo>
                <a:lnTo>
                  <a:pt x="3380208" y="3084698"/>
                </a:lnTo>
                <a:lnTo>
                  <a:pt x="0" y="308469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7" name="Freeform 17"/>
          <p:cNvSpPr/>
          <p:nvPr/>
        </p:nvSpPr>
        <p:spPr>
          <a:xfrm>
            <a:off x="-988600" y="-658846"/>
            <a:ext cx="2966944" cy="2570115"/>
          </a:xfrm>
          <a:custGeom>
            <a:avLst/>
            <a:gdLst/>
            <a:ahLst/>
            <a:cxnLst/>
            <a:rect l="l" t="t" r="r" b="b"/>
            <a:pathLst>
              <a:path w="2966944" h="2570115">
                <a:moveTo>
                  <a:pt x="0" y="0"/>
                </a:moveTo>
                <a:lnTo>
                  <a:pt x="2966944" y="0"/>
                </a:lnTo>
                <a:lnTo>
                  <a:pt x="2966944" y="2570115"/>
                </a:lnTo>
                <a:lnTo>
                  <a:pt x="0" y="2570115"/>
                </a:lnTo>
                <a:lnTo>
                  <a:pt x="0" y="0"/>
                </a:lnTo>
                <a:close/>
              </a:path>
            </a:pathLst>
          </a:custGeom>
          <a:blipFill>
            <a:blip r:embed="rId19">
              <a:alphaModFix amt="5000"/>
              <a:extLst>
                <a:ext uri="{96DAC541-7B7A-43D3-8B79-37D633B846F1}">
                  <asvg:svgBlip xmlns:asvg="http://schemas.microsoft.com/office/drawing/2016/SVG/main" r:embed="rId20"/>
                </a:ext>
              </a:extLst>
            </a:blip>
            <a:stretch>
              <a:fillRect l="-49" r="-49"/>
            </a:stretch>
          </a:blipFill>
        </p:spPr>
      </p:sp>
      <p:sp>
        <p:nvSpPr>
          <p:cNvPr id="18" name="Freeform 18"/>
          <p:cNvSpPr/>
          <p:nvPr/>
        </p:nvSpPr>
        <p:spPr>
          <a:xfrm>
            <a:off x="-675504" y="10059862"/>
            <a:ext cx="1351009" cy="454277"/>
          </a:xfrm>
          <a:custGeom>
            <a:avLst/>
            <a:gdLst/>
            <a:ahLst/>
            <a:cxnLst/>
            <a:rect l="l" t="t" r="r" b="b"/>
            <a:pathLst>
              <a:path w="1351009" h="454277">
                <a:moveTo>
                  <a:pt x="0" y="0"/>
                </a:moveTo>
                <a:lnTo>
                  <a:pt x="1351009" y="0"/>
                </a:lnTo>
                <a:lnTo>
                  <a:pt x="1351009" y="454277"/>
                </a:lnTo>
                <a:lnTo>
                  <a:pt x="0" y="454277"/>
                </a:lnTo>
                <a:lnTo>
                  <a:pt x="0" y="0"/>
                </a:lnTo>
                <a:close/>
              </a:path>
            </a:pathLst>
          </a:custGeom>
          <a:blipFill>
            <a:blip r:embed="rId21">
              <a:extLst>
                <a:ext uri="{96DAC541-7B7A-43D3-8B79-37D633B846F1}">
                  <asvg:svgBlip xmlns:asvg="http://schemas.microsoft.com/office/drawing/2016/SVG/main" r:embed="rId22"/>
                </a:ext>
              </a:extLst>
            </a:blip>
            <a:stretch>
              <a:fillRect t="-264" b="-264"/>
            </a:stretch>
          </a:blipFill>
        </p:spPr>
      </p:sp>
      <p:sp>
        <p:nvSpPr>
          <p:cNvPr id="19" name="Freeform 19"/>
          <p:cNvSpPr/>
          <p:nvPr/>
        </p:nvSpPr>
        <p:spPr>
          <a:xfrm>
            <a:off x="13573908" y="-444369"/>
            <a:ext cx="1177504" cy="797759"/>
          </a:xfrm>
          <a:custGeom>
            <a:avLst/>
            <a:gdLst/>
            <a:ahLst/>
            <a:cxnLst/>
            <a:rect l="l" t="t" r="r" b="b"/>
            <a:pathLst>
              <a:path w="1177504" h="797759">
                <a:moveTo>
                  <a:pt x="0" y="0"/>
                </a:moveTo>
                <a:lnTo>
                  <a:pt x="1177504" y="0"/>
                </a:lnTo>
                <a:lnTo>
                  <a:pt x="1177504" y="797759"/>
                </a:lnTo>
                <a:lnTo>
                  <a:pt x="0" y="797759"/>
                </a:lnTo>
                <a:lnTo>
                  <a:pt x="0" y="0"/>
                </a:lnTo>
                <a:close/>
              </a:path>
            </a:pathLst>
          </a:custGeom>
          <a:blipFill>
            <a:blip r:embed="rId23">
              <a:extLst>
                <a:ext uri="{96DAC541-7B7A-43D3-8B79-37D633B846F1}">
                  <asvg:svgBlip xmlns:asvg="http://schemas.microsoft.com/office/drawing/2016/SVG/main" r:embed="rId24"/>
                </a:ext>
              </a:extLst>
            </a:blip>
            <a:stretch>
              <a:fillRect l="-5" r="-5"/>
            </a:stretch>
          </a:blipFill>
        </p:spPr>
      </p:sp>
      <p:sp>
        <p:nvSpPr>
          <p:cNvPr id="20" name="Freeform 20"/>
          <p:cNvSpPr/>
          <p:nvPr/>
        </p:nvSpPr>
        <p:spPr>
          <a:xfrm rot="-10800000">
            <a:off x="-185931" y="-485685"/>
            <a:ext cx="2164275" cy="1111896"/>
          </a:xfrm>
          <a:custGeom>
            <a:avLst/>
            <a:gdLst/>
            <a:ahLst/>
            <a:cxnLst/>
            <a:rect l="l" t="t" r="r" b="b"/>
            <a:pathLst>
              <a:path w="2164275" h="1111896">
                <a:moveTo>
                  <a:pt x="0" y="0"/>
                </a:moveTo>
                <a:lnTo>
                  <a:pt x="2164275" y="0"/>
                </a:lnTo>
                <a:lnTo>
                  <a:pt x="2164275" y="1111896"/>
                </a:lnTo>
                <a:lnTo>
                  <a:pt x="0" y="1111896"/>
                </a:lnTo>
                <a:lnTo>
                  <a:pt x="0" y="0"/>
                </a:lnTo>
                <a:close/>
              </a:path>
            </a:pathLst>
          </a:custGeom>
          <a:blipFill>
            <a:blip r:embed="rId25">
              <a:extLst>
                <a:ext uri="{96DAC541-7B7A-43D3-8B79-37D633B846F1}">
                  <asvg:svgBlip xmlns:asvg="http://schemas.microsoft.com/office/drawing/2016/SVG/main" r:embed="rId26"/>
                </a:ext>
              </a:extLst>
            </a:blip>
            <a:stretch>
              <a:fillRect l="-57" r="-57"/>
            </a:stretch>
          </a:blipFill>
        </p:spPr>
      </p:sp>
      <p:sp>
        <p:nvSpPr>
          <p:cNvPr id="21" name="Freeform 21"/>
          <p:cNvSpPr/>
          <p:nvPr/>
        </p:nvSpPr>
        <p:spPr>
          <a:xfrm rot="-10800000" flipV="1">
            <a:off x="16123725" y="9731052"/>
            <a:ext cx="2164275" cy="1111896"/>
          </a:xfrm>
          <a:custGeom>
            <a:avLst/>
            <a:gdLst/>
            <a:ahLst/>
            <a:cxnLst/>
            <a:rect l="l" t="t" r="r" b="b"/>
            <a:pathLst>
              <a:path w="2164275" h="1111896">
                <a:moveTo>
                  <a:pt x="0" y="1111896"/>
                </a:moveTo>
                <a:lnTo>
                  <a:pt x="2164275" y="1111896"/>
                </a:lnTo>
                <a:lnTo>
                  <a:pt x="2164275" y="0"/>
                </a:lnTo>
                <a:lnTo>
                  <a:pt x="0" y="0"/>
                </a:lnTo>
                <a:lnTo>
                  <a:pt x="0" y="1111896"/>
                </a:lnTo>
                <a:close/>
              </a:path>
            </a:pathLst>
          </a:custGeom>
          <a:blipFill>
            <a:blip r:embed="rId27">
              <a:extLst>
                <a:ext uri="{96DAC541-7B7A-43D3-8B79-37D633B846F1}">
                  <asvg:svgBlip xmlns:asvg="http://schemas.microsoft.com/office/drawing/2016/SVG/main" r:embed="rId28"/>
                </a:ext>
              </a:extLst>
            </a:blip>
            <a:stretch>
              <a:fillRect l="-57" r="-57"/>
            </a:stretch>
          </a:blipFill>
        </p:spPr>
      </p:sp>
      <p:sp>
        <p:nvSpPr>
          <p:cNvPr id="22" name="TextBox 22"/>
          <p:cNvSpPr txBox="1"/>
          <p:nvPr/>
        </p:nvSpPr>
        <p:spPr>
          <a:xfrm>
            <a:off x="7276137" y="4397257"/>
            <a:ext cx="10520536" cy="4687570"/>
          </a:xfrm>
          <a:prstGeom prst="rect">
            <a:avLst/>
          </a:prstGeom>
        </p:spPr>
        <p:txBody>
          <a:bodyPr lIns="0" tIns="0" rIns="0" bIns="0" rtlCol="0" anchor="t">
            <a:spAutoFit/>
          </a:bodyPr>
          <a:lstStyle/>
          <a:p>
            <a:pPr algn="just">
              <a:lnSpc>
                <a:spcPts val="3079"/>
              </a:lnSpc>
            </a:pPr>
            <a:r>
              <a:rPr lang="en-US" sz="2199">
                <a:solidFill>
                  <a:srgbClr val="1D1A1B"/>
                </a:solidFill>
                <a:latin typeface="Public Sans"/>
                <a:ea typeface="Public Sans"/>
                <a:cs typeface="Public Sans"/>
                <a:sym typeface="Public Sans"/>
              </a:rPr>
              <a:t>Infologia Technologies Pvt Ltd is a specialized technology and logistics software company founded in 2017, delivering scalable digital solutions across multiple domains and industries, with a strong focus on logistics and supply chain operations. We design and develop systems capable of managing end to end logistics operations, along with custom web applications tailored to specific business requirements.</a:t>
            </a:r>
          </a:p>
          <a:p>
            <a:pPr algn="just">
              <a:lnSpc>
                <a:spcPts val="3079"/>
              </a:lnSpc>
            </a:pPr>
            <a:endParaRPr lang="en-US" sz="2199">
              <a:solidFill>
                <a:srgbClr val="1D1A1B"/>
              </a:solidFill>
              <a:latin typeface="Public Sans"/>
              <a:ea typeface="Public Sans"/>
              <a:cs typeface="Public Sans"/>
              <a:sym typeface="Public Sans"/>
            </a:endParaRPr>
          </a:p>
          <a:p>
            <a:pPr algn="just">
              <a:lnSpc>
                <a:spcPts val="3079"/>
              </a:lnSpc>
            </a:pPr>
            <a:r>
              <a:rPr lang="en-US" sz="2199">
                <a:solidFill>
                  <a:srgbClr val="1D1A1B"/>
                </a:solidFill>
                <a:latin typeface="Public Sans"/>
                <a:ea typeface="Public Sans"/>
                <a:cs typeface="Public Sans"/>
                <a:sym typeface="Public Sans"/>
              </a:rPr>
              <a:t>As a trusted CargoWise service partner, Infologia extends this capability through expert CargoWise implementations, integrations, automations and optimizations, enabling logistics organizations to use CargoWise as a fully connected operational platform rather than just a system of record.</a:t>
            </a:r>
          </a:p>
          <a:p>
            <a:pPr algn="just">
              <a:lnSpc>
                <a:spcPts val="3079"/>
              </a:lnSpc>
            </a:pPr>
            <a:endParaRPr lang="en-US" sz="2199">
              <a:solidFill>
                <a:srgbClr val="1D1A1B"/>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075465" y="-4588628"/>
            <a:ext cx="8000049" cy="6875042"/>
            <a:chOff x="0" y="0"/>
            <a:chExt cx="812800" cy="698500"/>
          </a:xfrm>
        </p:grpSpPr>
        <p:sp>
          <p:nvSpPr>
            <p:cNvPr id="4" name="Freeform 4"/>
            <p:cNvSpPr/>
            <p:nvPr/>
          </p:nvSpPr>
          <p:spPr>
            <a:xfrm>
              <a:off x="8875" y="0"/>
              <a:ext cx="795049" cy="698500"/>
            </a:xfrm>
            <a:custGeom>
              <a:avLst/>
              <a:gdLst/>
              <a:ahLst/>
              <a:cxnLst/>
              <a:rect l="l" t="t" r="r" b="b"/>
              <a:pathLst>
                <a:path w="795049" h="698500">
                  <a:moveTo>
                    <a:pt x="787378" y="377690"/>
                  </a:moveTo>
                  <a:lnTo>
                    <a:pt x="617272" y="670060"/>
                  </a:lnTo>
                  <a:cubicBezTo>
                    <a:pt x="607027" y="687668"/>
                    <a:pt x="588193" y="698500"/>
                    <a:pt x="567822" y="698500"/>
                  </a:cubicBezTo>
                  <a:lnTo>
                    <a:pt x="227228" y="698500"/>
                  </a:lnTo>
                  <a:cubicBezTo>
                    <a:pt x="206857" y="698500"/>
                    <a:pt x="188023" y="687668"/>
                    <a:pt x="177778" y="670060"/>
                  </a:cubicBezTo>
                  <a:lnTo>
                    <a:pt x="7672" y="377690"/>
                  </a:lnTo>
                  <a:cubicBezTo>
                    <a:pt x="-2557" y="360109"/>
                    <a:pt x="-2557" y="338391"/>
                    <a:pt x="7672" y="320810"/>
                  </a:cubicBezTo>
                  <a:lnTo>
                    <a:pt x="177778" y="28440"/>
                  </a:lnTo>
                  <a:cubicBezTo>
                    <a:pt x="188023" y="10832"/>
                    <a:pt x="206857" y="0"/>
                    <a:pt x="227228" y="0"/>
                  </a:cubicBezTo>
                  <a:lnTo>
                    <a:pt x="567822" y="0"/>
                  </a:lnTo>
                  <a:cubicBezTo>
                    <a:pt x="588193" y="0"/>
                    <a:pt x="607027" y="10832"/>
                    <a:pt x="617272" y="28440"/>
                  </a:cubicBezTo>
                  <a:lnTo>
                    <a:pt x="787378" y="320810"/>
                  </a:lnTo>
                  <a:cubicBezTo>
                    <a:pt x="797607" y="338391"/>
                    <a:pt x="797607" y="360109"/>
                    <a:pt x="787378" y="377690"/>
                  </a:cubicBezTo>
                  <a:close/>
                </a:path>
              </a:pathLst>
            </a:custGeom>
            <a:solidFill>
              <a:srgbClr val="243B55"/>
            </a:solidFill>
            <a:ln cap="rnd">
              <a:noFill/>
              <a:prstDash val="solid"/>
              <a:round/>
            </a:ln>
          </p:spPr>
        </p:sp>
        <p:sp>
          <p:nvSpPr>
            <p:cNvPr id="5" name="TextBox 5"/>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1222558" y="-367861"/>
            <a:ext cx="2618432" cy="690611"/>
          </a:xfrm>
          <a:custGeom>
            <a:avLst/>
            <a:gdLst/>
            <a:ahLst/>
            <a:cxnLst/>
            <a:rect l="l" t="t" r="r" b="b"/>
            <a:pathLst>
              <a:path w="2618432" h="690611">
                <a:moveTo>
                  <a:pt x="0" y="0"/>
                </a:moveTo>
                <a:lnTo>
                  <a:pt x="2618432" y="0"/>
                </a:lnTo>
                <a:lnTo>
                  <a:pt x="2618432" y="690611"/>
                </a:lnTo>
                <a:lnTo>
                  <a:pt x="0" y="6906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2268514" y="-1094021"/>
            <a:ext cx="3297214" cy="2833543"/>
            <a:chOff x="0" y="0"/>
            <a:chExt cx="812800" cy="698500"/>
          </a:xfrm>
        </p:grpSpPr>
        <p:sp>
          <p:nvSpPr>
            <p:cNvPr id="8" name="Freeform 8"/>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9" name="TextBox 9"/>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2321903" y="8415231"/>
            <a:ext cx="5210521" cy="4477792"/>
            <a:chOff x="0" y="0"/>
            <a:chExt cx="812800" cy="698500"/>
          </a:xfrm>
        </p:grpSpPr>
        <p:sp>
          <p:nvSpPr>
            <p:cNvPr id="11" name="Freeform 11"/>
            <p:cNvSpPr/>
            <p:nvPr/>
          </p:nvSpPr>
          <p:spPr>
            <a:xfrm>
              <a:off x="13627" y="0"/>
              <a:ext cx="785546" cy="698500"/>
            </a:xfrm>
            <a:custGeom>
              <a:avLst/>
              <a:gdLst/>
              <a:ahLst/>
              <a:cxnLst/>
              <a:rect l="l" t="t" r="r" b="b"/>
              <a:pathLst>
                <a:path w="785546" h="698500">
                  <a:moveTo>
                    <a:pt x="773768" y="392915"/>
                  </a:moveTo>
                  <a:lnTo>
                    <a:pt x="621378" y="654835"/>
                  </a:lnTo>
                  <a:cubicBezTo>
                    <a:pt x="605649" y="681869"/>
                    <a:pt x="576732" y="698500"/>
                    <a:pt x="545455" y="698500"/>
                  </a:cubicBezTo>
                  <a:lnTo>
                    <a:pt x="240091" y="698500"/>
                  </a:lnTo>
                  <a:cubicBezTo>
                    <a:pt x="208814" y="698500"/>
                    <a:pt x="179897" y="681869"/>
                    <a:pt x="164168" y="654835"/>
                  </a:cubicBezTo>
                  <a:lnTo>
                    <a:pt x="11778" y="392915"/>
                  </a:lnTo>
                  <a:cubicBezTo>
                    <a:pt x="-3926" y="365923"/>
                    <a:pt x="-3926" y="332577"/>
                    <a:pt x="11778" y="305585"/>
                  </a:cubicBezTo>
                  <a:lnTo>
                    <a:pt x="164168" y="43665"/>
                  </a:lnTo>
                  <a:cubicBezTo>
                    <a:pt x="179897" y="16631"/>
                    <a:pt x="208814" y="0"/>
                    <a:pt x="240091" y="0"/>
                  </a:cubicBezTo>
                  <a:lnTo>
                    <a:pt x="545455" y="0"/>
                  </a:lnTo>
                  <a:cubicBezTo>
                    <a:pt x="576732" y="0"/>
                    <a:pt x="605649" y="16631"/>
                    <a:pt x="621378" y="43665"/>
                  </a:cubicBezTo>
                  <a:lnTo>
                    <a:pt x="773768" y="305585"/>
                  </a:lnTo>
                  <a:cubicBezTo>
                    <a:pt x="789472" y="332577"/>
                    <a:pt x="789472" y="365923"/>
                    <a:pt x="773768" y="392915"/>
                  </a:cubicBezTo>
                  <a:close/>
                </a:path>
              </a:pathLst>
            </a:custGeom>
            <a:solidFill>
              <a:srgbClr val="16578D"/>
            </a:solidFill>
            <a:ln cap="rnd">
              <a:noFill/>
              <a:prstDash val="solid"/>
              <a:round/>
            </a:ln>
          </p:spPr>
        </p:sp>
        <p:sp>
          <p:nvSpPr>
            <p:cNvPr id="12" name="TextBox 12"/>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894147" y="9123844"/>
            <a:ext cx="3297214" cy="2833543"/>
            <a:chOff x="0" y="0"/>
            <a:chExt cx="812800" cy="698500"/>
          </a:xfrm>
        </p:grpSpPr>
        <p:sp>
          <p:nvSpPr>
            <p:cNvPr id="14" name="Freeform 14"/>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15" name="TextBox 15"/>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16522581" y="-298588"/>
            <a:ext cx="2809969" cy="2414817"/>
            <a:chOff x="0" y="0"/>
            <a:chExt cx="812800" cy="698500"/>
          </a:xfrm>
        </p:grpSpPr>
        <p:sp>
          <p:nvSpPr>
            <p:cNvPr id="17" name="Freeform 17"/>
            <p:cNvSpPr/>
            <p:nvPr/>
          </p:nvSpPr>
          <p:spPr>
            <a:xfrm>
              <a:off x="6689" y="0"/>
              <a:ext cx="799423" cy="698500"/>
            </a:xfrm>
            <a:custGeom>
              <a:avLst/>
              <a:gdLst/>
              <a:ahLst/>
              <a:cxnLst/>
              <a:rect l="l" t="t" r="r" b="b"/>
              <a:pathLst>
                <a:path w="799423" h="698500">
                  <a:moveTo>
                    <a:pt x="793641" y="370683"/>
                  </a:moveTo>
                  <a:lnTo>
                    <a:pt x="615381" y="677067"/>
                  </a:lnTo>
                  <a:cubicBezTo>
                    <a:pt x="607661" y="690337"/>
                    <a:pt x="593467" y="698500"/>
                    <a:pt x="578115" y="698500"/>
                  </a:cubicBezTo>
                  <a:lnTo>
                    <a:pt x="221307" y="698500"/>
                  </a:lnTo>
                  <a:cubicBezTo>
                    <a:pt x="205955" y="698500"/>
                    <a:pt x="191761" y="690337"/>
                    <a:pt x="184041" y="677067"/>
                  </a:cubicBezTo>
                  <a:lnTo>
                    <a:pt x="5781" y="370683"/>
                  </a:lnTo>
                  <a:cubicBezTo>
                    <a:pt x="-1927" y="357434"/>
                    <a:pt x="-1927" y="341066"/>
                    <a:pt x="5781" y="327817"/>
                  </a:cubicBezTo>
                  <a:lnTo>
                    <a:pt x="184041" y="21433"/>
                  </a:lnTo>
                  <a:cubicBezTo>
                    <a:pt x="191761" y="8163"/>
                    <a:pt x="205955" y="0"/>
                    <a:pt x="221307" y="0"/>
                  </a:cubicBezTo>
                  <a:lnTo>
                    <a:pt x="578115" y="0"/>
                  </a:lnTo>
                  <a:cubicBezTo>
                    <a:pt x="593467" y="0"/>
                    <a:pt x="607661" y="8163"/>
                    <a:pt x="615381" y="21433"/>
                  </a:cubicBezTo>
                  <a:lnTo>
                    <a:pt x="793641" y="327817"/>
                  </a:lnTo>
                  <a:cubicBezTo>
                    <a:pt x="801349" y="341066"/>
                    <a:pt x="801349" y="357434"/>
                    <a:pt x="793641" y="370683"/>
                  </a:cubicBezTo>
                  <a:close/>
                </a:path>
              </a:pathLst>
            </a:custGeom>
            <a:solidFill>
              <a:srgbClr val="000000">
                <a:alpha val="0"/>
              </a:srgbClr>
            </a:solidFill>
            <a:ln w="28575" cap="sq">
              <a:solidFill>
                <a:srgbClr val="16578D"/>
              </a:solidFill>
              <a:prstDash val="solid"/>
              <a:miter/>
            </a:ln>
          </p:spPr>
        </p:sp>
        <p:sp>
          <p:nvSpPr>
            <p:cNvPr id="18" name="TextBox 18"/>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9" name="Freeform 19"/>
          <p:cNvSpPr/>
          <p:nvPr/>
        </p:nvSpPr>
        <p:spPr>
          <a:xfrm>
            <a:off x="16232722" y="-1100305"/>
            <a:ext cx="2215935" cy="1963872"/>
          </a:xfrm>
          <a:custGeom>
            <a:avLst/>
            <a:gdLst/>
            <a:ahLst/>
            <a:cxnLst/>
            <a:rect l="l" t="t" r="r" b="b"/>
            <a:pathLst>
              <a:path w="2215935" h="1963872">
                <a:moveTo>
                  <a:pt x="0" y="0"/>
                </a:moveTo>
                <a:lnTo>
                  <a:pt x="2215935" y="0"/>
                </a:lnTo>
                <a:lnTo>
                  <a:pt x="2215935" y="1963873"/>
                </a:lnTo>
                <a:lnTo>
                  <a:pt x="0" y="1963873"/>
                </a:lnTo>
                <a:lnTo>
                  <a:pt x="0" y="0"/>
                </a:lnTo>
                <a:close/>
              </a:path>
            </a:pathLst>
          </a:custGeom>
          <a:blipFill>
            <a:blip r:embed="rId5">
              <a:alphaModFix amt="5000"/>
              <a:extLst>
                <a:ext uri="{96DAC541-7B7A-43D3-8B79-37D633B846F1}">
                  <asvg:svgBlip xmlns:asvg="http://schemas.microsoft.com/office/drawing/2016/SVG/main" r:embed="rId6"/>
                </a:ext>
              </a:extLst>
            </a:blip>
            <a:stretch>
              <a:fillRect/>
            </a:stretch>
          </a:blipFill>
        </p:spPr>
      </p:sp>
      <p:sp>
        <p:nvSpPr>
          <p:cNvPr id="20" name="Freeform 20"/>
          <p:cNvSpPr/>
          <p:nvPr/>
        </p:nvSpPr>
        <p:spPr>
          <a:xfrm>
            <a:off x="15998053" y="8614508"/>
            <a:ext cx="3859024" cy="3342880"/>
          </a:xfrm>
          <a:custGeom>
            <a:avLst/>
            <a:gdLst/>
            <a:ahLst/>
            <a:cxnLst/>
            <a:rect l="l" t="t" r="r" b="b"/>
            <a:pathLst>
              <a:path w="3859024" h="3342880">
                <a:moveTo>
                  <a:pt x="0" y="0"/>
                </a:moveTo>
                <a:lnTo>
                  <a:pt x="3859024" y="0"/>
                </a:lnTo>
                <a:lnTo>
                  <a:pt x="3859024" y="3342880"/>
                </a:lnTo>
                <a:lnTo>
                  <a:pt x="0" y="3342880"/>
                </a:lnTo>
                <a:lnTo>
                  <a:pt x="0" y="0"/>
                </a:lnTo>
                <a:close/>
              </a:path>
            </a:pathLst>
          </a:custGeom>
          <a:blipFill>
            <a:blip r:embed="rId7">
              <a:alphaModFix amt="5000"/>
              <a:extLst>
                <a:ext uri="{96DAC541-7B7A-43D3-8B79-37D633B846F1}">
                  <asvg:svgBlip xmlns:asvg="http://schemas.microsoft.com/office/drawing/2016/SVG/main" r:embed="rId8"/>
                </a:ext>
              </a:extLst>
            </a:blip>
            <a:stretch>
              <a:fillRect/>
            </a:stretch>
          </a:blipFill>
        </p:spPr>
      </p:sp>
      <p:grpSp>
        <p:nvGrpSpPr>
          <p:cNvPr id="21" name="Group 21"/>
          <p:cNvGrpSpPr/>
          <p:nvPr/>
        </p:nvGrpSpPr>
        <p:grpSpPr>
          <a:xfrm>
            <a:off x="14043734" y="9851941"/>
            <a:ext cx="4377976" cy="537986"/>
            <a:chOff x="0" y="0"/>
            <a:chExt cx="1153047" cy="141692"/>
          </a:xfrm>
        </p:grpSpPr>
        <p:sp>
          <p:nvSpPr>
            <p:cNvPr id="22" name="Freeform 22"/>
            <p:cNvSpPr/>
            <p:nvPr/>
          </p:nvSpPr>
          <p:spPr>
            <a:xfrm>
              <a:off x="0" y="0"/>
              <a:ext cx="1153047" cy="141692"/>
            </a:xfrm>
            <a:custGeom>
              <a:avLst/>
              <a:gdLst/>
              <a:ahLst/>
              <a:cxnLst/>
              <a:rect l="l" t="t" r="r" b="b"/>
              <a:pathLst>
                <a:path w="1153047" h="141692">
                  <a:moveTo>
                    <a:pt x="70846" y="0"/>
                  </a:moveTo>
                  <a:lnTo>
                    <a:pt x="1082201" y="0"/>
                  </a:lnTo>
                  <a:cubicBezTo>
                    <a:pt x="1100991" y="0"/>
                    <a:pt x="1119011" y="7464"/>
                    <a:pt x="1132297" y="20750"/>
                  </a:cubicBezTo>
                  <a:cubicBezTo>
                    <a:pt x="1145583" y="34036"/>
                    <a:pt x="1153047" y="52056"/>
                    <a:pt x="1153047" y="70846"/>
                  </a:cubicBezTo>
                  <a:lnTo>
                    <a:pt x="1153047" y="70846"/>
                  </a:lnTo>
                  <a:cubicBezTo>
                    <a:pt x="1153047" y="89635"/>
                    <a:pt x="1145583" y="107655"/>
                    <a:pt x="1132297" y="120942"/>
                  </a:cubicBezTo>
                  <a:cubicBezTo>
                    <a:pt x="1119011" y="134228"/>
                    <a:pt x="1100991" y="141692"/>
                    <a:pt x="1082201" y="141692"/>
                  </a:cubicBezTo>
                  <a:lnTo>
                    <a:pt x="70846" y="141692"/>
                  </a:lnTo>
                  <a:cubicBezTo>
                    <a:pt x="52056" y="141692"/>
                    <a:pt x="34036" y="134228"/>
                    <a:pt x="20750" y="120942"/>
                  </a:cubicBezTo>
                  <a:cubicBezTo>
                    <a:pt x="7464" y="107655"/>
                    <a:pt x="0" y="89635"/>
                    <a:pt x="0" y="70846"/>
                  </a:cubicBezTo>
                  <a:lnTo>
                    <a:pt x="0" y="70846"/>
                  </a:lnTo>
                  <a:cubicBezTo>
                    <a:pt x="0" y="52056"/>
                    <a:pt x="7464" y="34036"/>
                    <a:pt x="20750" y="20750"/>
                  </a:cubicBezTo>
                  <a:cubicBezTo>
                    <a:pt x="34036" y="7464"/>
                    <a:pt x="52056" y="0"/>
                    <a:pt x="70846" y="0"/>
                  </a:cubicBezTo>
                  <a:close/>
                </a:path>
              </a:pathLst>
            </a:custGeom>
            <a:solidFill>
              <a:srgbClr val="16578D"/>
            </a:solidFill>
          </p:spPr>
        </p:sp>
        <p:sp>
          <p:nvSpPr>
            <p:cNvPr id="23" name="TextBox 23"/>
            <p:cNvSpPr txBox="1"/>
            <p:nvPr/>
          </p:nvSpPr>
          <p:spPr>
            <a:xfrm>
              <a:off x="0" y="-47625"/>
              <a:ext cx="1153047" cy="189317"/>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894147" y="8813948"/>
            <a:ext cx="1177504" cy="797759"/>
          </a:xfrm>
          <a:custGeom>
            <a:avLst/>
            <a:gdLst/>
            <a:ahLst/>
            <a:cxnLst/>
            <a:rect l="l" t="t" r="r" b="b"/>
            <a:pathLst>
              <a:path w="1177504" h="797759">
                <a:moveTo>
                  <a:pt x="0" y="0"/>
                </a:moveTo>
                <a:lnTo>
                  <a:pt x="1177505" y="0"/>
                </a:lnTo>
                <a:lnTo>
                  <a:pt x="1177505" y="797759"/>
                </a:lnTo>
                <a:lnTo>
                  <a:pt x="0" y="79775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5" name="Group 25"/>
          <p:cNvGrpSpPr/>
          <p:nvPr/>
        </p:nvGrpSpPr>
        <p:grpSpPr>
          <a:xfrm>
            <a:off x="2157079" y="2953066"/>
            <a:ext cx="13973842" cy="6620541"/>
            <a:chOff x="0" y="0"/>
            <a:chExt cx="18631790" cy="8827388"/>
          </a:xfrm>
        </p:grpSpPr>
        <p:grpSp>
          <p:nvGrpSpPr>
            <p:cNvPr id="26" name="Group 26"/>
            <p:cNvGrpSpPr/>
            <p:nvPr/>
          </p:nvGrpSpPr>
          <p:grpSpPr>
            <a:xfrm>
              <a:off x="14562566" y="3768249"/>
              <a:ext cx="2212048" cy="925470"/>
              <a:chOff x="0" y="0"/>
              <a:chExt cx="454729" cy="190248"/>
            </a:xfrm>
          </p:grpSpPr>
          <p:sp>
            <p:nvSpPr>
              <p:cNvPr id="27" name="Freeform 27"/>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F48924"/>
              </a:solidFill>
            </p:spPr>
          </p:sp>
          <p:sp>
            <p:nvSpPr>
              <p:cNvPr id="28" name="TextBox 28"/>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961149" y="7744910"/>
              <a:ext cx="3426041" cy="767926"/>
            </a:xfrm>
            <a:prstGeom prst="rect">
              <a:avLst/>
            </a:prstGeom>
          </p:spPr>
          <p:txBody>
            <a:bodyPr lIns="0" tIns="0" rIns="0" bIns="0" rtlCol="0" anchor="t">
              <a:spAutoFit/>
            </a:bodyPr>
            <a:lstStyle/>
            <a:p>
              <a:pPr algn="ctr">
                <a:lnSpc>
                  <a:spcPts val="2380"/>
                </a:lnSpc>
              </a:pPr>
              <a:r>
                <a:rPr lang="en-US" sz="1700">
                  <a:solidFill>
                    <a:srgbClr val="1D1A1B"/>
                  </a:solidFill>
                  <a:latin typeface="Public Sans"/>
                  <a:ea typeface="Public Sans"/>
                  <a:cs typeface="Public Sans"/>
                  <a:sym typeface="Public Sans"/>
                </a:rPr>
                <a:t>IT/Web development Beginnings</a:t>
              </a:r>
            </a:p>
          </p:txBody>
        </p:sp>
        <p:grpSp>
          <p:nvGrpSpPr>
            <p:cNvPr id="30" name="Group 30"/>
            <p:cNvGrpSpPr/>
            <p:nvPr/>
          </p:nvGrpSpPr>
          <p:grpSpPr>
            <a:xfrm>
              <a:off x="1848102" y="5219731"/>
              <a:ext cx="1432978" cy="1432978"/>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16578D"/>
                </a:solidFill>
                <a:prstDash val="solid"/>
                <a:miter/>
              </a:ln>
            </p:spPr>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6260182" y="5219731"/>
              <a:ext cx="1432978" cy="1432978"/>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16578D"/>
                </a:solidFill>
                <a:prstDash val="solid"/>
                <a:miter/>
              </a:ln>
            </p:spPr>
          </p:sp>
          <p:sp>
            <p:nvSpPr>
              <p:cNvPr id="35" name="TextBox 3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4069207" y="1858255"/>
              <a:ext cx="1432978" cy="1432978"/>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F48924"/>
                </a:solidFill>
                <a:prstDash val="solid"/>
                <a:miter/>
              </a:ln>
            </p:spPr>
          </p:sp>
          <p:sp>
            <p:nvSpPr>
              <p:cNvPr id="38" name="TextBox 3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8422536" y="1858255"/>
              <a:ext cx="1432978" cy="1432978"/>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F48924"/>
                </a:solidFill>
                <a:prstDash val="solid"/>
                <a:miter/>
              </a:ln>
            </p:spPr>
          </p:sp>
          <p:sp>
            <p:nvSpPr>
              <p:cNvPr id="41" name="TextBox 4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42" name="AutoShape 42"/>
            <p:cNvSpPr/>
            <p:nvPr/>
          </p:nvSpPr>
          <p:spPr>
            <a:xfrm>
              <a:off x="2564591" y="4731379"/>
              <a:ext cx="0" cy="488352"/>
            </a:xfrm>
            <a:prstGeom prst="line">
              <a:avLst/>
            </a:prstGeom>
            <a:ln w="25400" cap="flat">
              <a:solidFill>
                <a:srgbClr val="1D1A1B"/>
              </a:solidFill>
              <a:prstDash val="solid"/>
              <a:headEnd type="none" w="sm" len="sm"/>
              <a:tailEnd type="none" w="sm" len="sm"/>
            </a:ln>
          </p:spPr>
        </p:sp>
        <p:sp>
          <p:nvSpPr>
            <p:cNvPr id="43" name="AutoShape 43"/>
            <p:cNvSpPr/>
            <p:nvPr/>
          </p:nvSpPr>
          <p:spPr>
            <a:xfrm>
              <a:off x="6976671" y="4731379"/>
              <a:ext cx="0" cy="488352"/>
            </a:xfrm>
            <a:prstGeom prst="line">
              <a:avLst/>
            </a:prstGeom>
            <a:ln w="25400" cap="flat">
              <a:solidFill>
                <a:srgbClr val="1D1A1B"/>
              </a:solidFill>
              <a:prstDash val="solid"/>
              <a:headEnd type="none" w="sm" len="sm"/>
              <a:tailEnd type="none" w="sm" len="sm"/>
            </a:ln>
          </p:spPr>
        </p:sp>
        <p:sp>
          <p:nvSpPr>
            <p:cNvPr id="44" name="AutoShape 44"/>
            <p:cNvSpPr/>
            <p:nvPr/>
          </p:nvSpPr>
          <p:spPr>
            <a:xfrm>
              <a:off x="4785696" y="3291233"/>
              <a:ext cx="0" cy="488352"/>
            </a:xfrm>
            <a:prstGeom prst="line">
              <a:avLst/>
            </a:prstGeom>
            <a:ln w="25400" cap="flat">
              <a:solidFill>
                <a:srgbClr val="1D1A1B"/>
              </a:solidFill>
              <a:prstDash val="solid"/>
              <a:headEnd type="none" w="sm" len="sm"/>
              <a:tailEnd type="none" w="sm" len="sm"/>
            </a:ln>
          </p:spPr>
        </p:sp>
        <p:sp>
          <p:nvSpPr>
            <p:cNvPr id="45" name="AutoShape 45"/>
            <p:cNvSpPr/>
            <p:nvPr/>
          </p:nvSpPr>
          <p:spPr>
            <a:xfrm>
              <a:off x="9139025" y="3291233"/>
              <a:ext cx="0" cy="488352"/>
            </a:xfrm>
            <a:prstGeom prst="line">
              <a:avLst/>
            </a:prstGeom>
            <a:ln w="25400" cap="flat">
              <a:solidFill>
                <a:srgbClr val="1D1A1B"/>
              </a:solidFill>
              <a:prstDash val="solid"/>
              <a:headEnd type="none" w="sm" len="sm"/>
              <a:tailEnd type="none" w="sm" len="sm"/>
            </a:ln>
          </p:spPr>
        </p:sp>
        <p:grpSp>
          <p:nvGrpSpPr>
            <p:cNvPr id="46" name="Group 46"/>
            <p:cNvGrpSpPr/>
            <p:nvPr/>
          </p:nvGrpSpPr>
          <p:grpSpPr>
            <a:xfrm rot="5400000">
              <a:off x="360482" y="3407766"/>
              <a:ext cx="925470" cy="1646435"/>
              <a:chOff x="0" y="0"/>
              <a:chExt cx="736600" cy="1310430"/>
            </a:xfrm>
          </p:grpSpPr>
          <p:sp>
            <p:nvSpPr>
              <p:cNvPr id="47" name="Freeform 47"/>
              <p:cNvSpPr/>
              <p:nvPr/>
            </p:nvSpPr>
            <p:spPr>
              <a:xfrm>
                <a:off x="0" y="0"/>
                <a:ext cx="736600" cy="1310430"/>
              </a:xfrm>
              <a:custGeom>
                <a:avLst/>
                <a:gdLst/>
                <a:ahLst/>
                <a:cxnLst/>
                <a:rect l="l" t="t" r="r" b="b"/>
                <a:pathLst>
                  <a:path w="736600" h="1310430">
                    <a:moveTo>
                      <a:pt x="736600" y="0"/>
                    </a:moveTo>
                    <a:lnTo>
                      <a:pt x="736600" y="1310430"/>
                    </a:lnTo>
                    <a:lnTo>
                      <a:pt x="368300" y="1183430"/>
                    </a:lnTo>
                    <a:lnTo>
                      <a:pt x="0" y="1310430"/>
                    </a:lnTo>
                    <a:lnTo>
                      <a:pt x="0" y="0"/>
                    </a:lnTo>
                    <a:lnTo>
                      <a:pt x="736600" y="0"/>
                    </a:lnTo>
                    <a:close/>
                  </a:path>
                </a:pathLst>
              </a:custGeom>
              <a:solidFill>
                <a:srgbClr val="16578D"/>
              </a:solidFill>
              <a:ln cap="sq">
                <a:noFill/>
                <a:prstDash val="solid"/>
                <a:miter/>
              </a:ln>
            </p:spPr>
          </p:sp>
          <p:sp>
            <p:nvSpPr>
              <p:cNvPr id="48" name="TextBox 48"/>
              <p:cNvSpPr txBox="1"/>
              <p:nvPr/>
            </p:nvSpPr>
            <p:spPr>
              <a:xfrm>
                <a:off x="0" y="-47625"/>
                <a:ext cx="736600" cy="12310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9" name="Group 49"/>
            <p:cNvGrpSpPr/>
            <p:nvPr/>
          </p:nvGrpSpPr>
          <p:grpSpPr>
            <a:xfrm>
              <a:off x="16774614" y="3302396"/>
              <a:ext cx="1857176" cy="1857176"/>
              <a:chOff x="0" y="0"/>
              <a:chExt cx="812800" cy="812800"/>
            </a:xfrm>
          </p:grpSpPr>
          <p:sp>
            <p:nvSpPr>
              <p:cNvPr id="50" name="Freeform 50"/>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6578D"/>
              </a:solidFill>
            </p:spPr>
          </p:sp>
          <p:sp>
            <p:nvSpPr>
              <p:cNvPr id="51" name="TextBox 51"/>
              <p:cNvSpPr txBox="1"/>
              <p:nvPr/>
            </p:nvSpPr>
            <p:spPr>
              <a:xfrm>
                <a:off x="0" y="155575"/>
                <a:ext cx="711200" cy="454025"/>
              </a:xfrm>
              <a:prstGeom prst="rect">
                <a:avLst/>
              </a:prstGeom>
            </p:spPr>
            <p:txBody>
              <a:bodyPr lIns="50800" tIns="50800" rIns="50800" bIns="50800" rtlCol="0" anchor="ctr"/>
              <a:lstStyle/>
              <a:p>
                <a:pPr algn="ctr">
                  <a:lnSpc>
                    <a:spcPts val="2659"/>
                  </a:lnSpc>
                </a:pPr>
                <a:endParaRPr/>
              </a:p>
            </p:txBody>
          </p:sp>
        </p:grpSp>
        <p:sp>
          <p:nvSpPr>
            <p:cNvPr id="52" name="TextBox 52"/>
            <p:cNvSpPr txBox="1"/>
            <p:nvPr/>
          </p:nvSpPr>
          <p:spPr>
            <a:xfrm>
              <a:off x="14876676"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2025</a:t>
              </a:r>
            </a:p>
          </p:txBody>
        </p:sp>
        <p:sp>
          <p:nvSpPr>
            <p:cNvPr id="53" name="TextBox 53"/>
            <p:cNvSpPr txBox="1"/>
            <p:nvPr/>
          </p:nvSpPr>
          <p:spPr>
            <a:xfrm>
              <a:off x="5373229" y="7744910"/>
              <a:ext cx="3426041" cy="767926"/>
            </a:xfrm>
            <a:prstGeom prst="rect">
              <a:avLst/>
            </a:prstGeom>
          </p:spPr>
          <p:txBody>
            <a:bodyPr lIns="0" tIns="0" rIns="0" bIns="0" rtlCol="0" anchor="t">
              <a:spAutoFit/>
            </a:bodyPr>
            <a:lstStyle/>
            <a:p>
              <a:pPr algn="ctr">
                <a:lnSpc>
                  <a:spcPts val="2380"/>
                </a:lnSpc>
              </a:pPr>
              <a:r>
                <a:rPr lang="en-US" sz="1700">
                  <a:solidFill>
                    <a:srgbClr val="1D1A1B"/>
                  </a:solidFill>
                  <a:latin typeface="Public Sans"/>
                  <a:ea typeface="Public Sans"/>
                  <a:cs typeface="Public Sans"/>
                  <a:sym typeface="Public Sans"/>
                </a:rPr>
                <a:t>Customized ERP For EhamGroups Saudi</a:t>
              </a:r>
            </a:p>
          </p:txBody>
        </p:sp>
        <p:sp>
          <p:nvSpPr>
            <p:cNvPr id="54" name="TextBox 54"/>
            <p:cNvSpPr txBox="1"/>
            <p:nvPr/>
          </p:nvSpPr>
          <p:spPr>
            <a:xfrm>
              <a:off x="2985067" y="772829"/>
              <a:ext cx="3426041" cy="767926"/>
            </a:xfrm>
            <a:prstGeom prst="rect">
              <a:avLst/>
            </a:prstGeom>
          </p:spPr>
          <p:txBody>
            <a:bodyPr lIns="0" tIns="0" rIns="0" bIns="0" rtlCol="0" anchor="t">
              <a:spAutoFit/>
            </a:bodyPr>
            <a:lstStyle/>
            <a:p>
              <a:pPr algn="ctr">
                <a:lnSpc>
                  <a:spcPts val="2380"/>
                </a:lnSpc>
              </a:pPr>
              <a:r>
                <a:rPr lang="en-US" sz="1700">
                  <a:solidFill>
                    <a:srgbClr val="1D1A1B"/>
                  </a:solidFill>
                  <a:latin typeface="Public Sans"/>
                  <a:ea typeface="Public Sans"/>
                  <a:cs typeface="Public Sans"/>
                  <a:sym typeface="Public Sans"/>
                </a:rPr>
                <a:t>Developed TNPSC Portal with Vishala Designs</a:t>
              </a:r>
            </a:p>
          </p:txBody>
        </p:sp>
        <p:sp>
          <p:nvSpPr>
            <p:cNvPr id="55" name="TextBox 55"/>
            <p:cNvSpPr txBox="1"/>
            <p:nvPr/>
          </p:nvSpPr>
          <p:spPr>
            <a:xfrm>
              <a:off x="7338395" y="772829"/>
              <a:ext cx="3426041" cy="767926"/>
            </a:xfrm>
            <a:prstGeom prst="rect">
              <a:avLst/>
            </a:prstGeom>
          </p:spPr>
          <p:txBody>
            <a:bodyPr lIns="0" tIns="0" rIns="0" bIns="0" rtlCol="0" anchor="t">
              <a:spAutoFit/>
            </a:bodyPr>
            <a:lstStyle/>
            <a:p>
              <a:pPr algn="ctr">
                <a:lnSpc>
                  <a:spcPts val="2380"/>
                </a:lnSpc>
              </a:pPr>
              <a:r>
                <a:rPr lang="en-US" sz="1700">
                  <a:solidFill>
                    <a:srgbClr val="1D1A1B"/>
                  </a:solidFill>
                  <a:latin typeface="Public Sans"/>
                  <a:ea typeface="Public Sans"/>
                  <a:cs typeface="Public Sans"/>
                  <a:sym typeface="Public Sans"/>
                </a:rPr>
                <a:t>ERP &amp; CRM Solutions has Bought Global Reach</a:t>
              </a:r>
            </a:p>
          </p:txBody>
        </p:sp>
        <p:sp>
          <p:nvSpPr>
            <p:cNvPr id="56" name="TextBox 56"/>
            <p:cNvSpPr txBox="1"/>
            <p:nvPr/>
          </p:nvSpPr>
          <p:spPr>
            <a:xfrm>
              <a:off x="851570" y="6960685"/>
              <a:ext cx="3645199"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Early Stage</a:t>
              </a:r>
            </a:p>
          </p:txBody>
        </p:sp>
        <p:sp>
          <p:nvSpPr>
            <p:cNvPr id="57" name="TextBox 57"/>
            <p:cNvSpPr txBox="1"/>
            <p:nvPr/>
          </p:nvSpPr>
          <p:spPr>
            <a:xfrm>
              <a:off x="5571081" y="6960685"/>
              <a:ext cx="2979537"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Diversification</a:t>
              </a:r>
            </a:p>
          </p:txBody>
        </p:sp>
        <p:sp>
          <p:nvSpPr>
            <p:cNvPr id="58" name="TextBox 58"/>
            <p:cNvSpPr txBox="1"/>
            <p:nvPr/>
          </p:nvSpPr>
          <p:spPr>
            <a:xfrm>
              <a:off x="3194537" y="1304"/>
              <a:ext cx="3096299"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Collaboration</a:t>
              </a:r>
            </a:p>
          </p:txBody>
        </p:sp>
        <p:sp>
          <p:nvSpPr>
            <p:cNvPr id="59" name="TextBox 59"/>
            <p:cNvSpPr txBox="1"/>
            <p:nvPr/>
          </p:nvSpPr>
          <p:spPr>
            <a:xfrm>
              <a:off x="7861814" y="1304"/>
              <a:ext cx="2303003"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Expansion</a:t>
              </a:r>
            </a:p>
          </p:txBody>
        </p:sp>
        <p:grpSp>
          <p:nvGrpSpPr>
            <p:cNvPr id="60" name="Group 60"/>
            <p:cNvGrpSpPr/>
            <p:nvPr/>
          </p:nvGrpSpPr>
          <p:grpSpPr>
            <a:xfrm>
              <a:off x="12364636" y="3768249"/>
              <a:ext cx="2212048" cy="925470"/>
              <a:chOff x="0" y="0"/>
              <a:chExt cx="454729" cy="190248"/>
            </a:xfrm>
          </p:grpSpPr>
          <p:sp>
            <p:nvSpPr>
              <p:cNvPr id="61" name="Freeform 61"/>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16578D"/>
              </a:solidFill>
            </p:spPr>
          </p:sp>
          <p:sp>
            <p:nvSpPr>
              <p:cNvPr id="62" name="TextBox 62"/>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63" name="TextBox 63"/>
            <p:cNvSpPr txBox="1"/>
            <p:nvPr/>
          </p:nvSpPr>
          <p:spPr>
            <a:xfrm>
              <a:off x="12678746"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2024</a:t>
              </a:r>
            </a:p>
          </p:txBody>
        </p:sp>
        <p:grpSp>
          <p:nvGrpSpPr>
            <p:cNvPr id="64" name="Group 64"/>
            <p:cNvGrpSpPr/>
            <p:nvPr/>
          </p:nvGrpSpPr>
          <p:grpSpPr>
            <a:xfrm>
              <a:off x="10165288" y="3768249"/>
              <a:ext cx="2212048" cy="925470"/>
              <a:chOff x="0" y="0"/>
              <a:chExt cx="454729" cy="190248"/>
            </a:xfrm>
          </p:grpSpPr>
          <p:sp>
            <p:nvSpPr>
              <p:cNvPr id="65" name="Freeform 65"/>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F48924"/>
              </a:solidFill>
            </p:spPr>
          </p:sp>
          <p:sp>
            <p:nvSpPr>
              <p:cNvPr id="66" name="TextBox 66"/>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67" name="TextBox 67"/>
            <p:cNvSpPr txBox="1"/>
            <p:nvPr/>
          </p:nvSpPr>
          <p:spPr>
            <a:xfrm>
              <a:off x="10466698"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2022</a:t>
              </a:r>
            </a:p>
          </p:txBody>
        </p:sp>
        <p:grpSp>
          <p:nvGrpSpPr>
            <p:cNvPr id="68" name="Group 68"/>
            <p:cNvGrpSpPr/>
            <p:nvPr/>
          </p:nvGrpSpPr>
          <p:grpSpPr>
            <a:xfrm>
              <a:off x="7991339" y="3768249"/>
              <a:ext cx="2212048" cy="925470"/>
              <a:chOff x="0" y="0"/>
              <a:chExt cx="454729" cy="190248"/>
            </a:xfrm>
          </p:grpSpPr>
          <p:sp>
            <p:nvSpPr>
              <p:cNvPr id="69" name="Freeform 69"/>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16578D"/>
              </a:solidFill>
            </p:spPr>
          </p:sp>
          <p:sp>
            <p:nvSpPr>
              <p:cNvPr id="70" name="TextBox 70"/>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71" name="TextBox 71"/>
            <p:cNvSpPr txBox="1"/>
            <p:nvPr/>
          </p:nvSpPr>
          <p:spPr>
            <a:xfrm>
              <a:off x="8305450"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2021</a:t>
              </a:r>
            </a:p>
          </p:txBody>
        </p:sp>
        <p:grpSp>
          <p:nvGrpSpPr>
            <p:cNvPr id="72" name="Group 72"/>
            <p:cNvGrpSpPr/>
            <p:nvPr/>
          </p:nvGrpSpPr>
          <p:grpSpPr>
            <a:xfrm>
              <a:off x="5826701" y="3768249"/>
              <a:ext cx="2212048" cy="925470"/>
              <a:chOff x="0" y="0"/>
              <a:chExt cx="454729" cy="190248"/>
            </a:xfrm>
          </p:grpSpPr>
          <p:sp>
            <p:nvSpPr>
              <p:cNvPr id="73" name="Freeform 73"/>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F48924"/>
              </a:solidFill>
            </p:spPr>
          </p:sp>
          <p:sp>
            <p:nvSpPr>
              <p:cNvPr id="74" name="TextBox 74"/>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75" name="TextBox 75"/>
            <p:cNvSpPr txBox="1"/>
            <p:nvPr/>
          </p:nvSpPr>
          <p:spPr>
            <a:xfrm>
              <a:off x="6140811"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2020</a:t>
              </a:r>
            </a:p>
          </p:txBody>
        </p:sp>
        <p:grpSp>
          <p:nvGrpSpPr>
            <p:cNvPr id="76" name="Group 76"/>
            <p:cNvGrpSpPr/>
            <p:nvPr/>
          </p:nvGrpSpPr>
          <p:grpSpPr>
            <a:xfrm>
              <a:off x="3636663" y="3768249"/>
              <a:ext cx="2212048" cy="925470"/>
              <a:chOff x="0" y="0"/>
              <a:chExt cx="454729" cy="190248"/>
            </a:xfrm>
          </p:grpSpPr>
          <p:sp>
            <p:nvSpPr>
              <p:cNvPr id="77" name="Freeform 77"/>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16578D"/>
              </a:solidFill>
            </p:spPr>
          </p:sp>
          <p:sp>
            <p:nvSpPr>
              <p:cNvPr id="78" name="TextBox 78"/>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79" name="TextBox 79"/>
            <p:cNvSpPr txBox="1"/>
            <p:nvPr/>
          </p:nvSpPr>
          <p:spPr>
            <a:xfrm>
              <a:off x="3950773"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2019</a:t>
              </a:r>
            </a:p>
          </p:txBody>
        </p:sp>
        <p:grpSp>
          <p:nvGrpSpPr>
            <p:cNvPr id="80" name="Group 80"/>
            <p:cNvGrpSpPr/>
            <p:nvPr/>
          </p:nvGrpSpPr>
          <p:grpSpPr>
            <a:xfrm>
              <a:off x="1433925" y="3768249"/>
              <a:ext cx="2212048" cy="925470"/>
              <a:chOff x="0" y="0"/>
              <a:chExt cx="454729" cy="190248"/>
            </a:xfrm>
          </p:grpSpPr>
          <p:sp>
            <p:nvSpPr>
              <p:cNvPr id="81" name="Freeform 81"/>
              <p:cNvSpPr/>
              <p:nvPr/>
            </p:nvSpPr>
            <p:spPr>
              <a:xfrm>
                <a:off x="0" y="0"/>
                <a:ext cx="454729" cy="190248"/>
              </a:xfrm>
              <a:custGeom>
                <a:avLst/>
                <a:gdLst/>
                <a:ahLst/>
                <a:cxnLst/>
                <a:rect l="l" t="t" r="r" b="b"/>
                <a:pathLst>
                  <a:path w="454729" h="190248">
                    <a:moveTo>
                      <a:pt x="0" y="0"/>
                    </a:moveTo>
                    <a:lnTo>
                      <a:pt x="454729" y="0"/>
                    </a:lnTo>
                    <a:lnTo>
                      <a:pt x="454729" y="190248"/>
                    </a:lnTo>
                    <a:lnTo>
                      <a:pt x="0" y="190248"/>
                    </a:lnTo>
                    <a:close/>
                  </a:path>
                </a:pathLst>
              </a:custGeom>
              <a:solidFill>
                <a:srgbClr val="F48924"/>
              </a:solidFill>
            </p:spPr>
          </p:sp>
          <p:sp>
            <p:nvSpPr>
              <p:cNvPr id="82" name="TextBox 82"/>
              <p:cNvSpPr txBox="1"/>
              <p:nvPr/>
            </p:nvSpPr>
            <p:spPr>
              <a:xfrm>
                <a:off x="0" y="-47625"/>
                <a:ext cx="454729" cy="237873"/>
              </a:xfrm>
              <a:prstGeom prst="rect">
                <a:avLst/>
              </a:prstGeom>
            </p:spPr>
            <p:txBody>
              <a:bodyPr lIns="50800" tIns="50800" rIns="50800" bIns="50800" rtlCol="0" anchor="ctr"/>
              <a:lstStyle/>
              <a:p>
                <a:pPr algn="ctr">
                  <a:lnSpc>
                    <a:spcPts val="2659"/>
                  </a:lnSpc>
                </a:pPr>
                <a:endParaRPr/>
              </a:p>
            </p:txBody>
          </p:sp>
        </p:grpSp>
        <p:sp>
          <p:nvSpPr>
            <p:cNvPr id="83" name="TextBox 83"/>
            <p:cNvSpPr txBox="1"/>
            <p:nvPr/>
          </p:nvSpPr>
          <p:spPr>
            <a:xfrm>
              <a:off x="1748035" y="3983492"/>
              <a:ext cx="1659818" cy="485458"/>
            </a:xfrm>
            <a:prstGeom prst="rect">
              <a:avLst/>
            </a:prstGeom>
          </p:spPr>
          <p:txBody>
            <a:bodyPr lIns="0" tIns="0" rIns="0" bIns="0" rtlCol="0" anchor="t">
              <a:spAutoFit/>
            </a:bodyPr>
            <a:lstStyle/>
            <a:p>
              <a:pPr algn="ctr">
                <a:lnSpc>
                  <a:spcPts val="2882"/>
                </a:lnSpc>
              </a:pPr>
              <a:r>
                <a:rPr lang="en-US" sz="2402" b="1">
                  <a:solidFill>
                    <a:srgbClr val="FFFFFF"/>
                  </a:solidFill>
                  <a:latin typeface="Public Sans Bold"/>
                  <a:ea typeface="Public Sans Bold"/>
                  <a:cs typeface="Public Sans Bold"/>
                  <a:sym typeface="Public Sans Bold"/>
                </a:rPr>
                <a:t>2017</a:t>
              </a:r>
            </a:p>
          </p:txBody>
        </p:sp>
        <p:grpSp>
          <p:nvGrpSpPr>
            <p:cNvPr id="84" name="Group 84"/>
            <p:cNvGrpSpPr/>
            <p:nvPr/>
          </p:nvGrpSpPr>
          <p:grpSpPr>
            <a:xfrm>
              <a:off x="10742467" y="5182071"/>
              <a:ext cx="1432978" cy="1432978"/>
              <a:chOff x="0" y="0"/>
              <a:chExt cx="812800" cy="812800"/>
            </a:xfrm>
          </p:grpSpPr>
          <p:sp>
            <p:nvSpPr>
              <p:cNvPr id="85" name="Freeform 8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16578D"/>
                </a:solidFill>
                <a:prstDash val="solid"/>
                <a:miter/>
              </a:ln>
            </p:spPr>
          </p:sp>
          <p:sp>
            <p:nvSpPr>
              <p:cNvPr id="86" name="TextBox 8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87" name="AutoShape 87"/>
            <p:cNvSpPr/>
            <p:nvPr/>
          </p:nvSpPr>
          <p:spPr>
            <a:xfrm>
              <a:off x="11458956" y="4693719"/>
              <a:ext cx="0" cy="488352"/>
            </a:xfrm>
            <a:prstGeom prst="line">
              <a:avLst/>
            </a:prstGeom>
            <a:ln w="25400" cap="flat">
              <a:solidFill>
                <a:srgbClr val="1D1A1B"/>
              </a:solidFill>
              <a:prstDash val="solid"/>
              <a:headEnd type="none" w="sm" len="sm"/>
              <a:tailEnd type="none" w="sm" len="sm"/>
            </a:ln>
          </p:spPr>
        </p:sp>
        <p:sp>
          <p:nvSpPr>
            <p:cNvPr id="88" name="TextBox 88"/>
            <p:cNvSpPr txBox="1"/>
            <p:nvPr/>
          </p:nvSpPr>
          <p:spPr>
            <a:xfrm>
              <a:off x="9728862" y="7656449"/>
              <a:ext cx="3426041" cy="767926"/>
            </a:xfrm>
            <a:prstGeom prst="rect">
              <a:avLst/>
            </a:prstGeom>
          </p:spPr>
          <p:txBody>
            <a:bodyPr lIns="0" tIns="0" rIns="0" bIns="0" rtlCol="0" anchor="t">
              <a:spAutoFit/>
            </a:bodyPr>
            <a:lstStyle/>
            <a:p>
              <a:pPr algn="ctr">
                <a:lnSpc>
                  <a:spcPts val="2380"/>
                </a:lnSpc>
              </a:pPr>
              <a:r>
                <a:rPr lang="en-US" sz="1700">
                  <a:solidFill>
                    <a:srgbClr val="1D1A1B"/>
                  </a:solidFill>
                  <a:latin typeface="Public Sans"/>
                  <a:ea typeface="Public Sans"/>
                  <a:cs typeface="Public Sans"/>
                  <a:sym typeface="Public Sans"/>
                </a:rPr>
                <a:t>Service partnered with CargoWise</a:t>
              </a:r>
            </a:p>
          </p:txBody>
        </p:sp>
        <p:sp>
          <p:nvSpPr>
            <p:cNvPr id="89" name="TextBox 89"/>
            <p:cNvSpPr txBox="1"/>
            <p:nvPr/>
          </p:nvSpPr>
          <p:spPr>
            <a:xfrm>
              <a:off x="9750309" y="6923024"/>
              <a:ext cx="3417294"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Strategic Shift</a:t>
              </a:r>
            </a:p>
          </p:txBody>
        </p:sp>
        <p:grpSp>
          <p:nvGrpSpPr>
            <p:cNvPr id="90" name="Group 90"/>
            <p:cNvGrpSpPr/>
            <p:nvPr/>
          </p:nvGrpSpPr>
          <p:grpSpPr>
            <a:xfrm>
              <a:off x="12652675" y="1858255"/>
              <a:ext cx="1432978" cy="1432978"/>
              <a:chOff x="0" y="0"/>
              <a:chExt cx="812800" cy="812800"/>
            </a:xfrm>
          </p:grpSpPr>
          <p:sp>
            <p:nvSpPr>
              <p:cNvPr id="91" name="Freeform 9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F48924"/>
                </a:solidFill>
                <a:prstDash val="solid"/>
                <a:miter/>
              </a:ln>
            </p:spPr>
          </p:sp>
          <p:sp>
            <p:nvSpPr>
              <p:cNvPr id="92" name="TextBox 9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93" name="AutoShape 93"/>
            <p:cNvSpPr/>
            <p:nvPr/>
          </p:nvSpPr>
          <p:spPr>
            <a:xfrm>
              <a:off x="13369164" y="3291233"/>
              <a:ext cx="0" cy="488352"/>
            </a:xfrm>
            <a:prstGeom prst="line">
              <a:avLst/>
            </a:prstGeom>
            <a:ln w="25400" cap="flat">
              <a:solidFill>
                <a:srgbClr val="1D1A1B"/>
              </a:solidFill>
              <a:prstDash val="solid"/>
              <a:headEnd type="none" w="sm" len="sm"/>
              <a:tailEnd type="none" w="sm" len="sm"/>
            </a:ln>
          </p:spPr>
        </p:sp>
        <p:sp>
          <p:nvSpPr>
            <p:cNvPr id="94" name="TextBox 94"/>
            <p:cNvSpPr txBox="1"/>
            <p:nvPr/>
          </p:nvSpPr>
          <p:spPr>
            <a:xfrm>
              <a:off x="11471656" y="772829"/>
              <a:ext cx="3695572" cy="767926"/>
            </a:xfrm>
            <a:prstGeom prst="rect">
              <a:avLst/>
            </a:prstGeom>
          </p:spPr>
          <p:txBody>
            <a:bodyPr lIns="0" tIns="0" rIns="0" bIns="0" rtlCol="0" anchor="t">
              <a:spAutoFit/>
            </a:bodyPr>
            <a:lstStyle/>
            <a:p>
              <a:pPr algn="ctr">
                <a:lnSpc>
                  <a:spcPts val="2380"/>
                </a:lnSpc>
              </a:pPr>
              <a:r>
                <a:rPr lang="en-US" sz="1700">
                  <a:solidFill>
                    <a:srgbClr val="1D1A1B"/>
                  </a:solidFill>
                  <a:latin typeface="Public Sans"/>
                  <a:ea typeface="Public Sans"/>
                  <a:cs typeface="Public Sans"/>
                  <a:sym typeface="Public Sans"/>
                </a:rPr>
                <a:t>Became a Platinum Service Partner of Cargowise</a:t>
              </a:r>
            </a:p>
          </p:txBody>
        </p:sp>
        <p:sp>
          <p:nvSpPr>
            <p:cNvPr id="95" name="TextBox 95"/>
            <p:cNvSpPr txBox="1"/>
            <p:nvPr/>
          </p:nvSpPr>
          <p:spPr>
            <a:xfrm>
              <a:off x="11765017" y="-9525"/>
              <a:ext cx="2902622"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Breakthrough</a:t>
              </a:r>
            </a:p>
          </p:txBody>
        </p:sp>
        <p:grpSp>
          <p:nvGrpSpPr>
            <p:cNvPr id="96" name="Group 96"/>
            <p:cNvGrpSpPr/>
            <p:nvPr/>
          </p:nvGrpSpPr>
          <p:grpSpPr>
            <a:xfrm>
              <a:off x="14918617" y="5169371"/>
              <a:ext cx="1432978" cy="1432978"/>
              <a:chOff x="0" y="0"/>
              <a:chExt cx="812800" cy="812800"/>
            </a:xfrm>
          </p:grpSpPr>
          <p:sp>
            <p:nvSpPr>
              <p:cNvPr id="97" name="Freeform 9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16578D"/>
                </a:solidFill>
                <a:prstDash val="solid"/>
                <a:miter/>
              </a:ln>
            </p:spPr>
          </p:sp>
          <p:sp>
            <p:nvSpPr>
              <p:cNvPr id="98" name="TextBox 9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99" name="AutoShape 99"/>
            <p:cNvSpPr/>
            <p:nvPr/>
          </p:nvSpPr>
          <p:spPr>
            <a:xfrm>
              <a:off x="15635106" y="4681019"/>
              <a:ext cx="0" cy="488352"/>
            </a:xfrm>
            <a:prstGeom prst="line">
              <a:avLst/>
            </a:prstGeom>
            <a:ln w="25400" cap="flat">
              <a:solidFill>
                <a:srgbClr val="1D1A1B"/>
              </a:solidFill>
              <a:prstDash val="solid"/>
              <a:headEnd type="none" w="sm" len="sm"/>
              <a:tailEnd type="none" w="sm" len="sm"/>
            </a:ln>
          </p:spPr>
        </p:sp>
        <p:sp>
          <p:nvSpPr>
            <p:cNvPr id="100" name="TextBox 100"/>
            <p:cNvSpPr txBox="1"/>
            <p:nvPr/>
          </p:nvSpPr>
          <p:spPr>
            <a:xfrm>
              <a:off x="13920676" y="7665762"/>
              <a:ext cx="3670018" cy="1161626"/>
            </a:xfrm>
            <a:prstGeom prst="rect">
              <a:avLst/>
            </a:prstGeom>
          </p:spPr>
          <p:txBody>
            <a:bodyPr lIns="0" tIns="0" rIns="0" bIns="0" rtlCol="0" anchor="t">
              <a:spAutoFit/>
            </a:bodyPr>
            <a:lstStyle/>
            <a:p>
              <a:pPr algn="ctr">
                <a:lnSpc>
                  <a:spcPts val="2380"/>
                </a:lnSpc>
              </a:pPr>
              <a:r>
                <a:rPr lang="en-US" sz="1700" spc="-5">
                  <a:solidFill>
                    <a:srgbClr val="1D1A1B"/>
                  </a:solidFill>
                  <a:latin typeface="Public Sans"/>
                  <a:ea typeface="Public Sans"/>
                  <a:cs typeface="Public Sans"/>
                  <a:sym typeface="Public Sans"/>
                </a:rPr>
                <a:t>Continuing to work extensively for CargoWise customers globally</a:t>
              </a:r>
            </a:p>
          </p:txBody>
        </p:sp>
        <p:sp>
          <p:nvSpPr>
            <p:cNvPr id="101" name="TextBox 101"/>
            <p:cNvSpPr txBox="1"/>
            <p:nvPr/>
          </p:nvSpPr>
          <p:spPr>
            <a:xfrm>
              <a:off x="14746812" y="6884924"/>
              <a:ext cx="1776588" cy="504825"/>
            </a:xfrm>
            <a:prstGeom prst="rect">
              <a:avLst/>
            </a:prstGeom>
          </p:spPr>
          <p:txBody>
            <a:bodyPr lIns="0" tIns="0" rIns="0" bIns="0" rtlCol="0" anchor="t">
              <a:spAutoFit/>
            </a:bodyPr>
            <a:lstStyle/>
            <a:p>
              <a:pPr algn="ctr">
                <a:lnSpc>
                  <a:spcPts val="2999"/>
                </a:lnSpc>
              </a:pPr>
              <a:r>
                <a:rPr lang="en-US" sz="2499" b="1">
                  <a:solidFill>
                    <a:srgbClr val="243B55"/>
                  </a:solidFill>
                  <a:latin typeface="Public Sans Bold"/>
                  <a:ea typeface="Public Sans Bold"/>
                  <a:cs typeface="Public Sans Bold"/>
                  <a:sym typeface="Public Sans Bold"/>
                </a:rPr>
                <a:t>Growth</a:t>
              </a:r>
            </a:p>
          </p:txBody>
        </p:sp>
        <p:sp>
          <p:nvSpPr>
            <p:cNvPr id="102" name="Freeform 102"/>
            <p:cNvSpPr/>
            <p:nvPr/>
          </p:nvSpPr>
          <p:spPr>
            <a:xfrm>
              <a:off x="2222243" y="5473594"/>
              <a:ext cx="665320" cy="974827"/>
            </a:xfrm>
            <a:custGeom>
              <a:avLst/>
              <a:gdLst/>
              <a:ahLst/>
              <a:cxnLst/>
              <a:rect l="l" t="t" r="r" b="b"/>
              <a:pathLst>
                <a:path w="665320" h="974827">
                  <a:moveTo>
                    <a:pt x="0" y="0"/>
                  </a:moveTo>
                  <a:lnTo>
                    <a:pt x="665320" y="0"/>
                  </a:lnTo>
                  <a:lnTo>
                    <a:pt x="665320" y="974827"/>
                  </a:lnTo>
                  <a:lnTo>
                    <a:pt x="0" y="9748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3" name="Freeform 103"/>
            <p:cNvSpPr/>
            <p:nvPr/>
          </p:nvSpPr>
          <p:spPr>
            <a:xfrm>
              <a:off x="6567158" y="5526289"/>
              <a:ext cx="812526" cy="767837"/>
            </a:xfrm>
            <a:custGeom>
              <a:avLst/>
              <a:gdLst/>
              <a:ahLst/>
              <a:cxnLst/>
              <a:rect l="l" t="t" r="r" b="b"/>
              <a:pathLst>
                <a:path w="812526" h="767837">
                  <a:moveTo>
                    <a:pt x="0" y="0"/>
                  </a:moveTo>
                  <a:lnTo>
                    <a:pt x="812526" y="0"/>
                  </a:lnTo>
                  <a:lnTo>
                    <a:pt x="812526" y="767837"/>
                  </a:lnTo>
                  <a:lnTo>
                    <a:pt x="0" y="76783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4" name="Freeform 104"/>
            <p:cNvSpPr/>
            <p:nvPr/>
          </p:nvSpPr>
          <p:spPr>
            <a:xfrm>
              <a:off x="11037284" y="5473594"/>
              <a:ext cx="881430" cy="881430"/>
            </a:xfrm>
            <a:custGeom>
              <a:avLst/>
              <a:gdLst/>
              <a:ahLst/>
              <a:cxnLst/>
              <a:rect l="l" t="t" r="r" b="b"/>
              <a:pathLst>
                <a:path w="881430" h="881430">
                  <a:moveTo>
                    <a:pt x="0" y="0"/>
                  </a:moveTo>
                  <a:lnTo>
                    <a:pt x="881429" y="0"/>
                  </a:lnTo>
                  <a:lnTo>
                    <a:pt x="881429" y="881429"/>
                  </a:lnTo>
                  <a:lnTo>
                    <a:pt x="0" y="88142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5" name="Freeform 105"/>
            <p:cNvSpPr/>
            <p:nvPr/>
          </p:nvSpPr>
          <p:spPr>
            <a:xfrm>
              <a:off x="15162501" y="5597624"/>
              <a:ext cx="983362" cy="726767"/>
            </a:xfrm>
            <a:custGeom>
              <a:avLst/>
              <a:gdLst/>
              <a:ahLst/>
              <a:cxnLst/>
              <a:rect l="l" t="t" r="r" b="b"/>
              <a:pathLst>
                <a:path w="983362" h="726767">
                  <a:moveTo>
                    <a:pt x="0" y="0"/>
                  </a:moveTo>
                  <a:lnTo>
                    <a:pt x="983361" y="0"/>
                  </a:lnTo>
                  <a:lnTo>
                    <a:pt x="983361" y="726767"/>
                  </a:lnTo>
                  <a:lnTo>
                    <a:pt x="0" y="726767"/>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06" name="Freeform 106"/>
            <p:cNvSpPr/>
            <p:nvPr/>
          </p:nvSpPr>
          <p:spPr>
            <a:xfrm>
              <a:off x="4347110" y="2281056"/>
              <a:ext cx="886948" cy="658559"/>
            </a:xfrm>
            <a:custGeom>
              <a:avLst/>
              <a:gdLst/>
              <a:ahLst/>
              <a:cxnLst/>
              <a:rect l="l" t="t" r="r" b="b"/>
              <a:pathLst>
                <a:path w="886948" h="658559">
                  <a:moveTo>
                    <a:pt x="0" y="0"/>
                  </a:moveTo>
                  <a:lnTo>
                    <a:pt x="886947" y="0"/>
                  </a:lnTo>
                  <a:lnTo>
                    <a:pt x="886947" y="658559"/>
                  </a:lnTo>
                  <a:lnTo>
                    <a:pt x="0" y="65855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07" name="Freeform 107"/>
            <p:cNvSpPr/>
            <p:nvPr/>
          </p:nvSpPr>
          <p:spPr>
            <a:xfrm>
              <a:off x="8807927" y="2204856"/>
              <a:ext cx="711136" cy="709359"/>
            </a:xfrm>
            <a:custGeom>
              <a:avLst/>
              <a:gdLst/>
              <a:ahLst/>
              <a:cxnLst/>
              <a:rect l="l" t="t" r="r" b="b"/>
              <a:pathLst>
                <a:path w="711136" h="709359">
                  <a:moveTo>
                    <a:pt x="0" y="0"/>
                  </a:moveTo>
                  <a:lnTo>
                    <a:pt x="711136" y="0"/>
                  </a:lnTo>
                  <a:lnTo>
                    <a:pt x="711136" y="709359"/>
                  </a:lnTo>
                  <a:lnTo>
                    <a:pt x="0" y="70935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08" name="Freeform 108"/>
            <p:cNvSpPr/>
            <p:nvPr/>
          </p:nvSpPr>
          <p:spPr>
            <a:xfrm>
              <a:off x="12983056" y="2139762"/>
              <a:ext cx="781279" cy="890346"/>
            </a:xfrm>
            <a:custGeom>
              <a:avLst/>
              <a:gdLst/>
              <a:ahLst/>
              <a:cxnLst/>
              <a:rect l="l" t="t" r="r" b="b"/>
              <a:pathLst>
                <a:path w="781279" h="890346">
                  <a:moveTo>
                    <a:pt x="0" y="0"/>
                  </a:moveTo>
                  <a:lnTo>
                    <a:pt x="781278" y="0"/>
                  </a:lnTo>
                  <a:lnTo>
                    <a:pt x="781278" y="890346"/>
                  </a:lnTo>
                  <a:lnTo>
                    <a:pt x="0" y="89034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grpSp>
      <p:sp>
        <p:nvSpPr>
          <p:cNvPr id="109" name="TextBox 109"/>
          <p:cNvSpPr txBox="1"/>
          <p:nvPr/>
        </p:nvSpPr>
        <p:spPr>
          <a:xfrm>
            <a:off x="3375303" y="1524414"/>
            <a:ext cx="11537394" cy="942975"/>
          </a:xfrm>
          <a:prstGeom prst="rect">
            <a:avLst/>
          </a:prstGeom>
        </p:spPr>
        <p:txBody>
          <a:bodyPr lIns="0" tIns="0" rIns="0" bIns="0" rtlCol="0" anchor="t">
            <a:spAutoFit/>
          </a:bodyPr>
          <a:lstStyle/>
          <a:p>
            <a:pPr algn="ctr">
              <a:lnSpc>
                <a:spcPts val="7500"/>
              </a:lnSpc>
            </a:pPr>
            <a:r>
              <a:rPr lang="en-US" sz="6000" b="1">
                <a:solidFill>
                  <a:srgbClr val="243B55"/>
                </a:solidFill>
                <a:latin typeface="Montserrat Bold"/>
                <a:ea typeface="Montserrat Bold"/>
                <a:cs typeface="Montserrat Bold"/>
                <a:sym typeface="Montserrat Bold"/>
              </a:rPr>
              <a:t>MILESTONE &amp; PARTNERSHIP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3427" y="-4326111"/>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 b="-2"/>
              </a:stretch>
            </a:blipFill>
          </p:spPr>
        </p:sp>
      </p:grpSp>
      <p:sp>
        <p:nvSpPr>
          <p:cNvPr id="4" name="TextBox 4"/>
          <p:cNvSpPr txBox="1"/>
          <p:nvPr/>
        </p:nvSpPr>
        <p:spPr>
          <a:xfrm>
            <a:off x="1162559" y="911152"/>
            <a:ext cx="9422910" cy="914400"/>
          </a:xfrm>
          <a:prstGeom prst="rect">
            <a:avLst/>
          </a:prstGeom>
        </p:spPr>
        <p:txBody>
          <a:bodyPr lIns="0" tIns="0" rIns="0" bIns="0" rtlCol="0" anchor="t">
            <a:spAutoFit/>
          </a:bodyPr>
          <a:lstStyle/>
          <a:p>
            <a:pPr algn="l">
              <a:lnSpc>
                <a:spcPts val="7200"/>
              </a:lnSpc>
            </a:pPr>
            <a:r>
              <a:rPr lang="en-US" sz="6000" b="1">
                <a:solidFill>
                  <a:srgbClr val="243B55"/>
                </a:solidFill>
                <a:latin typeface="Montserrat Bold"/>
                <a:ea typeface="Montserrat Bold"/>
                <a:cs typeface="Montserrat Bold"/>
                <a:sym typeface="Montserrat Bold"/>
              </a:rPr>
              <a:t>CARGOWISE SERVICES</a:t>
            </a:r>
          </a:p>
        </p:txBody>
      </p:sp>
      <p:sp>
        <p:nvSpPr>
          <p:cNvPr id="5" name="Freeform 5"/>
          <p:cNvSpPr/>
          <p:nvPr/>
        </p:nvSpPr>
        <p:spPr>
          <a:xfrm>
            <a:off x="13636093" y="-4565121"/>
            <a:ext cx="7875678" cy="7343795"/>
          </a:xfrm>
          <a:custGeom>
            <a:avLst/>
            <a:gdLst/>
            <a:ahLst/>
            <a:cxnLst/>
            <a:rect l="l" t="t" r="r" b="b"/>
            <a:pathLst>
              <a:path w="7875678" h="7343795">
                <a:moveTo>
                  <a:pt x="0" y="0"/>
                </a:moveTo>
                <a:lnTo>
                  <a:pt x="7875679" y="0"/>
                </a:lnTo>
                <a:lnTo>
                  <a:pt x="7875679" y="7343795"/>
                </a:lnTo>
                <a:lnTo>
                  <a:pt x="0" y="73437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5883828" y="-421475"/>
            <a:ext cx="3380208" cy="3084698"/>
          </a:xfrm>
          <a:custGeom>
            <a:avLst/>
            <a:gdLst/>
            <a:ahLst/>
            <a:cxnLst/>
            <a:rect l="l" t="t" r="r" b="b"/>
            <a:pathLst>
              <a:path w="3380208" h="3084698">
                <a:moveTo>
                  <a:pt x="0" y="0"/>
                </a:moveTo>
                <a:lnTo>
                  <a:pt x="3380208" y="0"/>
                </a:lnTo>
                <a:lnTo>
                  <a:pt x="3380208" y="3084698"/>
                </a:lnTo>
                <a:lnTo>
                  <a:pt x="0" y="30846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527545" y="6297909"/>
            <a:ext cx="3380209" cy="3084698"/>
          </a:xfrm>
          <a:custGeom>
            <a:avLst/>
            <a:gdLst/>
            <a:ahLst/>
            <a:cxnLst/>
            <a:rect l="l" t="t" r="r" b="b"/>
            <a:pathLst>
              <a:path w="3380209" h="3084698">
                <a:moveTo>
                  <a:pt x="0" y="0"/>
                </a:moveTo>
                <a:lnTo>
                  <a:pt x="3380208" y="0"/>
                </a:lnTo>
                <a:lnTo>
                  <a:pt x="3380208" y="3084698"/>
                </a:lnTo>
                <a:lnTo>
                  <a:pt x="0" y="3084698"/>
                </a:lnTo>
                <a:lnTo>
                  <a:pt x="0" y="0"/>
                </a:lnTo>
                <a:close/>
              </a:path>
            </a:pathLst>
          </a:custGeom>
          <a:blipFill>
            <a:blip r:embed="rId5">
              <a:extLst>
                <a:ext uri="{96DAC541-7B7A-43D3-8B79-37D633B846F1}">
                  <asvg:svgBlip xmlns:asvg="http://schemas.microsoft.com/office/drawing/2016/SVG/main" r:embed="rId7"/>
                </a:ext>
              </a:extLst>
            </a:blip>
            <a:stretch>
              <a:fillRect/>
            </a:stretch>
          </a:blipFill>
        </p:spPr>
      </p:sp>
      <p:sp>
        <p:nvSpPr>
          <p:cNvPr id="8" name="Freeform 8"/>
          <p:cNvSpPr/>
          <p:nvPr/>
        </p:nvSpPr>
        <p:spPr>
          <a:xfrm>
            <a:off x="-5170584" y="7713489"/>
            <a:ext cx="7875679" cy="7343795"/>
          </a:xfrm>
          <a:custGeom>
            <a:avLst/>
            <a:gdLst/>
            <a:ahLst/>
            <a:cxnLst/>
            <a:rect l="l" t="t" r="r" b="b"/>
            <a:pathLst>
              <a:path w="7875679" h="7343795">
                <a:moveTo>
                  <a:pt x="0" y="0"/>
                </a:moveTo>
                <a:lnTo>
                  <a:pt x="7875679" y="0"/>
                </a:lnTo>
                <a:lnTo>
                  <a:pt x="7875679" y="7343795"/>
                </a:lnTo>
                <a:lnTo>
                  <a:pt x="0" y="734379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686899" y="9866452"/>
            <a:ext cx="4667105" cy="769947"/>
          </a:xfrm>
          <a:custGeom>
            <a:avLst/>
            <a:gdLst/>
            <a:ahLst/>
            <a:cxnLst/>
            <a:rect l="l" t="t" r="r" b="b"/>
            <a:pathLst>
              <a:path w="4667105" h="769947">
                <a:moveTo>
                  <a:pt x="0" y="0"/>
                </a:moveTo>
                <a:lnTo>
                  <a:pt x="4667105" y="0"/>
                </a:lnTo>
                <a:lnTo>
                  <a:pt x="4667105" y="769947"/>
                </a:lnTo>
                <a:lnTo>
                  <a:pt x="0" y="769947"/>
                </a:lnTo>
                <a:lnTo>
                  <a:pt x="0" y="0"/>
                </a:lnTo>
                <a:close/>
              </a:path>
            </a:pathLst>
          </a:custGeom>
          <a:blipFill>
            <a:blip r:embed="rId10">
              <a:extLst>
                <a:ext uri="{96DAC541-7B7A-43D3-8B79-37D633B846F1}">
                  <asvg:svgBlip xmlns:asvg="http://schemas.microsoft.com/office/drawing/2016/SVG/main" r:embed="rId11"/>
                </a:ext>
              </a:extLst>
            </a:blip>
            <a:stretch>
              <a:fillRect t="-242564" b="-242564"/>
            </a:stretch>
          </a:blipFill>
        </p:spPr>
      </p:sp>
      <p:sp>
        <p:nvSpPr>
          <p:cNvPr id="10" name="Freeform 10"/>
          <p:cNvSpPr/>
          <p:nvPr/>
        </p:nvSpPr>
        <p:spPr>
          <a:xfrm>
            <a:off x="15981089" y="8567651"/>
            <a:ext cx="3309025" cy="2897071"/>
          </a:xfrm>
          <a:custGeom>
            <a:avLst/>
            <a:gdLst/>
            <a:ahLst/>
            <a:cxnLst/>
            <a:rect l="l" t="t" r="r" b="b"/>
            <a:pathLst>
              <a:path w="3309025" h="2897071">
                <a:moveTo>
                  <a:pt x="0" y="0"/>
                </a:moveTo>
                <a:lnTo>
                  <a:pt x="3309025" y="0"/>
                </a:lnTo>
                <a:lnTo>
                  <a:pt x="3309025" y="2897071"/>
                </a:lnTo>
                <a:lnTo>
                  <a:pt x="0" y="289707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1" name="Freeform 11"/>
          <p:cNvSpPr/>
          <p:nvPr/>
        </p:nvSpPr>
        <p:spPr>
          <a:xfrm>
            <a:off x="13378251" y="629612"/>
            <a:ext cx="2263192" cy="1975652"/>
          </a:xfrm>
          <a:custGeom>
            <a:avLst/>
            <a:gdLst/>
            <a:ahLst/>
            <a:cxnLst/>
            <a:rect l="l" t="t" r="r" b="b"/>
            <a:pathLst>
              <a:path w="2263192" h="1975652">
                <a:moveTo>
                  <a:pt x="0" y="0"/>
                </a:moveTo>
                <a:lnTo>
                  <a:pt x="2263192" y="0"/>
                </a:lnTo>
                <a:lnTo>
                  <a:pt x="2263192" y="1975652"/>
                </a:lnTo>
                <a:lnTo>
                  <a:pt x="0" y="197565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2" name="Freeform 12"/>
          <p:cNvSpPr/>
          <p:nvPr/>
        </p:nvSpPr>
        <p:spPr>
          <a:xfrm>
            <a:off x="-2104488" y="-2010197"/>
            <a:ext cx="3859024" cy="3342880"/>
          </a:xfrm>
          <a:custGeom>
            <a:avLst/>
            <a:gdLst/>
            <a:ahLst/>
            <a:cxnLst/>
            <a:rect l="l" t="t" r="r" b="b"/>
            <a:pathLst>
              <a:path w="3859024" h="3342880">
                <a:moveTo>
                  <a:pt x="0" y="0"/>
                </a:moveTo>
                <a:lnTo>
                  <a:pt x="3859024" y="0"/>
                </a:lnTo>
                <a:lnTo>
                  <a:pt x="3859024" y="3342880"/>
                </a:lnTo>
                <a:lnTo>
                  <a:pt x="0" y="3342880"/>
                </a:lnTo>
                <a:lnTo>
                  <a:pt x="0" y="0"/>
                </a:lnTo>
                <a:close/>
              </a:path>
            </a:pathLst>
          </a:custGeom>
          <a:blipFill>
            <a:blip r:embed="rId16">
              <a:alphaModFix amt="5000"/>
              <a:extLst>
                <a:ext uri="{96DAC541-7B7A-43D3-8B79-37D633B846F1}">
                  <asvg:svgBlip xmlns:asvg="http://schemas.microsoft.com/office/drawing/2016/SVG/main" r:embed="rId17"/>
                </a:ext>
              </a:extLst>
            </a:blip>
            <a:stretch>
              <a:fillRect l="-99" r="-99"/>
            </a:stretch>
          </a:blipFill>
        </p:spPr>
      </p:sp>
      <p:sp>
        <p:nvSpPr>
          <p:cNvPr id="13" name="Freeform 13"/>
          <p:cNvSpPr/>
          <p:nvPr/>
        </p:nvSpPr>
        <p:spPr>
          <a:xfrm>
            <a:off x="17892798" y="-267749"/>
            <a:ext cx="790404" cy="535499"/>
          </a:xfrm>
          <a:custGeom>
            <a:avLst/>
            <a:gdLst/>
            <a:ahLst/>
            <a:cxnLst/>
            <a:rect l="l" t="t" r="r" b="b"/>
            <a:pathLst>
              <a:path w="790404" h="535499">
                <a:moveTo>
                  <a:pt x="0" y="0"/>
                </a:moveTo>
                <a:lnTo>
                  <a:pt x="790404" y="0"/>
                </a:lnTo>
                <a:lnTo>
                  <a:pt x="790404" y="535499"/>
                </a:lnTo>
                <a:lnTo>
                  <a:pt x="0" y="535499"/>
                </a:lnTo>
                <a:lnTo>
                  <a:pt x="0" y="0"/>
                </a:lnTo>
                <a:close/>
              </a:path>
            </a:pathLst>
          </a:custGeom>
          <a:blipFill>
            <a:blip r:embed="rId18">
              <a:extLst>
                <a:ext uri="{96DAC541-7B7A-43D3-8B79-37D633B846F1}">
                  <asvg:svgBlip xmlns:asvg="http://schemas.microsoft.com/office/drawing/2016/SVG/main" r:embed="rId19"/>
                </a:ext>
              </a:extLst>
            </a:blip>
            <a:stretch>
              <a:fillRect t="-682" b="-682"/>
            </a:stretch>
          </a:blipFill>
        </p:spPr>
      </p:sp>
      <p:sp>
        <p:nvSpPr>
          <p:cNvPr id="14" name="Freeform 14"/>
          <p:cNvSpPr/>
          <p:nvPr/>
        </p:nvSpPr>
        <p:spPr>
          <a:xfrm rot="-10800000" flipV="1">
            <a:off x="16553467" y="9975766"/>
            <a:ext cx="2164275" cy="1111896"/>
          </a:xfrm>
          <a:custGeom>
            <a:avLst/>
            <a:gdLst/>
            <a:ahLst/>
            <a:cxnLst/>
            <a:rect l="l" t="t" r="r" b="b"/>
            <a:pathLst>
              <a:path w="2164275" h="1111896">
                <a:moveTo>
                  <a:pt x="0" y="1111896"/>
                </a:moveTo>
                <a:lnTo>
                  <a:pt x="2164275" y="1111896"/>
                </a:lnTo>
                <a:lnTo>
                  <a:pt x="2164275" y="0"/>
                </a:lnTo>
                <a:lnTo>
                  <a:pt x="0" y="0"/>
                </a:lnTo>
                <a:lnTo>
                  <a:pt x="0" y="1111896"/>
                </a:lnTo>
                <a:close/>
              </a:path>
            </a:pathLst>
          </a:custGeom>
          <a:blipFill>
            <a:blip r:embed="rId20">
              <a:extLst>
                <a:ext uri="{96DAC541-7B7A-43D3-8B79-37D633B846F1}">
                  <asvg:svgBlip xmlns:asvg="http://schemas.microsoft.com/office/drawing/2016/SVG/main" r:embed="rId21"/>
                </a:ext>
              </a:extLst>
            </a:blip>
            <a:stretch>
              <a:fillRect l="-57" r="-57"/>
            </a:stretch>
          </a:blipFill>
        </p:spPr>
      </p:sp>
      <p:sp>
        <p:nvSpPr>
          <p:cNvPr id="15" name="Freeform 15"/>
          <p:cNvSpPr/>
          <p:nvPr/>
        </p:nvSpPr>
        <p:spPr>
          <a:xfrm>
            <a:off x="16264716" y="2605264"/>
            <a:ext cx="5809337" cy="537986"/>
          </a:xfrm>
          <a:custGeom>
            <a:avLst/>
            <a:gdLst/>
            <a:ahLst/>
            <a:cxnLst/>
            <a:rect l="l" t="t" r="r" b="b"/>
            <a:pathLst>
              <a:path w="5809337" h="537986">
                <a:moveTo>
                  <a:pt x="0" y="0"/>
                </a:moveTo>
                <a:lnTo>
                  <a:pt x="5809337" y="0"/>
                </a:lnTo>
                <a:lnTo>
                  <a:pt x="5809337" y="537986"/>
                </a:lnTo>
                <a:lnTo>
                  <a:pt x="0" y="537986"/>
                </a:lnTo>
                <a:lnTo>
                  <a:pt x="0" y="0"/>
                </a:lnTo>
                <a:close/>
              </a:path>
            </a:pathLst>
          </a:custGeom>
          <a:blipFill>
            <a:blip r:embed="rId22">
              <a:extLst>
                <a:ext uri="{96DAC541-7B7A-43D3-8B79-37D633B846F1}">
                  <asvg:svgBlip xmlns:asvg="http://schemas.microsoft.com/office/drawing/2016/SVG/main" r:embed="rId23"/>
                </a:ext>
              </a:extLst>
            </a:blip>
            <a:stretch>
              <a:fillRect t="-398749" b="-398749"/>
            </a:stretch>
          </a:blipFill>
        </p:spPr>
      </p:sp>
      <p:sp>
        <p:nvSpPr>
          <p:cNvPr id="16" name="TextBox 16"/>
          <p:cNvSpPr txBox="1"/>
          <p:nvPr/>
        </p:nvSpPr>
        <p:spPr>
          <a:xfrm>
            <a:off x="1162559" y="2287270"/>
            <a:ext cx="13800158" cy="1256030"/>
          </a:xfrm>
          <a:prstGeom prst="rect">
            <a:avLst/>
          </a:prstGeom>
        </p:spPr>
        <p:txBody>
          <a:bodyPr lIns="0" tIns="0" rIns="0" bIns="0" rtlCol="0" anchor="t">
            <a:spAutoFit/>
          </a:bodyPr>
          <a:lstStyle/>
          <a:p>
            <a:pPr algn="l">
              <a:lnSpc>
                <a:spcPts val="3220"/>
              </a:lnSpc>
            </a:pPr>
            <a:r>
              <a:rPr lang="en-US" sz="2300">
                <a:solidFill>
                  <a:srgbClr val="1D1A1B"/>
                </a:solidFill>
                <a:latin typeface="Public Sans"/>
                <a:ea typeface="Public Sans"/>
                <a:cs typeface="Public Sans"/>
                <a:sym typeface="Public Sans"/>
              </a:rPr>
              <a:t>As certified CargoWise Platinum Service Partners, we simplify logistics operations with state-of-the-art technology and specialized expertise. Our team includes 15 certified CargoWise professionals who ensure your logistics solutions are efficient and reliable.</a:t>
            </a:r>
          </a:p>
        </p:txBody>
      </p:sp>
      <p:sp>
        <p:nvSpPr>
          <p:cNvPr id="17" name="Freeform 17"/>
          <p:cNvSpPr/>
          <p:nvPr/>
        </p:nvSpPr>
        <p:spPr>
          <a:xfrm>
            <a:off x="1162559" y="5108332"/>
            <a:ext cx="13851972" cy="242410"/>
          </a:xfrm>
          <a:custGeom>
            <a:avLst/>
            <a:gdLst/>
            <a:ahLst/>
            <a:cxnLst/>
            <a:rect l="l" t="t" r="r" b="b"/>
            <a:pathLst>
              <a:path w="13851972" h="242410">
                <a:moveTo>
                  <a:pt x="0" y="0"/>
                </a:moveTo>
                <a:lnTo>
                  <a:pt x="13851972" y="0"/>
                </a:lnTo>
                <a:lnTo>
                  <a:pt x="13851972" y="242410"/>
                </a:lnTo>
                <a:lnTo>
                  <a:pt x="0" y="242410"/>
                </a:lnTo>
                <a:lnTo>
                  <a:pt x="0" y="0"/>
                </a:lnTo>
                <a:close/>
              </a:path>
            </a:pathLst>
          </a:custGeom>
          <a:blipFill>
            <a:blip r:embed="rId24">
              <a:extLst>
                <a:ext uri="{96DAC541-7B7A-43D3-8B79-37D633B846F1}">
                  <asvg:svgBlip xmlns:asvg="http://schemas.microsoft.com/office/drawing/2016/SVG/main" r:embed="rId25"/>
                </a:ext>
              </a:extLst>
            </a:blip>
            <a:stretch>
              <a:fillRect t="-1055" b="-1055"/>
            </a:stretch>
          </a:blipFill>
        </p:spPr>
      </p:sp>
      <p:sp>
        <p:nvSpPr>
          <p:cNvPr id="18" name="Freeform 18"/>
          <p:cNvSpPr/>
          <p:nvPr/>
        </p:nvSpPr>
        <p:spPr>
          <a:xfrm>
            <a:off x="2604750" y="4385667"/>
            <a:ext cx="1429512" cy="1612819"/>
          </a:xfrm>
          <a:custGeom>
            <a:avLst/>
            <a:gdLst/>
            <a:ahLst/>
            <a:cxnLst/>
            <a:rect l="l" t="t" r="r" b="b"/>
            <a:pathLst>
              <a:path w="1429512" h="1612819">
                <a:moveTo>
                  <a:pt x="0" y="0"/>
                </a:moveTo>
                <a:lnTo>
                  <a:pt x="1429512" y="0"/>
                </a:lnTo>
                <a:lnTo>
                  <a:pt x="1429512" y="1612819"/>
                </a:lnTo>
                <a:lnTo>
                  <a:pt x="0" y="161281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9" name="Freeform 19"/>
          <p:cNvSpPr/>
          <p:nvPr/>
        </p:nvSpPr>
        <p:spPr>
          <a:xfrm>
            <a:off x="2994888" y="4925857"/>
            <a:ext cx="706386" cy="532439"/>
          </a:xfrm>
          <a:custGeom>
            <a:avLst/>
            <a:gdLst/>
            <a:ahLst/>
            <a:cxnLst/>
            <a:rect l="l" t="t" r="r" b="b"/>
            <a:pathLst>
              <a:path w="706386" h="532439">
                <a:moveTo>
                  <a:pt x="0" y="0"/>
                </a:moveTo>
                <a:lnTo>
                  <a:pt x="706386" y="0"/>
                </a:lnTo>
                <a:lnTo>
                  <a:pt x="706386" y="532438"/>
                </a:lnTo>
                <a:lnTo>
                  <a:pt x="0" y="532438"/>
                </a:lnTo>
                <a:lnTo>
                  <a:pt x="0" y="0"/>
                </a:lnTo>
                <a:close/>
              </a:path>
            </a:pathLst>
          </a:custGeom>
          <a:blipFill>
            <a:blip r:embed="rId28">
              <a:extLst>
                <a:ext uri="{96DAC541-7B7A-43D3-8B79-37D633B846F1}">
                  <asvg:svgBlip xmlns:asvg="http://schemas.microsoft.com/office/drawing/2016/SVG/main" r:embed="rId29"/>
                </a:ext>
              </a:extLst>
            </a:blip>
            <a:stretch>
              <a:fillRect t="-414" b="-414"/>
            </a:stretch>
          </a:blipFill>
        </p:spPr>
      </p:sp>
      <p:sp>
        <p:nvSpPr>
          <p:cNvPr id="20" name="Freeform 20"/>
          <p:cNvSpPr/>
          <p:nvPr/>
        </p:nvSpPr>
        <p:spPr>
          <a:xfrm>
            <a:off x="7303665" y="4317091"/>
            <a:ext cx="1429512" cy="1612819"/>
          </a:xfrm>
          <a:custGeom>
            <a:avLst/>
            <a:gdLst/>
            <a:ahLst/>
            <a:cxnLst/>
            <a:rect l="l" t="t" r="r" b="b"/>
            <a:pathLst>
              <a:path w="1429512" h="1612819">
                <a:moveTo>
                  <a:pt x="0" y="0"/>
                </a:moveTo>
                <a:lnTo>
                  <a:pt x="1429512" y="0"/>
                </a:lnTo>
                <a:lnTo>
                  <a:pt x="1429512" y="1612819"/>
                </a:lnTo>
                <a:lnTo>
                  <a:pt x="0" y="161281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21" name="Freeform 21"/>
          <p:cNvSpPr/>
          <p:nvPr/>
        </p:nvSpPr>
        <p:spPr>
          <a:xfrm>
            <a:off x="7624350" y="4772943"/>
            <a:ext cx="784055" cy="781115"/>
          </a:xfrm>
          <a:custGeom>
            <a:avLst/>
            <a:gdLst/>
            <a:ahLst/>
            <a:cxnLst/>
            <a:rect l="l" t="t" r="r" b="b"/>
            <a:pathLst>
              <a:path w="784055" h="781115">
                <a:moveTo>
                  <a:pt x="0" y="0"/>
                </a:moveTo>
                <a:lnTo>
                  <a:pt x="784055" y="0"/>
                </a:lnTo>
                <a:lnTo>
                  <a:pt x="784055" y="781115"/>
                </a:lnTo>
                <a:lnTo>
                  <a:pt x="0" y="781115"/>
                </a:lnTo>
                <a:lnTo>
                  <a:pt x="0" y="0"/>
                </a:lnTo>
                <a:close/>
              </a:path>
            </a:pathLst>
          </a:custGeom>
          <a:blipFill>
            <a:blip r:embed="rId30">
              <a:extLst>
                <a:ext uri="{96DAC541-7B7A-43D3-8B79-37D633B846F1}">
                  <asvg:svgBlip xmlns:asvg="http://schemas.microsoft.com/office/drawing/2016/SVG/main" r:embed="rId31"/>
                </a:ext>
              </a:extLst>
            </a:blip>
            <a:stretch>
              <a:fillRect t="-188" b="-188"/>
            </a:stretch>
          </a:blipFill>
        </p:spPr>
      </p:sp>
      <p:sp>
        <p:nvSpPr>
          <p:cNvPr id="22" name="Freeform 22"/>
          <p:cNvSpPr/>
          <p:nvPr/>
        </p:nvSpPr>
        <p:spPr>
          <a:xfrm>
            <a:off x="12064324" y="4357092"/>
            <a:ext cx="1429512" cy="1612819"/>
          </a:xfrm>
          <a:custGeom>
            <a:avLst/>
            <a:gdLst/>
            <a:ahLst/>
            <a:cxnLst/>
            <a:rect l="l" t="t" r="r" b="b"/>
            <a:pathLst>
              <a:path w="1429512" h="1612819">
                <a:moveTo>
                  <a:pt x="0" y="0"/>
                </a:moveTo>
                <a:lnTo>
                  <a:pt x="1429512" y="0"/>
                </a:lnTo>
                <a:lnTo>
                  <a:pt x="1429512" y="1612819"/>
                </a:lnTo>
                <a:lnTo>
                  <a:pt x="0" y="161281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23" name="Freeform 23"/>
          <p:cNvSpPr/>
          <p:nvPr/>
        </p:nvSpPr>
        <p:spPr>
          <a:xfrm>
            <a:off x="12455128" y="4772943"/>
            <a:ext cx="736077" cy="701114"/>
          </a:xfrm>
          <a:custGeom>
            <a:avLst/>
            <a:gdLst/>
            <a:ahLst/>
            <a:cxnLst/>
            <a:rect l="l" t="t" r="r" b="b"/>
            <a:pathLst>
              <a:path w="736077" h="701114">
                <a:moveTo>
                  <a:pt x="0" y="0"/>
                </a:moveTo>
                <a:lnTo>
                  <a:pt x="736077" y="0"/>
                </a:lnTo>
                <a:lnTo>
                  <a:pt x="736077" y="701113"/>
                </a:lnTo>
                <a:lnTo>
                  <a:pt x="0" y="701113"/>
                </a:lnTo>
                <a:lnTo>
                  <a:pt x="0" y="0"/>
                </a:lnTo>
                <a:close/>
              </a:path>
            </a:pathLst>
          </a:custGeom>
          <a:blipFill>
            <a:blip r:embed="rId32">
              <a:extLst>
                <a:ext uri="{96DAC541-7B7A-43D3-8B79-37D633B846F1}">
                  <asvg:svgBlip xmlns:asvg="http://schemas.microsoft.com/office/drawing/2016/SVG/main" r:embed="rId33"/>
                </a:ext>
              </a:extLst>
            </a:blip>
            <a:stretch>
              <a:fillRect t="-474" b="-474"/>
            </a:stretch>
          </a:blipFill>
        </p:spPr>
      </p:sp>
      <p:sp>
        <p:nvSpPr>
          <p:cNvPr id="24" name="TextBox 24"/>
          <p:cNvSpPr txBox="1"/>
          <p:nvPr/>
        </p:nvSpPr>
        <p:spPr>
          <a:xfrm>
            <a:off x="1831255" y="6113289"/>
            <a:ext cx="3641743" cy="762000"/>
          </a:xfrm>
          <a:prstGeom prst="rect">
            <a:avLst/>
          </a:prstGeom>
        </p:spPr>
        <p:txBody>
          <a:bodyPr lIns="0" tIns="0" rIns="0" bIns="0" rtlCol="0" anchor="t">
            <a:spAutoFit/>
          </a:bodyPr>
          <a:lstStyle/>
          <a:p>
            <a:pPr algn="l">
              <a:lnSpc>
                <a:spcPts val="2999"/>
              </a:lnSpc>
            </a:pPr>
            <a:r>
              <a:rPr lang="en-US" sz="2499" b="1">
                <a:solidFill>
                  <a:srgbClr val="243B55"/>
                </a:solidFill>
                <a:latin typeface="Public Sans Bold"/>
                <a:ea typeface="Public Sans Bold"/>
                <a:cs typeface="Public Sans Bold"/>
                <a:sym typeface="Public Sans Bold"/>
              </a:rPr>
              <a:t>CargoWise Consulting &amp; Support</a:t>
            </a:r>
          </a:p>
        </p:txBody>
      </p:sp>
      <p:sp>
        <p:nvSpPr>
          <p:cNvPr id="25" name="TextBox 25"/>
          <p:cNvSpPr txBox="1"/>
          <p:nvPr/>
        </p:nvSpPr>
        <p:spPr>
          <a:xfrm>
            <a:off x="11714662" y="6113289"/>
            <a:ext cx="2546577" cy="390525"/>
          </a:xfrm>
          <a:prstGeom prst="rect">
            <a:avLst/>
          </a:prstGeom>
        </p:spPr>
        <p:txBody>
          <a:bodyPr lIns="0" tIns="0" rIns="0" bIns="0" rtlCol="0" anchor="t">
            <a:spAutoFit/>
          </a:bodyPr>
          <a:lstStyle/>
          <a:p>
            <a:pPr algn="l">
              <a:lnSpc>
                <a:spcPts val="2999"/>
              </a:lnSpc>
            </a:pPr>
            <a:r>
              <a:rPr lang="en-US" sz="2499" b="1">
                <a:solidFill>
                  <a:srgbClr val="243B55"/>
                </a:solidFill>
                <a:latin typeface="Public Sans Bold"/>
                <a:ea typeface="Public Sans Bold"/>
                <a:cs typeface="Public Sans Bold"/>
                <a:sym typeface="Public Sans Bold"/>
              </a:rPr>
              <a:t>ERP Integration</a:t>
            </a:r>
          </a:p>
        </p:txBody>
      </p:sp>
      <p:sp>
        <p:nvSpPr>
          <p:cNvPr id="26" name="TextBox 26"/>
          <p:cNvSpPr txBox="1"/>
          <p:nvPr/>
        </p:nvSpPr>
        <p:spPr>
          <a:xfrm>
            <a:off x="4411082" y="3665859"/>
            <a:ext cx="7389972" cy="666090"/>
          </a:xfrm>
          <a:prstGeom prst="rect">
            <a:avLst/>
          </a:prstGeom>
        </p:spPr>
        <p:txBody>
          <a:bodyPr lIns="0" tIns="0" rIns="0" bIns="0" rtlCol="0" anchor="t">
            <a:spAutoFit/>
          </a:bodyPr>
          <a:lstStyle/>
          <a:p>
            <a:pPr algn="ctr">
              <a:lnSpc>
                <a:spcPts val="2659"/>
              </a:lnSpc>
            </a:pPr>
            <a:r>
              <a:rPr lang="en-US" sz="1899" b="1">
                <a:solidFill>
                  <a:srgbClr val="000000"/>
                </a:solidFill>
                <a:latin typeface="Barlow 2 Bold"/>
                <a:ea typeface="Barlow 2 Bold"/>
                <a:cs typeface="Barlow 2 Bold"/>
                <a:sym typeface="Barlow 2 Bold"/>
              </a:rPr>
              <a:t>We transform logistics challenges into streamlined operations through</a:t>
            </a:r>
          </a:p>
        </p:txBody>
      </p:sp>
      <p:sp>
        <p:nvSpPr>
          <p:cNvPr id="27" name="TextBox 27"/>
          <p:cNvSpPr txBox="1"/>
          <p:nvPr/>
        </p:nvSpPr>
        <p:spPr>
          <a:xfrm>
            <a:off x="6472913" y="6113289"/>
            <a:ext cx="3524412" cy="390525"/>
          </a:xfrm>
          <a:prstGeom prst="rect">
            <a:avLst/>
          </a:prstGeom>
        </p:spPr>
        <p:txBody>
          <a:bodyPr lIns="0" tIns="0" rIns="0" bIns="0" rtlCol="0" anchor="t">
            <a:spAutoFit/>
          </a:bodyPr>
          <a:lstStyle/>
          <a:p>
            <a:pPr algn="l">
              <a:lnSpc>
                <a:spcPts val="2999"/>
              </a:lnSpc>
            </a:pPr>
            <a:r>
              <a:rPr lang="en-US" sz="2499" b="1">
                <a:solidFill>
                  <a:srgbClr val="243B55"/>
                </a:solidFill>
                <a:latin typeface="Public Sans Bold"/>
                <a:ea typeface="Public Sans Bold"/>
                <a:cs typeface="Public Sans Bold"/>
                <a:sym typeface="Public Sans Bold"/>
              </a:rPr>
              <a:t>Cargowise Automation</a:t>
            </a:r>
          </a:p>
        </p:txBody>
      </p:sp>
      <p:grpSp>
        <p:nvGrpSpPr>
          <p:cNvPr id="28" name="Group 28"/>
          <p:cNvGrpSpPr/>
          <p:nvPr/>
        </p:nvGrpSpPr>
        <p:grpSpPr>
          <a:xfrm>
            <a:off x="1646654" y="7131916"/>
            <a:ext cx="4221418" cy="1433195"/>
            <a:chOff x="0" y="0"/>
            <a:chExt cx="5628557" cy="1910927"/>
          </a:xfrm>
        </p:grpSpPr>
        <p:sp>
          <p:nvSpPr>
            <p:cNvPr id="29" name="TextBox 29"/>
            <p:cNvSpPr txBox="1"/>
            <p:nvPr/>
          </p:nvSpPr>
          <p:spPr>
            <a:xfrm>
              <a:off x="0" y="-38100"/>
              <a:ext cx="5628557" cy="1949027"/>
            </a:xfrm>
            <a:prstGeom prst="rect">
              <a:avLst/>
            </a:prstGeom>
          </p:spPr>
          <p:txBody>
            <a:bodyPr lIns="0" tIns="0" rIns="0" bIns="0" rtlCol="0" anchor="t">
              <a:spAutoFit/>
            </a:bodyPr>
            <a:lstStyle/>
            <a:p>
              <a:pPr algn="l">
                <a:lnSpc>
                  <a:spcPts val="2379"/>
                </a:lnSpc>
              </a:pPr>
              <a:r>
                <a:rPr lang="en-US" sz="1700">
                  <a:solidFill>
                    <a:srgbClr val="000000"/>
                  </a:solidFill>
                  <a:latin typeface="Public Sans"/>
                  <a:ea typeface="Public Sans"/>
                  <a:cs typeface="Public Sans"/>
                  <a:sym typeface="Public Sans"/>
                </a:rPr>
                <a:t>           CargoWise  Implementation</a:t>
              </a:r>
            </a:p>
            <a:p>
              <a:pPr algn="l">
                <a:lnSpc>
                  <a:spcPts val="2379"/>
                </a:lnSpc>
              </a:pPr>
              <a:r>
                <a:rPr lang="en-US" sz="1700">
                  <a:solidFill>
                    <a:srgbClr val="000000"/>
                  </a:solidFill>
                  <a:latin typeface="Public Sans"/>
                  <a:ea typeface="Public Sans"/>
                  <a:cs typeface="Public Sans"/>
                  <a:sym typeface="Public Sans"/>
                </a:rPr>
                <a:t>           CargoWise Customizations</a:t>
              </a:r>
            </a:p>
            <a:p>
              <a:pPr algn="l">
                <a:lnSpc>
                  <a:spcPts val="2379"/>
                </a:lnSpc>
              </a:pPr>
              <a:r>
                <a:rPr lang="en-US" sz="1700">
                  <a:solidFill>
                    <a:srgbClr val="000000"/>
                  </a:solidFill>
                  <a:latin typeface="Public Sans"/>
                  <a:ea typeface="Public Sans"/>
                  <a:cs typeface="Public Sans"/>
                  <a:sym typeface="Public Sans"/>
                </a:rPr>
                <a:t>           CargoWise Configurations</a:t>
              </a:r>
            </a:p>
            <a:p>
              <a:pPr algn="l">
                <a:lnSpc>
                  <a:spcPts val="2380"/>
                </a:lnSpc>
              </a:pPr>
              <a:r>
                <a:rPr lang="en-US" sz="1700">
                  <a:solidFill>
                    <a:srgbClr val="000000"/>
                  </a:solidFill>
                  <a:latin typeface="Public Sans"/>
                  <a:ea typeface="Public Sans"/>
                  <a:cs typeface="Public Sans"/>
                  <a:sym typeface="Public Sans"/>
                </a:rPr>
                <a:t>           CargoWise Integrations </a:t>
              </a:r>
            </a:p>
            <a:p>
              <a:pPr algn="l">
                <a:lnSpc>
                  <a:spcPts val="2379"/>
                </a:lnSpc>
              </a:pPr>
              <a:r>
                <a:rPr lang="en-US" sz="1700">
                  <a:solidFill>
                    <a:srgbClr val="000000"/>
                  </a:solidFill>
                  <a:latin typeface="Public Sans"/>
                  <a:ea typeface="Public Sans"/>
                  <a:cs typeface="Public Sans"/>
                  <a:sym typeface="Public Sans"/>
                </a:rPr>
                <a:t>           Document Customization</a:t>
              </a:r>
            </a:p>
          </p:txBody>
        </p:sp>
        <p:sp>
          <p:nvSpPr>
            <p:cNvPr id="30" name="Freeform 30"/>
            <p:cNvSpPr/>
            <p:nvPr/>
          </p:nvSpPr>
          <p:spPr>
            <a:xfrm>
              <a:off x="196204" y="425240"/>
              <a:ext cx="248869" cy="233315"/>
            </a:xfrm>
            <a:custGeom>
              <a:avLst/>
              <a:gdLst/>
              <a:ahLst/>
              <a:cxnLst/>
              <a:rect l="l" t="t" r="r" b="b"/>
              <a:pathLst>
                <a:path w="248869" h="233315">
                  <a:moveTo>
                    <a:pt x="0" y="0"/>
                  </a:moveTo>
                  <a:lnTo>
                    <a:pt x="248869" y="0"/>
                  </a:lnTo>
                  <a:lnTo>
                    <a:pt x="248869" y="233315"/>
                  </a:lnTo>
                  <a:lnTo>
                    <a:pt x="0" y="233315"/>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31" name="Freeform 31"/>
            <p:cNvSpPr/>
            <p:nvPr/>
          </p:nvSpPr>
          <p:spPr>
            <a:xfrm>
              <a:off x="196204" y="25400"/>
              <a:ext cx="248869" cy="233315"/>
            </a:xfrm>
            <a:custGeom>
              <a:avLst/>
              <a:gdLst/>
              <a:ahLst/>
              <a:cxnLst/>
              <a:rect l="l" t="t" r="r" b="b"/>
              <a:pathLst>
                <a:path w="248869" h="233315">
                  <a:moveTo>
                    <a:pt x="0" y="0"/>
                  </a:moveTo>
                  <a:lnTo>
                    <a:pt x="248869" y="0"/>
                  </a:lnTo>
                  <a:lnTo>
                    <a:pt x="248869" y="233315"/>
                  </a:lnTo>
                  <a:lnTo>
                    <a:pt x="0" y="233315"/>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32" name="Freeform 32"/>
            <p:cNvSpPr/>
            <p:nvPr/>
          </p:nvSpPr>
          <p:spPr>
            <a:xfrm>
              <a:off x="196204" y="813405"/>
              <a:ext cx="248869" cy="233315"/>
            </a:xfrm>
            <a:custGeom>
              <a:avLst/>
              <a:gdLst/>
              <a:ahLst/>
              <a:cxnLst/>
              <a:rect l="l" t="t" r="r" b="b"/>
              <a:pathLst>
                <a:path w="248869" h="233315">
                  <a:moveTo>
                    <a:pt x="0" y="0"/>
                  </a:moveTo>
                  <a:lnTo>
                    <a:pt x="248869" y="0"/>
                  </a:lnTo>
                  <a:lnTo>
                    <a:pt x="248869" y="233315"/>
                  </a:lnTo>
                  <a:lnTo>
                    <a:pt x="0" y="233315"/>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33" name="Freeform 33"/>
            <p:cNvSpPr/>
            <p:nvPr/>
          </p:nvSpPr>
          <p:spPr>
            <a:xfrm>
              <a:off x="196204" y="1199120"/>
              <a:ext cx="248869" cy="233315"/>
            </a:xfrm>
            <a:custGeom>
              <a:avLst/>
              <a:gdLst/>
              <a:ahLst/>
              <a:cxnLst/>
              <a:rect l="l" t="t" r="r" b="b"/>
              <a:pathLst>
                <a:path w="248869" h="233315">
                  <a:moveTo>
                    <a:pt x="0" y="0"/>
                  </a:moveTo>
                  <a:lnTo>
                    <a:pt x="248869" y="0"/>
                  </a:lnTo>
                  <a:lnTo>
                    <a:pt x="248869" y="233315"/>
                  </a:lnTo>
                  <a:lnTo>
                    <a:pt x="0" y="233315"/>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grpSp>
      <p:grpSp>
        <p:nvGrpSpPr>
          <p:cNvPr id="34" name="Group 34"/>
          <p:cNvGrpSpPr/>
          <p:nvPr/>
        </p:nvGrpSpPr>
        <p:grpSpPr>
          <a:xfrm>
            <a:off x="6275415" y="7131916"/>
            <a:ext cx="4265980" cy="1728470"/>
            <a:chOff x="0" y="0"/>
            <a:chExt cx="5687973" cy="2304627"/>
          </a:xfrm>
        </p:grpSpPr>
        <p:sp>
          <p:nvSpPr>
            <p:cNvPr id="35" name="TextBox 35"/>
            <p:cNvSpPr txBox="1"/>
            <p:nvPr/>
          </p:nvSpPr>
          <p:spPr>
            <a:xfrm>
              <a:off x="0" y="-38100"/>
              <a:ext cx="5687973" cy="2342727"/>
            </a:xfrm>
            <a:prstGeom prst="rect">
              <a:avLst/>
            </a:prstGeom>
          </p:spPr>
          <p:txBody>
            <a:bodyPr lIns="0" tIns="0" rIns="0" bIns="0" rtlCol="0" anchor="t">
              <a:spAutoFit/>
            </a:bodyPr>
            <a:lstStyle/>
            <a:p>
              <a:pPr algn="l">
                <a:lnSpc>
                  <a:spcPts val="2379"/>
                </a:lnSpc>
              </a:pPr>
              <a:r>
                <a:rPr lang="en-US" sz="1700">
                  <a:solidFill>
                    <a:srgbClr val="000000"/>
                  </a:solidFill>
                  <a:latin typeface="Public Sans"/>
                  <a:ea typeface="Public Sans"/>
                  <a:cs typeface="Public Sans"/>
                  <a:sym typeface="Public Sans"/>
                </a:rPr>
                <a:t>          AP/AR Invoice Automation</a:t>
              </a:r>
            </a:p>
            <a:p>
              <a:pPr algn="l">
                <a:lnSpc>
                  <a:spcPts val="2379"/>
                </a:lnSpc>
              </a:pPr>
              <a:r>
                <a:rPr lang="en-US" sz="1700">
                  <a:solidFill>
                    <a:srgbClr val="000000"/>
                  </a:solidFill>
                  <a:latin typeface="Public Sans"/>
                  <a:ea typeface="Public Sans"/>
                  <a:cs typeface="Public Sans"/>
                  <a:sym typeface="Public Sans"/>
                </a:rPr>
                <a:t>          Commercial Invoice Automation</a:t>
              </a:r>
            </a:p>
            <a:p>
              <a:pPr algn="l">
                <a:lnSpc>
                  <a:spcPts val="2379"/>
                </a:lnSpc>
              </a:pPr>
              <a:r>
                <a:rPr lang="en-US" sz="1700">
                  <a:solidFill>
                    <a:srgbClr val="000000"/>
                  </a:solidFill>
                  <a:latin typeface="Public Sans"/>
                  <a:ea typeface="Public Sans"/>
                  <a:cs typeface="Public Sans"/>
                  <a:sym typeface="Public Sans"/>
                </a:rPr>
                <a:t>          Bill of Lading Import Automation</a:t>
              </a:r>
            </a:p>
            <a:p>
              <a:pPr algn="l">
                <a:lnSpc>
                  <a:spcPts val="2380"/>
                </a:lnSpc>
              </a:pPr>
              <a:r>
                <a:rPr lang="en-US" sz="1700">
                  <a:solidFill>
                    <a:srgbClr val="000000"/>
                  </a:solidFill>
                  <a:latin typeface="Public Sans"/>
                  <a:ea typeface="Public Sans"/>
                  <a:cs typeface="Public Sans"/>
                  <a:sym typeface="Public Sans"/>
                </a:rPr>
                <a:t>          Bill of Lading Export Automation</a:t>
              </a:r>
            </a:p>
            <a:p>
              <a:pPr algn="l">
                <a:lnSpc>
                  <a:spcPts val="2380"/>
                </a:lnSpc>
              </a:pPr>
              <a:r>
                <a:rPr lang="en-US" sz="1700">
                  <a:solidFill>
                    <a:srgbClr val="000000"/>
                  </a:solidFill>
                  <a:latin typeface="Public Sans"/>
                  <a:ea typeface="Public Sans"/>
                  <a:cs typeface="Public Sans"/>
                  <a:sym typeface="Public Sans"/>
                </a:rPr>
                <a:t>          API Services</a:t>
              </a:r>
            </a:p>
            <a:p>
              <a:pPr algn="l">
                <a:lnSpc>
                  <a:spcPts val="2379"/>
                </a:lnSpc>
              </a:pPr>
              <a:r>
                <a:rPr lang="en-US" sz="1700">
                  <a:solidFill>
                    <a:srgbClr val="000000"/>
                  </a:solidFill>
                  <a:latin typeface="Public Sans"/>
                  <a:ea typeface="Public Sans"/>
                  <a:cs typeface="Public Sans"/>
                  <a:sym typeface="Public Sans"/>
                </a:rPr>
                <a:t>          eAdaptor Services</a:t>
              </a:r>
            </a:p>
          </p:txBody>
        </p:sp>
        <p:sp>
          <p:nvSpPr>
            <p:cNvPr id="36" name="Freeform 36"/>
            <p:cNvSpPr/>
            <p:nvPr/>
          </p:nvSpPr>
          <p:spPr>
            <a:xfrm>
              <a:off x="51956" y="66620"/>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37" name="Freeform 37"/>
            <p:cNvSpPr/>
            <p:nvPr/>
          </p:nvSpPr>
          <p:spPr>
            <a:xfrm>
              <a:off x="51956" y="452334"/>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38" name="Freeform 38"/>
            <p:cNvSpPr/>
            <p:nvPr/>
          </p:nvSpPr>
          <p:spPr>
            <a:xfrm>
              <a:off x="51956" y="840500"/>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39" name="Freeform 39"/>
            <p:cNvSpPr/>
            <p:nvPr/>
          </p:nvSpPr>
          <p:spPr>
            <a:xfrm>
              <a:off x="51956" y="1260207"/>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grpSp>
      <p:grpSp>
        <p:nvGrpSpPr>
          <p:cNvPr id="40" name="Group 40"/>
          <p:cNvGrpSpPr/>
          <p:nvPr/>
        </p:nvGrpSpPr>
        <p:grpSpPr>
          <a:xfrm>
            <a:off x="11714662" y="7131916"/>
            <a:ext cx="6039911" cy="1416685"/>
            <a:chOff x="0" y="0"/>
            <a:chExt cx="8053215" cy="1888913"/>
          </a:xfrm>
        </p:grpSpPr>
        <p:sp>
          <p:nvSpPr>
            <p:cNvPr id="41" name="TextBox 41"/>
            <p:cNvSpPr txBox="1"/>
            <p:nvPr/>
          </p:nvSpPr>
          <p:spPr>
            <a:xfrm>
              <a:off x="0" y="-9525"/>
              <a:ext cx="8053215" cy="1898438"/>
            </a:xfrm>
            <a:prstGeom prst="rect">
              <a:avLst/>
            </a:prstGeom>
          </p:spPr>
          <p:txBody>
            <a:bodyPr lIns="0" tIns="0" rIns="0" bIns="0" rtlCol="0" anchor="t">
              <a:spAutoFit/>
            </a:bodyPr>
            <a:lstStyle/>
            <a:p>
              <a:pPr algn="l">
                <a:lnSpc>
                  <a:spcPts val="2039"/>
                </a:lnSpc>
              </a:pPr>
              <a:r>
                <a:rPr lang="en-US" sz="1700">
                  <a:solidFill>
                    <a:srgbClr val="000000"/>
                  </a:solidFill>
                  <a:latin typeface="Public Sans"/>
                  <a:ea typeface="Public Sans"/>
                  <a:cs typeface="Public Sans"/>
                  <a:sym typeface="Public Sans"/>
                </a:rPr>
                <a:t>          Integration To Financial System</a:t>
              </a:r>
            </a:p>
            <a:p>
              <a:pPr algn="l">
                <a:lnSpc>
                  <a:spcPts val="2379"/>
                </a:lnSpc>
              </a:pPr>
              <a:r>
                <a:rPr lang="en-US" sz="1700">
                  <a:solidFill>
                    <a:srgbClr val="000000"/>
                  </a:solidFill>
                  <a:latin typeface="Public Sans"/>
                  <a:ea typeface="Public Sans"/>
                  <a:cs typeface="Public Sans"/>
                  <a:sym typeface="Public Sans"/>
                </a:rPr>
                <a:t>          Integration To Customs And E-invoicing</a:t>
              </a:r>
            </a:p>
            <a:p>
              <a:pPr algn="l">
                <a:lnSpc>
                  <a:spcPts val="2379"/>
                </a:lnSpc>
              </a:pPr>
              <a:r>
                <a:rPr lang="en-US" sz="1700">
                  <a:solidFill>
                    <a:srgbClr val="000000"/>
                  </a:solidFill>
                  <a:latin typeface="Public Sans"/>
                  <a:ea typeface="Public Sans"/>
                  <a:cs typeface="Public Sans"/>
                  <a:sym typeface="Public Sans"/>
                </a:rPr>
                <a:t>          Integration to Suppliers And Retailers</a:t>
              </a:r>
            </a:p>
            <a:p>
              <a:pPr algn="l">
                <a:lnSpc>
                  <a:spcPts val="2379"/>
                </a:lnSpc>
              </a:pPr>
              <a:r>
                <a:rPr lang="en-US" sz="1700">
                  <a:solidFill>
                    <a:srgbClr val="000000"/>
                  </a:solidFill>
                  <a:latin typeface="Public Sans"/>
                  <a:ea typeface="Public Sans"/>
                  <a:cs typeface="Public Sans"/>
                  <a:sym typeface="Public Sans"/>
                </a:rPr>
                <a:t>          Integration To Transport Companies</a:t>
              </a:r>
            </a:p>
            <a:p>
              <a:pPr algn="l">
                <a:lnSpc>
                  <a:spcPts val="2379"/>
                </a:lnSpc>
              </a:pPr>
              <a:r>
                <a:rPr lang="en-US" sz="1700">
                  <a:solidFill>
                    <a:srgbClr val="000000"/>
                  </a:solidFill>
                  <a:latin typeface="Public Sans"/>
                  <a:ea typeface="Public Sans"/>
                  <a:cs typeface="Public Sans"/>
                  <a:sym typeface="Public Sans"/>
                </a:rPr>
                <a:t>          Integration to Shipping Lines And  Stevedores</a:t>
              </a:r>
            </a:p>
          </p:txBody>
        </p:sp>
        <p:sp>
          <p:nvSpPr>
            <p:cNvPr id="42" name="Freeform 42"/>
            <p:cNvSpPr/>
            <p:nvPr/>
          </p:nvSpPr>
          <p:spPr>
            <a:xfrm>
              <a:off x="0" y="90716"/>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43" name="Freeform 43"/>
            <p:cNvSpPr/>
            <p:nvPr/>
          </p:nvSpPr>
          <p:spPr>
            <a:xfrm>
              <a:off x="0" y="476430"/>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44" name="Freeform 44"/>
            <p:cNvSpPr/>
            <p:nvPr/>
          </p:nvSpPr>
          <p:spPr>
            <a:xfrm>
              <a:off x="0" y="865444"/>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45" name="Freeform 45"/>
            <p:cNvSpPr/>
            <p:nvPr/>
          </p:nvSpPr>
          <p:spPr>
            <a:xfrm>
              <a:off x="0" y="1251158"/>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46" name="Freeform 46"/>
            <p:cNvSpPr/>
            <p:nvPr/>
          </p:nvSpPr>
          <p:spPr>
            <a:xfrm>
              <a:off x="0" y="1636872"/>
              <a:ext cx="248869" cy="233314"/>
            </a:xfrm>
            <a:custGeom>
              <a:avLst/>
              <a:gdLst/>
              <a:ahLst/>
              <a:cxnLst/>
              <a:rect l="l" t="t" r="r" b="b"/>
              <a:pathLst>
                <a:path w="248869" h="233314">
                  <a:moveTo>
                    <a:pt x="0" y="0"/>
                  </a:moveTo>
                  <a:lnTo>
                    <a:pt x="248869" y="0"/>
                  </a:lnTo>
                  <a:lnTo>
                    <a:pt x="248869" y="233314"/>
                  </a:lnTo>
                  <a:lnTo>
                    <a:pt x="0" y="233314"/>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grpSp>
      <p:sp>
        <p:nvSpPr>
          <p:cNvPr id="47" name="Freeform 47"/>
          <p:cNvSpPr/>
          <p:nvPr/>
        </p:nvSpPr>
        <p:spPr>
          <a:xfrm>
            <a:off x="6305311" y="8373615"/>
            <a:ext cx="186652" cy="174986"/>
          </a:xfrm>
          <a:custGeom>
            <a:avLst/>
            <a:gdLst/>
            <a:ahLst/>
            <a:cxnLst/>
            <a:rect l="l" t="t" r="r" b="b"/>
            <a:pathLst>
              <a:path w="186652" h="174986">
                <a:moveTo>
                  <a:pt x="0" y="0"/>
                </a:moveTo>
                <a:lnTo>
                  <a:pt x="186652" y="0"/>
                </a:lnTo>
                <a:lnTo>
                  <a:pt x="186652" y="174986"/>
                </a:lnTo>
                <a:lnTo>
                  <a:pt x="0" y="174986"/>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48" name="Freeform 48"/>
          <p:cNvSpPr/>
          <p:nvPr/>
        </p:nvSpPr>
        <p:spPr>
          <a:xfrm>
            <a:off x="6314836" y="8668118"/>
            <a:ext cx="186652" cy="174986"/>
          </a:xfrm>
          <a:custGeom>
            <a:avLst/>
            <a:gdLst/>
            <a:ahLst/>
            <a:cxnLst/>
            <a:rect l="l" t="t" r="r" b="b"/>
            <a:pathLst>
              <a:path w="186652" h="174986">
                <a:moveTo>
                  <a:pt x="0" y="0"/>
                </a:moveTo>
                <a:lnTo>
                  <a:pt x="186652" y="0"/>
                </a:lnTo>
                <a:lnTo>
                  <a:pt x="186652" y="174985"/>
                </a:lnTo>
                <a:lnTo>
                  <a:pt x="0" y="174985"/>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
        <p:nvSpPr>
          <p:cNvPr id="49" name="Freeform 49"/>
          <p:cNvSpPr/>
          <p:nvPr/>
        </p:nvSpPr>
        <p:spPr>
          <a:xfrm>
            <a:off x="1793155" y="8364090"/>
            <a:ext cx="186652" cy="174986"/>
          </a:xfrm>
          <a:custGeom>
            <a:avLst/>
            <a:gdLst/>
            <a:ahLst/>
            <a:cxnLst/>
            <a:rect l="l" t="t" r="r" b="b"/>
            <a:pathLst>
              <a:path w="186652" h="174986">
                <a:moveTo>
                  <a:pt x="0" y="0"/>
                </a:moveTo>
                <a:lnTo>
                  <a:pt x="186652" y="0"/>
                </a:lnTo>
                <a:lnTo>
                  <a:pt x="186652" y="174986"/>
                </a:lnTo>
                <a:lnTo>
                  <a:pt x="0" y="174986"/>
                </a:lnTo>
                <a:lnTo>
                  <a:pt x="0" y="0"/>
                </a:lnTo>
                <a:close/>
              </a:path>
            </a:pathLst>
          </a:custGeom>
          <a:blipFill>
            <a:blip r:embed="rId34">
              <a:extLst>
                <a:ext uri="{96DAC541-7B7A-43D3-8B79-37D633B846F1}">
                  <asvg:svgBlip xmlns:asvg="http://schemas.microsoft.com/office/drawing/2016/SVG/main" r:embed="rId35"/>
                </a:ext>
              </a:extLst>
            </a:blip>
            <a:stretch>
              <a:fillRect t="-666" b="-666"/>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2193212" y="9947191"/>
            <a:ext cx="3316080" cy="537986"/>
            <a:chOff x="0" y="0"/>
            <a:chExt cx="873371" cy="141692"/>
          </a:xfrm>
        </p:grpSpPr>
        <p:sp>
          <p:nvSpPr>
            <p:cNvPr id="4" name="Freeform 4"/>
            <p:cNvSpPr/>
            <p:nvPr/>
          </p:nvSpPr>
          <p:spPr>
            <a:xfrm>
              <a:off x="0" y="0"/>
              <a:ext cx="873371" cy="141692"/>
            </a:xfrm>
            <a:custGeom>
              <a:avLst/>
              <a:gdLst/>
              <a:ahLst/>
              <a:cxnLst/>
              <a:rect l="l" t="t" r="r" b="b"/>
              <a:pathLst>
                <a:path w="873371" h="141692">
                  <a:moveTo>
                    <a:pt x="70846" y="0"/>
                  </a:moveTo>
                  <a:lnTo>
                    <a:pt x="802525" y="0"/>
                  </a:lnTo>
                  <a:cubicBezTo>
                    <a:pt x="841652" y="0"/>
                    <a:pt x="873371" y="31719"/>
                    <a:pt x="873371" y="70846"/>
                  </a:cubicBezTo>
                  <a:lnTo>
                    <a:pt x="873371" y="70846"/>
                  </a:lnTo>
                  <a:cubicBezTo>
                    <a:pt x="873371" y="89635"/>
                    <a:pt x="865907" y="107655"/>
                    <a:pt x="852621" y="120942"/>
                  </a:cubicBezTo>
                  <a:cubicBezTo>
                    <a:pt x="839334" y="134228"/>
                    <a:pt x="821314" y="141692"/>
                    <a:pt x="802525" y="141692"/>
                  </a:cubicBezTo>
                  <a:lnTo>
                    <a:pt x="70846" y="141692"/>
                  </a:lnTo>
                  <a:cubicBezTo>
                    <a:pt x="52056" y="141692"/>
                    <a:pt x="34036" y="134228"/>
                    <a:pt x="20750" y="120942"/>
                  </a:cubicBezTo>
                  <a:cubicBezTo>
                    <a:pt x="7464" y="107655"/>
                    <a:pt x="0" y="89635"/>
                    <a:pt x="0" y="70846"/>
                  </a:cubicBezTo>
                  <a:lnTo>
                    <a:pt x="0" y="70846"/>
                  </a:lnTo>
                  <a:cubicBezTo>
                    <a:pt x="0" y="52056"/>
                    <a:pt x="7464" y="34036"/>
                    <a:pt x="20750" y="20750"/>
                  </a:cubicBezTo>
                  <a:cubicBezTo>
                    <a:pt x="34036" y="7464"/>
                    <a:pt x="52056" y="0"/>
                    <a:pt x="70846" y="0"/>
                  </a:cubicBezTo>
                  <a:close/>
                </a:path>
              </a:pathLst>
            </a:custGeom>
            <a:solidFill>
              <a:srgbClr val="16578D"/>
            </a:solidFill>
          </p:spPr>
        </p:sp>
        <p:sp>
          <p:nvSpPr>
            <p:cNvPr id="5" name="TextBox 5"/>
            <p:cNvSpPr txBox="1"/>
            <p:nvPr/>
          </p:nvSpPr>
          <p:spPr>
            <a:xfrm>
              <a:off x="0" y="-47625"/>
              <a:ext cx="873371" cy="18931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177366" y="8460193"/>
            <a:ext cx="5210521" cy="4477792"/>
            <a:chOff x="0" y="0"/>
            <a:chExt cx="6947361" cy="5970389"/>
          </a:xfrm>
        </p:grpSpPr>
        <p:grpSp>
          <p:nvGrpSpPr>
            <p:cNvPr id="7" name="Group 7"/>
            <p:cNvGrpSpPr/>
            <p:nvPr/>
          </p:nvGrpSpPr>
          <p:grpSpPr>
            <a:xfrm>
              <a:off x="0" y="0"/>
              <a:ext cx="6947361" cy="5970389"/>
              <a:chOff x="0" y="0"/>
              <a:chExt cx="812800" cy="698500"/>
            </a:xfrm>
          </p:grpSpPr>
          <p:sp>
            <p:nvSpPr>
              <p:cNvPr id="8" name="Freeform 8"/>
              <p:cNvSpPr/>
              <p:nvPr/>
            </p:nvSpPr>
            <p:spPr>
              <a:xfrm>
                <a:off x="13627" y="0"/>
                <a:ext cx="785546" cy="698500"/>
              </a:xfrm>
              <a:custGeom>
                <a:avLst/>
                <a:gdLst/>
                <a:ahLst/>
                <a:cxnLst/>
                <a:rect l="l" t="t" r="r" b="b"/>
                <a:pathLst>
                  <a:path w="785546" h="698500">
                    <a:moveTo>
                      <a:pt x="773768" y="392915"/>
                    </a:moveTo>
                    <a:lnTo>
                      <a:pt x="621378" y="654835"/>
                    </a:lnTo>
                    <a:cubicBezTo>
                      <a:pt x="605649" y="681869"/>
                      <a:pt x="576732" y="698500"/>
                      <a:pt x="545455" y="698500"/>
                    </a:cubicBezTo>
                    <a:lnTo>
                      <a:pt x="240091" y="698500"/>
                    </a:lnTo>
                    <a:cubicBezTo>
                      <a:pt x="208814" y="698500"/>
                      <a:pt x="179897" y="681869"/>
                      <a:pt x="164168" y="654835"/>
                    </a:cubicBezTo>
                    <a:lnTo>
                      <a:pt x="11778" y="392915"/>
                    </a:lnTo>
                    <a:cubicBezTo>
                      <a:pt x="-3926" y="365923"/>
                      <a:pt x="-3926" y="332577"/>
                      <a:pt x="11778" y="305585"/>
                    </a:cubicBezTo>
                    <a:lnTo>
                      <a:pt x="164168" y="43665"/>
                    </a:lnTo>
                    <a:cubicBezTo>
                      <a:pt x="179897" y="16631"/>
                      <a:pt x="208814" y="0"/>
                      <a:pt x="240091" y="0"/>
                    </a:cubicBezTo>
                    <a:lnTo>
                      <a:pt x="545455" y="0"/>
                    </a:lnTo>
                    <a:cubicBezTo>
                      <a:pt x="576732" y="0"/>
                      <a:pt x="605649" y="16631"/>
                      <a:pt x="621378" y="43665"/>
                    </a:cubicBezTo>
                    <a:lnTo>
                      <a:pt x="773768" y="305585"/>
                    </a:lnTo>
                    <a:cubicBezTo>
                      <a:pt x="789472" y="332577"/>
                      <a:pt x="789472" y="365923"/>
                      <a:pt x="773768" y="392915"/>
                    </a:cubicBezTo>
                    <a:close/>
                  </a:path>
                </a:pathLst>
              </a:custGeom>
              <a:solidFill>
                <a:srgbClr val="243B55"/>
              </a:solidFill>
              <a:ln cap="rnd">
                <a:noFill/>
                <a:prstDash val="solid"/>
                <a:round/>
              </a:ln>
            </p:spPr>
          </p:sp>
          <p:sp>
            <p:nvSpPr>
              <p:cNvPr id="9" name="TextBox 9"/>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615568" y="737508"/>
              <a:ext cx="4396286" cy="3778058"/>
              <a:chOff x="0" y="0"/>
              <a:chExt cx="812800" cy="698500"/>
            </a:xfrm>
          </p:grpSpPr>
          <p:sp>
            <p:nvSpPr>
              <p:cNvPr id="11" name="Freeform 11"/>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12" name="TextBox 12"/>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grpSp>
        <p:nvGrpSpPr>
          <p:cNvPr id="13" name="Group 13"/>
          <p:cNvGrpSpPr/>
          <p:nvPr/>
        </p:nvGrpSpPr>
        <p:grpSpPr>
          <a:xfrm>
            <a:off x="-1767061" y="-591955"/>
            <a:ext cx="3389686" cy="2665365"/>
            <a:chOff x="0" y="0"/>
            <a:chExt cx="696717" cy="547840"/>
          </a:xfrm>
        </p:grpSpPr>
        <p:sp>
          <p:nvSpPr>
            <p:cNvPr id="14" name="Freeform 14"/>
            <p:cNvSpPr/>
            <p:nvPr/>
          </p:nvSpPr>
          <p:spPr>
            <a:xfrm>
              <a:off x="11320" y="0"/>
              <a:ext cx="674077" cy="547840"/>
            </a:xfrm>
            <a:custGeom>
              <a:avLst/>
              <a:gdLst/>
              <a:ahLst/>
              <a:cxnLst/>
              <a:rect l="l" t="t" r="r" b="b"/>
              <a:pathLst>
                <a:path w="674077" h="547840">
                  <a:moveTo>
                    <a:pt x="664985" y="301435"/>
                  </a:moveTo>
                  <a:lnTo>
                    <a:pt x="502608" y="520325"/>
                  </a:lnTo>
                  <a:cubicBezTo>
                    <a:pt x="489768" y="537634"/>
                    <a:pt x="469489" y="547840"/>
                    <a:pt x="447937" y="547840"/>
                  </a:cubicBezTo>
                  <a:lnTo>
                    <a:pt x="226139" y="547840"/>
                  </a:lnTo>
                  <a:cubicBezTo>
                    <a:pt x="204588" y="547840"/>
                    <a:pt x="184309" y="537634"/>
                    <a:pt x="171469" y="520325"/>
                  </a:cubicBezTo>
                  <a:lnTo>
                    <a:pt x="9091" y="301435"/>
                  </a:lnTo>
                  <a:cubicBezTo>
                    <a:pt x="-3031" y="285094"/>
                    <a:pt x="-3031" y="262745"/>
                    <a:pt x="9091" y="246405"/>
                  </a:cubicBezTo>
                  <a:lnTo>
                    <a:pt x="171469" y="27515"/>
                  </a:lnTo>
                  <a:cubicBezTo>
                    <a:pt x="184309" y="10206"/>
                    <a:pt x="204588" y="0"/>
                    <a:pt x="226139" y="0"/>
                  </a:cubicBezTo>
                  <a:lnTo>
                    <a:pt x="447937" y="0"/>
                  </a:lnTo>
                  <a:cubicBezTo>
                    <a:pt x="469489" y="0"/>
                    <a:pt x="489768" y="10206"/>
                    <a:pt x="502608" y="27515"/>
                  </a:cubicBezTo>
                  <a:lnTo>
                    <a:pt x="664985" y="246405"/>
                  </a:lnTo>
                  <a:cubicBezTo>
                    <a:pt x="677107" y="262745"/>
                    <a:pt x="677107" y="285094"/>
                    <a:pt x="664985" y="301435"/>
                  </a:cubicBezTo>
                  <a:close/>
                </a:path>
              </a:pathLst>
            </a:custGeom>
            <a:solidFill>
              <a:srgbClr val="243B55">
                <a:alpha val="4706"/>
              </a:srgbClr>
            </a:solidFill>
          </p:spPr>
        </p:sp>
        <p:sp>
          <p:nvSpPr>
            <p:cNvPr id="15" name="TextBox 15"/>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132205" y="3325860"/>
            <a:ext cx="2311589" cy="1817640"/>
            <a:chOff x="0" y="0"/>
            <a:chExt cx="696717" cy="547840"/>
          </a:xfrm>
        </p:grpSpPr>
        <p:sp>
          <p:nvSpPr>
            <p:cNvPr id="17" name="Freeform 17"/>
            <p:cNvSpPr/>
            <p:nvPr/>
          </p:nvSpPr>
          <p:spPr>
            <a:xfrm>
              <a:off x="9960" y="0"/>
              <a:ext cx="676798" cy="547840"/>
            </a:xfrm>
            <a:custGeom>
              <a:avLst/>
              <a:gdLst/>
              <a:ahLst/>
              <a:cxnLst/>
              <a:rect l="l" t="t" r="r" b="b"/>
              <a:pathLst>
                <a:path w="676798" h="547840">
                  <a:moveTo>
                    <a:pt x="668798" y="298129"/>
                  </a:moveTo>
                  <a:lnTo>
                    <a:pt x="501515" y="523631"/>
                  </a:lnTo>
                  <a:cubicBezTo>
                    <a:pt x="490218" y="538860"/>
                    <a:pt x="472376" y="547840"/>
                    <a:pt x="453414" y="547840"/>
                  </a:cubicBezTo>
                  <a:lnTo>
                    <a:pt x="223383" y="547840"/>
                  </a:lnTo>
                  <a:cubicBezTo>
                    <a:pt x="204421" y="547840"/>
                    <a:pt x="186579" y="538860"/>
                    <a:pt x="175281" y="523631"/>
                  </a:cubicBezTo>
                  <a:lnTo>
                    <a:pt x="7999" y="298129"/>
                  </a:lnTo>
                  <a:cubicBezTo>
                    <a:pt x="-2667" y="283751"/>
                    <a:pt x="-2667" y="264088"/>
                    <a:pt x="7999" y="249711"/>
                  </a:cubicBezTo>
                  <a:lnTo>
                    <a:pt x="175281" y="24209"/>
                  </a:lnTo>
                  <a:cubicBezTo>
                    <a:pt x="186579" y="8980"/>
                    <a:pt x="204421" y="0"/>
                    <a:pt x="223383" y="0"/>
                  </a:cubicBezTo>
                  <a:lnTo>
                    <a:pt x="453414" y="0"/>
                  </a:lnTo>
                  <a:cubicBezTo>
                    <a:pt x="472376" y="0"/>
                    <a:pt x="490218" y="8980"/>
                    <a:pt x="501515" y="24209"/>
                  </a:cubicBezTo>
                  <a:lnTo>
                    <a:pt x="668798" y="249711"/>
                  </a:lnTo>
                  <a:cubicBezTo>
                    <a:pt x="679463" y="264088"/>
                    <a:pt x="679463" y="283751"/>
                    <a:pt x="668798" y="298129"/>
                  </a:cubicBezTo>
                  <a:close/>
                </a:path>
              </a:pathLst>
            </a:custGeom>
            <a:solidFill>
              <a:srgbClr val="243B55">
                <a:alpha val="4706"/>
              </a:srgbClr>
            </a:solidFill>
          </p:spPr>
        </p:sp>
        <p:sp>
          <p:nvSpPr>
            <p:cNvPr id="18" name="TextBox 18"/>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339304" y="9992895"/>
            <a:ext cx="961113" cy="651154"/>
          </a:xfrm>
          <a:custGeom>
            <a:avLst/>
            <a:gdLst/>
            <a:ahLst/>
            <a:cxnLst/>
            <a:rect l="l" t="t" r="r" b="b"/>
            <a:pathLst>
              <a:path w="961113" h="651154">
                <a:moveTo>
                  <a:pt x="0" y="0"/>
                </a:moveTo>
                <a:lnTo>
                  <a:pt x="961113" y="0"/>
                </a:lnTo>
                <a:lnTo>
                  <a:pt x="961113" y="651155"/>
                </a:lnTo>
                <a:lnTo>
                  <a:pt x="0" y="6511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10800000">
            <a:off x="-308460" y="-758506"/>
            <a:ext cx="2164275" cy="1111896"/>
          </a:xfrm>
          <a:custGeom>
            <a:avLst/>
            <a:gdLst/>
            <a:ahLst/>
            <a:cxnLst/>
            <a:rect l="l" t="t" r="r" b="b"/>
            <a:pathLst>
              <a:path w="2164275" h="1111896">
                <a:moveTo>
                  <a:pt x="0" y="0"/>
                </a:moveTo>
                <a:lnTo>
                  <a:pt x="2164275" y="0"/>
                </a:lnTo>
                <a:lnTo>
                  <a:pt x="2164275" y="1111897"/>
                </a:lnTo>
                <a:lnTo>
                  <a:pt x="0" y="1111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14043734" y="-92534"/>
            <a:ext cx="5809337" cy="537986"/>
          </a:xfrm>
          <a:custGeom>
            <a:avLst/>
            <a:gdLst/>
            <a:ahLst/>
            <a:cxnLst/>
            <a:rect l="l" t="t" r="r" b="b"/>
            <a:pathLst>
              <a:path w="5809337" h="537986">
                <a:moveTo>
                  <a:pt x="0" y="0"/>
                </a:moveTo>
                <a:lnTo>
                  <a:pt x="5809337" y="0"/>
                </a:lnTo>
                <a:lnTo>
                  <a:pt x="5809337" y="537986"/>
                </a:lnTo>
                <a:lnTo>
                  <a:pt x="0" y="537986"/>
                </a:lnTo>
                <a:lnTo>
                  <a:pt x="0" y="0"/>
                </a:lnTo>
                <a:close/>
              </a:path>
            </a:pathLst>
          </a:custGeom>
          <a:blipFill>
            <a:blip r:embed="rId7">
              <a:extLst>
                <a:ext uri="{96DAC541-7B7A-43D3-8B79-37D633B846F1}">
                  <asvg:svgBlip xmlns:asvg="http://schemas.microsoft.com/office/drawing/2016/SVG/main" r:embed="rId8"/>
                </a:ext>
              </a:extLst>
            </a:blip>
            <a:stretch>
              <a:fillRect t="-434569" b="-361689"/>
            </a:stretch>
          </a:blipFill>
        </p:spPr>
      </p:sp>
      <p:grpSp>
        <p:nvGrpSpPr>
          <p:cNvPr id="22" name="Group 22"/>
          <p:cNvGrpSpPr/>
          <p:nvPr/>
        </p:nvGrpSpPr>
        <p:grpSpPr>
          <a:xfrm>
            <a:off x="1369444" y="3107169"/>
            <a:ext cx="8689187" cy="3458845"/>
            <a:chOff x="0" y="0"/>
            <a:chExt cx="11585583" cy="4611793"/>
          </a:xfrm>
        </p:grpSpPr>
        <p:sp>
          <p:nvSpPr>
            <p:cNvPr id="23" name="TextBox 23"/>
            <p:cNvSpPr txBox="1"/>
            <p:nvPr/>
          </p:nvSpPr>
          <p:spPr>
            <a:xfrm>
              <a:off x="0" y="-57150"/>
              <a:ext cx="11585583" cy="46689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Client Type</a:t>
              </a:r>
              <a:r>
                <a:rPr lang="en-US" sz="2200">
                  <a:solidFill>
                    <a:srgbClr val="1D1A1B"/>
                  </a:solidFill>
                  <a:latin typeface="Public Sans"/>
                  <a:ea typeface="Public Sans"/>
                  <a:cs typeface="Public Sans"/>
                  <a:sym typeface="Public Sans"/>
                </a:rPr>
                <a:t>: Freight Forwarder</a:t>
              </a:r>
            </a:p>
            <a:p>
              <a:pPr algn="just">
                <a:lnSpc>
                  <a:spcPts val="3080"/>
                </a:lnSpc>
              </a:pPr>
              <a:r>
                <a:rPr lang="en-US" sz="2200" b="1">
                  <a:solidFill>
                    <a:srgbClr val="1D1A1B"/>
                  </a:solidFill>
                  <a:latin typeface="Public Sans Bold"/>
                  <a:ea typeface="Public Sans Bold"/>
                  <a:cs typeface="Public Sans Bold"/>
                  <a:sym typeface="Public Sans Bold"/>
                </a:rPr>
                <a:t>Region: </a:t>
              </a:r>
              <a:r>
                <a:rPr lang="en-US" sz="2200">
                  <a:solidFill>
                    <a:srgbClr val="1D1A1B"/>
                  </a:solidFill>
                  <a:latin typeface="Public Sans"/>
                  <a:ea typeface="Public Sans"/>
                  <a:cs typeface="Public Sans"/>
                  <a:sym typeface="Public Sans"/>
                </a:rPr>
                <a:t>Europe</a:t>
              </a:r>
            </a:p>
            <a:p>
              <a:pPr algn="just">
                <a:lnSpc>
                  <a:spcPts val="3080"/>
                </a:lnSpc>
              </a:pPr>
              <a:r>
                <a:rPr lang="en-US" sz="2200" b="1">
                  <a:solidFill>
                    <a:srgbClr val="1D1A1B"/>
                  </a:solidFill>
                  <a:latin typeface="Public Sans Bold"/>
                  <a:ea typeface="Public Sans Bold"/>
                  <a:cs typeface="Public Sans Bold"/>
                  <a:sym typeface="Public Sans Bold"/>
                </a:rPr>
                <a:t>Requirement</a:t>
              </a:r>
              <a:r>
                <a:rPr lang="en-US" sz="2200">
                  <a:solidFill>
                    <a:srgbClr val="1D1A1B"/>
                  </a:solidFill>
                  <a:latin typeface="Public Sans"/>
                  <a:ea typeface="Public Sans"/>
                  <a:cs typeface="Public Sans"/>
                  <a:sym typeface="Public Sans"/>
                </a:rPr>
                <a:t>: Real-time container tracking inside CargoWise to eliminate manual updates.</a:t>
              </a:r>
            </a:p>
            <a:p>
              <a:pPr algn="just">
                <a:lnSpc>
                  <a:spcPts val="3080"/>
                </a:lnSpc>
              </a:pPr>
              <a:r>
                <a:rPr lang="en-US" sz="2200" b="1">
                  <a:solidFill>
                    <a:srgbClr val="1D1A1B"/>
                  </a:solidFill>
                  <a:latin typeface="Public Sans Bold"/>
                  <a:ea typeface="Public Sans Bold"/>
                  <a:cs typeface="Public Sans Bold"/>
                  <a:sym typeface="Public Sans Bold"/>
                </a:rPr>
                <a:t>Solution Delivered:</a:t>
              </a:r>
            </a:p>
            <a:p>
              <a:pPr algn="just">
                <a:lnSpc>
                  <a:spcPts val="3080"/>
                </a:lnSpc>
              </a:pPr>
              <a:r>
                <a:rPr lang="en-US" sz="2200">
                  <a:solidFill>
                    <a:srgbClr val="1D1A1B"/>
                  </a:solidFill>
                  <a:latin typeface="Public Sans"/>
                  <a:ea typeface="Public Sans"/>
                  <a:cs typeface="Public Sans"/>
                  <a:sym typeface="Public Sans"/>
                </a:rPr>
                <a:t>          Built multi-carrier API integrations using REST/JSON</a:t>
              </a:r>
            </a:p>
            <a:p>
              <a:pPr algn="just">
                <a:lnSpc>
                  <a:spcPts val="3080"/>
                </a:lnSpc>
              </a:pPr>
              <a:r>
                <a:rPr lang="en-US" sz="2200">
                  <a:solidFill>
                    <a:srgbClr val="1D1A1B"/>
                  </a:solidFill>
                  <a:latin typeface="Public Sans"/>
                  <a:ea typeface="Public Sans"/>
                  <a:cs typeface="Public Sans"/>
                  <a:sym typeface="Public Sans"/>
                </a:rPr>
                <a:t>          Automated milestone, ETA/ETD and status updates into CW1</a:t>
              </a:r>
            </a:p>
            <a:p>
              <a:pPr algn="just">
                <a:lnSpc>
                  <a:spcPts val="3080"/>
                </a:lnSpc>
              </a:pPr>
              <a:r>
                <a:rPr lang="en-US" sz="2200">
                  <a:solidFill>
                    <a:srgbClr val="1D1A1B"/>
                  </a:solidFill>
                  <a:latin typeface="Public Sans"/>
                  <a:ea typeface="Public Sans"/>
                  <a:cs typeface="Public Sans"/>
                  <a:sym typeface="Public Sans"/>
                </a:rPr>
                <a:t>          Deployed error-handling and webhook-based notifications</a:t>
              </a:r>
            </a:p>
            <a:p>
              <a:pPr algn="just">
                <a:lnSpc>
                  <a:spcPts val="3080"/>
                </a:lnSpc>
              </a:pPr>
              <a:r>
                <a:rPr lang="en-US" sz="2200">
                  <a:solidFill>
                    <a:srgbClr val="1D1A1B"/>
                  </a:solidFill>
                  <a:latin typeface="Public Sans"/>
                  <a:ea typeface="Public Sans"/>
                  <a:cs typeface="Public Sans"/>
                  <a:sym typeface="Public Sans"/>
                </a:rPr>
                <a:t>          Dedicated Customer Portal</a:t>
              </a:r>
            </a:p>
          </p:txBody>
        </p:sp>
        <p:sp>
          <p:nvSpPr>
            <p:cNvPr id="24" name="Freeform 24"/>
            <p:cNvSpPr/>
            <p:nvPr/>
          </p:nvSpPr>
          <p:spPr>
            <a:xfrm>
              <a:off x="162613" y="2715709"/>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5"/>
            <p:cNvSpPr/>
            <p:nvPr/>
          </p:nvSpPr>
          <p:spPr>
            <a:xfrm>
              <a:off x="162613" y="3208698"/>
              <a:ext cx="371581" cy="272648"/>
            </a:xfrm>
            <a:custGeom>
              <a:avLst/>
              <a:gdLst/>
              <a:ahLst/>
              <a:cxnLst/>
              <a:rect l="l" t="t" r="r" b="b"/>
              <a:pathLst>
                <a:path w="371581" h="272648">
                  <a:moveTo>
                    <a:pt x="0" y="0"/>
                  </a:moveTo>
                  <a:lnTo>
                    <a:pt x="371581" y="0"/>
                  </a:lnTo>
                  <a:lnTo>
                    <a:pt x="371581" y="272647"/>
                  </a:lnTo>
                  <a:lnTo>
                    <a:pt x="0" y="2726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6"/>
            <p:cNvSpPr/>
            <p:nvPr/>
          </p:nvSpPr>
          <p:spPr>
            <a:xfrm>
              <a:off x="162613" y="3760676"/>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7" name="Freeform 27"/>
            <p:cNvSpPr/>
            <p:nvPr/>
          </p:nvSpPr>
          <p:spPr>
            <a:xfrm>
              <a:off x="162613" y="4249224"/>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8" name="Group 28"/>
          <p:cNvGrpSpPr/>
          <p:nvPr/>
        </p:nvGrpSpPr>
        <p:grpSpPr>
          <a:xfrm>
            <a:off x="2459702" y="7779889"/>
            <a:ext cx="6099179" cy="1533525"/>
            <a:chOff x="0" y="0"/>
            <a:chExt cx="8132238" cy="2044700"/>
          </a:xfrm>
        </p:grpSpPr>
        <p:grpSp>
          <p:nvGrpSpPr>
            <p:cNvPr id="29" name="Group 29"/>
            <p:cNvGrpSpPr/>
            <p:nvPr/>
          </p:nvGrpSpPr>
          <p:grpSpPr>
            <a:xfrm>
              <a:off x="0" y="0"/>
              <a:ext cx="8132238" cy="2044700"/>
              <a:chOff x="0" y="0"/>
              <a:chExt cx="1254975" cy="315540"/>
            </a:xfrm>
          </p:grpSpPr>
          <p:sp>
            <p:nvSpPr>
              <p:cNvPr id="30" name="Freeform 30"/>
              <p:cNvSpPr/>
              <p:nvPr/>
            </p:nvSpPr>
            <p:spPr>
              <a:xfrm>
                <a:off x="0" y="0"/>
                <a:ext cx="1254975" cy="315540"/>
              </a:xfrm>
              <a:custGeom>
                <a:avLst/>
                <a:gdLst/>
                <a:ahLst/>
                <a:cxnLst/>
                <a:rect l="l" t="t" r="r" b="b"/>
                <a:pathLst>
                  <a:path w="1254975" h="315540">
                    <a:moveTo>
                      <a:pt x="24792" y="0"/>
                    </a:moveTo>
                    <a:lnTo>
                      <a:pt x="1230183" y="0"/>
                    </a:lnTo>
                    <a:cubicBezTo>
                      <a:pt x="1236758" y="0"/>
                      <a:pt x="1243064" y="2612"/>
                      <a:pt x="1247714" y="7261"/>
                    </a:cubicBezTo>
                    <a:cubicBezTo>
                      <a:pt x="1252363" y="11911"/>
                      <a:pt x="1254975" y="18217"/>
                      <a:pt x="1254975" y="24792"/>
                    </a:cubicBezTo>
                    <a:lnTo>
                      <a:pt x="1254975" y="290748"/>
                    </a:lnTo>
                    <a:cubicBezTo>
                      <a:pt x="1254975" y="297324"/>
                      <a:pt x="1252363" y="303629"/>
                      <a:pt x="1247714" y="308279"/>
                    </a:cubicBezTo>
                    <a:cubicBezTo>
                      <a:pt x="1243064" y="312928"/>
                      <a:pt x="1236758" y="315540"/>
                      <a:pt x="1230183" y="315540"/>
                    </a:cubicBezTo>
                    <a:lnTo>
                      <a:pt x="24792" y="315540"/>
                    </a:lnTo>
                    <a:cubicBezTo>
                      <a:pt x="18217" y="315540"/>
                      <a:pt x="11911" y="312928"/>
                      <a:pt x="7261" y="308279"/>
                    </a:cubicBezTo>
                    <a:cubicBezTo>
                      <a:pt x="2612" y="303629"/>
                      <a:pt x="0" y="297324"/>
                      <a:pt x="0" y="290748"/>
                    </a:cubicBezTo>
                    <a:lnTo>
                      <a:pt x="0" y="24792"/>
                    </a:lnTo>
                    <a:cubicBezTo>
                      <a:pt x="0" y="18217"/>
                      <a:pt x="2612" y="11911"/>
                      <a:pt x="7261" y="7261"/>
                    </a:cubicBezTo>
                    <a:cubicBezTo>
                      <a:pt x="11911" y="2612"/>
                      <a:pt x="18217" y="0"/>
                      <a:pt x="24792" y="0"/>
                    </a:cubicBezTo>
                    <a:close/>
                  </a:path>
                </a:pathLst>
              </a:custGeom>
              <a:solidFill>
                <a:srgbClr val="CDE0DB"/>
              </a:solidFill>
            </p:spPr>
          </p:sp>
          <p:sp>
            <p:nvSpPr>
              <p:cNvPr id="31" name="TextBox 31"/>
              <p:cNvSpPr txBox="1"/>
              <p:nvPr/>
            </p:nvSpPr>
            <p:spPr>
              <a:xfrm>
                <a:off x="0" y="-47625"/>
                <a:ext cx="1254975" cy="363165"/>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208890" y="227506"/>
              <a:ext cx="7923348" cy="15447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Outcome:</a:t>
              </a:r>
            </a:p>
            <a:p>
              <a:pPr algn="just">
                <a:lnSpc>
                  <a:spcPts val="3080"/>
                </a:lnSpc>
              </a:pPr>
              <a:r>
                <a:rPr lang="en-US" sz="2200">
                  <a:solidFill>
                    <a:srgbClr val="1D1A1B"/>
                  </a:solidFill>
                  <a:latin typeface="Public Sans"/>
                  <a:ea typeface="Public Sans"/>
                  <a:cs typeface="Public Sans"/>
                  <a:sym typeface="Public Sans"/>
                </a:rPr>
                <a:t>93% reduction in manual tracking</a:t>
              </a:r>
            </a:p>
            <a:p>
              <a:pPr algn="just">
                <a:lnSpc>
                  <a:spcPts val="3080"/>
                </a:lnSpc>
              </a:pPr>
              <a:r>
                <a:rPr lang="en-US" sz="2200">
                  <a:solidFill>
                    <a:srgbClr val="1D1A1B"/>
                  </a:solidFill>
                  <a:latin typeface="Public Sans"/>
                  <a:ea typeface="Public Sans"/>
                  <a:cs typeface="Public Sans"/>
                  <a:sym typeface="Public Sans"/>
                </a:rPr>
                <a:t>Accurate, real-time visibility directly in CW1</a:t>
              </a:r>
            </a:p>
          </p:txBody>
        </p:sp>
      </p:grpSp>
      <p:grpSp>
        <p:nvGrpSpPr>
          <p:cNvPr id="33" name="Group 33"/>
          <p:cNvGrpSpPr/>
          <p:nvPr/>
        </p:nvGrpSpPr>
        <p:grpSpPr>
          <a:xfrm>
            <a:off x="10612628" y="2522736"/>
            <a:ext cx="7489600" cy="7316248"/>
            <a:chOff x="0" y="0"/>
            <a:chExt cx="4828540" cy="4716780"/>
          </a:xfrm>
        </p:grpSpPr>
        <p:sp>
          <p:nvSpPr>
            <p:cNvPr id="34" name="Freeform 34"/>
            <p:cNvSpPr/>
            <p:nvPr/>
          </p:nvSpPr>
          <p:spPr>
            <a:xfrm>
              <a:off x="1103" y="1273"/>
              <a:ext cx="4830645" cy="4716345"/>
            </a:xfrm>
            <a:custGeom>
              <a:avLst/>
              <a:gdLst/>
              <a:ahLst/>
              <a:cxnLst/>
              <a:rect l="l" t="t" r="r" b="b"/>
              <a:pathLst>
                <a:path w="4830645" h="4716345">
                  <a:moveTo>
                    <a:pt x="3415197" y="4653277"/>
                  </a:moveTo>
                  <a:cubicBezTo>
                    <a:pt x="3387257" y="4660897"/>
                    <a:pt x="3365667" y="4671057"/>
                    <a:pt x="3344077" y="4673597"/>
                  </a:cubicBezTo>
                  <a:cubicBezTo>
                    <a:pt x="3222157" y="4683757"/>
                    <a:pt x="3101507" y="4693917"/>
                    <a:pt x="2979587" y="4702807"/>
                  </a:cubicBezTo>
                  <a:cubicBezTo>
                    <a:pt x="2917357" y="4706617"/>
                    <a:pt x="2855127" y="4710427"/>
                    <a:pt x="2792897" y="4711697"/>
                  </a:cubicBezTo>
                  <a:cubicBezTo>
                    <a:pt x="2725587" y="4714237"/>
                    <a:pt x="2658277" y="4718047"/>
                    <a:pt x="2592237" y="4715507"/>
                  </a:cubicBezTo>
                  <a:cubicBezTo>
                    <a:pt x="2528737" y="4714237"/>
                    <a:pt x="2465237" y="4710427"/>
                    <a:pt x="2404277" y="4698997"/>
                  </a:cubicBezTo>
                  <a:cubicBezTo>
                    <a:pt x="2325537" y="4685027"/>
                    <a:pt x="2245527" y="4685027"/>
                    <a:pt x="2168057" y="4672327"/>
                  </a:cubicBezTo>
                  <a:cubicBezTo>
                    <a:pt x="1966127" y="4639307"/>
                    <a:pt x="1760387" y="4648197"/>
                    <a:pt x="1557187" y="4634227"/>
                  </a:cubicBezTo>
                  <a:cubicBezTo>
                    <a:pt x="1442887" y="4626607"/>
                    <a:pt x="1328587" y="4608827"/>
                    <a:pt x="1214287" y="4593587"/>
                  </a:cubicBezTo>
                  <a:cubicBezTo>
                    <a:pt x="1084747" y="4577077"/>
                    <a:pt x="955207" y="4558027"/>
                    <a:pt x="824397" y="4540247"/>
                  </a:cubicBezTo>
                  <a:cubicBezTo>
                    <a:pt x="729147" y="4527547"/>
                    <a:pt x="632627" y="4514847"/>
                    <a:pt x="537377" y="4502147"/>
                  </a:cubicBezTo>
                  <a:cubicBezTo>
                    <a:pt x="534837" y="4502147"/>
                    <a:pt x="532297" y="4500877"/>
                    <a:pt x="529757" y="4500877"/>
                  </a:cubicBezTo>
                  <a:cubicBezTo>
                    <a:pt x="449747" y="4466587"/>
                    <a:pt x="364657" y="4439917"/>
                    <a:pt x="290997" y="4395467"/>
                  </a:cubicBezTo>
                  <a:cubicBezTo>
                    <a:pt x="166537" y="4319267"/>
                    <a:pt x="113197" y="4197347"/>
                    <a:pt x="108117" y="4053837"/>
                  </a:cubicBezTo>
                  <a:cubicBezTo>
                    <a:pt x="106847" y="4004307"/>
                    <a:pt x="100497" y="3956047"/>
                    <a:pt x="100497" y="3906517"/>
                  </a:cubicBezTo>
                  <a:cubicBezTo>
                    <a:pt x="101767" y="3837937"/>
                    <a:pt x="106847" y="3770627"/>
                    <a:pt x="110657" y="3703317"/>
                  </a:cubicBezTo>
                  <a:cubicBezTo>
                    <a:pt x="120817" y="3502657"/>
                    <a:pt x="125897" y="3301997"/>
                    <a:pt x="110657" y="3101337"/>
                  </a:cubicBezTo>
                  <a:cubicBezTo>
                    <a:pt x="96687" y="2920997"/>
                    <a:pt x="83987" y="2741927"/>
                    <a:pt x="70017" y="2561587"/>
                  </a:cubicBezTo>
                  <a:cubicBezTo>
                    <a:pt x="61127" y="2446017"/>
                    <a:pt x="49697" y="2331717"/>
                    <a:pt x="42077" y="2216147"/>
                  </a:cubicBezTo>
                  <a:cubicBezTo>
                    <a:pt x="36997" y="2139947"/>
                    <a:pt x="38267" y="2062477"/>
                    <a:pt x="33187" y="1986277"/>
                  </a:cubicBezTo>
                  <a:cubicBezTo>
                    <a:pt x="30647" y="1943097"/>
                    <a:pt x="16677" y="1901187"/>
                    <a:pt x="15407" y="1858007"/>
                  </a:cubicBezTo>
                  <a:cubicBezTo>
                    <a:pt x="10327" y="1753867"/>
                    <a:pt x="9057" y="1648457"/>
                    <a:pt x="6517" y="1543047"/>
                  </a:cubicBezTo>
                  <a:cubicBezTo>
                    <a:pt x="5247" y="1502407"/>
                    <a:pt x="-1103" y="1461767"/>
                    <a:pt x="167" y="1421127"/>
                  </a:cubicBezTo>
                  <a:cubicBezTo>
                    <a:pt x="1437" y="1357627"/>
                    <a:pt x="9057" y="1294127"/>
                    <a:pt x="10327" y="1230627"/>
                  </a:cubicBezTo>
                  <a:cubicBezTo>
                    <a:pt x="11597" y="1156967"/>
                    <a:pt x="3977" y="1083307"/>
                    <a:pt x="6517" y="1010917"/>
                  </a:cubicBezTo>
                  <a:cubicBezTo>
                    <a:pt x="6517" y="941067"/>
                    <a:pt x="15407" y="872487"/>
                    <a:pt x="24297" y="802637"/>
                  </a:cubicBezTo>
                  <a:cubicBezTo>
                    <a:pt x="26837" y="778507"/>
                    <a:pt x="44617" y="756917"/>
                    <a:pt x="49697" y="732787"/>
                  </a:cubicBezTo>
                  <a:cubicBezTo>
                    <a:pt x="71287" y="613407"/>
                    <a:pt x="94147" y="494027"/>
                    <a:pt x="150027" y="383537"/>
                  </a:cubicBezTo>
                  <a:cubicBezTo>
                    <a:pt x="162727" y="359407"/>
                    <a:pt x="183047" y="337817"/>
                    <a:pt x="202097" y="318767"/>
                  </a:cubicBezTo>
                  <a:cubicBezTo>
                    <a:pt x="208447" y="312417"/>
                    <a:pt x="223687" y="316227"/>
                    <a:pt x="227497" y="316227"/>
                  </a:cubicBezTo>
                  <a:cubicBezTo>
                    <a:pt x="236387" y="299717"/>
                    <a:pt x="241467" y="283207"/>
                    <a:pt x="251627" y="275587"/>
                  </a:cubicBezTo>
                  <a:cubicBezTo>
                    <a:pt x="306237" y="233677"/>
                    <a:pt x="363387" y="203197"/>
                    <a:pt x="434507" y="195577"/>
                  </a:cubicBezTo>
                  <a:cubicBezTo>
                    <a:pt x="487847" y="189227"/>
                    <a:pt x="539917" y="166367"/>
                    <a:pt x="593257" y="153667"/>
                  </a:cubicBezTo>
                  <a:cubicBezTo>
                    <a:pt x="658027" y="138427"/>
                    <a:pt x="722797" y="120647"/>
                    <a:pt x="790107" y="111757"/>
                  </a:cubicBezTo>
                  <a:cubicBezTo>
                    <a:pt x="851067" y="104137"/>
                    <a:pt x="909487" y="87627"/>
                    <a:pt x="971717" y="82547"/>
                  </a:cubicBezTo>
                  <a:cubicBezTo>
                    <a:pt x="1035217" y="77467"/>
                    <a:pt x="1098717" y="62227"/>
                    <a:pt x="1163487" y="57147"/>
                  </a:cubicBezTo>
                  <a:cubicBezTo>
                    <a:pt x="1338747" y="44447"/>
                    <a:pt x="1515277" y="35557"/>
                    <a:pt x="1690537" y="25397"/>
                  </a:cubicBezTo>
                  <a:cubicBezTo>
                    <a:pt x="1733717" y="22857"/>
                    <a:pt x="1776897" y="25397"/>
                    <a:pt x="1820077" y="26667"/>
                  </a:cubicBezTo>
                  <a:cubicBezTo>
                    <a:pt x="1841667" y="27937"/>
                    <a:pt x="1863257" y="33017"/>
                    <a:pt x="1886117" y="35557"/>
                  </a:cubicBezTo>
                  <a:cubicBezTo>
                    <a:pt x="1896277" y="36827"/>
                    <a:pt x="1906437" y="33017"/>
                    <a:pt x="1916597" y="33017"/>
                  </a:cubicBezTo>
                  <a:cubicBezTo>
                    <a:pt x="1947077" y="33017"/>
                    <a:pt x="1978827" y="33017"/>
                    <a:pt x="2009307" y="31747"/>
                  </a:cubicBezTo>
                  <a:cubicBezTo>
                    <a:pt x="2067727" y="29207"/>
                    <a:pt x="2127417" y="22857"/>
                    <a:pt x="2185837" y="22857"/>
                  </a:cubicBezTo>
                  <a:cubicBezTo>
                    <a:pt x="2242987" y="22857"/>
                    <a:pt x="2300137" y="26667"/>
                    <a:pt x="2357287" y="29207"/>
                  </a:cubicBezTo>
                  <a:lnTo>
                    <a:pt x="2403007" y="29207"/>
                  </a:lnTo>
                  <a:cubicBezTo>
                    <a:pt x="2472857" y="26667"/>
                    <a:pt x="2541437" y="26667"/>
                    <a:pt x="2611287" y="22857"/>
                  </a:cubicBezTo>
                  <a:cubicBezTo>
                    <a:pt x="2678597" y="19047"/>
                    <a:pt x="2744637" y="10157"/>
                    <a:pt x="2811947" y="6347"/>
                  </a:cubicBezTo>
                  <a:cubicBezTo>
                    <a:pt x="2843697" y="3807"/>
                    <a:pt x="2876717" y="3807"/>
                    <a:pt x="2908467" y="10157"/>
                  </a:cubicBezTo>
                  <a:cubicBezTo>
                    <a:pt x="2956727" y="19047"/>
                    <a:pt x="3002447" y="24127"/>
                    <a:pt x="3050707" y="10157"/>
                  </a:cubicBezTo>
                  <a:cubicBezTo>
                    <a:pt x="3068487" y="5077"/>
                    <a:pt x="3091347" y="13967"/>
                    <a:pt x="3111667" y="16507"/>
                  </a:cubicBezTo>
                  <a:cubicBezTo>
                    <a:pt x="3120557" y="17777"/>
                    <a:pt x="3130717" y="20317"/>
                    <a:pt x="3135797" y="16507"/>
                  </a:cubicBezTo>
                  <a:cubicBezTo>
                    <a:pt x="3170087" y="-8893"/>
                    <a:pt x="3201837" y="-2543"/>
                    <a:pt x="3234857" y="19047"/>
                  </a:cubicBezTo>
                  <a:cubicBezTo>
                    <a:pt x="3238667" y="21587"/>
                    <a:pt x="3248827" y="15237"/>
                    <a:pt x="3256447" y="15237"/>
                  </a:cubicBezTo>
                  <a:cubicBezTo>
                    <a:pt x="3286927" y="15237"/>
                    <a:pt x="3317407" y="15237"/>
                    <a:pt x="3349157" y="16507"/>
                  </a:cubicBezTo>
                  <a:cubicBezTo>
                    <a:pt x="3372017" y="17777"/>
                    <a:pt x="3393607" y="25397"/>
                    <a:pt x="3416467" y="27937"/>
                  </a:cubicBezTo>
                  <a:cubicBezTo>
                    <a:pt x="3465997" y="34287"/>
                    <a:pt x="3516797" y="44447"/>
                    <a:pt x="3567597" y="44447"/>
                  </a:cubicBezTo>
                  <a:cubicBezTo>
                    <a:pt x="3662847" y="45717"/>
                    <a:pt x="3758097" y="49527"/>
                    <a:pt x="3852077" y="69847"/>
                  </a:cubicBezTo>
                  <a:cubicBezTo>
                    <a:pt x="3939707" y="88897"/>
                    <a:pt x="4029877" y="88897"/>
                    <a:pt x="4118777" y="104137"/>
                  </a:cubicBezTo>
                  <a:cubicBezTo>
                    <a:pt x="4172117" y="113027"/>
                    <a:pt x="4226727" y="129537"/>
                    <a:pt x="4272447" y="156207"/>
                  </a:cubicBezTo>
                  <a:cubicBezTo>
                    <a:pt x="4321977" y="184147"/>
                    <a:pt x="4360077" y="229867"/>
                    <a:pt x="4404527" y="267967"/>
                  </a:cubicBezTo>
                  <a:cubicBezTo>
                    <a:pt x="4421037" y="281937"/>
                    <a:pt x="4445167" y="292097"/>
                    <a:pt x="4456597" y="309877"/>
                  </a:cubicBezTo>
                  <a:cubicBezTo>
                    <a:pt x="4489617" y="358137"/>
                    <a:pt x="4518827" y="408937"/>
                    <a:pt x="4548037" y="459737"/>
                  </a:cubicBezTo>
                  <a:cubicBezTo>
                    <a:pt x="4569627" y="496567"/>
                    <a:pt x="4591217" y="534667"/>
                    <a:pt x="4607727" y="572767"/>
                  </a:cubicBezTo>
                  <a:cubicBezTo>
                    <a:pt x="4625507" y="617217"/>
                    <a:pt x="4639477" y="662937"/>
                    <a:pt x="4653447" y="709927"/>
                  </a:cubicBezTo>
                  <a:cubicBezTo>
                    <a:pt x="4675037" y="783587"/>
                    <a:pt x="4700437" y="857247"/>
                    <a:pt x="4714407" y="933447"/>
                  </a:cubicBezTo>
                  <a:cubicBezTo>
                    <a:pt x="4734727" y="1040127"/>
                    <a:pt x="4744887" y="1149347"/>
                    <a:pt x="4760127" y="1257297"/>
                  </a:cubicBezTo>
                  <a:cubicBezTo>
                    <a:pt x="4765207" y="1292857"/>
                    <a:pt x="4771557" y="1328417"/>
                    <a:pt x="4774097" y="1363977"/>
                  </a:cubicBezTo>
                  <a:cubicBezTo>
                    <a:pt x="4781717" y="1465577"/>
                    <a:pt x="4786797" y="1565907"/>
                    <a:pt x="4793147" y="1667507"/>
                  </a:cubicBezTo>
                  <a:cubicBezTo>
                    <a:pt x="4802037" y="1793237"/>
                    <a:pt x="4814737" y="1917697"/>
                    <a:pt x="4821087" y="2043427"/>
                  </a:cubicBezTo>
                  <a:cubicBezTo>
                    <a:pt x="4827437" y="2164077"/>
                    <a:pt x="4832517" y="2285997"/>
                    <a:pt x="4829977" y="2407917"/>
                  </a:cubicBezTo>
                  <a:cubicBezTo>
                    <a:pt x="4826167" y="2611117"/>
                    <a:pt x="4816007" y="2813047"/>
                    <a:pt x="4805847" y="3016247"/>
                  </a:cubicBezTo>
                  <a:cubicBezTo>
                    <a:pt x="4799497" y="3141977"/>
                    <a:pt x="4790607" y="3266437"/>
                    <a:pt x="4777907" y="3390897"/>
                  </a:cubicBezTo>
                  <a:cubicBezTo>
                    <a:pt x="4765207" y="3515357"/>
                    <a:pt x="4746157" y="3638547"/>
                    <a:pt x="4732187" y="3763007"/>
                  </a:cubicBezTo>
                  <a:cubicBezTo>
                    <a:pt x="4722027" y="3849367"/>
                    <a:pt x="4719487" y="3935727"/>
                    <a:pt x="4708057" y="4020817"/>
                  </a:cubicBezTo>
                  <a:cubicBezTo>
                    <a:pt x="4697897" y="4098287"/>
                    <a:pt x="4659797" y="4166867"/>
                    <a:pt x="4608997" y="4224017"/>
                  </a:cubicBezTo>
                  <a:cubicBezTo>
                    <a:pt x="4567087" y="4272277"/>
                    <a:pt x="4534067" y="4326887"/>
                    <a:pt x="4490887" y="4373877"/>
                  </a:cubicBezTo>
                  <a:cubicBezTo>
                    <a:pt x="4452787" y="4415787"/>
                    <a:pt x="4410877" y="4457697"/>
                    <a:pt x="4344837" y="4458967"/>
                  </a:cubicBezTo>
                  <a:cubicBezTo>
                    <a:pt x="4329597" y="4458967"/>
                    <a:pt x="4315627" y="4474207"/>
                    <a:pt x="4300387" y="4481827"/>
                  </a:cubicBezTo>
                  <a:cubicBezTo>
                    <a:pt x="4235617" y="4509767"/>
                    <a:pt x="4168307" y="4533897"/>
                    <a:pt x="4104807" y="4564377"/>
                  </a:cubicBezTo>
                  <a:cubicBezTo>
                    <a:pt x="3987967" y="4620257"/>
                    <a:pt x="3862237" y="4629147"/>
                    <a:pt x="3736507" y="4634227"/>
                  </a:cubicBezTo>
                  <a:cubicBezTo>
                    <a:pt x="3688247" y="4636767"/>
                    <a:pt x="3638717" y="4632957"/>
                    <a:pt x="3590457" y="4636767"/>
                  </a:cubicBezTo>
                  <a:cubicBezTo>
                    <a:pt x="3566327" y="4638037"/>
                    <a:pt x="3543467" y="4649467"/>
                    <a:pt x="3520607" y="4654547"/>
                  </a:cubicBezTo>
                  <a:cubicBezTo>
                    <a:pt x="3510447" y="4657087"/>
                    <a:pt x="3500287" y="4655817"/>
                    <a:pt x="3488857" y="4657087"/>
                  </a:cubicBezTo>
                  <a:cubicBezTo>
                    <a:pt x="3473617" y="4658357"/>
                    <a:pt x="3458377" y="4662167"/>
                    <a:pt x="3443137" y="4660897"/>
                  </a:cubicBezTo>
                  <a:cubicBezTo>
                    <a:pt x="3427897" y="4658357"/>
                    <a:pt x="3417737" y="4653277"/>
                    <a:pt x="3415197" y="4653277"/>
                  </a:cubicBezTo>
                  <a:close/>
                </a:path>
              </a:pathLst>
            </a:custGeom>
            <a:blipFill>
              <a:blip r:embed="rId11"/>
              <a:stretch>
                <a:fillRect l="-73456" r="-33280" b="-5873"/>
              </a:stretch>
            </a:blipFill>
          </p:spPr>
        </p:sp>
      </p:grpSp>
      <p:sp>
        <p:nvSpPr>
          <p:cNvPr id="35" name="TextBox 35"/>
          <p:cNvSpPr txBox="1"/>
          <p:nvPr/>
        </p:nvSpPr>
        <p:spPr>
          <a:xfrm>
            <a:off x="1622625" y="712152"/>
            <a:ext cx="14677549" cy="942975"/>
          </a:xfrm>
          <a:prstGeom prst="rect">
            <a:avLst/>
          </a:prstGeom>
        </p:spPr>
        <p:txBody>
          <a:bodyPr lIns="0" tIns="0" rIns="0" bIns="0" rtlCol="0" anchor="t">
            <a:spAutoFit/>
          </a:bodyPr>
          <a:lstStyle/>
          <a:p>
            <a:pPr marL="0" lvl="0" indent="0" algn="ctr">
              <a:lnSpc>
                <a:spcPts val="7500"/>
              </a:lnSpc>
              <a:spcBef>
                <a:spcPct val="0"/>
              </a:spcBef>
            </a:pPr>
            <a:r>
              <a:rPr lang="en-US" sz="6000" b="1">
                <a:solidFill>
                  <a:srgbClr val="243B55"/>
                </a:solidFill>
                <a:latin typeface="Montserrat Bold"/>
                <a:ea typeface="Montserrat Bold"/>
                <a:cs typeface="Montserrat Bold"/>
                <a:sym typeface="Montserrat Bold"/>
              </a:rPr>
              <a:t>CARGOWISE SUCCESS STORIES (1/5)</a:t>
            </a:r>
          </a:p>
        </p:txBody>
      </p:sp>
      <p:sp>
        <p:nvSpPr>
          <p:cNvPr id="36" name="TextBox 36"/>
          <p:cNvSpPr txBox="1"/>
          <p:nvPr/>
        </p:nvSpPr>
        <p:spPr>
          <a:xfrm>
            <a:off x="1369444" y="2063885"/>
            <a:ext cx="8470755" cy="384175"/>
          </a:xfrm>
          <a:prstGeom prst="rect">
            <a:avLst/>
          </a:prstGeom>
        </p:spPr>
        <p:txBody>
          <a:bodyPr lIns="0" tIns="0" rIns="0" bIns="0" rtlCol="0" anchor="t">
            <a:spAutoFit/>
          </a:bodyPr>
          <a:lstStyle/>
          <a:p>
            <a:pPr marL="0" lvl="0" indent="0" algn="ctr">
              <a:lnSpc>
                <a:spcPts val="3124"/>
              </a:lnSpc>
              <a:spcBef>
                <a:spcPct val="0"/>
              </a:spcBef>
            </a:pPr>
            <a:r>
              <a:rPr lang="en-US" sz="2499" b="1">
                <a:solidFill>
                  <a:srgbClr val="243B55"/>
                </a:solidFill>
                <a:latin typeface="Montserrat Bold"/>
                <a:ea typeface="Montserrat Bold"/>
                <a:cs typeface="Montserrat Bold"/>
                <a:sym typeface="Montserrat Bold"/>
              </a:rPr>
              <a:t>CARGOWISE CONTAINER TRACKING INTEGRATION</a:t>
            </a:r>
          </a:p>
        </p:txBody>
      </p:sp>
      <p:sp>
        <p:nvSpPr>
          <p:cNvPr id="37" name="TextBox 37"/>
          <p:cNvSpPr txBox="1"/>
          <p:nvPr/>
        </p:nvSpPr>
        <p:spPr>
          <a:xfrm>
            <a:off x="1369444" y="2514448"/>
            <a:ext cx="5400724" cy="391795"/>
          </a:xfrm>
          <a:prstGeom prst="rect">
            <a:avLst/>
          </a:prstGeom>
        </p:spPr>
        <p:txBody>
          <a:bodyPr lIns="0" tIns="0" rIns="0" bIns="0" rtlCol="0" anchor="t">
            <a:spAutoFit/>
          </a:bodyPr>
          <a:lstStyle/>
          <a:p>
            <a:pPr algn="just">
              <a:lnSpc>
                <a:spcPts val="3080"/>
              </a:lnSpc>
            </a:pPr>
            <a:r>
              <a:rPr lang="en-US" sz="2200">
                <a:solidFill>
                  <a:srgbClr val="1D1A1B"/>
                </a:solidFill>
                <a:latin typeface="Public Sans"/>
                <a:ea typeface="Public Sans"/>
                <a:cs typeface="Public Sans"/>
                <a:sym typeface="Public Sans"/>
              </a:rPr>
              <a:t>Real-time container tracking integration</a:t>
            </a:r>
          </a:p>
        </p:txBody>
      </p:sp>
      <p:sp>
        <p:nvSpPr>
          <p:cNvPr id="38" name="TextBox 38"/>
          <p:cNvSpPr txBox="1"/>
          <p:nvPr/>
        </p:nvSpPr>
        <p:spPr>
          <a:xfrm>
            <a:off x="1369444" y="6826119"/>
            <a:ext cx="8871709" cy="782320"/>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Tech Stack</a:t>
            </a:r>
            <a:r>
              <a:rPr lang="en-US" sz="2200">
                <a:solidFill>
                  <a:srgbClr val="1D1A1B"/>
                </a:solidFill>
                <a:latin typeface="Public Sans"/>
                <a:ea typeface="Public Sans"/>
                <a:cs typeface="Public Sans"/>
                <a:sym typeface="Public Sans"/>
              </a:rPr>
              <a:t>: REST API, JSON, CW1 WebServices, EDI Integrations, ASP.Net, 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2193212" y="9947191"/>
            <a:ext cx="3316080" cy="537986"/>
            <a:chOff x="0" y="0"/>
            <a:chExt cx="873371" cy="141692"/>
          </a:xfrm>
        </p:grpSpPr>
        <p:sp>
          <p:nvSpPr>
            <p:cNvPr id="4" name="Freeform 4"/>
            <p:cNvSpPr/>
            <p:nvPr/>
          </p:nvSpPr>
          <p:spPr>
            <a:xfrm>
              <a:off x="0" y="0"/>
              <a:ext cx="873371" cy="141692"/>
            </a:xfrm>
            <a:custGeom>
              <a:avLst/>
              <a:gdLst/>
              <a:ahLst/>
              <a:cxnLst/>
              <a:rect l="l" t="t" r="r" b="b"/>
              <a:pathLst>
                <a:path w="873371" h="141692">
                  <a:moveTo>
                    <a:pt x="70846" y="0"/>
                  </a:moveTo>
                  <a:lnTo>
                    <a:pt x="802525" y="0"/>
                  </a:lnTo>
                  <a:cubicBezTo>
                    <a:pt x="841652" y="0"/>
                    <a:pt x="873371" y="31719"/>
                    <a:pt x="873371" y="70846"/>
                  </a:cubicBezTo>
                  <a:lnTo>
                    <a:pt x="873371" y="70846"/>
                  </a:lnTo>
                  <a:cubicBezTo>
                    <a:pt x="873371" y="89635"/>
                    <a:pt x="865907" y="107655"/>
                    <a:pt x="852621" y="120942"/>
                  </a:cubicBezTo>
                  <a:cubicBezTo>
                    <a:pt x="839334" y="134228"/>
                    <a:pt x="821314" y="141692"/>
                    <a:pt x="802525" y="141692"/>
                  </a:cubicBezTo>
                  <a:lnTo>
                    <a:pt x="70846" y="141692"/>
                  </a:lnTo>
                  <a:cubicBezTo>
                    <a:pt x="52056" y="141692"/>
                    <a:pt x="34036" y="134228"/>
                    <a:pt x="20750" y="120942"/>
                  </a:cubicBezTo>
                  <a:cubicBezTo>
                    <a:pt x="7464" y="107655"/>
                    <a:pt x="0" y="89635"/>
                    <a:pt x="0" y="70846"/>
                  </a:cubicBezTo>
                  <a:lnTo>
                    <a:pt x="0" y="70846"/>
                  </a:lnTo>
                  <a:cubicBezTo>
                    <a:pt x="0" y="52056"/>
                    <a:pt x="7464" y="34036"/>
                    <a:pt x="20750" y="20750"/>
                  </a:cubicBezTo>
                  <a:cubicBezTo>
                    <a:pt x="34036" y="7464"/>
                    <a:pt x="52056" y="0"/>
                    <a:pt x="70846" y="0"/>
                  </a:cubicBezTo>
                  <a:close/>
                </a:path>
              </a:pathLst>
            </a:custGeom>
            <a:solidFill>
              <a:srgbClr val="16578D"/>
            </a:solidFill>
          </p:spPr>
        </p:sp>
        <p:sp>
          <p:nvSpPr>
            <p:cNvPr id="5" name="TextBox 5"/>
            <p:cNvSpPr txBox="1"/>
            <p:nvPr/>
          </p:nvSpPr>
          <p:spPr>
            <a:xfrm>
              <a:off x="0" y="-47625"/>
              <a:ext cx="873371" cy="18931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177366" y="8460193"/>
            <a:ext cx="5210521" cy="4477792"/>
            <a:chOff x="0" y="0"/>
            <a:chExt cx="6947361" cy="5970389"/>
          </a:xfrm>
        </p:grpSpPr>
        <p:grpSp>
          <p:nvGrpSpPr>
            <p:cNvPr id="7" name="Group 7"/>
            <p:cNvGrpSpPr/>
            <p:nvPr/>
          </p:nvGrpSpPr>
          <p:grpSpPr>
            <a:xfrm>
              <a:off x="0" y="0"/>
              <a:ext cx="6947361" cy="5970389"/>
              <a:chOff x="0" y="0"/>
              <a:chExt cx="812800" cy="698500"/>
            </a:xfrm>
          </p:grpSpPr>
          <p:sp>
            <p:nvSpPr>
              <p:cNvPr id="8" name="Freeform 8"/>
              <p:cNvSpPr/>
              <p:nvPr/>
            </p:nvSpPr>
            <p:spPr>
              <a:xfrm>
                <a:off x="13627" y="0"/>
                <a:ext cx="785546" cy="698500"/>
              </a:xfrm>
              <a:custGeom>
                <a:avLst/>
                <a:gdLst/>
                <a:ahLst/>
                <a:cxnLst/>
                <a:rect l="l" t="t" r="r" b="b"/>
                <a:pathLst>
                  <a:path w="785546" h="698500">
                    <a:moveTo>
                      <a:pt x="773768" y="392915"/>
                    </a:moveTo>
                    <a:lnTo>
                      <a:pt x="621378" y="654835"/>
                    </a:lnTo>
                    <a:cubicBezTo>
                      <a:pt x="605649" y="681869"/>
                      <a:pt x="576732" y="698500"/>
                      <a:pt x="545455" y="698500"/>
                    </a:cubicBezTo>
                    <a:lnTo>
                      <a:pt x="240091" y="698500"/>
                    </a:lnTo>
                    <a:cubicBezTo>
                      <a:pt x="208814" y="698500"/>
                      <a:pt x="179897" y="681869"/>
                      <a:pt x="164168" y="654835"/>
                    </a:cubicBezTo>
                    <a:lnTo>
                      <a:pt x="11778" y="392915"/>
                    </a:lnTo>
                    <a:cubicBezTo>
                      <a:pt x="-3926" y="365923"/>
                      <a:pt x="-3926" y="332577"/>
                      <a:pt x="11778" y="305585"/>
                    </a:cubicBezTo>
                    <a:lnTo>
                      <a:pt x="164168" y="43665"/>
                    </a:lnTo>
                    <a:cubicBezTo>
                      <a:pt x="179897" y="16631"/>
                      <a:pt x="208814" y="0"/>
                      <a:pt x="240091" y="0"/>
                    </a:cubicBezTo>
                    <a:lnTo>
                      <a:pt x="545455" y="0"/>
                    </a:lnTo>
                    <a:cubicBezTo>
                      <a:pt x="576732" y="0"/>
                      <a:pt x="605649" y="16631"/>
                      <a:pt x="621378" y="43665"/>
                    </a:cubicBezTo>
                    <a:lnTo>
                      <a:pt x="773768" y="305585"/>
                    </a:lnTo>
                    <a:cubicBezTo>
                      <a:pt x="789472" y="332577"/>
                      <a:pt x="789472" y="365923"/>
                      <a:pt x="773768" y="392915"/>
                    </a:cubicBezTo>
                    <a:close/>
                  </a:path>
                </a:pathLst>
              </a:custGeom>
              <a:solidFill>
                <a:srgbClr val="243B55"/>
              </a:solidFill>
              <a:ln cap="rnd">
                <a:noFill/>
                <a:prstDash val="solid"/>
                <a:round/>
              </a:ln>
            </p:spPr>
          </p:sp>
          <p:sp>
            <p:nvSpPr>
              <p:cNvPr id="9" name="TextBox 9"/>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615568" y="737508"/>
              <a:ext cx="4396286" cy="3778058"/>
              <a:chOff x="0" y="0"/>
              <a:chExt cx="812800" cy="698500"/>
            </a:xfrm>
          </p:grpSpPr>
          <p:sp>
            <p:nvSpPr>
              <p:cNvPr id="11" name="Freeform 11"/>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12" name="TextBox 12"/>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grpSp>
        <p:nvGrpSpPr>
          <p:cNvPr id="13" name="Group 13"/>
          <p:cNvGrpSpPr/>
          <p:nvPr/>
        </p:nvGrpSpPr>
        <p:grpSpPr>
          <a:xfrm>
            <a:off x="-1767061" y="-591955"/>
            <a:ext cx="3389686" cy="2665365"/>
            <a:chOff x="0" y="0"/>
            <a:chExt cx="696717" cy="547840"/>
          </a:xfrm>
        </p:grpSpPr>
        <p:sp>
          <p:nvSpPr>
            <p:cNvPr id="14" name="Freeform 14"/>
            <p:cNvSpPr/>
            <p:nvPr/>
          </p:nvSpPr>
          <p:spPr>
            <a:xfrm>
              <a:off x="11320" y="0"/>
              <a:ext cx="674077" cy="547840"/>
            </a:xfrm>
            <a:custGeom>
              <a:avLst/>
              <a:gdLst/>
              <a:ahLst/>
              <a:cxnLst/>
              <a:rect l="l" t="t" r="r" b="b"/>
              <a:pathLst>
                <a:path w="674077" h="547840">
                  <a:moveTo>
                    <a:pt x="664985" y="301435"/>
                  </a:moveTo>
                  <a:lnTo>
                    <a:pt x="502608" y="520325"/>
                  </a:lnTo>
                  <a:cubicBezTo>
                    <a:pt x="489768" y="537634"/>
                    <a:pt x="469489" y="547840"/>
                    <a:pt x="447937" y="547840"/>
                  </a:cubicBezTo>
                  <a:lnTo>
                    <a:pt x="226139" y="547840"/>
                  </a:lnTo>
                  <a:cubicBezTo>
                    <a:pt x="204588" y="547840"/>
                    <a:pt x="184309" y="537634"/>
                    <a:pt x="171469" y="520325"/>
                  </a:cubicBezTo>
                  <a:lnTo>
                    <a:pt x="9091" y="301435"/>
                  </a:lnTo>
                  <a:cubicBezTo>
                    <a:pt x="-3031" y="285094"/>
                    <a:pt x="-3031" y="262745"/>
                    <a:pt x="9091" y="246405"/>
                  </a:cubicBezTo>
                  <a:lnTo>
                    <a:pt x="171469" y="27515"/>
                  </a:lnTo>
                  <a:cubicBezTo>
                    <a:pt x="184309" y="10206"/>
                    <a:pt x="204588" y="0"/>
                    <a:pt x="226139" y="0"/>
                  </a:cubicBezTo>
                  <a:lnTo>
                    <a:pt x="447937" y="0"/>
                  </a:lnTo>
                  <a:cubicBezTo>
                    <a:pt x="469489" y="0"/>
                    <a:pt x="489768" y="10206"/>
                    <a:pt x="502608" y="27515"/>
                  </a:cubicBezTo>
                  <a:lnTo>
                    <a:pt x="664985" y="246405"/>
                  </a:lnTo>
                  <a:cubicBezTo>
                    <a:pt x="677107" y="262745"/>
                    <a:pt x="677107" y="285094"/>
                    <a:pt x="664985" y="301435"/>
                  </a:cubicBezTo>
                  <a:close/>
                </a:path>
              </a:pathLst>
            </a:custGeom>
            <a:solidFill>
              <a:srgbClr val="243B55">
                <a:alpha val="4706"/>
              </a:srgbClr>
            </a:solidFill>
          </p:spPr>
        </p:sp>
        <p:sp>
          <p:nvSpPr>
            <p:cNvPr id="15" name="TextBox 15"/>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132205" y="3325860"/>
            <a:ext cx="2311589" cy="1817640"/>
            <a:chOff x="0" y="0"/>
            <a:chExt cx="696717" cy="547840"/>
          </a:xfrm>
        </p:grpSpPr>
        <p:sp>
          <p:nvSpPr>
            <p:cNvPr id="17" name="Freeform 17"/>
            <p:cNvSpPr/>
            <p:nvPr/>
          </p:nvSpPr>
          <p:spPr>
            <a:xfrm>
              <a:off x="9960" y="0"/>
              <a:ext cx="676798" cy="547840"/>
            </a:xfrm>
            <a:custGeom>
              <a:avLst/>
              <a:gdLst/>
              <a:ahLst/>
              <a:cxnLst/>
              <a:rect l="l" t="t" r="r" b="b"/>
              <a:pathLst>
                <a:path w="676798" h="547840">
                  <a:moveTo>
                    <a:pt x="668798" y="298129"/>
                  </a:moveTo>
                  <a:lnTo>
                    <a:pt x="501515" y="523631"/>
                  </a:lnTo>
                  <a:cubicBezTo>
                    <a:pt x="490218" y="538860"/>
                    <a:pt x="472376" y="547840"/>
                    <a:pt x="453414" y="547840"/>
                  </a:cubicBezTo>
                  <a:lnTo>
                    <a:pt x="223383" y="547840"/>
                  </a:lnTo>
                  <a:cubicBezTo>
                    <a:pt x="204421" y="547840"/>
                    <a:pt x="186579" y="538860"/>
                    <a:pt x="175281" y="523631"/>
                  </a:cubicBezTo>
                  <a:lnTo>
                    <a:pt x="7999" y="298129"/>
                  </a:lnTo>
                  <a:cubicBezTo>
                    <a:pt x="-2667" y="283751"/>
                    <a:pt x="-2667" y="264088"/>
                    <a:pt x="7999" y="249711"/>
                  </a:cubicBezTo>
                  <a:lnTo>
                    <a:pt x="175281" y="24209"/>
                  </a:lnTo>
                  <a:cubicBezTo>
                    <a:pt x="186579" y="8980"/>
                    <a:pt x="204421" y="0"/>
                    <a:pt x="223383" y="0"/>
                  </a:cubicBezTo>
                  <a:lnTo>
                    <a:pt x="453414" y="0"/>
                  </a:lnTo>
                  <a:cubicBezTo>
                    <a:pt x="472376" y="0"/>
                    <a:pt x="490218" y="8980"/>
                    <a:pt x="501515" y="24209"/>
                  </a:cubicBezTo>
                  <a:lnTo>
                    <a:pt x="668798" y="249711"/>
                  </a:lnTo>
                  <a:cubicBezTo>
                    <a:pt x="679463" y="264088"/>
                    <a:pt x="679463" y="283751"/>
                    <a:pt x="668798" y="298129"/>
                  </a:cubicBezTo>
                  <a:close/>
                </a:path>
              </a:pathLst>
            </a:custGeom>
            <a:solidFill>
              <a:srgbClr val="243B55">
                <a:alpha val="4706"/>
              </a:srgbClr>
            </a:solidFill>
          </p:spPr>
        </p:sp>
        <p:sp>
          <p:nvSpPr>
            <p:cNvPr id="18" name="TextBox 18"/>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339304" y="9992895"/>
            <a:ext cx="961113" cy="651154"/>
          </a:xfrm>
          <a:custGeom>
            <a:avLst/>
            <a:gdLst/>
            <a:ahLst/>
            <a:cxnLst/>
            <a:rect l="l" t="t" r="r" b="b"/>
            <a:pathLst>
              <a:path w="961113" h="651154">
                <a:moveTo>
                  <a:pt x="0" y="0"/>
                </a:moveTo>
                <a:lnTo>
                  <a:pt x="961113" y="0"/>
                </a:lnTo>
                <a:lnTo>
                  <a:pt x="961113" y="651155"/>
                </a:lnTo>
                <a:lnTo>
                  <a:pt x="0" y="6511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10800000">
            <a:off x="-308460" y="-758506"/>
            <a:ext cx="2164275" cy="1111896"/>
          </a:xfrm>
          <a:custGeom>
            <a:avLst/>
            <a:gdLst/>
            <a:ahLst/>
            <a:cxnLst/>
            <a:rect l="l" t="t" r="r" b="b"/>
            <a:pathLst>
              <a:path w="2164275" h="1111896">
                <a:moveTo>
                  <a:pt x="0" y="0"/>
                </a:moveTo>
                <a:lnTo>
                  <a:pt x="2164275" y="0"/>
                </a:lnTo>
                <a:lnTo>
                  <a:pt x="2164275" y="1111897"/>
                </a:lnTo>
                <a:lnTo>
                  <a:pt x="0" y="1111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14043734" y="-92534"/>
            <a:ext cx="5809337" cy="537986"/>
          </a:xfrm>
          <a:custGeom>
            <a:avLst/>
            <a:gdLst/>
            <a:ahLst/>
            <a:cxnLst/>
            <a:rect l="l" t="t" r="r" b="b"/>
            <a:pathLst>
              <a:path w="5809337" h="537986">
                <a:moveTo>
                  <a:pt x="0" y="0"/>
                </a:moveTo>
                <a:lnTo>
                  <a:pt x="5809337" y="0"/>
                </a:lnTo>
                <a:lnTo>
                  <a:pt x="5809337" y="537986"/>
                </a:lnTo>
                <a:lnTo>
                  <a:pt x="0" y="537986"/>
                </a:lnTo>
                <a:lnTo>
                  <a:pt x="0" y="0"/>
                </a:lnTo>
                <a:close/>
              </a:path>
            </a:pathLst>
          </a:custGeom>
          <a:blipFill>
            <a:blip r:embed="rId7">
              <a:extLst>
                <a:ext uri="{96DAC541-7B7A-43D3-8B79-37D633B846F1}">
                  <asvg:svgBlip xmlns:asvg="http://schemas.microsoft.com/office/drawing/2016/SVG/main" r:embed="rId8"/>
                </a:ext>
              </a:extLst>
            </a:blip>
            <a:stretch>
              <a:fillRect t="-434569" b="-361689"/>
            </a:stretch>
          </a:blipFill>
        </p:spPr>
      </p:sp>
      <p:sp>
        <p:nvSpPr>
          <p:cNvPr id="22" name="TextBox 22"/>
          <p:cNvSpPr txBox="1"/>
          <p:nvPr/>
        </p:nvSpPr>
        <p:spPr>
          <a:xfrm>
            <a:off x="1359919" y="2921037"/>
            <a:ext cx="9181996" cy="3515995"/>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Client Type</a:t>
            </a:r>
            <a:r>
              <a:rPr lang="en-US" sz="2200">
                <a:solidFill>
                  <a:srgbClr val="1D1A1B"/>
                </a:solidFill>
                <a:latin typeface="Public Sans"/>
                <a:ea typeface="Public Sans"/>
                <a:cs typeface="Public Sans"/>
                <a:sym typeface="Public Sans"/>
              </a:rPr>
              <a:t>: Freight Forwarder</a:t>
            </a:r>
          </a:p>
          <a:p>
            <a:pPr algn="just">
              <a:lnSpc>
                <a:spcPts val="3080"/>
              </a:lnSpc>
            </a:pPr>
            <a:r>
              <a:rPr lang="en-US" sz="2200" b="1">
                <a:solidFill>
                  <a:srgbClr val="1D1A1B"/>
                </a:solidFill>
                <a:latin typeface="Public Sans Bold"/>
                <a:ea typeface="Public Sans Bold"/>
                <a:cs typeface="Public Sans Bold"/>
                <a:sym typeface="Public Sans Bold"/>
              </a:rPr>
              <a:t>Region:</a:t>
            </a:r>
            <a:r>
              <a:rPr lang="en-US" sz="2200">
                <a:solidFill>
                  <a:srgbClr val="1D1A1B"/>
                </a:solidFill>
                <a:latin typeface="Public Sans"/>
                <a:ea typeface="Public Sans"/>
                <a:cs typeface="Public Sans"/>
                <a:sym typeface="Public Sans"/>
              </a:rPr>
              <a:t> UK</a:t>
            </a:r>
          </a:p>
          <a:p>
            <a:pPr algn="just">
              <a:lnSpc>
                <a:spcPts val="3080"/>
              </a:lnSpc>
            </a:pPr>
            <a:r>
              <a:rPr lang="en-US" sz="2200" b="1">
                <a:solidFill>
                  <a:srgbClr val="1D1A1B"/>
                </a:solidFill>
                <a:latin typeface="Public Sans Bold"/>
                <a:ea typeface="Public Sans Bold"/>
                <a:cs typeface="Public Sans Bold"/>
                <a:sym typeface="Public Sans Bold"/>
              </a:rPr>
              <a:t>Requirement</a:t>
            </a:r>
            <a:r>
              <a:rPr lang="en-US" sz="2200">
                <a:solidFill>
                  <a:srgbClr val="1D1A1B"/>
                </a:solidFill>
                <a:latin typeface="Public Sans"/>
                <a:ea typeface="Public Sans"/>
                <a:cs typeface="Public Sans"/>
                <a:sym typeface="Public Sans"/>
              </a:rPr>
              <a:t>: Automated data synchronization for HMRC customs declarations</a:t>
            </a:r>
          </a:p>
          <a:p>
            <a:pPr algn="just">
              <a:lnSpc>
                <a:spcPts val="3080"/>
              </a:lnSpc>
            </a:pPr>
            <a:r>
              <a:rPr lang="en-US" sz="2200" b="1">
                <a:solidFill>
                  <a:srgbClr val="1D1A1B"/>
                </a:solidFill>
                <a:latin typeface="Public Sans Bold"/>
                <a:ea typeface="Public Sans Bold"/>
                <a:cs typeface="Public Sans Bold"/>
                <a:sym typeface="Public Sans Bold"/>
              </a:rPr>
              <a:t>Solution Delivered:</a:t>
            </a:r>
          </a:p>
          <a:p>
            <a:pPr algn="just">
              <a:lnSpc>
                <a:spcPts val="3080"/>
              </a:lnSpc>
            </a:pPr>
            <a:r>
              <a:rPr lang="en-US" sz="2200">
                <a:solidFill>
                  <a:srgbClr val="1D1A1B"/>
                </a:solidFill>
                <a:latin typeface="Public Sans"/>
                <a:ea typeface="Public Sans"/>
                <a:cs typeface="Public Sans"/>
                <a:sym typeface="Public Sans"/>
              </a:rPr>
              <a:t>          Two-way integration between UK Customs integration from                  external system</a:t>
            </a:r>
          </a:p>
          <a:p>
            <a:pPr algn="just">
              <a:lnSpc>
                <a:spcPts val="3080"/>
              </a:lnSpc>
            </a:pPr>
            <a:r>
              <a:rPr lang="en-US" sz="2200">
                <a:solidFill>
                  <a:srgbClr val="1D1A1B"/>
                </a:solidFill>
                <a:latin typeface="Public Sans"/>
                <a:ea typeface="Public Sans"/>
                <a:cs typeface="Public Sans"/>
                <a:sym typeface="Public Sans"/>
              </a:rPr>
              <a:t>          Automated declaration updates, responses and status sync</a:t>
            </a:r>
          </a:p>
          <a:p>
            <a:pPr algn="just">
              <a:lnSpc>
                <a:spcPts val="3080"/>
              </a:lnSpc>
            </a:pPr>
            <a:r>
              <a:rPr lang="en-US" sz="2200">
                <a:solidFill>
                  <a:srgbClr val="1D1A1B"/>
                </a:solidFill>
                <a:latin typeface="Public Sans"/>
                <a:ea typeface="Public Sans"/>
                <a:cs typeface="Public Sans"/>
                <a:sym typeface="Public Sans"/>
              </a:rPr>
              <a:t>          Full mapping of customs fields and error notification framework</a:t>
            </a:r>
          </a:p>
        </p:txBody>
      </p:sp>
      <p:grpSp>
        <p:nvGrpSpPr>
          <p:cNvPr id="23" name="Group 23"/>
          <p:cNvGrpSpPr/>
          <p:nvPr/>
        </p:nvGrpSpPr>
        <p:grpSpPr>
          <a:xfrm>
            <a:off x="1540432" y="5008280"/>
            <a:ext cx="278686" cy="1340351"/>
            <a:chOff x="0" y="0"/>
            <a:chExt cx="371581" cy="1787135"/>
          </a:xfrm>
        </p:grpSpPr>
        <p:sp>
          <p:nvSpPr>
            <p:cNvPr id="24" name="Freeform 24"/>
            <p:cNvSpPr/>
            <p:nvPr/>
          </p:nvSpPr>
          <p:spPr>
            <a:xfrm>
              <a:off x="0" y="0"/>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5"/>
            <p:cNvSpPr/>
            <p:nvPr/>
          </p:nvSpPr>
          <p:spPr>
            <a:xfrm>
              <a:off x="0" y="1009248"/>
              <a:ext cx="371581" cy="272648"/>
            </a:xfrm>
            <a:custGeom>
              <a:avLst/>
              <a:gdLst/>
              <a:ahLst/>
              <a:cxnLst/>
              <a:rect l="l" t="t" r="r" b="b"/>
              <a:pathLst>
                <a:path w="371581" h="272648">
                  <a:moveTo>
                    <a:pt x="0" y="0"/>
                  </a:moveTo>
                  <a:lnTo>
                    <a:pt x="371581" y="0"/>
                  </a:lnTo>
                  <a:lnTo>
                    <a:pt x="371581" y="272647"/>
                  </a:lnTo>
                  <a:lnTo>
                    <a:pt x="0" y="2726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6"/>
            <p:cNvSpPr/>
            <p:nvPr/>
          </p:nvSpPr>
          <p:spPr>
            <a:xfrm>
              <a:off x="0" y="1514488"/>
              <a:ext cx="371581" cy="272648"/>
            </a:xfrm>
            <a:custGeom>
              <a:avLst/>
              <a:gdLst/>
              <a:ahLst/>
              <a:cxnLst/>
              <a:rect l="l" t="t" r="r" b="b"/>
              <a:pathLst>
                <a:path w="371581" h="272648">
                  <a:moveTo>
                    <a:pt x="0" y="0"/>
                  </a:moveTo>
                  <a:lnTo>
                    <a:pt x="371581" y="0"/>
                  </a:lnTo>
                  <a:lnTo>
                    <a:pt x="371581" y="272647"/>
                  </a:lnTo>
                  <a:lnTo>
                    <a:pt x="0" y="2726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7" name="Group 27"/>
          <p:cNvGrpSpPr/>
          <p:nvPr/>
        </p:nvGrpSpPr>
        <p:grpSpPr>
          <a:xfrm>
            <a:off x="2042707" y="7492099"/>
            <a:ext cx="6099179" cy="1533525"/>
            <a:chOff x="0" y="0"/>
            <a:chExt cx="8132238" cy="2044700"/>
          </a:xfrm>
        </p:grpSpPr>
        <p:grpSp>
          <p:nvGrpSpPr>
            <p:cNvPr id="28" name="Group 28"/>
            <p:cNvGrpSpPr/>
            <p:nvPr/>
          </p:nvGrpSpPr>
          <p:grpSpPr>
            <a:xfrm>
              <a:off x="0" y="0"/>
              <a:ext cx="8132238" cy="2044700"/>
              <a:chOff x="0" y="0"/>
              <a:chExt cx="1254975" cy="315540"/>
            </a:xfrm>
          </p:grpSpPr>
          <p:sp>
            <p:nvSpPr>
              <p:cNvPr id="29" name="Freeform 29"/>
              <p:cNvSpPr/>
              <p:nvPr/>
            </p:nvSpPr>
            <p:spPr>
              <a:xfrm>
                <a:off x="0" y="0"/>
                <a:ext cx="1254975" cy="315540"/>
              </a:xfrm>
              <a:custGeom>
                <a:avLst/>
                <a:gdLst/>
                <a:ahLst/>
                <a:cxnLst/>
                <a:rect l="l" t="t" r="r" b="b"/>
                <a:pathLst>
                  <a:path w="1254975" h="315540">
                    <a:moveTo>
                      <a:pt x="24792" y="0"/>
                    </a:moveTo>
                    <a:lnTo>
                      <a:pt x="1230183" y="0"/>
                    </a:lnTo>
                    <a:cubicBezTo>
                      <a:pt x="1236758" y="0"/>
                      <a:pt x="1243064" y="2612"/>
                      <a:pt x="1247714" y="7261"/>
                    </a:cubicBezTo>
                    <a:cubicBezTo>
                      <a:pt x="1252363" y="11911"/>
                      <a:pt x="1254975" y="18217"/>
                      <a:pt x="1254975" y="24792"/>
                    </a:cubicBezTo>
                    <a:lnTo>
                      <a:pt x="1254975" y="290748"/>
                    </a:lnTo>
                    <a:cubicBezTo>
                      <a:pt x="1254975" y="297324"/>
                      <a:pt x="1252363" y="303629"/>
                      <a:pt x="1247714" y="308279"/>
                    </a:cubicBezTo>
                    <a:cubicBezTo>
                      <a:pt x="1243064" y="312928"/>
                      <a:pt x="1236758" y="315540"/>
                      <a:pt x="1230183" y="315540"/>
                    </a:cubicBezTo>
                    <a:lnTo>
                      <a:pt x="24792" y="315540"/>
                    </a:lnTo>
                    <a:cubicBezTo>
                      <a:pt x="18217" y="315540"/>
                      <a:pt x="11911" y="312928"/>
                      <a:pt x="7261" y="308279"/>
                    </a:cubicBezTo>
                    <a:cubicBezTo>
                      <a:pt x="2612" y="303629"/>
                      <a:pt x="0" y="297324"/>
                      <a:pt x="0" y="290748"/>
                    </a:cubicBezTo>
                    <a:lnTo>
                      <a:pt x="0" y="24792"/>
                    </a:lnTo>
                    <a:cubicBezTo>
                      <a:pt x="0" y="18217"/>
                      <a:pt x="2612" y="11911"/>
                      <a:pt x="7261" y="7261"/>
                    </a:cubicBezTo>
                    <a:cubicBezTo>
                      <a:pt x="11911" y="2612"/>
                      <a:pt x="18217" y="0"/>
                      <a:pt x="24792" y="0"/>
                    </a:cubicBezTo>
                    <a:close/>
                  </a:path>
                </a:pathLst>
              </a:custGeom>
              <a:solidFill>
                <a:srgbClr val="CDE0DB"/>
              </a:solidFill>
            </p:spPr>
          </p:sp>
          <p:sp>
            <p:nvSpPr>
              <p:cNvPr id="30" name="TextBox 30"/>
              <p:cNvSpPr txBox="1"/>
              <p:nvPr/>
            </p:nvSpPr>
            <p:spPr>
              <a:xfrm>
                <a:off x="0" y="-47625"/>
                <a:ext cx="1254975" cy="36316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08890" y="227506"/>
              <a:ext cx="7923348" cy="1544743"/>
            </a:xfrm>
            <a:prstGeom prst="rect">
              <a:avLst/>
            </a:prstGeom>
          </p:spPr>
          <p:txBody>
            <a:bodyPr lIns="0" tIns="0" rIns="0" bIns="0" rtlCol="0" anchor="t">
              <a:spAutoFit/>
            </a:bodyPr>
            <a:lstStyle/>
            <a:p>
              <a:pPr algn="just">
                <a:lnSpc>
                  <a:spcPts val="3080"/>
                </a:lnSpc>
              </a:pPr>
              <a:r>
                <a:rPr lang="en-US" sz="2200" b="1" spc="57">
                  <a:solidFill>
                    <a:srgbClr val="1D1A1B"/>
                  </a:solidFill>
                  <a:latin typeface="Public Sans Bold"/>
                  <a:ea typeface="Public Sans Bold"/>
                  <a:cs typeface="Public Sans Bold"/>
                  <a:sym typeface="Public Sans Bold"/>
                </a:rPr>
                <a:t>Outcome:</a:t>
              </a:r>
            </a:p>
            <a:p>
              <a:pPr algn="just">
                <a:lnSpc>
                  <a:spcPts val="3080"/>
                </a:lnSpc>
              </a:pPr>
              <a:r>
                <a:rPr lang="en-US" sz="2200" spc="57">
                  <a:solidFill>
                    <a:srgbClr val="1D1A1B"/>
                  </a:solidFill>
                  <a:latin typeface="Public Sans"/>
                  <a:ea typeface="Public Sans"/>
                  <a:cs typeface="Public Sans"/>
                  <a:sym typeface="Public Sans"/>
                </a:rPr>
                <a:t>98% elimination of manual data entry   </a:t>
              </a:r>
            </a:p>
            <a:p>
              <a:pPr algn="just">
                <a:lnSpc>
                  <a:spcPts val="3080"/>
                </a:lnSpc>
              </a:pPr>
              <a:r>
                <a:rPr lang="en-US" sz="2200" spc="57">
                  <a:solidFill>
                    <a:srgbClr val="1D1A1B"/>
                  </a:solidFill>
                  <a:latin typeface="Public Sans"/>
                  <a:ea typeface="Public Sans"/>
                  <a:cs typeface="Public Sans"/>
                  <a:sym typeface="Public Sans"/>
                </a:rPr>
                <a:t>Faster and error-free customs processing</a:t>
              </a:r>
            </a:p>
          </p:txBody>
        </p:sp>
      </p:grpSp>
      <p:grpSp>
        <p:nvGrpSpPr>
          <p:cNvPr id="32" name="Group 32"/>
          <p:cNvGrpSpPr/>
          <p:nvPr/>
        </p:nvGrpSpPr>
        <p:grpSpPr>
          <a:xfrm>
            <a:off x="10856240" y="2522736"/>
            <a:ext cx="7245988" cy="7078275"/>
            <a:chOff x="0" y="0"/>
            <a:chExt cx="4828540" cy="4716780"/>
          </a:xfrm>
        </p:grpSpPr>
        <p:sp>
          <p:nvSpPr>
            <p:cNvPr id="33" name="Freeform 33"/>
            <p:cNvSpPr/>
            <p:nvPr/>
          </p:nvSpPr>
          <p:spPr>
            <a:xfrm>
              <a:off x="1103" y="1273"/>
              <a:ext cx="4830645" cy="4716345"/>
            </a:xfrm>
            <a:custGeom>
              <a:avLst/>
              <a:gdLst/>
              <a:ahLst/>
              <a:cxnLst/>
              <a:rect l="l" t="t" r="r" b="b"/>
              <a:pathLst>
                <a:path w="4830645" h="4716345">
                  <a:moveTo>
                    <a:pt x="3415197" y="4653277"/>
                  </a:moveTo>
                  <a:cubicBezTo>
                    <a:pt x="3387257" y="4660897"/>
                    <a:pt x="3365667" y="4671057"/>
                    <a:pt x="3344077" y="4673597"/>
                  </a:cubicBezTo>
                  <a:cubicBezTo>
                    <a:pt x="3222157" y="4683757"/>
                    <a:pt x="3101507" y="4693917"/>
                    <a:pt x="2979587" y="4702807"/>
                  </a:cubicBezTo>
                  <a:cubicBezTo>
                    <a:pt x="2917357" y="4706617"/>
                    <a:pt x="2855127" y="4710427"/>
                    <a:pt x="2792897" y="4711697"/>
                  </a:cubicBezTo>
                  <a:cubicBezTo>
                    <a:pt x="2725587" y="4714237"/>
                    <a:pt x="2658277" y="4718047"/>
                    <a:pt x="2592237" y="4715507"/>
                  </a:cubicBezTo>
                  <a:cubicBezTo>
                    <a:pt x="2528737" y="4714237"/>
                    <a:pt x="2465237" y="4710427"/>
                    <a:pt x="2404277" y="4698997"/>
                  </a:cubicBezTo>
                  <a:cubicBezTo>
                    <a:pt x="2325537" y="4685027"/>
                    <a:pt x="2245527" y="4685027"/>
                    <a:pt x="2168057" y="4672327"/>
                  </a:cubicBezTo>
                  <a:cubicBezTo>
                    <a:pt x="1966127" y="4639307"/>
                    <a:pt x="1760387" y="4648197"/>
                    <a:pt x="1557187" y="4634227"/>
                  </a:cubicBezTo>
                  <a:cubicBezTo>
                    <a:pt x="1442887" y="4626607"/>
                    <a:pt x="1328587" y="4608827"/>
                    <a:pt x="1214287" y="4593587"/>
                  </a:cubicBezTo>
                  <a:cubicBezTo>
                    <a:pt x="1084747" y="4577077"/>
                    <a:pt x="955207" y="4558027"/>
                    <a:pt x="824397" y="4540247"/>
                  </a:cubicBezTo>
                  <a:cubicBezTo>
                    <a:pt x="729147" y="4527547"/>
                    <a:pt x="632627" y="4514847"/>
                    <a:pt x="537377" y="4502147"/>
                  </a:cubicBezTo>
                  <a:cubicBezTo>
                    <a:pt x="534837" y="4502147"/>
                    <a:pt x="532297" y="4500877"/>
                    <a:pt x="529757" y="4500877"/>
                  </a:cubicBezTo>
                  <a:cubicBezTo>
                    <a:pt x="449747" y="4466587"/>
                    <a:pt x="364657" y="4439917"/>
                    <a:pt x="290997" y="4395467"/>
                  </a:cubicBezTo>
                  <a:cubicBezTo>
                    <a:pt x="166537" y="4319267"/>
                    <a:pt x="113197" y="4197347"/>
                    <a:pt x="108117" y="4053837"/>
                  </a:cubicBezTo>
                  <a:cubicBezTo>
                    <a:pt x="106847" y="4004307"/>
                    <a:pt x="100497" y="3956047"/>
                    <a:pt x="100497" y="3906517"/>
                  </a:cubicBezTo>
                  <a:cubicBezTo>
                    <a:pt x="101767" y="3837937"/>
                    <a:pt x="106847" y="3770627"/>
                    <a:pt x="110657" y="3703317"/>
                  </a:cubicBezTo>
                  <a:cubicBezTo>
                    <a:pt x="120817" y="3502657"/>
                    <a:pt x="125897" y="3301997"/>
                    <a:pt x="110657" y="3101337"/>
                  </a:cubicBezTo>
                  <a:cubicBezTo>
                    <a:pt x="96687" y="2920997"/>
                    <a:pt x="83987" y="2741927"/>
                    <a:pt x="70017" y="2561587"/>
                  </a:cubicBezTo>
                  <a:cubicBezTo>
                    <a:pt x="61127" y="2446017"/>
                    <a:pt x="49697" y="2331717"/>
                    <a:pt x="42077" y="2216147"/>
                  </a:cubicBezTo>
                  <a:cubicBezTo>
                    <a:pt x="36997" y="2139947"/>
                    <a:pt x="38267" y="2062477"/>
                    <a:pt x="33187" y="1986277"/>
                  </a:cubicBezTo>
                  <a:cubicBezTo>
                    <a:pt x="30647" y="1943097"/>
                    <a:pt x="16677" y="1901187"/>
                    <a:pt x="15407" y="1858007"/>
                  </a:cubicBezTo>
                  <a:cubicBezTo>
                    <a:pt x="10327" y="1753867"/>
                    <a:pt x="9057" y="1648457"/>
                    <a:pt x="6517" y="1543047"/>
                  </a:cubicBezTo>
                  <a:cubicBezTo>
                    <a:pt x="5247" y="1502407"/>
                    <a:pt x="-1103" y="1461767"/>
                    <a:pt x="167" y="1421127"/>
                  </a:cubicBezTo>
                  <a:cubicBezTo>
                    <a:pt x="1437" y="1357627"/>
                    <a:pt x="9057" y="1294127"/>
                    <a:pt x="10327" y="1230627"/>
                  </a:cubicBezTo>
                  <a:cubicBezTo>
                    <a:pt x="11597" y="1156967"/>
                    <a:pt x="3977" y="1083307"/>
                    <a:pt x="6517" y="1010917"/>
                  </a:cubicBezTo>
                  <a:cubicBezTo>
                    <a:pt x="6517" y="941067"/>
                    <a:pt x="15407" y="872487"/>
                    <a:pt x="24297" y="802637"/>
                  </a:cubicBezTo>
                  <a:cubicBezTo>
                    <a:pt x="26837" y="778507"/>
                    <a:pt x="44617" y="756917"/>
                    <a:pt x="49697" y="732787"/>
                  </a:cubicBezTo>
                  <a:cubicBezTo>
                    <a:pt x="71287" y="613407"/>
                    <a:pt x="94147" y="494027"/>
                    <a:pt x="150027" y="383537"/>
                  </a:cubicBezTo>
                  <a:cubicBezTo>
                    <a:pt x="162727" y="359407"/>
                    <a:pt x="183047" y="337817"/>
                    <a:pt x="202097" y="318767"/>
                  </a:cubicBezTo>
                  <a:cubicBezTo>
                    <a:pt x="208447" y="312417"/>
                    <a:pt x="223687" y="316227"/>
                    <a:pt x="227497" y="316227"/>
                  </a:cubicBezTo>
                  <a:cubicBezTo>
                    <a:pt x="236387" y="299717"/>
                    <a:pt x="241467" y="283207"/>
                    <a:pt x="251627" y="275587"/>
                  </a:cubicBezTo>
                  <a:cubicBezTo>
                    <a:pt x="306237" y="233677"/>
                    <a:pt x="363387" y="203197"/>
                    <a:pt x="434507" y="195577"/>
                  </a:cubicBezTo>
                  <a:cubicBezTo>
                    <a:pt x="487847" y="189227"/>
                    <a:pt x="539917" y="166367"/>
                    <a:pt x="593257" y="153667"/>
                  </a:cubicBezTo>
                  <a:cubicBezTo>
                    <a:pt x="658027" y="138427"/>
                    <a:pt x="722797" y="120647"/>
                    <a:pt x="790107" y="111757"/>
                  </a:cubicBezTo>
                  <a:cubicBezTo>
                    <a:pt x="851067" y="104137"/>
                    <a:pt x="909487" y="87627"/>
                    <a:pt x="971717" y="82547"/>
                  </a:cubicBezTo>
                  <a:cubicBezTo>
                    <a:pt x="1035217" y="77467"/>
                    <a:pt x="1098717" y="62227"/>
                    <a:pt x="1163487" y="57147"/>
                  </a:cubicBezTo>
                  <a:cubicBezTo>
                    <a:pt x="1338747" y="44447"/>
                    <a:pt x="1515277" y="35557"/>
                    <a:pt x="1690537" y="25397"/>
                  </a:cubicBezTo>
                  <a:cubicBezTo>
                    <a:pt x="1733717" y="22857"/>
                    <a:pt x="1776897" y="25397"/>
                    <a:pt x="1820077" y="26667"/>
                  </a:cubicBezTo>
                  <a:cubicBezTo>
                    <a:pt x="1841667" y="27937"/>
                    <a:pt x="1863257" y="33017"/>
                    <a:pt x="1886117" y="35557"/>
                  </a:cubicBezTo>
                  <a:cubicBezTo>
                    <a:pt x="1896277" y="36827"/>
                    <a:pt x="1906437" y="33017"/>
                    <a:pt x="1916597" y="33017"/>
                  </a:cubicBezTo>
                  <a:cubicBezTo>
                    <a:pt x="1947077" y="33017"/>
                    <a:pt x="1978827" y="33017"/>
                    <a:pt x="2009307" y="31747"/>
                  </a:cubicBezTo>
                  <a:cubicBezTo>
                    <a:pt x="2067727" y="29207"/>
                    <a:pt x="2127417" y="22857"/>
                    <a:pt x="2185837" y="22857"/>
                  </a:cubicBezTo>
                  <a:cubicBezTo>
                    <a:pt x="2242987" y="22857"/>
                    <a:pt x="2300137" y="26667"/>
                    <a:pt x="2357287" y="29207"/>
                  </a:cubicBezTo>
                  <a:lnTo>
                    <a:pt x="2403007" y="29207"/>
                  </a:lnTo>
                  <a:cubicBezTo>
                    <a:pt x="2472857" y="26667"/>
                    <a:pt x="2541437" y="26667"/>
                    <a:pt x="2611287" y="22857"/>
                  </a:cubicBezTo>
                  <a:cubicBezTo>
                    <a:pt x="2678597" y="19047"/>
                    <a:pt x="2744637" y="10157"/>
                    <a:pt x="2811947" y="6347"/>
                  </a:cubicBezTo>
                  <a:cubicBezTo>
                    <a:pt x="2843697" y="3807"/>
                    <a:pt x="2876717" y="3807"/>
                    <a:pt x="2908467" y="10157"/>
                  </a:cubicBezTo>
                  <a:cubicBezTo>
                    <a:pt x="2956727" y="19047"/>
                    <a:pt x="3002447" y="24127"/>
                    <a:pt x="3050707" y="10157"/>
                  </a:cubicBezTo>
                  <a:cubicBezTo>
                    <a:pt x="3068487" y="5077"/>
                    <a:pt x="3091347" y="13967"/>
                    <a:pt x="3111667" y="16507"/>
                  </a:cubicBezTo>
                  <a:cubicBezTo>
                    <a:pt x="3120557" y="17777"/>
                    <a:pt x="3130717" y="20317"/>
                    <a:pt x="3135797" y="16507"/>
                  </a:cubicBezTo>
                  <a:cubicBezTo>
                    <a:pt x="3170087" y="-8893"/>
                    <a:pt x="3201837" y="-2543"/>
                    <a:pt x="3234857" y="19047"/>
                  </a:cubicBezTo>
                  <a:cubicBezTo>
                    <a:pt x="3238667" y="21587"/>
                    <a:pt x="3248827" y="15237"/>
                    <a:pt x="3256447" y="15237"/>
                  </a:cubicBezTo>
                  <a:cubicBezTo>
                    <a:pt x="3286927" y="15237"/>
                    <a:pt x="3317407" y="15237"/>
                    <a:pt x="3349157" y="16507"/>
                  </a:cubicBezTo>
                  <a:cubicBezTo>
                    <a:pt x="3372017" y="17777"/>
                    <a:pt x="3393607" y="25397"/>
                    <a:pt x="3416467" y="27937"/>
                  </a:cubicBezTo>
                  <a:cubicBezTo>
                    <a:pt x="3465997" y="34287"/>
                    <a:pt x="3516797" y="44447"/>
                    <a:pt x="3567597" y="44447"/>
                  </a:cubicBezTo>
                  <a:cubicBezTo>
                    <a:pt x="3662847" y="45717"/>
                    <a:pt x="3758097" y="49527"/>
                    <a:pt x="3852077" y="69847"/>
                  </a:cubicBezTo>
                  <a:cubicBezTo>
                    <a:pt x="3939707" y="88897"/>
                    <a:pt x="4029877" y="88897"/>
                    <a:pt x="4118777" y="104137"/>
                  </a:cubicBezTo>
                  <a:cubicBezTo>
                    <a:pt x="4172117" y="113027"/>
                    <a:pt x="4226727" y="129537"/>
                    <a:pt x="4272447" y="156207"/>
                  </a:cubicBezTo>
                  <a:cubicBezTo>
                    <a:pt x="4321977" y="184147"/>
                    <a:pt x="4360077" y="229867"/>
                    <a:pt x="4404527" y="267967"/>
                  </a:cubicBezTo>
                  <a:cubicBezTo>
                    <a:pt x="4421037" y="281937"/>
                    <a:pt x="4445167" y="292097"/>
                    <a:pt x="4456597" y="309877"/>
                  </a:cubicBezTo>
                  <a:cubicBezTo>
                    <a:pt x="4489617" y="358137"/>
                    <a:pt x="4518827" y="408937"/>
                    <a:pt x="4548037" y="459737"/>
                  </a:cubicBezTo>
                  <a:cubicBezTo>
                    <a:pt x="4569627" y="496567"/>
                    <a:pt x="4591217" y="534667"/>
                    <a:pt x="4607727" y="572767"/>
                  </a:cubicBezTo>
                  <a:cubicBezTo>
                    <a:pt x="4625507" y="617217"/>
                    <a:pt x="4639477" y="662937"/>
                    <a:pt x="4653447" y="709927"/>
                  </a:cubicBezTo>
                  <a:cubicBezTo>
                    <a:pt x="4675037" y="783587"/>
                    <a:pt x="4700437" y="857247"/>
                    <a:pt x="4714407" y="933447"/>
                  </a:cubicBezTo>
                  <a:cubicBezTo>
                    <a:pt x="4734727" y="1040127"/>
                    <a:pt x="4744887" y="1149347"/>
                    <a:pt x="4760127" y="1257297"/>
                  </a:cubicBezTo>
                  <a:cubicBezTo>
                    <a:pt x="4765207" y="1292857"/>
                    <a:pt x="4771557" y="1328417"/>
                    <a:pt x="4774097" y="1363977"/>
                  </a:cubicBezTo>
                  <a:cubicBezTo>
                    <a:pt x="4781717" y="1465577"/>
                    <a:pt x="4786797" y="1565907"/>
                    <a:pt x="4793147" y="1667507"/>
                  </a:cubicBezTo>
                  <a:cubicBezTo>
                    <a:pt x="4802037" y="1793237"/>
                    <a:pt x="4814737" y="1917697"/>
                    <a:pt x="4821087" y="2043427"/>
                  </a:cubicBezTo>
                  <a:cubicBezTo>
                    <a:pt x="4827437" y="2164077"/>
                    <a:pt x="4832517" y="2285997"/>
                    <a:pt x="4829977" y="2407917"/>
                  </a:cubicBezTo>
                  <a:cubicBezTo>
                    <a:pt x="4826167" y="2611117"/>
                    <a:pt x="4816007" y="2813047"/>
                    <a:pt x="4805847" y="3016247"/>
                  </a:cubicBezTo>
                  <a:cubicBezTo>
                    <a:pt x="4799497" y="3141977"/>
                    <a:pt x="4790607" y="3266437"/>
                    <a:pt x="4777907" y="3390897"/>
                  </a:cubicBezTo>
                  <a:cubicBezTo>
                    <a:pt x="4765207" y="3515357"/>
                    <a:pt x="4746157" y="3638547"/>
                    <a:pt x="4732187" y="3763007"/>
                  </a:cubicBezTo>
                  <a:cubicBezTo>
                    <a:pt x="4722027" y="3849367"/>
                    <a:pt x="4719487" y="3935727"/>
                    <a:pt x="4708057" y="4020817"/>
                  </a:cubicBezTo>
                  <a:cubicBezTo>
                    <a:pt x="4697897" y="4098287"/>
                    <a:pt x="4659797" y="4166867"/>
                    <a:pt x="4608997" y="4224017"/>
                  </a:cubicBezTo>
                  <a:cubicBezTo>
                    <a:pt x="4567087" y="4272277"/>
                    <a:pt x="4534067" y="4326887"/>
                    <a:pt x="4490887" y="4373877"/>
                  </a:cubicBezTo>
                  <a:cubicBezTo>
                    <a:pt x="4452787" y="4415787"/>
                    <a:pt x="4410877" y="4457697"/>
                    <a:pt x="4344837" y="4458967"/>
                  </a:cubicBezTo>
                  <a:cubicBezTo>
                    <a:pt x="4329597" y="4458967"/>
                    <a:pt x="4315627" y="4474207"/>
                    <a:pt x="4300387" y="4481827"/>
                  </a:cubicBezTo>
                  <a:cubicBezTo>
                    <a:pt x="4235617" y="4509767"/>
                    <a:pt x="4168307" y="4533897"/>
                    <a:pt x="4104807" y="4564377"/>
                  </a:cubicBezTo>
                  <a:cubicBezTo>
                    <a:pt x="3987967" y="4620257"/>
                    <a:pt x="3862237" y="4629147"/>
                    <a:pt x="3736507" y="4634227"/>
                  </a:cubicBezTo>
                  <a:cubicBezTo>
                    <a:pt x="3688247" y="4636767"/>
                    <a:pt x="3638717" y="4632957"/>
                    <a:pt x="3590457" y="4636767"/>
                  </a:cubicBezTo>
                  <a:cubicBezTo>
                    <a:pt x="3566327" y="4638037"/>
                    <a:pt x="3543467" y="4649467"/>
                    <a:pt x="3520607" y="4654547"/>
                  </a:cubicBezTo>
                  <a:cubicBezTo>
                    <a:pt x="3510447" y="4657087"/>
                    <a:pt x="3500287" y="4655817"/>
                    <a:pt x="3488857" y="4657087"/>
                  </a:cubicBezTo>
                  <a:cubicBezTo>
                    <a:pt x="3473617" y="4658357"/>
                    <a:pt x="3458377" y="4662167"/>
                    <a:pt x="3443137" y="4660897"/>
                  </a:cubicBezTo>
                  <a:cubicBezTo>
                    <a:pt x="3427897" y="4658357"/>
                    <a:pt x="3417737" y="4653277"/>
                    <a:pt x="3415197" y="4653277"/>
                  </a:cubicBezTo>
                  <a:close/>
                </a:path>
              </a:pathLst>
            </a:custGeom>
            <a:blipFill>
              <a:blip r:embed="rId11"/>
              <a:stretch>
                <a:fillRect l="-23271" r="-23271"/>
              </a:stretch>
            </a:blipFill>
          </p:spPr>
        </p:sp>
      </p:grpSp>
      <p:sp>
        <p:nvSpPr>
          <p:cNvPr id="34" name="TextBox 34"/>
          <p:cNvSpPr txBox="1"/>
          <p:nvPr/>
        </p:nvSpPr>
        <p:spPr>
          <a:xfrm>
            <a:off x="1622625" y="712152"/>
            <a:ext cx="14677549" cy="942975"/>
          </a:xfrm>
          <a:prstGeom prst="rect">
            <a:avLst/>
          </a:prstGeom>
        </p:spPr>
        <p:txBody>
          <a:bodyPr lIns="0" tIns="0" rIns="0" bIns="0" rtlCol="0" anchor="t">
            <a:spAutoFit/>
          </a:bodyPr>
          <a:lstStyle/>
          <a:p>
            <a:pPr marL="0" lvl="0" indent="0" algn="ctr">
              <a:lnSpc>
                <a:spcPts val="7500"/>
              </a:lnSpc>
              <a:spcBef>
                <a:spcPct val="0"/>
              </a:spcBef>
            </a:pPr>
            <a:r>
              <a:rPr lang="en-US" sz="6000" b="1">
                <a:solidFill>
                  <a:srgbClr val="243B55"/>
                </a:solidFill>
                <a:latin typeface="Montserrat Bold"/>
                <a:ea typeface="Montserrat Bold"/>
                <a:cs typeface="Montserrat Bold"/>
                <a:sym typeface="Montserrat Bold"/>
              </a:rPr>
              <a:t>CARGOWISE SUCCESS STORIES (2/5)</a:t>
            </a:r>
          </a:p>
        </p:txBody>
      </p:sp>
      <p:sp>
        <p:nvSpPr>
          <p:cNvPr id="35" name="TextBox 35"/>
          <p:cNvSpPr txBox="1"/>
          <p:nvPr/>
        </p:nvSpPr>
        <p:spPr>
          <a:xfrm>
            <a:off x="1302769" y="2138561"/>
            <a:ext cx="4774953" cy="384175"/>
          </a:xfrm>
          <a:prstGeom prst="rect">
            <a:avLst/>
          </a:prstGeom>
        </p:spPr>
        <p:txBody>
          <a:bodyPr lIns="0" tIns="0" rIns="0" bIns="0" rtlCol="0" anchor="t">
            <a:spAutoFit/>
          </a:bodyPr>
          <a:lstStyle/>
          <a:p>
            <a:pPr marL="0" lvl="0" indent="0" algn="ctr">
              <a:lnSpc>
                <a:spcPts val="3124"/>
              </a:lnSpc>
              <a:spcBef>
                <a:spcPct val="0"/>
              </a:spcBef>
            </a:pPr>
            <a:r>
              <a:rPr lang="en-US" sz="2499" b="1">
                <a:solidFill>
                  <a:srgbClr val="243B55"/>
                </a:solidFill>
                <a:latin typeface="Montserrat Bold"/>
                <a:ea typeface="Montserrat Bold"/>
                <a:cs typeface="Montserrat Bold"/>
                <a:sym typeface="Montserrat Bold"/>
              </a:rPr>
              <a:t>UK CUSTOMS INTEGRATION</a:t>
            </a:r>
          </a:p>
        </p:txBody>
      </p:sp>
      <p:sp>
        <p:nvSpPr>
          <p:cNvPr id="36" name="TextBox 36"/>
          <p:cNvSpPr txBox="1"/>
          <p:nvPr/>
        </p:nvSpPr>
        <p:spPr>
          <a:xfrm>
            <a:off x="1369444" y="2485873"/>
            <a:ext cx="5400724" cy="391795"/>
          </a:xfrm>
          <a:prstGeom prst="rect">
            <a:avLst/>
          </a:prstGeom>
        </p:spPr>
        <p:txBody>
          <a:bodyPr lIns="0" tIns="0" rIns="0" bIns="0" rtlCol="0" anchor="t">
            <a:spAutoFit/>
          </a:bodyPr>
          <a:lstStyle/>
          <a:p>
            <a:pPr algn="just">
              <a:lnSpc>
                <a:spcPts val="3080"/>
              </a:lnSpc>
            </a:pPr>
            <a:r>
              <a:rPr lang="en-US" sz="2200">
                <a:solidFill>
                  <a:srgbClr val="1D1A1B"/>
                </a:solidFill>
                <a:latin typeface="Public Sans"/>
                <a:ea typeface="Public Sans"/>
                <a:cs typeface="Public Sans"/>
                <a:sym typeface="Public Sans"/>
              </a:rPr>
              <a:t>UK Customs automation</a:t>
            </a:r>
          </a:p>
        </p:txBody>
      </p:sp>
      <p:sp>
        <p:nvSpPr>
          <p:cNvPr id="37" name="TextBox 37"/>
          <p:cNvSpPr txBox="1"/>
          <p:nvPr/>
        </p:nvSpPr>
        <p:spPr>
          <a:xfrm>
            <a:off x="1407544" y="6594701"/>
            <a:ext cx="8871709" cy="782320"/>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Tech Stack</a:t>
            </a:r>
            <a:r>
              <a:rPr lang="en-US" sz="2200">
                <a:solidFill>
                  <a:srgbClr val="1D1A1B"/>
                </a:solidFill>
                <a:latin typeface="Public Sans"/>
                <a:ea typeface="Public Sans"/>
                <a:cs typeface="Public Sans"/>
                <a:sym typeface="Public Sans"/>
              </a:rPr>
              <a:t>: XML, JSON, CW1 Integration Framework, ASM API, EDI Integrations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2193212" y="9947191"/>
            <a:ext cx="3316080" cy="537986"/>
            <a:chOff x="0" y="0"/>
            <a:chExt cx="873371" cy="141692"/>
          </a:xfrm>
        </p:grpSpPr>
        <p:sp>
          <p:nvSpPr>
            <p:cNvPr id="4" name="Freeform 4"/>
            <p:cNvSpPr/>
            <p:nvPr/>
          </p:nvSpPr>
          <p:spPr>
            <a:xfrm>
              <a:off x="0" y="0"/>
              <a:ext cx="873371" cy="141692"/>
            </a:xfrm>
            <a:custGeom>
              <a:avLst/>
              <a:gdLst/>
              <a:ahLst/>
              <a:cxnLst/>
              <a:rect l="l" t="t" r="r" b="b"/>
              <a:pathLst>
                <a:path w="873371" h="141692">
                  <a:moveTo>
                    <a:pt x="70846" y="0"/>
                  </a:moveTo>
                  <a:lnTo>
                    <a:pt x="802525" y="0"/>
                  </a:lnTo>
                  <a:cubicBezTo>
                    <a:pt x="841652" y="0"/>
                    <a:pt x="873371" y="31719"/>
                    <a:pt x="873371" y="70846"/>
                  </a:cubicBezTo>
                  <a:lnTo>
                    <a:pt x="873371" y="70846"/>
                  </a:lnTo>
                  <a:cubicBezTo>
                    <a:pt x="873371" y="89635"/>
                    <a:pt x="865907" y="107655"/>
                    <a:pt x="852621" y="120942"/>
                  </a:cubicBezTo>
                  <a:cubicBezTo>
                    <a:pt x="839334" y="134228"/>
                    <a:pt x="821314" y="141692"/>
                    <a:pt x="802525" y="141692"/>
                  </a:cubicBezTo>
                  <a:lnTo>
                    <a:pt x="70846" y="141692"/>
                  </a:lnTo>
                  <a:cubicBezTo>
                    <a:pt x="52056" y="141692"/>
                    <a:pt x="34036" y="134228"/>
                    <a:pt x="20750" y="120942"/>
                  </a:cubicBezTo>
                  <a:cubicBezTo>
                    <a:pt x="7464" y="107655"/>
                    <a:pt x="0" y="89635"/>
                    <a:pt x="0" y="70846"/>
                  </a:cubicBezTo>
                  <a:lnTo>
                    <a:pt x="0" y="70846"/>
                  </a:lnTo>
                  <a:cubicBezTo>
                    <a:pt x="0" y="52056"/>
                    <a:pt x="7464" y="34036"/>
                    <a:pt x="20750" y="20750"/>
                  </a:cubicBezTo>
                  <a:cubicBezTo>
                    <a:pt x="34036" y="7464"/>
                    <a:pt x="52056" y="0"/>
                    <a:pt x="70846" y="0"/>
                  </a:cubicBezTo>
                  <a:close/>
                </a:path>
              </a:pathLst>
            </a:custGeom>
            <a:solidFill>
              <a:srgbClr val="16578D"/>
            </a:solidFill>
          </p:spPr>
        </p:sp>
        <p:sp>
          <p:nvSpPr>
            <p:cNvPr id="5" name="TextBox 5"/>
            <p:cNvSpPr txBox="1"/>
            <p:nvPr/>
          </p:nvSpPr>
          <p:spPr>
            <a:xfrm>
              <a:off x="0" y="-47625"/>
              <a:ext cx="873371" cy="18931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177366" y="8460193"/>
            <a:ext cx="5210521" cy="4477792"/>
            <a:chOff x="0" y="0"/>
            <a:chExt cx="6947361" cy="5970389"/>
          </a:xfrm>
        </p:grpSpPr>
        <p:grpSp>
          <p:nvGrpSpPr>
            <p:cNvPr id="7" name="Group 7"/>
            <p:cNvGrpSpPr/>
            <p:nvPr/>
          </p:nvGrpSpPr>
          <p:grpSpPr>
            <a:xfrm>
              <a:off x="0" y="0"/>
              <a:ext cx="6947361" cy="5970389"/>
              <a:chOff x="0" y="0"/>
              <a:chExt cx="812800" cy="698500"/>
            </a:xfrm>
          </p:grpSpPr>
          <p:sp>
            <p:nvSpPr>
              <p:cNvPr id="8" name="Freeform 8"/>
              <p:cNvSpPr/>
              <p:nvPr/>
            </p:nvSpPr>
            <p:spPr>
              <a:xfrm>
                <a:off x="13627" y="0"/>
                <a:ext cx="785546" cy="698500"/>
              </a:xfrm>
              <a:custGeom>
                <a:avLst/>
                <a:gdLst/>
                <a:ahLst/>
                <a:cxnLst/>
                <a:rect l="l" t="t" r="r" b="b"/>
                <a:pathLst>
                  <a:path w="785546" h="698500">
                    <a:moveTo>
                      <a:pt x="773768" y="392915"/>
                    </a:moveTo>
                    <a:lnTo>
                      <a:pt x="621378" y="654835"/>
                    </a:lnTo>
                    <a:cubicBezTo>
                      <a:pt x="605649" y="681869"/>
                      <a:pt x="576732" y="698500"/>
                      <a:pt x="545455" y="698500"/>
                    </a:cubicBezTo>
                    <a:lnTo>
                      <a:pt x="240091" y="698500"/>
                    </a:lnTo>
                    <a:cubicBezTo>
                      <a:pt x="208814" y="698500"/>
                      <a:pt x="179897" y="681869"/>
                      <a:pt x="164168" y="654835"/>
                    </a:cubicBezTo>
                    <a:lnTo>
                      <a:pt x="11778" y="392915"/>
                    </a:lnTo>
                    <a:cubicBezTo>
                      <a:pt x="-3926" y="365923"/>
                      <a:pt x="-3926" y="332577"/>
                      <a:pt x="11778" y="305585"/>
                    </a:cubicBezTo>
                    <a:lnTo>
                      <a:pt x="164168" y="43665"/>
                    </a:lnTo>
                    <a:cubicBezTo>
                      <a:pt x="179897" y="16631"/>
                      <a:pt x="208814" y="0"/>
                      <a:pt x="240091" y="0"/>
                    </a:cubicBezTo>
                    <a:lnTo>
                      <a:pt x="545455" y="0"/>
                    </a:lnTo>
                    <a:cubicBezTo>
                      <a:pt x="576732" y="0"/>
                      <a:pt x="605649" y="16631"/>
                      <a:pt x="621378" y="43665"/>
                    </a:cubicBezTo>
                    <a:lnTo>
                      <a:pt x="773768" y="305585"/>
                    </a:lnTo>
                    <a:cubicBezTo>
                      <a:pt x="789472" y="332577"/>
                      <a:pt x="789472" y="365923"/>
                      <a:pt x="773768" y="392915"/>
                    </a:cubicBezTo>
                    <a:close/>
                  </a:path>
                </a:pathLst>
              </a:custGeom>
              <a:solidFill>
                <a:srgbClr val="243B55"/>
              </a:solidFill>
              <a:ln cap="rnd">
                <a:noFill/>
                <a:prstDash val="solid"/>
                <a:round/>
              </a:ln>
            </p:spPr>
          </p:sp>
          <p:sp>
            <p:nvSpPr>
              <p:cNvPr id="9" name="TextBox 9"/>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615568" y="737508"/>
              <a:ext cx="4396286" cy="3778058"/>
              <a:chOff x="0" y="0"/>
              <a:chExt cx="812800" cy="698500"/>
            </a:xfrm>
          </p:grpSpPr>
          <p:sp>
            <p:nvSpPr>
              <p:cNvPr id="11" name="Freeform 11"/>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12" name="TextBox 12"/>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grpSp>
        <p:nvGrpSpPr>
          <p:cNvPr id="13" name="Group 13"/>
          <p:cNvGrpSpPr/>
          <p:nvPr/>
        </p:nvGrpSpPr>
        <p:grpSpPr>
          <a:xfrm>
            <a:off x="-1767061" y="-591955"/>
            <a:ext cx="3389686" cy="2665365"/>
            <a:chOff x="0" y="0"/>
            <a:chExt cx="696717" cy="547840"/>
          </a:xfrm>
        </p:grpSpPr>
        <p:sp>
          <p:nvSpPr>
            <p:cNvPr id="14" name="Freeform 14"/>
            <p:cNvSpPr/>
            <p:nvPr/>
          </p:nvSpPr>
          <p:spPr>
            <a:xfrm>
              <a:off x="11320" y="0"/>
              <a:ext cx="674077" cy="547840"/>
            </a:xfrm>
            <a:custGeom>
              <a:avLst/>
              <a:gdLst/>
              <a:ahLst/>
              <a:cxnLst/>
              <a:rect l="l" t="t" r="r" b="b"/>
              <a:pathLst>
                <a:path w="674077" h="547840">
                  <a:moveTo>
                    <a:pt x="664985" y="301435"/>
                  </a:moveTo>
                  <a:lnTo>
                    <a:pt x="502608" y="520325"/>
                  </a:lnTo>
                  <a:cubicBezTo>
                    <a:pt x="489768" y="537634"/>
                    <a:pt x="469489" y="547840"/>
                    <a:pt x="447937" y="547840"/>
                  </a:cubicBezTo>
                  <a:lnTo>
                    <a:pt x="226139" y="547840"/>
                  </a:lnTo>
                  <a:cubicBezTo>
                    <a:pt x="204588" y="547840"/>
                    <a:pt x="184309" y="537634"/>
                    <a:pt x="171469" y="520325"/>
                  </a:cubicBezTo>
                  <a:lnTo>
                    <a:pt x="9091" y="301435"/>
                  </a:lnTo>
                  <a:cubicBezTo>
                    <a:pt x="-3031" y="285094"/>
                    <a:pt x="-3031" y="262745"/>
                    <a:pt x="9091" y="246405"/>
                  </a:cubicBezTo>
                  <a:lnTo>
                    <a:pt x="171469" y="27515"/>
                  </a:lnTo>
                  <a:cubicBezTo>
                    <a:pt x="184309" y="10206"/>
                    <a:pt x="204588" y="0"/>
                    <a:pt x="226139" y="0"/>
                  </a:cubicBezTo>
                  <a:lnTo>
                    <a:pt x="447937" y="0"/>
                  </a:lnTo>
                  <a:cubicBezTo>
                    <a:pt x="469489" y="0"/>
                    <a:pt x="489768" y="10206"/>
                    <a:pt x="502608" y="27515"/>
                  </a:cubicBezTo>
                  <a:lnTo>
                    <a:pt x="664985" y="246405"/>
                  </a:lnTo>
                  <a:cubicBezTo>
                    <a:pt x="677107" y="262745"/>
                    <a:pt x="677107" y="285094"/>
                    <a:pt x="664985" y="301435"/>
                  </a:cubicBezTo>
                  <a:close/>
                </a:path>
              </a:pathLst>
            </a:custGeom>
            <a:solidFill>
              <a:srgbClr val="243B55">
                <a:alpha val="4706"/>
              </a:srgbClr>
            </a:solidFill>
          </p:spPr>
        </p:sp>
        <p:sp>
          <p:nvSpPr>
            <p:cNvPr id="15" name="TextBox 15"/>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132205" y="3325860"/>
            <a:ext cx="2311589" cy="1817640"/>
            <a:chOff x="0" y="0"/>
            <a:chExt cx="696717" cy="547840"/>
          </a:xfrm>
        </p:grpSpPr>
        <p:sp>
          <p:nvSpPr>
            <p:cNvPr id="17" name="Freeform 17"/>
            <p:cNvSpPr/>
            <p:nvPr/>
          </p:nvSpPr>
          <p:spPr>
            <a:xfrm>
              <a:off x="9960" y="0"/>
              <a:ext cx="676798" cy="547840"/>
            </a:xfrm>
            <a:custGeom>
              <a:avLst/>
              <a:gdLst/>
              <a:ahLst/>
              <a:cxnLst/>
              <a:rect l="l" t="t" r="r" b="b"/>
              <a:pathLst>
                <a:path w="676798" h="547840">
                  <a:moveTo>
                    <a:pt x="668798" y="298129"/>
                  </a:moveTo>
                  <a:lnTo>
                    <a:pt x="501515" y="523631"/>
                  </a:lnTo>
                  <a:cubicBezTo>
                    <a:pt x="490218" y="538860"/>
                    <a:pt x="472376" y="547840"/>
                    <a:pt x="453414" y="547840"/>
                  </a:cubicBezTo>
                  <a:lnTo>
                    <a:pt x="223383" y="547840"/>
                  </a:lnTo>
                  <a:cubicBezTo>
                    <a:pt x="204421" y="547840"/>
                    <a:pt x="186579" y="538860"/>
                    <a:pt x="175281" y="523631"/>
                  </a:cubicBezTo>
                  <a:lnTo>
                    <a:pt x="7999" y="298129"/>
                  </a:lnTo>
                  <a:cubicBezTo>
                    <a:pt x="-2667" y="283751"/>
                    <a:pt x="-2667" y="264088"/>
                    <a:pt x="7999" y="249711"/>
                  </a:cubicBezTo>
                  <a:lnTo>
                    <a:pt x="175281" y="24209"/>
                  </a:lnTo>
                  <a:cubicBezTo>
                    <a:pt x="186579" y="8980"/>
                    <a:pt x="204421" y="0"/>
                    <a:pt x="223383" y="0"/>
                  </a:cubicBezTo>
                  <a:lnTo>
                    <a:pt x="453414" y="0"/>
                  </a:lnTo>
                  <a:cubicBezTo>
                    <a:pt x="472376" y="0"/>
                    <a:pt x="490218" y="8980"/>
                    <a:pt x="501515" y="24209"/>
                  </a:cubicBezTo>
                  <a:lnTo>
                    <a:pt x="668798" y="249711"/>
                  </a:lnTo>
                  <a:cubicBezTo>
                    <a:pt x="679463" y="264088"/>
                    <a:pt x="679463" y="283751"/>
                    <a:pt x="668798" y="298129"/>
                  </a:cubicBezTo>
                  <a:close/>
                </a:path>
              </a:pathLst>
            </a:custGeom>
            <a:solidFill>
              <a:srgbClr val="243B55">
                <a:alpha val="4706"/>
              </a:srgbClr>
            </a:solidFill>
          </p:spPr>
        </p:sp>
        <p:sp>
          <p:nvSpPr>
            <p:cNvPr id="18" name="TextBox 18"/>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339304" y="9992895"/>
            <a:ext cx="961113" cy="651154"/>
          </a:xfrm>
          <a:custGeom>
            <a:avLst/>
            <a:gdLst/>
            <a:ahLst/>
            <a:cxnLst/>
            <a:rect l="l" t="t" r="r" b="b"/>
            <a:pathLst>
              <a:path w="961113" h="651154">
                <a:moveTo>
                  <a:pt x="0" y="0"/>
                </a:moveTo>
                <a:lnTo>
                  <a:pt x="961113" y="0"/>
                </a:lnTo>
                <a:lnTo>
                  <a:pt x="961113" y="651155"/>
                </a:lnTo>
                <a:lnTo>
                  <a:pt x="0" y="6511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10800000">
            <a:off x="-308460" y="-758506"/>
            <a:ext cx="2164275" cy="1111896"/>
          </a:xfrm>
          <a:custGeom>
            <a:avLst/>
            <a:gdLst/>
            <a:ahLst/>
            <a:cxnLst/>
            <a:rect l="l" t="t" r="r" b="b"/>
            <a:pathLst>
              <a:path w="2164275" h="1111896">
                <a:moveTo>
                  <a:pt x="0" y="0"/>
                </a:moveTo>
                <a:lnTo>
                  <a:pt x="2164275" y="0"/>
                </a:lnTo>
                <a:lnTo>
                  <a:pt x="2164275" y="1111897"/>
                </a:lnTo>
                <a:lnTo>
                  <a:pt x="0" y="1111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14043734" y="-92534"/>
            <a:ext cx="5809337" cy="537986"/>
          </a:xfrm>
          <a:custGeom>
            <a:avLst/>
            <a:gdLst/>
            <a:ahLst/>
            <a:cxnLst/>
            <a:rect l="l" t="t" r="r" b="b"/>
            <a:pathLst>
              <a:path w="5809337" h="537986">
                <a:moveTo>
                  <a:pt x="0" y="0"/>
                </a:moveTo>
                <a:lnTo>
                  <a:pt x="5809337" y="0"/>
                </a:lnTo>
                <a:lnTo>
                  <a:pt x="5809337" y="537986"/>
                </a:lnTo>
                <a:lnTo>
                  <a:pt x="0" y="537986"/>
                </a:lnTo>
                <a:lnTo>
                  <a:pt x="0" y="0"/>
                </a:lnTo>
                <a:close/>
              </a:path>
            </a:pathLst>
          </a:custGeom>
          <a:blipFill>
            <a:blip r:embed="rId7">
              <a:extLst>
                <a:ext uri="{96DAC541-7B7A-43D3-8B79-37D633B846F1}">
                  <asvg:svgBlip xmlns:asvg="http://schemas.microsoft.com/office/drawing/2016/SVG/main" r:embed="rId8"/>
                </a:ext>
              </a:extLst>
            </a:blip>
            <a:stretch>
              <a:fillRect t="-434569" b="-361689"/>
            </a:stretch>
          </a:blipFill>
        </p:spPr>
      </p:sp>
      <p:grpSp>
        <p:nvGrpSpPr>
          <p:cNvPr id="22" name="Group 22"/>
          <p:cNvGrpSpPr/>
          <p:nvPr/>
        </p:nvGrpSpPr>
        <p:grpSpPr>
          <a:xfrm>
            <a:off x="1378969" y="3050713"/>
            <a:ext cx="9659300" cy="3849370"/>
            <a:chOff x="0" y="0"/>
            <a:chExt cx="12879067" cy="5132493"/>
          </a:xfrm>
        </p:grpSpPr>
        <p:sp>
          <p:nvSpPr>
            <p:cNvPr id="23" name="TextBox 23"/>
            <p:cNvSpPr txBox="1"/>
            <p:nvPr/>
          </p:nvSpPr>
          <p:spPr>
            <a:xfrm>
              <a:off x="0" y="-57150"/>
              <a:ext cx="12879067" cy="5189643"/>
            </a:xfrm>
            <a:prstGeom prst="rect">
              <a:avLst/>
            </a:prstGeom>
          </p:spPr>
          <p:txBody>
            <a:bodyPr lIns="0" tIns="0" rIns="0" bIns="0" rtlCol="0" anchor="t">
              <a:spAutoFit/>
            </a:bodyPr>
            <a:lstStyle/>
            <a:p>
              <a:pPr algn="just">
                <a:lnSpc>
                  <a:spcPts val="3080"/>
                </a:lnSpc>
              </a:pPr>
              <a:r>
                <a:rPr lang="en-US" sz="2200" b="1" dirty="0">
                  <a:solidFill>
                    <a:srgbClr val="1D1A1B"/>
                  </a:solidFill>
                  <a:latin typeface="Public Sans Bold"/>
                  <a:ea typeface="Public Sans Bold"/>
                  <a:cs typeface="Public Sans Bold"/>
                  <a:sym typeface="Public Sans Bold"/>
                </a:rPr>
                <a:t>Client Type</a:t>
              </a:r>
              <a:r>
                <a:rPr lang="en-US" sz="2200" dirty="0">
                  <a:solidFill>
                    <a:srgbClr val="1D1A1B"/>
                  </a:solidFill>
                  <a:latin typeface="Public Sans"/>
                  <a:ea typeface="Public Sans"/>
                  <a:cs typeface="Public Sans"/>
                  <a:sym typeface="Public Sans"/>
                </a:rPr>
                <a:t>: Global Freight Forwarder</a:t>
              </a:r>
            </a:p>
            <a:p>
              <a:pPr algn="just">
                <a:lnSpc>
                  <a:spcPts val="3080"/>
                </a:lnSpc>
              </a:pPr>
              <a:r>
                <a:rPr lang="en-US" sz="2200" b="1" dirty="0">
                  <a:solidFill>
                    <a:srgbClr val="1D1A1B"/>
                  </a:solidFill>
                  <a:latin typeface="Public Sans Bold"/>
                  <a:ea typeface="Public Sans Bold"/>
                  <a:cs typeface="Public Sans Bold"/>
                  <a:sym typeface="Public Sans Bold"/>
                </a:rPr>
                <a:t>Region:</a:t>
              </a:r>
              <a:r>
                <a:rPr lang="en-US" sz="2200" dirty="0">
                  <a:solidFill>
                    <a:srgbClr val="1D1A1B"/>
                  </a:solidFill>
                  <a:latin typeface="Public Sans"/>
                  <a:ea typeface="Public Sans"/>
                  <a:cs typeface="Public Sans"/>
                  <a:sym typeface="Public Sans"/>
                </a:rPr>
                <a:t> USA, India, </a:t>
              </a:r>
              <a:r>
                <a:rPr lang="en-US" sz="2200" dirty="0" err="1">
                  <a:solidFill>
                    <a:srgbClr val="1D1A1B"/>
                  </a:solidFill>
                  <a:latin typeface="Public Sans"/>
                  <a:ea typeface="Public Sans"/>
                  <a:cs typeface="Public Sans"/>
                  <a:sym typeface="Public Sans"/>
                </a:rPr>
                <a:t>Dubai,Turkiye</a:t>
              </a:r>
              <a:r>
                <a:rPr lang="en-US" sz="2200" dirty="0">
                  <a:solidFill>
                    <a:srgbClr val="1D1A1B"/>
                  </a:solidFill>
                  <a:latin typeface="Public Sans"/>
                  <a:ea typeface="Public Sans"/>
                  <a:cs typeface="Public Sans"/>
                  <a:sym typeface="Public Sans"/>
                </a:rPr>
                <a:t>, Canada, Mexico</a:t>
              </a:r>
            </a:p>
            <a:p>
              <a:pPr algn="just">
                <a:lnSpc>
                  <a:spcPts val="3080"/>
                </a:lnSpc>
              </a:pPr>
              <a:r>
                <a:rPr lang="en-US" sz="2200" b="1" dirty="0">
                  <a:solidFill>
                    <a:srgbClr val="1D1A1B"/>
                  </a:solidFill>
                  <a:latin typeface="Public Sans Bold"/>
                  <a:ea typeface="Public Sans Bold"/>
                  <a:cs typeface="Public Sans Bold"/>
                  <a:sym typeface="Public Sans Bold"/>
                </a:rPr>
                <a:t>Requirement</a:t>
              </a:r>
              <a:r>
                <a:rPr lang="en-US" sz="2200" dirty="0">
                  <a:solidFill>
                    <a:srgbClr val="1D1A1B"/>
                  </a:solidFill>
                  <a:latin typeface="Public Sans"/>
                  <a:ea typeface="Public Sans"/>
                  <a:cs typeface="Public Sans"/>
                  <a:sym typeface="Public Sans"/>
                </a:rPr>
                <a:t>: Standardized operations through automation and custom documents</a:t>
              </a:r>
            </a:p>
            <a:p>
              <a:pPr algn="just">
                <a:lnSpc>
                  <a:spcPts val="3080"/>
                </a:lnSpc>
              </a:pPr>
              <a:r>
                <a:rPr lang="en-US" sz="2200" b="1" dirty="0">
                  <a:solidFill>
                    <a:srgbClr val="1D1A1B"/>
                  </a:solidFill>
                  <a:latin typeface="Public Sans Bold"/>
                  <a:ea typeface="Public Sans Bold"/>
                  <a:cs typeface="Public Sans Bold"/>
                  <a:sym typeface="Public Sans Bold"/>
                </a:rPr>
                <a:t>Solution Delivered:</a:t>
              </a:r>
            </a:p>
            <a:p>
              <a:pPr algn="just">
                <a:lnSpc>
                  <a:spcPts val="3080"/>
                </a:lnSpc>
              </a:pPr>
              <a:r>
                <a:rPr lang="en-US" sz="2200" dirty="0">
                  <a:solidFill>
                    <a:srgbClr val="1D1A1B"/>
                  </a:solidFill>
                  <a:latin typeface="Public Sans"/>
                  <a:ea typeface="Public Sans"/>
                  <a:cs typeface="Public Sans"/>
                  <a:sym typeface="Public Sans"/>
                </a:rPr>
                <a:t>           Workflow automation for operations, finance, and exceptions</a:t>
              </a:r>
            </a:p>
            <a:p>
              <a:pPr algn="just">
                <a:lnSpc>
                  <a:spcPts val="3080"/>
                </a:lnSpc>
              </a:pPr>
              <a:r>
                <a:rPr lang="en-US" sz="2200" dirty="0">
                  <a:solidFill>
                    <a:srgbClr val="1D1A1B"/>
                  </a:solidFill>
                  <a:latin typeface="Public Sans"/>
                  <a:ea typeface="Public Sans"/>
                  <a:cs typeface="Public Sans"/>
                  <a:sym typeface="Public Sans"/>
                </a:rPr>
                <a:t>     Custom reports, HBL/MBL, invoice templates and communication          formats         </a:t>
              </a:r>
            </a:p>
            <a:p>
              <a:pPr algn="just">
                <a:lnSpc>
                  <a:spcPts val="3080"/>
                </a:lnSpc>
              </a:pPr>
              <a:r>
                <a:rPr lang="en-US" sz="2200" dirty="0">
                  <a:solidFill>
                    <a:srgbClr val="1D1A1B"/>
                  </a:solidFill>
                  <a:latin typeface="Public Sans"/>
                  <a:ea typeface="Public Sans"/>
                  <a:cs typeface="Public Sans"/>
                  <a:sym typeface="Public Sans"/>
                </a:rPr>
                <a:t>            Automated notifications and milestone trigger         </a:t>
              </a:r>
            </a:p>
            <a:p>
              <a:pPr algn="just">
                <a:lnSpc>
                  <a:spcPts val="3080"/>
                </a:lnSpc>
              </a:pPr>
              <a:r>
                <a:rPr lang="en-US" sz="2200" dirty="0">
                  <a:solidFill>
                    <a:srgbClr val="1D1A1B"/>
                  </a:solidFill>
                  <a:latin typeface="Public Sans"/>
                  <a:ea typeface="Public Sans"/>
                  <a:cs typeface="Public Sans"/>
                  <a:sym typeface="Public Sans"/>
                </a:rPr>
                <a:t>            Custom field integrations</a:t>
              </a:r>
            </a:p>
          </p:txBody>
        </p:sp>
        <p:sp>
          <p:nvSpPr>
            <p:cNvPr id="24" name="Freeform 24"/>
            <p:cNvSpPr/>
            <p:nvPr/>
          </p:nvSpPr>
          <p:spPr>
            <a:xfrm>
              <a:off x="213413" y="2702973"/>
              <a:ext cx="371581" cy="272648"/>
            </a:xfrm>
            <a:custGeom>
              <a:avLst/>
              <a:gdLst/>
              <a:ahLst/>
              <a:cxnLst/>
              <a:rect l="l" t="t" r="r" b="b"/>
              <a:pathLst>
                <a:path w="371581" h="272648">
                  <a:moveTo>
                    <a:pt x="0" y="0"/>
                  </a:moveTo>
                  <a:lnTo>
                    <a:pt x="371581" y="0"/>
                  </a:lnTo>
                  <a:lnTo>
                    <a:pt x="371581" y="272647"/>
                  </a:lnTo>
                  <a:lnTo>
                    <a:pt x="0" y="2726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5"/>
            <p:cNvSpPr/>
            <p:nvPr/>
          </p:nvSpPr>
          <p:spPr>
            <a:xfrm>
              <a:off x="213413" y="3217683"/>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6"/>
            <p:cNvSpPr/>
            <p:nvPr/>
          </p:nvSpPr>
          <p:spPr>
            <a:xfrm>
              <a:off x="226113" y="4253094"/>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7" name="Freeform 27"/>
            <p:cNvSpPr/>
            <p:nvPr/>
          </p:nvSpPr>
          <p:spPr>
            <a:xfrm>
              <a:off x="213413" y="4754342"/>
              <a:ext cx="371581" cy="272648"/>
            </a:xfrm>
            <a:custGeom>
              <a:avLst/>
              <a:gdLst/>
              <a:ahLst/>
              <a:cxnLst/>
              <a:rect l="l" t="t" r="r" b="b"/>
              <a:pathLst>
                <a:path w="371581" h="272648">
                  <a:moveTo>
                    <a:pt x="0" y="0"/>
                  </a:moveTo>
                  <a:lnTo>
                    <a:pt x="371581" y="0"/>
                  </a:lnTo>
                  <a:lnTo>
                    <a:pt x="371581" y="272647"/>
                  </a:lnTo>
                  <a:lnTo>
                    <a:pt x="0" y="2726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8" name="Group 28"/>
          <p:cNvGrpSpPr/>
          <p:nvPr/>
        </p:nvGrpSpPr>
        <p:grpSpPr>
          <a:xfrm>
            <a:off x="2659727" y="8025303"/>
            <a:ext cx="6099179" cy="1533525"/>
            <a:chOff x="0" y="0"/>
            <a:chExt cx="8132238" cy="2044700"/>
          </a:xfrm>
        </p:grpSpPr>
        <p:grpSp>
          <p:nvGrpSpPr>
            <p:cNvPr id="29" name="Group 29"/>
            <p:cNvGrpSpPr/>
            <p:nvPr/>
          </p:nvGrpSpPr>
          <p:grpSpPr>
            <a:xfrm>
              <a:off x="0" y="0"/>
              <a:ext cx="8132238" cy="2044700"/>
              <a:chOff x="0" y="0"/>
              <a:chExt cx="1254975" cy="315540"/>
            </a:xfrm>
          </p:grpSpPr>
          <p:sp>
            <p:nvSpPr>
              <p:cNvPr id="30" name="Freeform 30"/>
              <p:cNvSpPr/>
              <p:nvPr/>
            </p:nvSpPr>
            <p:spPr>
              <a:xfrm>
                <a:off x="0" y="0"/>
                <a:ext cx="1254975" cy="315540"/>
              </a:xfrm>
              <a:custGeom>
                <a:avLst/>
                <a:gdLst/>
                <a:ahLst/>
                <a:cxnLst/>
                <a:rect l="l" t="t" r="r" b="b"/>
                <a:pathLst>
                  <a:path w="1254975" h="315540">
                    <a:moveTo>
                      <a:pt x="24792" y="0"/>
                    </a:moveTo>
                    <a:lnTo>
                      <a:pt x="1230183" y="0"/>
                    </a:lnTo>
                    <a:cubicBezTo>
                      <a:pt x="1236758" y="0"/>
                      <a:pt x="1243064" y="2612"/>
                      <a:pt x="1247714" y="7261"/>
                    </a:cubicBezTo>
                    <a:cubicBezTo>
                      <a:pt x="1252363" y="11911"/>
                      <a:pt x="1254975" y="18217"/>
                      <a:pt x="1254975" y="24792"/>
                    </a:cubicBezTo>
                    <a:lnTo>
                      <a:pt x="1254975" y="290748"/>
                    </a:lnTo>
                    <a:cubicBezTo>
                      <a:pt x="1254975" y="297324"/>
                      <a:pt x="1252363" y="303629"/>
                      <a:pt x="1247714" y="308279"/>
                    </a:cubicBezTo>
                    <a:cubicBezTo>
                      <a:pt x="1243064" y="312928"/>
                      <a:pt x="1236758" y="315540"/>
                      <a:pt x="1230183" y="315540"/>
                    </a:cubicBezTo>
                    <a:lnTo>
                      <a:pt x="24792" y="315540"/>
                    </a:lnTo>
                    <a:cubicBezTo>
                      <a:pt x="18217" y="315540"/>
                      <a:pt x="11911" y="312928"/>
                      <a:pt x="7261" y="308279"/>
                    </a:cubicBezTo>
                    <a:cubicBezTo>
                      <a:pt x="2612" y="303629"/>
                      <a:pt x="0" y="297324"/>
                      <a:pt x="0" y="290748"/>
                    </a:cubicBezTo>
                    <a:lnTo>
                      <a:pt x="0" y="24792"/>
                    </a:lnTo>
                    <a:cubicBezTo>
                      <a:pt x="0" y="18217"/>
                      <a:pt x="2612" y="11911"/>
                      <a:pt x="7261" y="7261"/>
                    </a:cubicBezTo>
                    <a:cubicBezTo>
                      <a:pt x="11911" y="2612"/>
                      <a:pt x="18217" y="0"/>
                      <a:pt x="24792" y="0"/>
                    </a:cubicBezTo>
                    <a:close/>
                  </a:path>
                </a:pathLst>
              </a:custGeom>
              <a:solidFill>
                <a:srgbClr val="CDE0DB"/>
              </a:solidFill>
            </p:spPr>
          </p:sp>
          <p:sp>
            <p:nvSpPr>
              <p:cNvPr id="31" name="TextBox 31"/>
              <p:cNvSpPr txBox="1"/>
              <p:nvPr/>
            </p:nvSpPr>
            <p:spPr>
              <a:xfrm>
                <a:off x="0" y="-47625"/>
                <a:ext cx="1254975" cy="363165"/>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208890" y="227506"/>
              <a:ext cx="7923348" cy="15447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Outcome:</a:t>
              </a:r>
            </a:p>
            <a:p>
              <a:pPr algn="just">
                <a:lnSpc>
                  <a:spcPts val="3080"/>
                </a:lnSpc>
              </a:pPr>
              <a:r>
                <a:rPr lang="en-US" sz="2200">
                  <a:solidFill>
                    <a:srgbClr val="1D1A1B"/>
                  </a:solidFill>
                  <a:latin typeface="Public Sans"/>
                  <a:ea typeface="Public Sans"/>
                  <a:cs typeface="Public Sans"/>
                  <a:sym typeface="Public Sans"/>
                </a:rPr>
                <a:t>60% increase in operational efficiency</a:t>
              </a:r>
            </a:p>
            <a:p>
              <a:pPr algn="just">
                <a:lnSpc>
                  <a:spcPts val="3080"/>
                </a:lnSpc>
              </a:pPr>
              <a:r>
                <a:rPr lang="en-US" sz="2200">
                  <a:solidFill>
                    <a:srgbClr val="1D1A1B"/>
                  </a:solidFill>
                  <a:latin typeface="Public Sans"/>
                  <a:ea typeface="Public Sans"/>
                  <a:cs typeface="Public Sans"/>
                  <a:sym typeface="Public Sans"/>
                </a:rPr>
                <a:t>Consistent documentation across regions</a:t>
              </a:r>
            </a:p>
          </p:txBody>
        </p:sp>
      </p:grpSp>
      <p:grpSp>
        <p:nvGrpSpPr>
          <p:cNvPr id="33" name="Group 33"/>
          <p:cNvGrpSpPr/>
          <p:nvPr/>
        </p:nvGrpSpPr>
        <p:grpSpPr>
          <a:xfrm>
            <a:off x="11163944" y="2522736"/>
            <a:ext cx="6938285" cy="7316248"/>
            <a:chOff x="0" y="0"/>
            <a:chExt cx="4473107" cy="4716780"/>
          </a:xfrm>
        </p:grpSpPr>
        <p:sp>
          <p:nvSpPr>
            <p:cNvPr id="34" name="Freeform 34"/>
            <p:cNvSpPr/>
            <p:nvPr/>
          </p:nvSpPr>
          <p:spPr>
            <a:xfrm>
              <a:off x="1022" y="1273"/>
              <a:ext cx="4475296" cy="4716345"/>
            </a:xfrm>
            <a:custGeom>
              <a:avLst/>
              <a:gdLst/>
              <a:ahLst/>
              <a:cxnLst/>
              <a:rect l="l" t="t" r="r" b="b"/>
              <a:pathLst>
                <a:path w="4475296" h="4716345">
                  <a:moveTo>
                    <a:pt x="3163801" y="4653277"/>
                  </a:moveTo>
                  <a:cubicBezTo>
                    <a:pt x="3137918" y="4660897"/>
                    <a:pt x="3117917" y="4671057"/>
                    <a:pt x="3097916" y="4673597"/>
                  </a:cubicBezTo>
                  <a:cubicBezTo>
                    <a:pt x="2984971" y="4683757"/>
                    <a:pt x="2873202" y="4693917"/>
                    <a:pt x="2760257" y="4702807"/>
                  </a:cubicBezTo>
                  <a:cubicBezTo>
                    <a:pt x="2702608" y="4706617"/>
                    <a:pt x="2644958" y="4710427"/>
                    <a:pt x="2587309" y="4711697"/>
                  </a:cubicBezTo>
                  <a:cubicBezTo>
                    <a:pt x="2524954" y="4714237"/>
                    <a:pt x="2462599" y="4718047"/>
                    <a:pt x="2401420" y="4715507"/>
                  </a:cubicBezTo>
                  <a:cubicBezTo>
                    <a:pt x="2342594" y="4714237"/>
                    <a:pt x="2283769" y="4710427"/>
                    <a:pt x="2227296" y="4698997"/>
                  </a:cubicBezTo>
                  <a:cubicBezTo>
                    <a:pt x="2154352" y="4685027"/>
                    <a:pt x="2080232" y="4685027"/>
                    <a:pt x="2008464" y="4672327"/>
                  </a:cubicBezTo>
                  <a:cubicBezTo>
                    <a:pt x="1821399" y="4639307"/>
                    <a:pt x="1630803" y="4648197"/>
                    <a:pt x="1442561" y="4634227"/>
                  </a:cubicBezTo>
                  <a:cubicBezTo>
                    <a:pt x="1336675" y="4626607"/>
                    <a:pt x="1230788" y="4608827"/>
                    <a:pt x="1124902" y="4593587"/>
                  </a:cubicBezTo>
                  <a:cubicBezTo>
                    <a:pt x="1004898" y="4577077"/>
                    <a:pt x="884893" y="4558027"/>
                    <a:pt x="763712" y="4540247"/>
                  </a:cubicBezTo>
                  <a:cubicBezTo>
                    <a:pt x="675474" y="4527547"/>
                    <a:pt x="586059" y="4514847"/>
                    <a:pt x="497820" y="4502147"/>
                  </a:cubicBezTo>
                  <a:cubicBezTo>
                    <a:pt x="495467" y="4502147"/>
                    <a:pt x="493114" y="4500877"/>
                    <a:pt x="490761" y="4500877"/>
                  </a:cubicBezTo>
                  <a:cubicBezTo>
                    <a:pt x="416641" y="4466587"/>
                    <a:pt x="337814" y="4439917"/>
                    <a:pt x="269576" y="4395467"/>
                  </a:cubicBezTo>
                  <a:cubicBezTo>
                    <a:pt x="154278" y="4319267"/>
                    <a:pt x="104864" y="4197347"/>
                    <a:pt x="100158" y="4053837"/>
                  </a:cubicBezTo>
                  <a:cubicBezTo>
                    <a:pt x="98982" y="4004307"/>
                    <a:pt x="93099" y="3956047"/>
                    <a:pt x="93099" y="3906517"/>
                  </a:cubicBezTo>
                  <a:cubicBezTo>
                    <a:pt x="94276" y="3837937"/>
                    <a:pt x="98982" y="3770627"/>
                    <a:pt x="102511" y="3703317"/>
                  </a:cubicBezTo>
                  <a:cubicBezTo>
                    <a:pt x="111923" y="3502657"/>
                    <a:pt x="116629" y="3301997"/>
                    <a:pt x="102511" y="3101337"/>
                  </a:cubicBezTo>
                  <a:cubicBezTo>
                    <a:pt x="89570" y="2920997"/>
                    <a:pt x="77804" y="2741927"/>
                    <a:pt x="64863" y="2561587"/>
                  </a:cubicBezTo>
                  <a:cubicBezTo>
                    <a:pt x="56627" y="2446017"/>
                    <a:pt x="46039" y="2331717"/>
                    <a:pt x="38979" y="2216147"/>
                  </a:cubicBezTo>
                  <a:cubicBezTo>
                    <a:pt x="34273" y="2139947"/>
                    <a:pt x="35450" y="2062477"/>
                    <a:pt x="30744" y="1986277"/>
                  </a:cubicBezTo>
                  <a:cubicBezTo>
                    <a:pt x="28391" y="1943097"/>
                    <a:pt x="15449" y="1901187"/>
                    <a:pt x="14273" y="1858007"/>
                  </a:cubicBezTo>
                  <a:cubicBezTo>
                    <a:pt x="9567" y="1753867"/>
                    <a:pt x="8390" y="1648457"/>
                    <a:pt x="6037" y="1543047"/>
                  </a:cubicBezTo>
                  <a:cubicBezTo>
                    <a:pt x="4861" y="1502407"/>
                    <a:pt x="-1022" y="1461767"/>
                    <a:pt x="155" y="1421127"/>
                  </a:cubicBezTo>
                  <a:cubicBezTo>
                    <a:pt x="1331" y="1357627"/>
                    <a:pt x="8390" y="1294127"/>
                    <a:pt x="9567" y="1230627"/>
                  </a:cubicBezTo>
                  <a:cubicBezTo>
                    <a:pt x="10743" y="1156967"/>
                    <a:pt x="3684" y="1083307"/>
                    <a:pt x="6037" y="1010917"/>
                  </a:cubicBezTo>
                  <a:cubicBezTo>
                    <a:pt x="6037" y="941067"/>
                    <a:pt x="14273" y="872487"/>
                    <a:pt x="22508" y="802637"/>
                  </a:cubicBezTo>
                  <a:cubicBezTo>
                    <a:pt x="24861" y="778507"/>
                    <a:pt x="41333" y="756917"/>
                    <a:pt x="46039" y="732787"/>
                  </a:cubicBezTo>
                  <a:cubicBezTo>
                    <a:pt x="66039" y="613407"/>
                    <a:pt x="87217" y="494027"/>
                    <a:pt x="138983" y="383537"/>
                  </a:cubicBezTo>
                  <a:cubicBezTo>
                    <a:pt x="150748" y="359407"/>
                    <a:pt x="169573" y="337817"/>
                    <a:pt x="187220" y="318767"/>
                  </a:cubicBezTo>
                  <a:cubicBezTo>
                    <a:pt x="193103" y="312417"/>
                    <a:pt x="207221" y="316227"/>
                    <a:pt x="210751" y="316227"/>
                  </a:cubicBezTo>
                  <a:cubicBezTo>
                    <a:pt x="218986" y="299717"/>
                    <a:pt x="223692" y="283207"/>
                    <a:pt x="233104" y="275587"/>
                  </a:cubicBezTo>
                  <a:cubicBezTo>
                    <a:pt x="283694" y="233677"/>
                    <a:pt x="336638" y="203197"/>
                    <a:pt x="402522" y="195577"/>
                  </a:cubicBezTo>
                  <a:cubicBezTo>
                    <a:pt x="451936" y="189227"/>
                    <a:pt x="500173" y="166367"/>
                    <a:pt x="549587" y="153667"/>
                  </a:cubicBezTo>
                  <a:cubicBezTo>
                    <a:pt x="609589" y="138427"/>
                    <a:pt x="669591" y="120647"/>
                    <a:pt x="731946" y="111757"/>
                  </a:cubicBezTo>
                  <a:cubicBezTo>
                    <a:pt x="788419" y="104137"/>
                    <a:pt x="842539" y="87627"/>
                    <a:pt x="900188" y="82547"/>
                  </a:cubicBezTo>
                  <a:cubicBezTo>
                    <a:pt x="959014" y="77467"/>
                    <a:pt x="1017839" y="62227"/>
                    <a:pt x="1077842" y="57147"/>
                  </a:cubicBezTo>
                  <a:cubicBezTo>
                    <a:pt x="1240200" y="44447"/>
                    <a:pt x="1403736" y="35557"/>
                    <a:pt x="1566095" y="25397"/>
                  </a:cubicBezTo>
                  <a:cubicBezTo>
                    <a:pt x="1606097" y="22857"/>
                    <a:pt x="1646098" y="25397"/>
                    <a:pt x="1686099" y="26667"/>
                  </a:cubicBezTo>
                  <a:cubicBezTo>
                    <a:pt x="1706100" y="27937"/>
                    <a:pt x="1726101" y="33017"/>
                    <a:pt x="1747278" y="35557"/>
                  </a:cubicBezTo>
                  <a:cubicBezTo>
                    <a:pt x="1756690" y="36827"/>
                    <a:pt x="1766102" y="33017"/>
                    <a:pt x="1775515" y="33017"/>
                  </a:cubicBezTo>
                  <a:cubicBezTo>
                    <a:pt x="1803751" y="33017"/>
                    <a:pt x="1833164" y="33017"/>
                    <a:pt x="1861400" y="31747"/>
                  </a:cubicBezTo>
                  <a:cubicBezTo>
                    <a:pt x="1915520" y="29207"/>
                    <a:pt x="1970816" y="22857"/>
                    <a:pt x="2024936" y="22857"/>
                  </a:cubicBezTo>
                  <a:cubicBezTo>
                    <a:pt x="2077879" y="22857"/>
                    <a:pt x="2130822" y="26667"/>
                    <a:pt x="2183765" y="29207"/>
                  </a:cubicBezTo>
                  <a:lnTo>
                    <a:pt x="2226120" y="29207"/>
                  </a:lnTo>
                  <a:cubicBezTo>
                    <a:pt x="2290828" y="26667"/>
                    <a:pt x="2354359" y="26667"/>
                    <a:pt x="2419068" y="22857"/>
                  </a:cubicBezTo>
                  <a:cubicBezTo>
                    <a:pt x="2481423" y="19047"/>
                    <a:pt x="2542602" y="10157"/>
                    <a:pt x="2604957" y="6347"/>
                  </a:cubicBezTo>
                  <a:cubicBezTo>
                    <a:pt x="2634370" y="3807"/>
                    <a:pt x="2664959" y="3807"/>
                    <a:pt x="2694372" y="10157"/>
                  </a:cubicBezTo>
                  <a:cubicBezTo>
                    <a:pt x="2739080" y="19047"/>
                    <a:pt x="2781434" y="24127"/>
                    <a:pt x="2826142" y="10157"/>
                  </a:cubicBezTo>
                  <a:cubicBezTo>
                    <a:pt x="2842613" y="5077"/>
                    <a:pt x="2863790" y="13967"/>
                    <a:pt x="2882614" y="16507"/>
                  </a:cubicBezTo>
                  <a:cubicBezTo>
                    <a:pt x="2890850" y="17777"/>
                    <a:pt x="2900262" y="20317"/>
                    <a:pt x="2904968" y="16507"/>
                  </a:cubicBezTo>
                  <a:cubicBezTo>
                    <a:pt x="2936734" y="-8893"/>
                    <a:pt x="2966147" y="-2543"/>
                    <a:pt x="2996736" y="19047"/>
                  </a:cubicBezTo>
                  <a:cubicBezTo>
                    <a:pt x="3000266" y="21587"/>
                    <a:pt x="3009678" y="15237"/>
                    <a:pt x="3016737" y="15237"/>
                  </a:cubicBezTo>
                  <a:cubicBezTo>
                    <a:pt x="3044973" y="15237"/>
                    <a:pt x="3073210" y="15237"/>
                    <a:pt x="3102622" y="16507"/>
                  </a:cubicBezTo>
                  <a:cubicBezTo>
                    <a:pt x="3123800" y="17777"/>
                    <a:pt x="3143800" y="25397"/>
                    <a:pt x="3164978" y="27937"/>
                  </a:cubicBezTo>
                  <a:cubicBezTo>
                    <a:pt x="3210862" y="34287"/>
                    <a:pt x="3257922" y="44447"/>
                    <a:pt x="3304983" y="44447"/>
                  </a:cubicBezTo>
                  <a:cubicBezTo>
                    <a:pt x="3393222" y="45717"/>
                    <a:pt x="3481460" y="49527"/>
                    <a:pt x="3568522" y="69847"/>
                  </a:cubicBezTo>
                  <a:cubicBezTo>
                    <a:pt x="3649702" y="88897"/>
                    <a:pt x="3733234" y="88897"/>
                    <a:pt x="3815590" y="104137"/>
                  </a:cubicBezTo>
                  <a:cubicBezTo>
                    <a:pt x="3865004" y="113027"/>
                    <a:pt x="3915594" y="129537"/>
                    <a:pt x="3957948" y="156207"/>
                  </a:cubicBezTo>
                  <a:cubicBezTo>
                    <a:pt x="4003832" y="184147"/>
                    <a:pt x="4039128" y="229867"/>
                    <a:pt x="4080306" y="267967"/>
                  </a:cubicBezTo>
                  <a:cubicBezTo>
                    <a:pt x="4095601" y="281937"/>
                    <a:pt x="4117954" y="292097"/>
                    <a:pt x="4128543" y="309877"/>
                  </a:cubicBezTo>
                  <a:cubicBezTo>
                    <a:pt x="4159133" y="358137"/>
                    <a:pt x="4186192" y="408937"/>
                    <a:pt x="4213252" y="459737"/>
                  </a:cubicBezTo>
                  <a:cubicBezTo>
                    <a:pt x="4233252" y="496567"/>
                    <a:pt x="4253254" y="534667"/>
                    <a:pt x="4268548" y="572767"/>
                  </a:cubicBezTo>
                  <a:cubicBezTo>
                    <a:pt x="4285019" y="617217"/>
                    <a:pt x="4297961" y="662937"/>
                    <a:pt x="4310903" y="709927"/>
                  </a:cubicBezTo>
                  <a:cubicBezTo>
                    <a:pt x="4330904" y="783587"/>
                    <a:pt x="4354434" y="857247"/>
                    <a:pt x="4367375" y="933447"/>
                  </a:cubicBezTo>
                  <a:cubicBezTo>
                    <a:pt x="4386199" y="1040127"/>
                    <a:pt x="4395612" y="1149347"/>
                    <a:pt x="4409730" y="1257297"/>
                  </a:cubicBezTo>
                  <a:cubicBezTo>
                    <a:pt x="4414436" y="1292857"/>
                    <a:pt x="4420318" y="1328417"/>
                    <a:pt x="4422672" y="1363977"/>
                  </a:cubicBezTo>
                  <a:cubicBezTo>
                    <a:pt x="4429731" y="1465577"/>
                    <a:pt x="4434437" y="1565907"/>
                    <a:pt x="4440319" y="1667507"/>
                  </a:cubicBezTo>
                  <a:cubicBezTo>
                    <a:pt x="4448555" y="1793237"/>
                    <a:pt x="4460320" y="1917697"/>
                    <a:pt x="4466203" y="2043427"/>
                  </a:cubicBezTo>
                  <a:cubicBezTo>
                    <a:pt x="4472085" y="2164077"/>
                    <a:pt x="4477165" y="2285997"/>
                    <a:pt x="4474625" y="2407917"/>
                  </a:cubicBezTo>
                  <a:cubicBezTo>
                    <a:pt x="4470909" y="2611117"/>
                    <a:pt x="4461496" y="2813047"/>
                    <a:pt x="4452084" y="3016247"/>
                  </a:cubicBezTo>
                  <a:cubicBezTo>
                    <a:pt x="4446202" y="3141977"/>
                    <a:pt x="4437966" y="3266437"/>
                    <a:pt x="4426201" y="3390897"/>
                  </a:cubicBezTo>
                  <a:cubicBezTo>
                    <a:pt x="4414436" y="3515357"/>
                    <a:pt x="4396788" y="3638547"/>
                    <a:pt x="4383847" y="3763007"/>
                  </a:cubicBezTo>
                  <a:cubicBezTo>
                    <a:pt x="4374434" y="3849367"/>
                    <a:pt x="4372082" y="3935727"/>
                    <a:pt x="4361493" y="4020817"/>
                  </a:cubicBezTo>
                  <a:cubicBezTo>
                    <a:pt x="4352081" y="4098287"/>
                    <a:pt x="4316785" y="4166867"/>
                    <a:pt x="4269725" y="4224017"/>
                  </a:cubicBezTo>
                  <a:cubicBezTo>
                    <a:pt x="4230900" y="4272277"/>
                    <a:pt x="4200310" y="4326887"/>
                    <a:pt x="4160309" y="4373877"/>
                  </a:cubicBezTo>
                  <a:cubicBezTo>
                    <a:pt x="4125014" y="4415787"/>
                    <a:pt x="4086188" y="4457697"/>
                    <a:pt x="4025010" y="4458967"/>
                  </a:cubicBezTo>
                  <a:cubicBezTo>
                    <a:pt x="4010892" y="4458967"/>
                    <a:pt x="3997950" y="4474207"/>
                    <a:pt x="3983832" y="4481827"/>
                  </a:cubicBezTo>
                  <a:cubicBezTo>
                    <a:pt x="3923830" y="4509767"/>
                    <a:pt x="3861474" y="4533897"/>
                    <a:pt x="3802649" y="4564377"/>
                  </a:cubicBezTo>
                  <a:cubicBezTo>
                    <a:pt x="3694409" y="4620257"/>
                    <a:pt x="3577934" y="4629147"/>
                    <a:pt x="3461459" y="4634227"/>
                  </a:cubicBezTo>
                  <a:cubicBezTo>
                    <a:pt x="3416752" y="4636767"/>
                    <a:pt x="3370868" y="4632957"/>
                    <a:pt x="3326160" y="4636767"/>
                  </a:cubicBezTo>
                  <a:cubicBezTo>
                    <a:pt x="3303807" y="4638037"/>
                    <a:pt x="3282629" y="4649467"/>
                    <a:pt x="3261452" y="4654547"/>
                  </a:cubicBezTo>
                  <a:cubicBezTo>
                    <a:pt x="3252040" y="4657087"/>
                    <a:pt x="3242628" y="4655817"/>
                    <a:pt x="3232039" y="4657087"/>
                  </a:cubicBezTo>
                  <a:cubicBezTo>
                    <a:pt x="3217921" y="4658357"/>
                    <a:pt x="3203803" y="4662167"/>
                    <a:pt x="3189685" y="4660897"/>
                  </a:cubicBezTo>
                  <a:cubicBezTo>
                    <a:pt x="3175566" y="4658357"/>
                    <a:pt x="3166154" y="4653277"/>
                    <a:pt x="3163801" y="4653277"/>
                  </a:cubicBezTo>
                  <a:close/>
                </a:path>
              </a:pathLst>
            </a:custGeom>
            <a:blipFill>
              <a:blip r:embed="rId11"/>
              <a:stretch>
                <a:fillRect l="-29130" t="-26" r="-29133" b="-27"/>
              </a:stretch>
            </a:blipFill>
          </p:spPr>
        </p:sp>
      </p:grpSp>
      <p:sp>
        <p:nvSpPr>
          <p:cNvPr id="35" name="TextBox 35"/>
          <p:cNvSpPr txBox="1"/>
          <p:nvPr/>
        </p:nvSpPr>
        <p:spPr>
          <a:xfrm>
            <a:off x="1622625" y="712152"/>
            <a:ext cx="14677549" cy="942975"/>
          </a:xfrm>
          <a:prstGeom prst="rect">
            <a:avLst/>
          </a:prstGeom>
        </p:spPr>
        <p:txBody>
          <a:bodyPr lIns="0" tIns="0" rIns="0" bIns="0" rtlCol="0" anchor="t">
            <a:spAutoFit/>
          </a:bodyPr>
          <a:lstStyle/>
          <a:p>
            <a:pPr marL="0" lvl="0" indent="0" algn="ctr">
              <a:lnSpc>
                <a:spcPts val="7500"/>
              </a:lnSpc>
              <a:spcBef>
                <a:spcPct val="0"/>
              </a:spcBef>
            </a:pPr>
            <a:r>
              <a:rPr lang="en-US" sz="6000" b="1">
                <a:solidFill>
                  <a:srgbClr val="243B55"/>
                </a:solidFill>
                <a:latin typeface="Montserrat Bold"/>
                <a:ea typeface="Montserrat Bold"/>
                <a:cs typeface="Montserrat Bold"/>
                <a:sym typeface="Montserrat Bold"/>
              </a:rPr>
              <a:t>CARGOWISE SUCCESS STORIES (3/5)</a:t>
            </a:r>
          </a:p>
        </p:txBody>
      </p:sp>
      <p:sp>
        <p:nvSpPr>
          <p:cNvPr id="36" name="TextBox 36"/>
          <p:cNvSpPr txBox="1"/>
          <p:nvPr/>
        </p:nvSpPr>
        <p:spPr>
          <a:xfrm>
            <a:off x="1383277" y="2083547"/>
            <a:ext cx="9894323" cy="377347"/>
          </a:xfrm>
          <a:prstGeom prst="rect">
            <a:avLst/>
          </a:prstGeom>
        </p:spPr>
        <p:txBody>
          <a:bodyPr wrap="square" lIns="0" tIns="0" rIns="0" bIns="0" rtlCol="0" anchor="t">
            <a:spAutoFit/>
          </a:bodyPr>
          <a:lstStyle/>
          <a:p>
            <a:pPr marL="0" lvl="0" indent="0" algn="ctr">
              <a:lnSpc>
                <a:spcPts val="3124"/>
              </a:lnSpc>
              <a:spcBef>
                <a:spcPct val="0"/>
              </a:spcBef>
            </a:pPr>
            <a:r>
              <a:rPr lang="en-US" sz="2499" b="1" dirty="0">
                <a:solidFill>
                  <a:srgbClr val="243B55"/>
                </a:solidFill>
                <a:latin typeface="Montserrat Bold"/>
                <a:ea typeface="Montserrat Bold"/>
                <a:cs typeface="Montserrat Bold"/>
                <a:sym typeface="Montserrat Bold"/>
              </a:rPr>
              <a:t>WORKFLOW AUTOMATION &amp; DOCUMENT CUSTOMIZATION</a:t>
            </a:r>
          </a:p>
        </p:txBody>
      </p:sp>
      <p:sp>
        <p:nvSpPr>
          <p:cNvPr id="37" name="TextBox 37"/>
          <p:cNvSpPr txBox="1"/>
          <p:nvPr/>
        </p:nvSpPr>
        <p:spPr>
          <a:xfrm>
            <a:off x="1369444" y="2524914"/>
            <a:ext cx="5400724" cy="391795"/>
          </a:xfrm>
          <a:prstGeom prst="rect">
            <a:avLst/>
          </a:prstGeom>
        </p:spPr>
        <p:txBody>
          <a:bodyPr lIns="0" tIns="0" rIns="0" bIns="0" rtlCol="0" anchor="t">
            <a:spAutoFit/>
          </a:bodyPr>
          <a:lstStyle/>
          <a:p>
            <a:pPr algn="just">
              <a:lnSpc>
                <a:spcPts val="3080"/>
              </a:lnSpc>
            </a:pPr>
            <a:r>
              <a:rPr lang="en-US" sz="2200">
                <a:solidFill>
                  <a:srgbClr val="1D1A1B"/>
                </a:solidFill>
                <a:latin typeface="Public Sans"/>
                <a:ea typeface="Public Sans"/>
                <a:cs typeface="Public Sans"/>
                <a:sym typeface="Public Sans"/>
              </a:rPr>
              <a:t>Standardized operations and automation</a:t>
            </a:r>
          </a:p>
        </p:txBody>
      </p:sp>
      <p:sp>
        <p:nvSpPr>
          <p:cNvPr id="38" name="TextBox 38"/>
          <p:cNvSpPr txBox="1"/>
          <p:nvPr/>
        </p:nvSpPr>
        <p:spPr>
          <a:xfrm>
            <a:off x="1369444" y="6947708"/>
            <a:ext cx="8871709" cy="782320"/>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Tech Stack</a:t>
            </a:r>
            <a:r>
              <a:rPr lang="en-US" sz="2200">
                <a:solidFill>
                  <a:srgbClr val="1D1A1B"/>
                </a:solidFill>
                <a:latin typeface="Public Sans"/>
                <a:ea typeface="Public Sans"/>
                <a:cs typeface="Public Sans"/>
                <a:sym typeface="Public Sans"/>
              </a:rPr>
              <a:t>: CW1 Workflow Engine, XML Templates, SQL, CW1 Reports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2193212" y="9947191"/>
            <a:ext cx="3316080" cy="537986"/>
            <a:chOff x="0" y="0"/>
            <a:chExt cx="873371" cy="141692"/>
          </a:xfrm>
        </p:grpSpPr>
        <p:sp>
          <p:nvSpPr>
            <p:cNvPr id="4" name="Freeform 4"/>
            <p:cNvSpPr/>
            <p:nvPr/>
          </p:nvSpPr>
          <p:spPr>
            <a:xfrm>
              <a:off x="0" y="0"/>
              <a:ext cx="873371" cy="141692"/>
            </a:xfrm>
            <a:custGeom>
              <a:avLst/>
              <a:gdLst/>
              <a:ahLst/>
              <a:cxnLst/>
              <a:rect l="l" t="t" r="r" b="b"/>
              <a:pathLst>
                <a:path w="873371" h="141692">
                  <a:moveTo>
                    <a:pt x="70846" y="0"/>
                  </a:moveTo>
                  <a:lnTo>
                    <a:pt x="802525" y="0"/>
                  </a:lnTo>
                  <a:cubicBezTo>
                    <a:pt x="841652" y="0"/>
                    <a:pt x="873371" y="31719"/>
                    <a:pt x="873371" y="70846"/>
                  </a:cubicBezTo>
                  <a:lnTo>
                    <a:pt x="873371" y="70846"/>
                  </a:lnTo>
                  <a:cubicBezTo>
                    <a:pt x="873371" y="89635"/>
                    <a:pt x="865907" y="107655"/>
                    <a:pt x="852621" y="120942"/>
                  </a:cubicBezTo>
                  <a:cubicBezTo>
                    <a:pt x="839334" y="134228"/>
                    <a:pt x="821314" y="141692"/>
                    <a:pt x="802525" y="141692"/>
                  </a:cubicBezTo>
                  <a:lnTo>
                    <a:pt x="70846" y="141692"/>
                  </a:lnTo>
                  <a:cubicBezTo>
                    <a:pt x="52056" y="141692"/>
                    <a:pt x="34036" y="134228"/>
                    <a:pt x="20750" y="120942"/>
                  </a:cubicBezTo>
                  <a:cubicBezTo>
                    <a:pt x="7464" y="107655"/>
                    <a:pt x="0" y="89635"/>
                    <a:pt x="0" y="70846"/>
                  </a:cubicBezTo>
                  <a:lnTo>
                    <a:pt x="0" y="70846"/>
                  </a:lnTo>
                  <a:cubicBezTo>
                    <a:pt x="0" y="52056"/>
                    <a:pt x="7464" y="34036"/>
                    <a:pt x="20750" y="20750"/>
                  </a:cubicBezTo>
                  <a:cubicBezTo>
                    <a:pt x="34036" y="7464"/>
                    <a:pt x="52056" y="0"/>
                    <a:pt x="70846" y="0"/>
                  </a:cubicBezTo>
                  <a:close/>
                </a:path>
              </a:pathLst>
            </a:custGeom>
            <a:solidFill>
              <a:srgbClr val="16578D"/>
            </a:solidFill>
          </p:spPr>
        </p:sp>
        <p:sp>
          <p:nvSpPr>
            <p:cNvPr id="5" name="TextBox 5"/>
            <p:cNvSpPr txBox="1"/>
            <p:nvPr/>
          </p:nvSpPr>
          <p:spPr>
            <a:xfrm>
              <a:off x="0" y="-47625"/>
              <a:ext cx="873371" cy="18931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177366" y="8460193"/>
            <a:ext cx="5210521" cy="4477792"/>
            <a:chOff x="0" y="0"/>
            <a:chExt cx="6947361" cy="5970389"/>
          </a:xfrm>
        </p:grpSpPr>
        <p:grpSp>
          <p:nvGrpSpPr>
            <p:cNvPr id="7" name="Group 7"/>
            <p:cNvGrpSpPr/>
            <p:nvPr/>
          </p:nvGrpSpPr>
          <p:grpSpPr>
            <a:xfrm>
              <a:off x="0" y="0"/>
              <a:ext cx="6947361" cy="5970389"/>
              <a:chOff x="0" y="0"/>
              <a:chExt cx="812800" cy="698500"/>
            </a:xfrm>
          </p:grpSpPr>
          <p:sp>
            <p:nvSpPr>
              <p:cNvPr id="8" name="Freeform 8"/>
              <p:cNvSpPr/>
              <p:nvPr/>
            </p:nvSpPr>
            <p:spPr>
              <a:xfrm>
                <a:off x="13627" y="0"/>
                <a:ext cx="785546" cy="698500"/>
              </a:xfrm>
              <a:custGeom>
                <a:avLst/>
                <a:gdLst/>
                <a:ahLst/>
                <a:cxnLst/>
                <a:rect l="l" t="t" r="r" b="b"/>
                <a:pathLst>
                  <a:path w="785546" h="698500">
                    <a:moveTo>
                      <a:pt x="773768" y="392915"/>
                    </a:moveTo>
                    <a:lnTo>
                      <a:pt x="621378" y="654835"/>
                    </a:lnTo>
                    <a:cubicBezTo>
                      <a:pt x="605649" y="681869"/>
                      <a:pt x="576732" y="698500"/>
                      <a:pt x="545455" y="698500"/>
                    </a:cubicBezTo>
                    <a:lnTo>
                      <a:pt x="240091" y="698500"/>
                    </a:lnTo>
                    <a:cubicBezTo>
                      <a:pt x="208814" y="698500"/>
                      <a:pt x="179897" y="681869"/>
                      <a:pt x="164168" y="654835"/>
                    </a:cubicBezTo>
                    <a:lnTo>
                      <a:pt x="11778" y="392915"/>
                    </a:lnTo>
                    <a:cubicBezTo>
                      <a:pt x="-3926" y="365923"/>
                      <a:pt x="-3926" y="332577"/>
                      <a:pt x="11778" y="305585"/>
                    </a:cubicBezTo>
                    <a:lnTo>
                      <a:pt x="164168" y="43665"/>
                    </a:lnTo>
                    <a:cubicBezTo>
                      <a:pt x="179897" y="16631"/>
                      <a:pt x="208814" y="0"/>
                      <a:pt x="240091" y="0"/>
                    </a:cubicBezTo>
                    <a:lnTo>
                      <a:pt x="545455" y="0"/>
                    </a:lnTo>
                    <a:cubicBezTo>
                      <a:pt x="576732" y="0"/>
                      <a:pt x="605649" y="16631"/>
                      <a:pt x="621378" y="43665"/>
                    </a:cubicBezTo>
                    <a:lnTo>
                      <a:pt x="773768" y="305585"/>
                    </a:lnTo>
                    <a:cubicBezTo>
                      <a:pt x="789472" y="332577"/>
                      <a:pt x="789472" y="365923"/>
                      <a:pt x="773768" y="392915"/>
                    </a:cubicBezTo>
                    <a:close/>
                  </a:path>
                </a:pathLst>
              </a:custGeom>
              <a:solidFill>
                <a:srgbClr val="243B55"/>
              </a:solidFill>
              <a:ln cap="rnd">
                <a:noFill/>
                <a:prstDash val="solid"/>
                <a:round/>
              </a:ln>
            </p:spPr>
          </p:sp>
          <p:sp>
            <p:nvSpPr>
              <p:cNvPr id="9" name="TextBox 9"/>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615568" y="737508"/>
              <a:ext cx="4396286" cy="3778058"/>
              <a:chOff x="0" y="0"/>
              <a:chExt cx="812800" cy="698500"/>
            </a:xfrm>
          </p:grpSpPr>
          <p:sp>
            <p:nvSpPr>
              <p:cNvPr id="11" name="Freeform 11"/>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12" name="TextBox 12"/>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grpSp>
        <p:nvGrpSpPr>
          <p:cNvPr id="13" name="Group 13"/>
          <p:cNvGrpSpPr/>
          <p:nvPr/>
        </p:nvGrpSpPr>
        <p:grpSpPr>
          <a:xfrm>
            <a:off x="-1767061" y="-591955"/>
            <a:ext cx="3389686" cy="2665365"/>
            <a:chOff x="0" y="0"/>
            <a:chExt cx="696717" cy="547840"/>
          </a:xfrm>
        </p:grpSpPr>
        <p:sp>
          <p:nvSpPr>
            <p:cNvPr id="14" name="Freeform 14"/>
            <p:cNvSpPr/>
            <p:nvPr/>
          </p:nvSpPr>
          <p:spPr>
            <a:xfrm>
              <a:off x="11320" y="0"/>
              <a:ext cx="674077" cy="547840"/>
            </a:xfrm>
            <a:custGeom>
              <a:avLst/>
              <a:gdLst/>
              <a:ahLst/>
              <a:cxnLst/>
              <a:rect l="l" t="t" r="r" b="b"/>
              <a:pathLst>
                <a:path w="674077" h="547840">
                  <a:moveTo>
                    <a:pt x="664985" y="301435"/>
                  </a:moveTo>
                  <a:lnTo>
                    <a:pt x="502608" y="520325"/>
                  </a:lnTo>
                  <a:cubicBezTo>
                    <a:pt x="489768" y="537634"/>
                    <a:pt x="469489" y="547840"/>
                    <a:pt x="447937" y="547840"/>
                  </a:cubicBezTo>
                  <a:lnTo>
                    <a:pt x="226139" y="547840"/>
                  </a:lnTo>
                  <a:cubicBezTo>
                    <a:pt x="204588" y="547840"/>
                    <a:pt x="184309" y="537634"/>
                    <a:pt x="171469" y="520325"/>
                  </a:cubicBezTo>
                  <a:lnTo>
                    <a:pt x="9091" y="301435"/>
                  </a:lnTo>
                  <a:cubicBezTo>
                    <a:pt x="-3031" y="285094"/>
                    <a:pt x="-3031" y="262745"/>
                    <a:pt x="9091" y="246405"/>
                  </a:cubicBezTo>
                  <a:lnTo>
                    <a:pt x="171469" y="27515"/>
                  </a:lnTo>
                  <a:cubicBezTo>
                    <a:pt x="184309" y="10206"/>
                    <a:pt x="204588" y="0"/>
                    <a:pt x="226139" y="0"/>
                  </a:cubicBezTo>
                  <a:lnTo>
                    <a:pt x="447937" y="0"/>
                  </a:lnTo>
                  <a:cubicBezTo>
                    <a:pt x="469489" y="0"/>
                    <a:pt x="489768" y="10206"/>
                    <a:pt x="502608" y="27515"/>
                  </a:cubicBezTo>
                  <a:lnTo>
                    <a:pt x="664985" y="246405"/>
                  </a:lnTo>
                  <a:cubicBezTo>
                    <a:pt x="677107" y="262745"/>
                    <a:pt x="677107" y="285094"/>
                    <a:pt x="664985" y="301435"/>
                  </a:cubicBezTo>
                  <a:close/>
                </a:path>
              </a:pathLst>
            </a:custGeom>
            <a:solidFill>
              <a:srgbClr val="243B55">
                <a:alpha val="4706"/>
              </a:srgbClr>
            </a:solidFill>
          </p:spPr>
        </p:sp>
        <p:sp>
          <p:nvSpPr>
            <p:cNvPr id="15" name="TextBox 15"/>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132205" y="3325860"/>
            <a:ext cx="2311589" cy="1817640"/>
            <a:chOff x="0" y="0"/>
            <a:chExt cx="696717" cy="547840"/>
          </a:xfrm>
        </p:grpSpPr>
        <p:sp>
          <p:nvSpPr>
            <p:cNvPr id="17" name="Freeform 17"/>
            <p:cNvSpPr/>
            <p:nvPr/>
          </p:nvSpPr>
          <p:spPr>
            <a:xfrm>
              <a:off x="9960" y="0"/>
              <a:ext cx="676798" cy="547840"/>
            </a:xfrm>
            <a:custGeom>
              <a:avLst/>
              <a:gdLst/>
              <a:ahLst/>
              <a:cxnLst/>
              <a:rect l="l" t="t" r="r" b="b"/>
              <a:pathLst>
                <a:path w="676798" h="547840">
                  <a:moveTo>
                    <a:pt x="668798" y="298129"/>
                  </a:moveTo>
                  <a:lnTo>
                    <a:pt x="501515" y="523631"/>
                  </a:lnTo>
                  <a:cubicBezTo>
                    <a:pt x="490218" y="538860"/>
                    <a:pt x="472376" y="547840"/>
                    <a:pt x="453414" y="547840"/>
                  </a:cubicBezTo>
                  <a:lnTo>
                    <a:pt x="223383" y="547840"/>
                  </a:lnTo>
                  <a:cubicBezTo>
                    <a:pt x="204421" y="547840"/>
                    <a:pt x="186579" y="538860"/>
                    <a:pt x="175281" y="523631"/>
                  </a:cubicBezTo>
                  <a:lnTo>
                    <a:pt x="7999" y="298129"/>
                  </a:lnTo>
                  <a:cubicBezTo>
                    <a:pt x="-2667" y="283751"/>
                    <a:pt x="-2667" y="264088"/>
                    <a:pt x="7999" y="249711"/>
                  </a:cubicBezTo>
                  <a:lnTo>
                    <a:pt x="175281" y="24209"/>
                  </a:lnTo>
                  <a:cubicBezTo>
                    <a:pt x="186579" y="8980"/>
                    <a:pt x="204421" y="0"/>
                    <a:pt x="223383" y="0"/>
                  </a:cubicBezTo>
                  <a:lnTo>
                    <a:pt x="453414" y="0"/>
                  </a:lnTo>
                  <a:cubicBezTo>
                    <a:pt x="472376" y="0"/>
                    <a:pt x="490218" y="8980"/>
                    <a:pt x="501515" y="24209"/>
                  </a:cubicBezTo>
                  <a:lnTo>
                    <a:pt x="668798" y="249711"/>
                  </a:lnTo>
                  <a:cubicBezTo>
                    <a:pt x="679463" y="264088"/>
                    <a:pt x="679463" y="283751"/>
                    <a:pt x="668798" y="298129"/>
                  </a:cubicBezTo>
                  <a:close/>
                </a:path>
              </a:pathLst>
            </a:custGeom>
            <a:solidFill>
              <a:srgbClr val="243B55">
                <a:alpha val="4706"/>
              </a:srgbClr>
            </a:solidFill>
          </p:spPr>
        </p:sp>
        <p:sp>
          <p:nvSpPr>
            <p:cNvPr id="18" name="TextBox 18"/>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339304" y="9992895"/>
            <a:ext cx="961113" cy="651154"/>
          </a:xfrm>
          <a:custGeom>
            <a:avLst/>
            <a:gdLst/>
            <a:ahLst/>
            <a:cxnLst/>
            <a:rect l="l" t="t" r="r" b="b"/>
            <a:pathLst>
              <a:path w="961113" h="651154">
                <a:moveTo>
                  <a:pt x="0" y="0"/>
                </a:moveTo>
                <a:lnTo>
                  <a:pt x="961113" y="0"/>
                </a:lnTo>
                <a:lnTo>
                  <a:pt x="961113" y="651155"/>
                </a:lnTo>
                <a:lnTo>
                  <a:pt x="0" y="6511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10800000">
            <a:off x="-308460" y="-758506"/>
            <a:ext cx="2164275" cy="1111896"/>
          </a:xfrm>
          <a:custGeom>
            <a:avLst/>
            <a:gdLst/>
            <a:ahLst/>
            <a:cxnLst/>
            <a:rect l="l" t="t" r="r" b="b"/>
            <a:pathLst>
              <a:path w="2164275" h="1111896">
                <a:moveTo>
                  <a:pt x="0" y="0"/>
                </a:moveTo>
                <a:lnTo>
                  <a:pt x="2164275" y="0"/>
                </a:lnTo>
                <a:lnTo>
                  <a:pt x="2164275" y="1111897"/>
                </a:lnTo>
                <a:lnTo>
                  <a:pt x="0" y="1111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14043734" y="-92534"/>
            <a:ext cx="5809337" cy="537986"/>
          </a:xfrm>
          <a:custGeom>
            <a:avLst/>
            <a:gdLst/>
            <a:ahLst/>
            <a:cxnLst/>
            <a:rect l="l" t="t" r="r" b="b"/>
            <a:pathLst>
              <a:path w="5809337" h="537986">
                <a:moveTo>
                  <a:pt x="0" y="0"/>
                </a:moveTo>
                <a:lnTo>
                  <a:pt x="5809337" y="0"/>
                </a:lnTo>
                <a:lnTo>
                  <a:pt x="5809337" y="537986"/>
                </a:lnTo>
                <a:lnTo>
                  <a:pt x="0" y="537986"/>
                </a:lnTo>
                <a:lnTo>
                  <a:pt x="0" y="0"/>
                </a:lnTo>
                <a:close/>
              </a:path>
            </a:pathLst>
          </a:custGeom>
          <a:blipFill>
            <a:blip r:embed="rId7">
              <a:extLst>
                <a:ext uri="{96DAC541-7B7A-43D3-8B79-37D633B846F1}">
                  <asvg:svgBlip xmlns:asvg="http://schemas.microsoft.com/office/drawing/2016/SVG/main" r:embed="rId8"/>
                </a:ext>
              </a:extLst>
            </a:blip>
            <a:stretch>
              <a:fillRect t="-434569" b="-361689"/>
            </a:stretch>
          </a:blipFill>
        </p:spPr>
      </p:sp>
      <p:grpSp>
        <p:nvGrpSpPr>
          <p:cNvPr id="22" name="Group 22"/>
          <p:cNvGrpSpPr/>
          <p:nvPr/>
        </p:nvGrpSpPr>
        <p:grpSpPr>
          <a:xfrm>
            <a:off x="1436119" y="3112540"/>
            <a:ext cx="8689187" cy="3068320"/>
            <a:chOff x="0" y="0"/>
            <a:chExt cx="11585583" cy="4091093"/>
          </a:xfrm>
        </p:grpSpPr>
        <p:sp>
          <p:nvSpPr>
            <p:cNvPr id="23" name="TextBox 23"/>
            <p:cNvSpPr txBox="1"/>
            <p:nvPr/>
          </p:nvSpPr>
          <p:spPr>
            <a:xfrm>
              <a:off x="0" y="-57150"/>
              <a:ext cx="11585583" cy="41482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Client Type</a:t>
              </a:r>
              <a:r>
                <a:rPr lang="en-US" sz="2200">
                  <a:solidFill>
                    <a:srgbClr val="1D1A1B"/>
                  </a:solidFill>
                  <a:latin typeface="Public Sans"/>
                  <a:ea typeface="Public Sans"/>
                  <a:cs typeface="Public Sans"/>
                  <a:sym typeface="Public Sans"/>
                </a:rPr>
                <a:t>: Freight Forwarder</a:t>
              </a:r>
            </a:p>
            <a:p>
              <a:pPr algn="just">
                <a:lnSpc>
                  <a:spcPts val="3080"/>
                </a:lnSpc>
              </a:pPr>
              <a:r>
                <a:rPr lang="en-US" sz="2200" b="1">
                  <a:solidFill>
                    <a:srgbClr val="1D1A1B"/>
                  </a:solidFill>
                  <a:latin typeface="Public Sans Bold"/>
                  <a:ea typeface="Public Sans Bold"/>
                  <a:cs typeface="Public Sans Bold"/>
                  <a:sym typeface="Public Sans Bold"/>
                </a:rPr>
                <a:t>Region: </a:t>
              </a:r>
              <a:r>
                <a:rPr lang="en-US" sz="2200">
                  <a:solidFill>
                    <a:srgbClr val="1D1A1B"/>
                  </a:solidFill>
                  <a:latin typeface="Public Sans"/>
                  <a:ea typeface="Public Sans"/>
                  <a:cs typeface="Public Sans"/>
                  <a:sym typeface="Public Sans"/>
                </a:rPr>
                <a:t>Netherland </a:t>
              </a:r>
            </a:p>
            <a:p>
              <a:pPr algn="just">
                <a:lnSpc>
                  <a:spcPts val="3080"/>
                </a:lnSpc>
              </a:pPr>
              <a:r>
                <a:rPr lang="en-US" sz="2200" b="1">
                  <a:solidFill>
                    <a:srgbClr val="1D1A1B"/>
                  </a:solidFill>
                  <a:latin typeface="Public Sans Bold"/>
                  <a:ea typeface="Public Sans Bold"/>
                  <a:cs typeface="Public Sans Bold"/>
                  <a:sym typeface="Public Sans Bold"/>
                </a:rPr>
                <a:t>Requirement</a:t>
              </a:r>
              <a:r>
                <a:rPr lang="en-US" sz="2200">
                  <a:solidFill>
                    <a:srgbClr val="1D1A1B"/>
                  </a:solidFill>
                  <a:latin typeface="Public Sans"/>
                  <a:ea typeface="Public Sans"/>
                  <a:cs typeface="Public Sans"/>
                  <a:sym typeface="Public Sans"/>
                </a:rPr>
                <a:t>: Unified shipment and financial visibility across two platforms.</a:t>
              </a:r>
            </a:p>
            <a:p>
              <a:pPr algn="just">
                <a:lnSpc>
                  <a:spcPts val="3080"/>
                </a:lnSpc>
              </a:pPr>
              <a:r>
                <a:rPr lang="en-US" sz="2200" b="1">
                  <a:solidFill>
                    <a:srgbClr val="1D1A1B"/>
                  </a:solidFill>
                  <a:latin typeface="Public Sans Bold"/>
                  <a:ea typeface="Public Sans Bold"/>
                  <a:cs typeface="Public Sans Bold"/>
                  <a:sym typeface="Public Sans Bold"/>
                </a:rPr>
                <a:t>Solution Delivered:</a:t>
              </a:r>
            </a:p>
            <a:p>
              <a:pPr algn="just">
                <a:lnSpc>
                  <a:spcPts val="3080"/>
                </a:lnSpc>
              </a:pPr>
              <a:r>
                <a:rPr lang="en-US" sz="2200">
                  <a:solidFill>
                    <a:srgbClr val="1D1A1B"/>
                  </a:solidFill>
                  <a:latin typeface="Public Sans"/>
                  <a:ea typeface="Public Sans"/>
                  <a:cs typeface="Public Sans"/>
                  <a:sym typeface="Public Sans"/>
                </a:rPr>
                <a:t>          Bi-directional API integration between CW1 and Uniforce</a:t>
              </a:r>
            </a:p>
            <a:p>
              <a:pPr algn="just">
                <a:lnSpc>
                  <a:spcPts val="3080"/>
                </a:lnSpc>
              </a:pPr>
              <a:r>
                <a:rPr lang="en-US" sz="2200">
                  <a:solidFill>
                    <a:srgbClr val="1D1A1B"/>
                  </a:solidFill>
                  <a:latin typeface="Public Sans"/>
                  <a:ea typeface="Public Sans"/>
                  <a:cs typeface="Public Sans"/>
                  <a:sym typeface="Public Sans"/>
                </a:rPr>
                <a:t>          Automated shipment, event, and charge synchronization</a:t>
              </a:r>
            </a:p>
            <a:p>
              <a:pPr algn="just">
                <a:lnSpc>
                  <a:spcPts val="3080"/>
                </a:lnSpc>
              </a:pPr>
              <a:r>
                <a:rPr lang="en-US" sz="2200">
                  <a:solidFill>
                    <a:srgbClr val="1D1A1B"/>
                  </a:solidFill>
                  <a:latin typeface="Public Sans"/>
                  <a:ea typeface="Public Sans"/>
                  <a:cs typeface="Public Sans"/>
                  <a:sym typeface="Public Sans"/>
                </a:rPr>
                <a:t>          Complete UAT, documentation and post go live support</a:t>
              </a:r>
            </a:p>
          </p:txBody>
        </p:sp>
        <p:sp>
          <p:nvSpPr>
            <p:cNvPr id="24" name="Freeform 24"/>
            <p:cNvSpPr/>
            <p:nvPr/>
          </p:nvSpPr>
          <p:spPr>
            <a:xfrm>
              <a:off x="188013" y="2697278"/>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5"/>
            <p:cNvSpPr/>
            <p:nvPr/>
          </p:nvSpPr>
          <p:spPr>
            <a:xfrm>
              <a:off x="188013" y="3190267"/>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6"/>
            <p:cNvSpPr/>
            <p:nvPr/>
          </p:nvSpPr>
          <p:spPr>
            <a:xfrm>
              <a:off x="188013" y="3742245"/>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7" name="Group 27"/>
          <p:cNvGrpSpPr/>
          <p:nvPr/>
        </p:nvGrpSpPr>
        <p:grpSpPr>
          <a:xfrm>
            <a:off x="2193212" y="7495070"/>
            <a:ext cx="7627956" cy="1611027"/>
            <a:chOff x="0" y="0"/>
            <a:chExt cx="10170608" cy="2148036"/>
          </a:xfrm>
        </p:grpSpPr>
        <p:grpSp>
          <p:nvGrpSpPr>
            <p:cNvPr id="28" name="Group 28"/>
            <p:cNvGrpSpPr/>
            <p:nvPr/>
          </p:nvGrpSpPr>
          <p:grpSpPr>
            <a:xfrm>
              <a:off x="0" y="0"/>
              <a:ext cx="10170608" cy="2148036"/>
              <a:chOff x="0" y="0"/>
              <a:chExt cx="1569538" cy="331487"/>
            </a:xfrm>
          </p:grpSpPr>
          <p:sp>
            <p:nvSpPr>
              <p:cNvPr id="29" name="Freeform 29"/>
              <p:cNvSpPr/>
              <p:nvPr/>
            </p:nvSpPr>
            <p:spPr>
              <a:xfrm>
                <a:off x="0" y="0"/>
                <a:ext cx="1569538" cy="331487"/>
              </a:xfrm>
              <a:custGeom>
                <a:avLst/>
                <a:gdLst/>
                <a:ahLst/>
                <a:cxnLst/>
                <a:rect l="l" t="t" r="r" b="b"/>
                <a:pathLst>
                  <a:path w="1569538" h="331487">
                    <a:moveTo>
                      <a:pt x="19823" y="0"/>
                    </a:moveTo>
                    <a:lnTo>
                      <a:pt x="1549715" y="0"/>
                    </a:lnTo>
                    <a:cubicBezTo>
                      <a:pt x="1560663" y="0"/>
                      <a:pt x="1569538" y="8875"/>
                      <a:pt x="1569538" y="19823"/>
                    </a:cubicBezTo>
                    <a:lnTo>
                      <a:pt x="1569538" y="311664"/>
                    </a:lnTo>
                    <a:cubicBezTo>
                      <a:pt x="1569538" y="322612"/>
                      <a:pt x="1560663" y="331487"/>
                      <a:pt x="1549715" y="331487"/>
                    </a:cubicBezTo>
                    <a:lnTo>
                      <a:pt x="19823" y="331487"/>
                    </a:lnTo>
                    <a:cubicBezTo>
                      <a:pt x="14566" y="331487"/>
                      <a:pt x="9524" y="329399"/>
                      <a:pt x="5806" y="325681"/>
                    </a:cubicBezTo>
                    <a:cubicBezTo>
                      <a:pt x="2088" y="321964"/>
                      <a:pt x="0" y="316921"/>
                      <a:pt x="0" y="311664"/>
                    </a:cubicBezTo>
                    <a:lnTo>
                      <a:pt x="0" y="19823"/>
                    </a:lnTo>
                    <a:cubicBezTo>
                      <a:pt x="0" y="8875"/>
                      <a:pt x="8875" y="0"/>
                      <a:pt x="19823" y="0"/>
                    </a:cubicBezTo>
                    <a:close/>
                  </a:path>
                </a:pathLst>
              </a:custGeom>
              <a:solidFill>
                <a:srgbClr val="CDE0DB"/>
              </a:solidFill>
            </p:spPr>
          </p:sp>
          <p:sp>
            <p:nvSpPr>
              <p:cNvPr id="30" name="TextBox 30"/>
              <p:cNvSpPr txBox="1"/>
              <p:nvPr/>
            </p:nvSpPr>
            <p:spPr>
              <a:xfrm>
                <a:off x="0" y="-47625"/>
                <a:ext cx="1569538" cy="379112"/>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08890" y="227506"/>
              <a:ext cx="9637624" cy="15447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Outcome:</a:t>
              </a:r>
            </a:p>
            <a:p>
              <a:pPr algn="just">
                <a:lnSpc>
                  <a:spcPts val="3080"/>
                </a:lnSpc>
              </a:pPr>
              <a:r>
                <a:rPr lang="en-US" sz="2200">
                  <a:solidFill>
                    <a:srgbClr val="1D1A1B"/>
                  </a:solidFill>
                  <a:latin typeface="Public Sans"/>
                  <a:ea typeface="Public Sans"/>
                  <a:cs typeface="Public Sans"/>
                  <a:sym typeface="Public Sans"/>
                </a:rPr>
                <a:t>Centralized visibility across both systems Accurate, Removed double entry and reduced operational delays</a:t>
              </a:r>
            </a:p>
          </p:txBody>
        </p:sp>
      </p:grpSp>
      <p:grpSp>
        <p:nvGrpSpPr>
          <p:cNvPr id="32" name="Group 32"/>
          <p:cNvGrpSpPr/>
          <p:nvPr/>
        </p:nvGrpSpPr>
        <p:grpSpPr>
          <a:xfrm>
            <a:off x="10612628" y="2522736"/>
            <a:ext cx="7489600" cy="7316248"/>
            <a:chOff x="0" y="0"/>
            <a:chExt cx="4828540" cy="4716780"/>
          </a:xfrm>
        </p:grpSpPr>
        <p:sp>
          <p:nvSpPr>
            <p:cNvPr id="33" name="Freeform 33"/>
            <p:cNvSpPr/>
            <p:nvPr/>
          </p:nvSpPr>
          <p:spPr>
            <a:xfrm>
              <a:off x="1103" y="1273"/>
              <a:ext cx="4830645" cy="4716345"/>
            </a:xfrm>
            <a:custGeom>
              <a:avLst/>
              <a:gdLst/>
              <a:ahLst/>
              <a:cxnLst/>
              <a:rect l="l" t="t" r="r" b="b"/>
              <a:pathLst>
                <a:path w="4830645" h="4716345">
                  <a:moveTo>
                    <a:pt x="3415197" y="4653277"/>
                  </a:moveTo>
                  <a:cubicBezTo>
                    <a:pt x="3387257" y="4660897"/>
                    <a:pt x="3365667" y="4671057"/>
                    <a:pt x="3344077" y="4673597"/>
                  </a:cubicBezTo>
                  <a:cubicBezTo>
                    <a:pt x="3222157" y="4683757"/>
                    <a:pt x="3101507" y="4693917"/>
                    <a:pt x="2979587" y="4702807"/>
                  </a:cubicBezTo>
                  <a:cubicBezTo>
                    <a:pt x="2917357" y="4706617"/>
                    <a:pt x="2855127" y="4710427"/>
                    <a:pt x="2792897" y="4711697"/>
                  </a:cubicBezTo>
                  <a:cubicBezTo>
                    <a:pt x="2725587" y="4714237"/>
                    <a:pt x="2658277" y="4718047"/>
                    <a:pt x="2592237" y="4715507"/>
                  </a:cubicBezTo>
                  <a:cubicBezTo>
                    <a:pt x="2528737" y="4714237"/>
                    <a:pt x="2465237" y="4710427"/>
                    <a:pt x="2404277" y="4698997"/>
                  </a:cubicBezTo>
                  <a:cubicBezTo>
                    <a:pt x="2325537" y="4685027"/>
                    <a:pt x="2245527" y="4685027"/>
                    <a:pt x="2168057" y="4672327"/>
                  </a:cubicBezTo>
                  <a:cubicBezTo>
                    <a:pt x="1966127" y="4639307"/>
                    <a:pt x="1760387" y="4648197"/>
                    <a:pt x="1557187" y="4634227"/>
                  </a:cubicBezTo>
                  <a:cubicBezTo>
                    <a:pt x="1442887" y="4626607"/>
                    <a:pt x="1328587" y="4608827"/>
                    <a:pt x="1214287" y="4593587"/>
                  </a:cubicBezTo>
                  <a:cubicBezTo>
                    <a:pt x="1084747" y="4577077"/>
                    <a:pt x="955207" y="4558027"/>
                    <a:pt x="824397" y="4540247"/>
                  </a:cubicBezTo>
                  <a:cubicBezTo>
                    <a:pt x="729147" y="4527547"/>
                    <a:pt x="632627" y="4514847"/>
                    <a:pt x="537377" y="4502147"/>
                  </a:cubicBezTo>
                  <a:cubicBezTo>
                    <a:pt x="534837" y="4502147"/>
                    <a:pt x="532297" y="4500877"/>
                    <a:pt x="529757" y="4500877"/>
                  </a:cubicBezTo>
                  <a:cubicBezTo>
                    <a:pt x="449747" y="4466587"/>
                    <a:pt x="364657" y="4439917"/>
                    <a:pt x="290997" y="4395467"/>
                  </a:cubicBezTo>
                  <a:cubicBezTo>
                    <a:pt x="166537" y="4319267"/>
                    <a:pt x="113197" y="4197347"/>
                    <a:pt x="108117" y="4053837"/>
                  </a:cubicBezTo>
                  <a:cubicBezTo>
                    <a:pt x="106847" y="4004307"/>
                    <a:pt x="100497" y="3956047"/>
                    <a:pt x="100497" y="3906517"/>
                  </a:cubicBezTo>
                  <a:cubicBezTo>
                    <a:pt x="101767" y="3837937"/>
                    <a:pt x="106847" y="3770627"/>
                    <a:pt x="110657" y="3703317"/>
                  </a:cubicBezTo>
                  <a:cubicBezTo>
                    <a:pt x="120817" y="3502657"/>
                    <a:pt x="125897" y="3301997"/>
                    <a:pt x="110657" y="3101337"/>
                  </a:cubicBezTo>
                  <a:cubicBezTo>
                    <a:pt x="96687" y="2920997"/>
                    <a:pt x="83987" y="2741927"/>
                    <a:pt x="70017" y="2561587"/>
                  </a:cubicBezTo>
                  <a:cubicBezTo>
                    <a:pt x="61127" y="2446017"/>
                    <a:pt x="49697" y="2331717"/>
                    <a:pt x="42077" y="2216147"/>
                  </a:cubicBezTo>
                  <a:cubicBezTo>
                    <a:pt x="36997" y="2139947"/>
                    <a:pt x="38267" y="2062477"/>
                    <a:pt x="33187" y="1986277"/>
                  </a:cubicBezTo>
                  <a:cubicBezTo>
                    <a:pt x="30647" y="1943097"/>
                    <a:pt x="16677" y="1901187"/>
                    <a:pt x="15407" y="1858007"/>
                  </a:cubicBezTo>
                  <a:cubicBezTo>
                    <a:pt x="10327" y="1753867"/>
                    <a:pt x="9057" y="1648457"/>
                    <a:pt x="6517" y="1543047"/>
                  </a:cubicBezTo>
                  <a:cubicBezTo>
                    <a:pt x="5247" y="1502407"/>
                    <a:pt x="-1103" y="1461767"/>
                    <a:pt x="167" y="1421127"/>
                  </a:cubicBezTo>
                  <a:cubicBezTo>
                    <a:pt x="1437" y="1357627"/>
                    <a:pt x="9057" y="1294127"/>
                    <a:pt x="10327" y="1230627"/>
                  </a:cubicBezTo>
                  <a:cubicBezTo>
                    <a:pt x="11597" y="1156967"/>
                    <a:pt x="3977" y="1083307"/>
                    <a:pt x="6517" y="1010917"/>
                  </a:cubicBezTo>
                  <a:cubicBezTo>
                    <a:pt x="6517" y="941067"/>
                    <a:pt x="15407" y="872487"/>
                    <a:pt x="24297" y="802637"/>
                  </a:cubicBezTo>
                  <a:cubicBezTo>
                    <a:pt x="26837" y="778507"/>
                    <a:pt x="44617" y="756917"/>
                    <a:pt x="49697" y="732787"/>
                  </a:cubicBezTo>
                  <a:cubicBezTo>
                    <a:pt x="71287" y="613407"/>
                    <a:pt x="94147" y="494027"/>
                    <a:pt x="150027" y="383537"/>
                  </a:cubicBezTo>
                  <a:cubicBezTo>
                    <a:pt x="162727" y="359407"/>
                    <a:pt x="183047" y="337817"/>
                    <a:pt x="202097" y="318767"/>
                  </a:cubicBezTo>
                  <a:cubicBezTo>
                    <a:pt x="208447" y="312417"/>
                    <a:pt x="223687" y="316227"/>
                    <a:pt x="227497" y="316227"/>
                  </a:cubicBezTo>
                  <a:cubicBezTo>
                    <a:pt x="236387" y="299717"/>
                    <a:pt x="241467" y="283207"/>
                    <a:pt x="251627" y="275587"/>
                  </a:cubicBezTo>
                  <a:cubicBezTo>
                    <a:pt x="306237" y="233677"/>
                    <a:pt x="363387" y="203197"/>
                    <a:pt x="434507" y="195577"/>
                  </a:cubicBezTo>
                  <a:cubicBezTo>
                    <a:pt x="487847" y="189227"/>
                    <a:pt x="539917" y="166367"/>
                    <a:pt x="593257" y="153667"/>
                  </a:cubicBezTo>
                  <a:cubicBezTo>
                    <a:pt x="658027" y="138427"/>
                    <a:pt x="722797" y="120647"/>
                    <a:pt x="790107" y="111757"/>
                  </a:cubicBezTo>
                  <a:cubicBezTo>
                    <a:pt x="851067" y="104137"/>
                    <a:pt x="909487" y="87627"/>
                    <a:pt x="971717" y="82547"/>
                  </a:cubicBezTo>
                  <a:cubicBezTo>
                    <a:pt x="1035217" y="77467"/>
                    <a:pt x="1098717" y="62227"/>
                    <a:pt x="1163487" y="57147"/>
                  </a:cubicBezTo>
                  <a:cubicBezTo>
                    <a:pt x="1338747" y="44447"/>
                    <a:pt x="1515277" y="35557"/>
                    <a:pt x="1690537" y="25397"/>
                  </a:cubicBezTo>
                  <a:cubicBezTo>
                    <a:pt x="1733717" y="22857"/>
                    <a:pt x="1776897" y="25397"/>
                    <a:pt x="1820077" y="26667"/>
                  </a:cubicBezTo>
                  <a:cubicBezTo>
                    <a:pt x="1841667" y="27937"/>
                    <a:pt x="1863257" y="33017"/>
                    <a:pt x="1886117" y="35557"/>
                  </a:cubicBezTo>
                  <a:cubicBezTo>
                    <a:pt x="1896277" y="36827"/>
                    <a:pt x="1906437" y="33017"/>
                    <a:pt x="1916597" y="33017"/>
                  </a:cubicBezTo>
                  <a:cubicBezTo>
                    <a:pt x="1947077" y="33017"/>
                    <a:pt x="1978827" y="33017"/>
                    <a:pt x="2009307" y="31747"/>
                  </a:cubicBezTo>
                  <a:cubicBezTo>
                    <a:pt x="2067727" y="29207"/>
                    <a:pt x="2127417" y="22857"/>
                    <a:pt x="2185837" y="22857"/>
                  </a:cubicBezTo>
                  <a:cubicBezTo>
                    <a:pt x="2242987" y="22857"/>
                    <a:pt x="2300137" y="26667"/>
                    <a:pt x="2357287" y="29207"/>
                  </a:cubicBezTo>
                  <a:lnTo>
                    <a:pt x="2403007" y="29207"/>
                  </a:lnTo>
                  <a:cubicBezTo>
                    <a:pt x="2472857" y="26667"/>
                    <a:pt x="2541437" y="26667"/>
                    <a:pt x="2611287" y="22857"/>
                  </a:cubicBezTo>
                  <a:cubicBezTo>
                    <a:pt x="2678597" y="19047"/>
                    <a:pt x="2744637" y="10157"/>
                    <a:pt x="2811947" y="6347"/>
                  </a:cubicBezTo>
                  <a:cubicBezTo>
                    <a:pt x="2843697" y="3807"/>
                    <a:pt x="2876717" y="3807"/>
                    <a:pt x="2908467" y="10157"/>
                  </a:cubicBezTo>
                  <a:cubicBezTo>
                    <a:pt x="2956727" y="19047"/>
                    <a:pt x="3002447" y="24127"/>
                    <a:pt x="3050707" y="10157"/>
                  </a:cubicBezTo>
                  <a:cubicBezTo>
                    <a:pt x="3068487" y="5077"/>
                    <a:pt x="3091347" y="13967"/>
                    <a:pt x="3111667" y="16507"/>
                  </a:cubicBezTo>
                  <a:cubicBezTo>
                    <a:pt x="3120557" y="17777"/>
                    <a:pt x="3130717" y="20317"/>
                    <a:pt x="3135797" y="16507"/>
                  </a:cubicBezTo>
                  <a:cubicBezTo>
                    <a:pt x="3170087" y="-8893"/>
                    <a:pt x="3201837" y="-2543"/>
                    <a:pt x="3234857" y="19047"/>
                  </a:cubicBezTo>
                  <a:cubicBezTo>
                    <a:pt x="3238667" y="21587"/>
                    <a:pt x="3248827" y="15237"/>
                    <a:pt x="3256447" y="15237"/>
                  </a:cubicBezTo>
                  <a:cubicBezTo>
                    <a:pt x="3286927" y="15237"/>
                    <a:pt x="3317407" y="15237"/>
                    <a:pt x="3349157" y="16507"/>
                  </a:cubicBezTo>
                  <a:cubicBezTo>
                    <a:pt x="3372017" y="17777"/>
                    <a:pt x="3393607" y="25397"/>
                    <a:pt x="3416467" y="27937"/>
                  </a:cubicBezTo>
                  <a:cubicBezTo>
                    <a:pt x="3465997" y="34287"/>
                    <a:pt x="3516797" y="44447"/>
                    <a:pt x="3567597" y="44447"/>
                  </a:cubicBezTo>
                  <a:cubicBezTo>
                    <a:pt x="3662847" y="45717"/>
                    <a:pt x="3758097" y="49527"/>
                    <a:pt x="3852077" y="69847"/>
                  </a:cubicBezTo>
                  <a:cubicBezTo>
                    <a:pt x="3939707" y="88897"/>
                    <a:pt x="4029877" y="88897"/>
                    <a:pt x="4118777" y="104137"/>
                  </a:cubicBezTo>
                  <a:cubicBezTo>
                    <a:pt x="4172117" y="113027"/>
                    <a:pt x="4226727" y="129537"/>
                    <a:pt x="4272447" y="156207"/>
                  </a:cubicBezTo>
                  <a:cubicBezTo>
                    <a:pt x="4321977" y="184147"/>
                    <a:pt x="4360077" y="229867"/>
                    <a:pt x="4404527" y="267967"/>
                  </a:cubicBezTo>
                  <a:cubicBezTo>
                    <a:pt x="4421037" y="281937"/>
                    <a:pt x="4445167" y="292097"/>
                    <a:pt x="4456597" y="309877"/>
                  </a:cubicBezTo>
                  <a:cubicBezTo>
                    <a:pt x="4489617" y="358137"/>
                    <a:pt x="4518827" y="408937"/>
                    <a:pt x="4548037" y="459737"/>
                  </a:cubicBezTo>
                  <a:cubicBezTo>
                    <a:pt x="4569627" y="496567"/>
                    <a:pt x="4591217" y="534667"/>
                    <a:pt x="4607727" y="572767"/>
                  </a:cubicBezTo>
                  <a:cubicBezTo>
                    <a:pt x="4625507" y="617217"/>
                    <a:pt x="4639477" y="662937"/>
                    <a:pt x="4653447" y="709927"/>
                  </a:cubicBezTo>
                  <a:cubicBezTo>
                    <a:pt x="4675037" y="783587"/>
                    <a:pt x="4700437" y="857247"/>
                    <a:pt x="4714407" y="933447"/>
                  </a:cubicBezTo>
                  <a:cubicBezTo>
                    <a:pt x="4734727" y="1040127"/>
                    <a:pt x="4744887" y="1149347"/>
                    <a:pt x="4760127" y="1257297"/>
                  </a:cubicBezTo>
                  <a:cubicBezTo>
                    <a:pt x="4765207" y="1292857"/>
                    <a:pt x="4771557" y="1328417"/>
                    <a:pt x="4774097" y="1363977"/>
                  </a:cubicBezTo>
                  <a:cubicBezTo>
                    <a:pt x="4781717" y="1465577"/>
                    <a:pt x="4786797" y="1565907"/>
                    <a:pt x="4793147" y="1667507"/>
                  </a:cubicBezTo>
                  <a:cubicBezTo>
                    <a:pt x="4802037" y="1793237"/>
                    <a:pt x="4814737" y="1917697"/>
                    <a:pt x="4821087" y="2043427"/>
                  </a:cubicBezTo>
                  <a:cubicBezTo>
                    <a:pt x="4827437" y="2164077"/>
                    <a:pt x="4832517" y="2285997"/>
                    <a:pt x="4829977" y="2407917"/>
                  </a:cubicBezTo>
                  <a:cubicBezTo>
                    <a:pt x="4826167" y="2611117"/>
                    <a:pt x="4816007" y="2813047"/>
                    <a:pt x="4805847" y="3016247"/>
                  </a:cubicBezTo>
                  <a:cubicBezTo>
                    <a:pt x="4799497" y="3141977"/>
                    <a:pt x="4790607" y="3266437"/>
                    <a:pt x="4777907" y="3390897"/>
                  </a:cubicBezTo>
                  <a:cubicBezTo>
                    <a:pt x="4765207" y="3515357"/>
                    <a:pt x="4746157" y="3638547"/>
                    <a:pt x="4732187" y="3763007"/>
                  </a:cubicBezTo>
                  <a:cubicBezTo>
                    <a:pt x="4722027" y="3849367"/>
                    <a:pt x="4719487" y="3935727"/>
                    <a:pt x="4708057" y="4020817"/>
                  </a:cubicBezTo>
                  <a:cubicBezTo>
                    <a:pt x="4697897" y="4098287"/>
                    <a:pt x="4659797" y="4166867"/>
                    <a:pt x="4608997" y="4224017"/>
                  </a:cubicBezTo>
                  <a:cubicBezTo>
                    <a:pt x="4567087" y="4272277"/>
                    <a:pt x="4534067" y="4326887"/>
                    <a:pt x="4490887" y="4373877"/>
                  </a:cubicBezTo>
                  <a:cubicBezTo>
                    <a:pt x="4452787" y="4415787"/>
                    <a:pt x="4410877" y="4457697"/>
                    <a:pt x="4344837" y="4458967"/>
                  </a:cubicBezTo>
                  <a:cubicBezTo>
                    <a:pt x="4329597" y="4458967"/>
                    <a:pt x="4315627" y="4474207"/>
                    <a:pt x="4300387" y="4481827"/>
                  </a:cubicBezTo>
                  <a:cubicBezTo>
                    <a:pt x="4235617" y="4509767"/>
                    <a:pt x="4168307" y="4533897"/>
                    <a:pt x="4104807" y="4564377"/>
                  </a:cubicBezTo>
                  <a:cubicBezTo>
                    <a:pt x="3987967" y="4620257"/>
                    <a:pt x="3862237" y="4629147"/>
                    <a:pt x="3736507" y="4634227"/>
                  </a:cubicBezTo>
                  <a:cubicBezTo>
                    <a:pt x="3688247" y="4636767"/>
                    <a:pt x="3638717" y="4632957"/>
                    <a:pt x="3590457" y="4636767"/>
                  </a:cubicBezTo>
                  <a:cubicBezTo>
                    <a:pt x="3566327" y="4638037"/>
                    <a:pt x="3543467" y="4649467"/>
                    <a:pt x="3520607" y="4654547"/>
                  </a:cubicBezTo>
                  <a:cubicBezTo>
                    <a:pt x="3510447" y="4657087"/>
                    <a:pt x="3500287" y="4655817"/>
                    <a:pt x="3488857" y="4657087"/>
                  </a:cubicBezTo>
                  <a:cubicBezTo>
                    <a:pt x="3473617" y="4658357"/>
                    <a:pt x="3458377" y="4662167"/>
                    <a:pt x="3443137" y="4660897"/>
                  </a:cubicBezTo>
                  <a:cubicBezTo>
                    <a:pt x="3427897" y="4658357"/>
                    <a:pt x="3417737" y="4653277"/>
                    <a:pt x="3415197" y="4653277"/>
                  </a:cubicBezTo>
                  <a:close/>
                </a:path>
              </a:pathLst>
            </a:custGeom>
            <a:blipFill>
              <a:blip r:embed="rId11"/>
              <a:stretch>
                <a:fillRect l="-23133" r="-23133"/>
              </a:stretch>
            </a:blipFill>
          </p:spPr>
        </p:sp>
      </p:grpSp>
      <p:sp>
        <p:nvSpPr>
          <p:cNvPr id="34" name="TextBox 34"/>
          <p:cNvSpPr txBox="1"/>
          <p:nvPr/>
        </p:nvSpPr>
        <p:spPr>
          <a:xfrm>
            <a:off x="1622625" y="712152"/>
            <a:ext cx="14677549" cy="942975"/>
          </a:xfrm>
          <a:prstGeom prst="rect">
            <a:avLst/>
          </a:prstGeom>
        </p:spPr>
        <p:txBody>
          <a:bodyPr lIns="0" tIns="0" rIns="0" bIns="0" rtlCol="0" anchor="t">
            <a:spAutoFit/>
          </a:bodyPr>
          <a:lstStyle/>
          <a:p>
            <a:pPr marL="0" lvl="0" indent="0" algn="ctr">
              <a:lnSpc>
                <a:spcPts val="7500"/>
              </a:lnSpc>
              <a:spcBef>
                <a:spcPct val="0"/>
              </a:spcBef>
            </a:pPr>
            <a:r>
              <a:rPr lang="en-US" sz="6000" b="1">
                <a:solidFill>
                  <a:srgbClr val="243B55"/>
                </a:solidFill>
                <a:latin typeface="Montserrat Bold"/>
                <a:ea typeface="Montserrat Bold"/>
                <a:cs typeface="Montserrat Bold"/>
                <a:sym typeface="Montserrat Bold"/>
              </a:rPr>
              <a:t>CARGOWISE SUCCESS STORIES (4/5)</a:t>
            </a:r>
          </a:p>
        </p:txBody>
      </p:sp>
      <p:sp>
        <p:nvSpPr>
          <p:cNvPr id="35" name="TextBox 35"/>
          <p:cNvSpPr txBox="1"/>
          <p:nvPr/>
        </p:nvSpPr>
        <p:spPr>
          <a:xfrm>
            <a:off x="1378969" y="2063885"/>
            <a:ext cx="6451101" cy="384175"/>
          </a:xfrm>
          <a:prstGeom prst="rect">
            <a:avLst/>
          </a:prstGeom>
        </p:spPr>
        <p:txBody>
          <a:bodyPr lIns="0" tIns="0" rIns="0" bIns="0" rtlCol="0" anchor="t">
            <a:spAutoFit/>
          </a:bodyPr>
          <a:lstStyle/>
          <a:p>
            <a:pPr marL="0" lvl="0" indent="0" algn="ctr">
              <a:lnSpc>
                <a:spcPts val="3124"/>
              </a:lnSpc>
              <a:spcBef>
                <a:spcPct val="0"/>
              </a:spcBef>
            </a:pPr>
            <a:r>
              <a:rPr lang="en-US" sz="2499" b="1">
                <a:solidFill>
                  <a:srgbClr val="243B55"/>
                </a:solidFill>
                <a:latin typeface="Montserrat Bold"/>
                <a:ea typeface="Montserrat Bold"/>
                <a:cs typeface="Montserrat Bold"/>
                <a:sym typeface="Montserrat Bold"/>
              </a:rPr>
              <a:t>CARGOWISE UNIFORCE INTEGRATION</a:t>
            </a:r>
          </a:p>
        </p:txBody>
      </p:sp>
      <p:sp>
        <p:nvSpPr>
          <p:cNvPr id="36" name="TextBox 36"/>
          <p:cNvSpPr txBox="1"/>
          <p:nvPr/>
        </p:nvSpPr>
        <p:spPr>
          <a:xfrm>
            <a:off x="1436119" y="2514448"/>
            <a:ext cx="5400724" cy="391795"/>
          </a:xfrm>
          <a:prstGeom prst="rect">
            <a:avLst/>
          </a:prstGeom>
        </p:spPr>
        <p:txBody>
          <a:bodyPr lIns="0" tIns="0" rIns="0" bIns="0" rtlCol="0" anchor="t">
            <a:spAutoFit/>
          </a:bodyPr>
          <a:lstStyle/>
          <a:p>
            <a:pPr algn="just">
              <a:lnSpc>
                <a:spcPts val="3080"/>
              </a:lnSpc>
            </a:pPr>
            <a:r>
              <a:rPr lang="en-US" sz="2200">
                <a:solidFill>
                  <a:srgbClr val="1D1A1B"/>
                </a:solidFill>
                <a:latin typeface="Public Sans"/>
                <a:ea typeface="Public Sans"/>
                <a:cs typeface="Public Sans"/>
                <a:sym typeface="Public Sans"/>
              </a:rPr>
              <a:t>Unified shipment and financial visibility</a:t>
            </a:r>
          </a:p>
        </p:txBody>
      </p:sp>
      <p:sp>
        <p:nvSpPr>
          <p:cNvPr id="37" name="TextBox 37"/>
          <p:cNvSpPr txBox="1"/>
          <p:nvPr/>
        </p:nvSpPr>
        <p:spPr>
          <a:xfrm>
            <a:off x="1436119" y="6418230"/>
            <a:ext cx="8871709" cy="782320"/>
          </a:xfrm>
          <a:prstGeom prst="rect">
            <a:avLst/>
          </a:prstGeom>
        </p:spPr>
        <p:txBody>
          <a:bodyPr lIns="0" tIns="0" rIns="0" bIns="0" rtlCol="0" anchor="t">
            <a:spAutoFit/>
          </a:bodyPr>
          <a:lstStyle/>
          <a:p>
            <a:pPr algn="just">
              <a:lnSpc>
                <a:spcPts val="3080"/>
              </a:lnSpc>
            </a:pPr>
            <a:r>
              <a:rPr lang="en-US" sz="2200" b="1" spc="57">
                <a:solidFill>
                  <a:srgbClr val="1D1A1B"/>
                </a:solidFill>
                <a:latin typeface="Public Sans Bold"/>
                <a:ea typeface="Public Sans Bold"/>
                <a:cs typeface="Public Sans Bold"/>
                <a:sym typeface="Public Sans Bold"/>
              </a:rPr>
              <a:t>Tech Stack</a:t>
            </a:r>
            <a:r>
              <a:rPr lang="en-US" sz="2200" spc="57">
                <a:solidFill>
                  <a:srgbClr val="1D1A1B"/>
                </a:solidFill>
                <a:latin typeface="Public Sans"/>
                <a:ea typeface="Public Sans"/>
                <a:cs typeface="Public Sans"/>
                <a:sym typeface="Public Sans"/>
              </a:rPr>
              <a:t>: REST API, JSON, eAdaptor, Middleware, Windows Services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2193212" y="10097105"/>
            <a:ext cx="3316080" cy="537986"/>
            <a:chOff x="0" y="0"/>
            <a:chExt cx="873371" cy="141692"/>
          </a:xfrm>
        </p:grpSpPr>
        <p:sp>
          <p:nvSpPr>
            <p:cNvPr id="4" name="Freeform 4"/>
            <p:cNvSpPr/>
            <p:nvPr/>
          </p:nvSpPr>
          <p:spPr>
            <a:xfrm>
              <a:off x="0" y="0"/>
              <a:ext cx="873371" cy="141692"/>
            </a:xfrm>
            <a:custGeom>
              <a:avLst/>
              <a:gdLst/>
              <a:ahLst/>
              <a:cxnLst/>
              <a:rect l="l" t="t" r="r" b="b"/>
              <a:pathLst>
                <a:path w="873371" h="141692">
                  <a:moveTo>
                    <a:pt x="70846" y="0"/>
                  </a:moveTo>
                  <a:lnTo>
                    <a:pt x="802525" y="0"/>
                  </a:lnTo>
                  <a:cubicBezTo>
                    <a:pt x="841652" y="0"/>
                    <a:pt x="873371" y="31719"/>
                    <a:pt x="873371" y="70846"/>
                  </a:cubicBezTo>
                  <a:lnTo>
                    <a:pt x="873371" y="70846"/>
                  </a:lnTo>
                  <a:cubicBezTo>
                    <a:pt x="873371" y="89635"/>
                    <a:pt x="865907" y="107655"/>
                    <a:pt x="852621" y="120942"/>
                  </a:cubicBezTo>
                  <a:cubicBezTo>
                    <a:pt x="839334" y="134228"/>
                    <a:pt x="821314" y="141692"/>
                    <a:pt x="802525" y="141692"/>
                  </a:cubicBezTo>
                  <a:lnTo>
                    <a:pt x="70846" y="141692"/>
                  </a:lnTo>
                  <a:cubicBezTo>
                    <a:pt x="52056" y="141692"/>
                    <a:pt x="34036" y="134228"/>
                    <a:pt x="20750" y="120942"/>
                  </a:cubicBezTo>
                  <a:cubicBezTo>
                    <a:pt x="7464" y="107655"/>
                    <a:pt x="0" y="89635"/>
                    <a:pt x="0" y="70846"/>
                  </a:cubicBezTo>
                  <a:lnTo>
                    <a:pt x="0" y="70846"/>
                  </a:lnTo>
                  <a:cubicBezTo>
                    <a:pt x="0" y="52056"/>
                    <a:pt x="7464" y="34036"/>
                    <a:pt x="20750" y="20750"/>
                  </a:cubicBezTo>
                  <a:cubicBezTo>
                    <a:pt x="34036" y="7464"/>
                    <a:pt x="52056" y="0"/>
                    <a:pt x="70846" y="0"/>
                  </a:cubicBezTo>
                  <a:close/>
                </a:path>
              </a:pathLst>
            </a:custGeom>
            <a:solidFill>
              <a:srgbClr val="16578D"/>
            </a:solidFill>
          </p:spPr>
        </p:sp>
        <p:sp>
          <p:nvSpPr>
            <p:cNvPr id="5" name="TextBox 5"/>
            <p:cNvSpPr txBox="1"/>
            <p:nvPr/>
          </p:nvSpPr>
          <p:spPr>
            <a:xfrm>
              <a:off x="0" y="-47625"/>
              <a:ext cx="873371" cy="18931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263882" y="8976207"/>
            <a:ext cx="5210521" cy="4477792"/>
            <a:chOff x="0" y="0"/>
            <a:chExt cx="6947361" cy="5970389"/>
          </a:xfrm>
        </p:grpSpPr>
        <p:grpSp>
          <p:nvGrpSpPr>
            <p:cNvPr id="7" name="Group 7"/>
            <p:cNvGrpSpPr/>
            <p:nvPr/>
          </p:nvGrpSpPr>
          <p:grpSpPr>
            <a:xfrm>
              <a:off x="0" y="0"/>
              <a:ext cx="6947361" cy="5970389"/>
              <a:chOff x="0" y="0"/>
              <a:chExt cx="812800" cy="698500"/>
            </a:xfrm>
          </p:grpSpPr>
          <p:sp>
            <p:nvSpPr>
              <p:cNvPr id="8" name="Freeform 8"/>
              <p:cNvSpPr/>
              <p:nvPr/>
            </p:nvSpPr>
            <p:spPr>
              <a:xfrm>
                <a:off x="13627" y="0"/>
                <a:ext cx="785546" cy="698500"/>
              </a:xfrm>
              <a:custGeom>
                <a:avLst/>
                <a:gdLst/>
                <a:ahLst/>
                <a:cxnLst/>
                <a:rect l="l" t="t" r="r" b="b"/>
                <a:pathLst>
                  <a:path w="785546" h="698500">
                    <a:moveTo>
                      <a:pt x="773768" y="392915"/>
                    </a:moveTo>
                    <a:lnTo>
                      <a:pt x="621378" y="654835"/>
                    </a:lnTo>
                    <a:cubicBezTo>
                      <a:pt x="605649" y="681869"/>
                      <a:pt x="576732" y="698500"/>
                      <a:pt x="545455" y="698500"/>
                    </a:cubicBezTo>
                    <a:lnTo>
                      <a:pt x="240091" y="698500"/>
                    </a:lnTo>
                    <a:cubicBezTo>
                      <a:pt x="208814" y="698500"/>
                      <a:pt x="179897" y="681869"/>
                      <a:pt x="164168" y="654835"/>
                    </a:cubicBezTo>
                    <a:lnTo>
                      <a:pt x="11778" y="392915"/>
                    </a:lnTo>
                    <a:cubicBezTo>
                      <a:pt x="-3926" y="365923"/>
                      <a:pt x="-3926" y="332577"/>
                      <a:pt x="11778" y="305585"/>
                    </a:cubicBezTo>
                    <a:lnTo>
                      <a:pt x="164168" y="43665"/>
                    </a:lnTo>
                    <a:cubicBezTo>
                      <a:pt x="179897" y="16631"/>
                      <a:pt x="208814" y="0"/>
                      <a:pt x="240091" y="0"/>
                    </a:cubicBezTo>
                    <a:lnTo>
                      <a:pt x="545455" y="0"/>
                    </a:lnTo>
                    <a:cubicBezTo>
                      <a:pt x="576732" y="0"/>
                      <a:pt x="605649" y="16631"/>
                      <a:pt x="621378" y="43665"/>
                    </a:cubicBezTo>
                    <a:lnTo>
                      <a:pt x="773768" y="305585"/>
                    </a:lnTo>
                    <a:cubicBezTo>
                      <a:pt x="789472" y="332577"/>
                      <a:pt x="789472" y="365923"/>
                      <a:pt x="773768" y="392915"/>
                    </a:cubicBezTo>
                    <a:close/>
                  </a:path>
                </a:pathLst>
              </a:custGeom>
              <a:solidFill>
                <a:srgbClr val="243B55"/>
              </a:solidFill>
              <a:ln cap="rnd">
                <a:noFill/>
                <a:prstDash val="solid"/>
                <a:round/>
              </a:ln>
            </p:spPr>
          </p:sp>
          <p:sp>
            <p:nvSpPr>
              <p:cNvPr id="9" name="TextBox 9"/>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615568" y="737508"/>
              <a:ext cx="4396286" cy="3778058"/>
              <a:chOff x="0" y="0"/>
              <a:chExt cx="812800" cy="698500"/>
            </a:xfrm>
          </p:grpSpPr>
          <p:sp>
            <p:nvSpPr>
              <p:cNvPr id="11" name="Freeform 11"/>
              <p:cNvSpPr/>
              <p:nvPr/>
            </p:nvSpPr>
            <p:spPr>
              <a:xfrm>
                <a:off x="5700" y="0"/>
                <a:ext cx="801400" cy="698500"/>
              </a:xfrm>
              <a:custGeom>
                <a:avLst/>
                <a:gdLst/>
                <a:ahLst/>
                <a:cxnLst/>
                <a:rect l="l" t="t" r="r" b="b"/>
                <a:pathLst>
                  <a:path w="801400" h="698500">
                    <a:moveTo>
                      <a:pt x="796473" y="367516"/>
                    </a:moveTo>
                    <a:lnTo>
                      <a:pt x="614527" y="680234"/>
                    </a:lnTo>
                    <a:cubicBezTo>
                      <a:pt x="607948" y="691543"/>
                      <a:pt x="595851" y="698500"/>
                      <a:pt x="582768" y="698500"/>
                    </a:cubicBezTo>
                    <a:lnTo>
                      <a:pt x="218632" y="698500"/>
                    </a:lnTo>
                    <a:cubicBezTo>
                      <a:pt x="205549" y="698500"/>
                      <a:pt x="193452" y="691543"/>
                      <a:pt x="186873" y="680234"/>
                    </a:cubicBezTo>
                    <a:lnTo>
                      <a:pt x="4927" y="367516"/>
                    </a:lnTo>
                    <a:cubicBezTo>
                      <a:pt x="-1642" y="356225"/>
                      <a:pt x="-1642" y="342275"/>
                      <a:pt x="4927" y="330984"/>
                    </a:cubicBezTo>
                    <a:lnTo>
                      <a:pt x="186873" y="18266"/>
                    </a:lnTo>
                    <a:cubicBezTo>
                      <a:pt x="193452" y="6957"/>
                      <a:pt x="205549" y="0"/>
                      <a:pt x="218632" y="0"/>
                    </a:cubicBezTo>
                    <a:lnTo>
                      <a:pt x="582768" y="0"/>
                    </a:lnTo>
                    <a:cubicBezTo>
                      <a:pt x="595851" y="0"/>
                      <a:pt x="607948" y="6957"/>
                      <a:pt x="614527" y="18266"/>
                    </a:cubicBezTo>
                    <a:lnTo>
                      <a:pt x="796473" y="330984"/>
                    </a:lnTo>
                    <a:cubicBezTo>
                      <a:pt x="803042" y="342275"/>
                      <a:pt x="803042" y="356225"/>
                      <a:pt x="796473" y="367516"/>
                    </a:cubicBezTo>
                    <a:close/>
                  </a:path>
                </a:pathLst>
              </a:custGeom>
              <a:solidFill>
                <a:srgbClr val="000000">
                  <a:alpha val="0"/>
                </a:srgbClr>
              </a:solidFill>
              <a:ln w="28575" cap="sq">
                <a:gradFill>
                  <a:gsLst>
                    <a:gs pos="0">
                      <a:srgbClr val="FFFFFF">
                        <a:alpha val="100000"/>
                      </a:srgbClr>
                    </a:gs>
                    <a:gs pos="100000">
                      <a:srgbClr val="FFFFFF">
                        <a:alpha val="0"/>
                      </a:srgbClr>
                    </a:gs>
                  </a:gsLst>
                  <a:lin ang="5400000"/>
                </a:gradFill>
                <a:prstDash val="solid"/>
                <a:miter/>
              </a:ln>
            </p:spPr>
          </p:sp>
          <p:sp>
            <p:nvSpPr>
              <p:cNvPr id="12" name="TextBox 12"/>
              <p:cNvSpPr txBox="1"/>
              <p:nvPr/>
            </p:nvSpPr>
            <p:spPr>
              <a:xfrm>
                <a:off x="114300" y="-47625"/>
                <a:ext cx="584200" cy="746125"/>
              </a:xfrm>
              <a:prstGeom prst="rect">
                <a:avLst/>
              </a:prstGeom>
            </p:spPr>
            <p:txBody>
              <a:bodyPr lIns="50800" tIns="50800" rIns="50800" bIns="50800" rtlCol="0" anchor="ctr"/>
              <a:lstStyle/>
              <a:p>
                <a:pPr marL="0" lvl="0" indent="0" algn="ctr">
                  <a:lnSpc>
                    <a:spcPts val="2659"/>
                  </a:lnSpc>
                  <a:spcBef>
                    <a:spcPct val="0"/>
                  </a:spcBef>
                </a:pPr>
                <a:endParaRPr/>
              </a:p>
            </p:txBody>
          </p:sp>
        </p:grpSp>
      </p:grpSp>
      <p:grpSp>
        <p:nvGrpSpPr>
          <p:cNvPr id="13" name="Group 13"/>
          <p:cNvGrpSpPr/>
          <p:nvPr/>
        </p:nvGrpSpPr>
        <p:grpSpPr>
          <a:xfrm>
            <a:off x="-1767061" y="-591955"/>
            <a:ext cx="3389686" cy="2665365"/>
            <a:chOff x="0" y="0"/>
            <a:chExt cx="696717" cy="547840"/>
          </a:xfrm>
        </p:grpSpPr>
        <p:sp>
          <p:nvSpPr>
            <p:cNvPr id="14" name="Freeform 14"/>
            <p:cNvSpPr/>
            <p:nvPr/>
          </p:nvSpPr>
          <p:spPr>
            <a:xfrm>
              <a:off x="11320" y="0"/>
              <a:ext cx="674077" cy="547840"/>
            </a:xfrm>
            <a:custGeom>
              <a:avLst/>
              <a:gdLst/>
              <a:ahLst/>
              <a:cxnLst/>
              <a:rect l="l" t="t" r="r" b="b"/>
              <a:pathLst>
                <a:path w="674077" h="547840">
                  <a:moveTo>
                    <a:pt x="664985" y="301435"/>
                  </a:moveTo>
                  <a:lnTo>
                    <a:pt x="502608" y="520325"/>
                  </a:lnTo>
                  <a:cubicBezTo>
                    <a:pt x="489768" y="537634"/>
                    <a:pt x="469489" y="547840"/>
                    <a:pt x="447937" y="547840"/>
                  </a:cubicBezTo>
                  <a:lnTo>
                    <a:pt x="226139" y="547840"/>
                  </a:lnTo>
                  <a:cubicBezTo>
                    <a:pt x="204588" y="547840"/>
                    <a:pt x="184309" y="537634"/>
                    <a:pt x="171469" y="520325"/>
                  </a:cubicBezTo>
                  <a:lnTo>
                    <a:pt x="9091" y="301435"/>
                  </a:lnTo>
                  <a:cubicBezTo>
                    <a:pt x="-3031" y="285094"/>
                    <a:pt x="-3031" y="262745"/>
                    <a:pt x="9091" y="246405"/>
                  </a:cubicBezTo>
                  <a:lnTo>
                    <a:pt x="171469" y="27515"/>
                  </a:lnTo>
                  <a:cubicBezTo>
                    <a:pt x="184309" y="10206"/>
                    <a:pt x="204588" y="0"/>
                    <a:pt x="226139" y="0"/>
                  </a:cubicBezTo>
                  <a:lnTo>
                    <a:pt x="447937" y="0"/>
                  </a:lnTo>
                  <a:cubicBezTo>
                    <a:pt x="469489" y="0"/>
                    <a:pt x="489768" y="10206"/>
                    <a:pt x="502608" y="27515"/>
                  </a:cubicBezTo>
                  <a:lnTo>
                    <a:pt x="664985" y="246405"/>
                  </a:lnTo>
                  <a:cubicBezTo>
                    <a:pt x="677107" y="262745"/>
                    <a:pt x="677107" y="285094"/>
                    <a:pt x="664985" y="301435"/>
                  </a:cubicBezTo>
                  <a:close/>
                </a:path>
              </a:pathLst>
            </a:custGeom>
            <a:solidFill>
              <a:srgbClr val="243B55">
                <a:alpha val="4706"/>
              </a:srgbClr>
            </a:solidFill>
          </p:spPr>
        </p:sp>
        <p:sp>
          <p:nvSpPr>
            <p:cNvPr id="15" name="TextBox 15"/>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132205" y="3325860"/>
            <a:ext cx="2311589" cy="1817640"/>
            <a:chOff x="0" y="0"/>
            <a:chExt cx="696717" cy="547840"/>
          </a:xfrm>
        </p:grpSpPr>
        <p:sp>
          <p:nvSpPr>
            <p:cNvPr id="17" name="Freeform 17"/>
            <p:cNvSpPr/>
            <p:nvPr/>
          </p:nvSpPr>
          <p:spPr>
            <a:xfrm>
              <a:off x="9960" y="0"/>
              <a:ext cx="676798" cy="547840"/>
            </a:xfrm>
            <a:custGeom>
              <a:avLst/>
              <a:gdLst/>
              <a:ahLst/>
              <a:cxnLst/>
              <a:rect l="l" t="t" r="r" b="b"/>
              <a:pathLst>
                <a:path w="676798" h="547840">
                  <a:moveTo>
                    <a:pt x="668798" y="298129"/>
                  </a:moveTo>
                  <a:lnTo>
                    <a:pt x="501515" y="523631"/>
                  </a:lnTo>
                  <a:cubicBezTo>
                    <a:pt x="490218" y="538860"/>
                    <a:pt x="472376" y="547840"/>
                    <a:pt x="453414" y="547840"/>
                  </a:cubicBezTo>
                  <a:lnTo>
                    <a:pt x="223383" y="547840"/>
                  </a:lnTo>
                  <a:cubicBezTo>
                    <a:pt x="204421" y="547840"/>
                    <a:pt x="186579" y="538860"/>
                    <a:pt x="175281" y="523631"/>
                  </a:cubicBezTo>
                  <a:lnTo>
                    <a:pt x="7999" y="298129"/>
                  </a:lnTo>
                  <a:cubicBezTo>
                    <a:pt x="-2667" y="283751"/>
                    <a:pt x="-2667" y="264088"/>
                    <a:pt x="7999" y="249711"/>
                  </a:cubicBezTo>
                  <a:lnTo>
                    <a:pt x="175281" y="24209"/>
                  </a:lnTo>
                  <a:cubicBezTo>
                    <a:pt x="186579" y="8980"/>
                    <a:pt x="204421" y="0"/>
                    <a:pt x="223383" y="0"/>
                  </a:cubicBezTo>
                  <a:lnTo>
                    <a:pt x="453414" y="0"/>
                  </a:lnTo>
                  <a:cubicBezTo>
                    <a:pt x="472376" y="0"/>
                    <a:pt x="490218" y="8980"/>
                    <a:pt x="501515" y="24209"/>
                  </a:cubicBezTo>
                  <a:lnTo>
                    <a:pt x="668798" y="249711"/>
                  </a:lnTo>
                  <a:cubicBezTo>
                    <a:pt x="679463" y="264088"/>
                    <a:pt x="679463" y="283751"/>
                    <a:pt x="668798" y="298129"/>
                  </a:cubicBezTo>
                  <a:close/>
                </a:path>
              </a:pathLst>
            </a:custGeom>
            <a:solidFill>
              <a:srgbClr val="243B55">
                <a:alpha val="4706"/>
              </a:srgbClr>
            </a:solidFill>
          </p:spPr>
        </p:sp>
        <p:sp>
          <p:nvSpPr>
            <p:cNvPr id="18" name="TextBox 18"/>
            <p:cNvSpPr txBox="1"/>
            <p:nvPr/>
          </p:nvSpPr>
          <p:spPr>
            <a:xfrm>
              <a:off x="114300" y="-47625"/>
              <a:ext cx="468117" cy="595465"/>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339304" y="9992895"/>
            <a:ext cx="961113" cy="651154"/>
          </a:xfrm>
          <a:custGeom>
            <a:avLst/>
            <a:gdLst/>
            <a:ahLst/>
            <a:cxnLst/>
            <a:rect l="l" t="t" r="r" b="b"/>
            <a:pathLst>
              <a:path w="961113" h="651154">
                <a:moveTo>
                  <a:pt x="0" y="0"/>
                </a:moveTo>
                <a:lnTo>
                  <a:pt x="961113" y="0"/>
                </a:lnTo>
                <a:lnTo>
                  <a:pt x="961113" y="651155"/>
                </a:lnTo>
                <a:lnTo>
                  <a:pt x="0" y="6511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10800000">
            <a:off x="-308460" y="-758506"/>
            <a:ext cx="2164275" cy="1111896"/>
          </a:xfrm>
          <a:custGeom>
            <a:avLst/>
            <a:gdLst/>
            <a:ahLst/>
            <a:cxnLst/>
            <a:rect l="l" t="t" r="r" b="b"/>
            <a:pathLst>
              <a:path w="2164275" h="1111896">
                <a:moveTo>
                  <a:pt x="0" y="0"/>
                </a:moveTo>
                <a:lnTo>
                  <a:pt x="2164275" y="0"/>
                </a:lnTo>
                <a:lnTo>
                  <a:pt x="2164275" y="1111897"/>
                </a:lnTo>
                <a:lnTo>
                  <a:pt x="0" y="1111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14043734" y="-92534"/>
            <a:ext cx="5809337" cy="537986"/>
          </a:xfrm>
          <a:custGeom>
            <a:avLst/>
            <a:gdLst/>
            <a:ahLst/>
            <a:cxnLst/>
            <a:rect l="l" t="t" r="r" b="b"/>
            <a:pathLst>
              <a:path w="5809337" h="537986">
                <a:moveTo>
                  <a:pt x="0" y="0"/>
                </a:moveTo>
                <a:lnTo>
                  <a:pt x="5809337" y="0"/>
                </a:lnTo>
                <a:lnTo>
                  <a:pt x="5809337" y="537986"/>
                </a:lnTo>
                <a:lnTo>
                  <a:pt x="0" y="537986"/>
                </a:lnTo>
                <a:lnTo>
                  <a:pt x="0" y="0"/>
                </a:lnTo>
                <a:close/>
              </a:path>
            </a:pathLst>
          </a:custGeom>
          <a:blipFill>
            <a:blip r:embed="rId7">
              <a:extLst>
                <a:ext uri="{96DAC541-7B7A-43D3-8B79-37D633B846F1}">
                  <asvg:svgBlip xmlns:asvg="http://schemas.microsoft.com/office/drawing/2016/SVG/main" r:embed="rId8"/>
                </a:ext>
              </a:extLst>
            </a:blip>
            <a:stretch>
              <a:fillRect t="-434569" b="-361689"/>
            </a:stretch>
          </a:blipFill>
        </p:spPr>
      </p:sp>
      <p:grpSp>
        <p:nvGrpSpPr>
          <p:cNvPr id="22" name="Group 22"/>
          <p:cNvGrpSpPr/>
          <p:nvPr/>
        </p:nvGrpSpPr>
        <p:grpSpPr>
          <a:xfrm>
            <a:off x="2270297" y="7909389"/>
            <a:ext cx="7627956" cy="1839581"/>
            <a:chOff x="0" y="0"/>
            <a:chExt cx="10170608" cy="2452774"/>
          </a:xfrm>
        </p:grpSpPr>
        <p:grpSp>
          <p:nvGrpSpPr>
            <p:cNvPr id="23" name="Group 23"/>
            <p:cNvGrpSpPr/>
            <p:nvPr/>
          </p:nvGrpSpPr>
          <p:grpSpPr>
            <a:xfrm>
              <a:off x="0" y="0"/>
              <a:ext cx="10170608" cy="2452774"/>
              <a:chOff x="0" y="0"/>
              <a:chExt cx="1569538" cy="378515"/>
            </a:xfrm>
          </p:grpSpPr>
          <p:sp>
            <p:nvSpPr>
              <p:cNvPr id="24" name="Freeform 24"/>
              <p:cNvSpPr/>
              <p:nvPr/>
            </p:nvSpPr>
            <p:spPr>
              <a:xfrm>
                <a:off x="0" y="0"/>
                <a:ext cx="1569538" cy="378515"/>
              </a:xfrm>
              <a:custGeom>
                <a:avLst/>
                <a:gdLst/>
                <a:ahLst/>
                <a:cxnLst/>
                <a:rect l="l" t="t" r="r" b="b"/>
                <a:pathLst>
                  <a:path w="1569538" h="378515">
                    <a:moveTo>
                      <a:pt x="19823" y="0"/>
                    </a:moveTo>
                    <a:lnTo>
                      <a:pt x="1549715" y="0"/>
                    </a:lnTo>
                    <a:cubicBezTo>
                      <a:pt x="1560663" y="0"/>
                      <a:pt x="1569538" y="8875"/>
                      <a:pt x="1569538" y="19823"/>
                    </a:cubicBezTo>
                    <a:lnTo>
                      <a:pt x="1569538" y="358691"/>
                    </a:lnTo>
                    <a:cubicBezTo>
                      <a:pt x="1569538" y="363949"/>
                      <a:pt x="1567450" y="368991"/>
                      <a:pt x="1563732" y="372709"/>
                    </a:cubicBezTo>
                    <a:cubicBezTo>
                      <a:pt x="1560015" y="376426"/>
                      <a:pt x="1554973" y="378515"/>
                      <a:pt x="1549715" y="378515"/>
                    </a:cubicBezTo>
                    <a:lnTo>
                      <a:pt x="19823" y="378515"/>
                    </a:lnTo>
                    <a:cubicBezTo>
                      <a:pt x="8875" y="378515"/>
                      <a:pt x="0" y="369639"/>
                      <a:pt x="0" y="358691"/>
                    </a:cubicBezTo>
                    <a:lnTo>
                      <a:pt x="0" y="19823"/>
                    </a:lnTo>
                    <a:cubicBezTo>
                      <a:pt x="0" y="8875"/>
                      <a:pt x="8875" y="0"/>
                      <a:pt x="19823" y="0"/>
                    </a:cubicBezTo>
                    <a:close/>
                  </a:path>
                </a:pathLst>
              </a:custGeom>
              <a:solidFill>
                <a:srgbClr val="CDE0DB"/>
              </a:solidFill>
            </p:spPr>
          </p:sp>
          <p:sp>
            <p:nvSpPr>
              <p:cNvPr id="25" name="TextBox 25"/>
              <p:cNvSpPr txBox="1"/>
              <p:nvPr/>
            </p:nvSpPr>
            <p:spPr>
              <a:xfrm>
                <a:off x="0" y="-47625"/>
                <a:ext cx="1569538" cy="42614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08890" y="214806"/>
              <a:ext cx="9637624" cy="20654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Outcome:</a:t>
              </a:r>
            </a:p>
            <a:p>
              <a:pPr algn="just">
                <a:lnSpc>
                  <a:spcPts val="3080"/>
                </a:lnSpc>
              </a:pPr>
              <a:r>
                <a:rPr lang="en-US" sz="2200">
                  <a:solidFill>
                    <a:srgbClr val="1D1A1B"/>
                  </a:solidFill>
                  <a:latin typeface="Public Sans"/>
                  <a:ea typeface="Public Sans"/>
                  <a:cs typeface="Public Sans"/>
                  <a:sym typeface="Public Sans"/>
                </a:rPr>
                <a:t>14 partners onboarded in 5 weeks</a:t>
              </a:r>
            </a:p>
            <a:p>
              <a:pPr algn="just">
                <a:lnSpc>
                  <a:spcPts val="3080"/>
                </a:lnSpc>
              </a:pPr>
              <a:r>
                <a:rPr lang="en-US" sz="2200">
                  <a:solidFill>
                    <a:srgbClr val="1D1A1B"/>
                  </a:solidFill>
                  <a:latin typeface="Public Sans"/>
                  <a:ea typeface="Public Sans"/>
                  <a:cs typeface="Public Sans"/>
                  <a:sym typeface="Public Sans"/>
                </a:rPr>
                <a:t>Improved data accuracy in CW1</a:t>
              </a:r>
            </a:p>
            <a:p>
              <a:pPr algn="just">
                <a:lnSpc>
                  <a:spcPts val="3080"/>
                </a:lnSpc>
              </a:pPr>
              <a:r>
                <a:rPr lang="en-US" sz="2200">
                  <a:solidFill>
                    <a:srgbClr val="1D1A1B"/>
                  </a:solidFill>
                  <a:latin typeface="Public Sans"/>
                  <a:ea typeface="Public Sans"/>
                  <a:cs typeface="Public Sans"/>
                  <a:sym typeface="Public Sans"/>
                </a:rPr>
                <a:t>Standardized financial processing across branches</a:t>
              </a:r>
            </a:p>
          </p:txBody>
        </p:sp>
      </p:grpSp>
      <p:grpSp>
        <p:nvGrpSpPr>
          <p:cNvPr id="27" name="Group 27"/>
          <p:cNvGrpSpPr/>
          <p:nvPr/>
        </p:nvGrpSpPr>
        <p:grpSpPr>
          <a:xfrm>
            <a:off x="10612628" y="2522736"/>
            <a:ext cx="7489600" cy="7316248"/>
            <a:chOff x="0" y="0"/>
            <a:chExt cx="4828540" cy="4716780"/>
          </a:xfrm>
        </p:grpSpPr>
        <p:sp>
          <p:nvSpPr>
            <p:cNvPr id="28" name="Freeform 28"/>
            <p:cNvSpPr/>
            <p:nvPr/>
          </p:nvSpPr>
          <p:spPr>
            <a:xfrm>
              <a:off x="1103" y="1273"/>
              <a:ext cx="4830645" cy="4716345"/>
            </a:xfrm>
            <a:custGeom>
              <a:avLst/>
              <a:gdLst/>
              <a:ahLst/>
              <a:cxnLst/>
              <a:rect l="l" t="t" r="r" b="b"/>
              <a:pathLst>
                <a:path w="4830645" h="4716345">
                  <a:moveTo>
                    <a:pt x="3415197" y="4653277"/>
                  </a:moveTo>
                  <a:cubicBezTo>
                    <a:pt x="3387257" y="4660897"/>
                    <a:pt x="3365667" y="4671057"/>
                    <a:pt x="3344077" y="4673597"/>
                  </a:cubicBezTo>
                  <a:cubicBezTo>
                    <a:pt x="3222157" y="4683757"/>
                    <a:pt x="3101507" y="4693917"/>
                    <a:pt x="2979587" y="4702807"/>
                  </a:cubicBezTo>
                  <a:cubicBezTo>
                    <a:pt x="2917357" y="4706617"/>
                    <a:pt x="2855127" y="4710427"/>
                    <a:pt x="2792897" y="4711697"/>
                  </a:cubicBezTo>
                  <a:cubicBezTo>
                    <a:pt x="2725587" y="4714237"/>
                    <a:pt x="2658277" y="4718047"/>
                    <a:pt x="2592237" y="4715507"/>
                  </a:cubicBezTo>
                  <a:cubicBezTo>
                    <a:pt x="2528737" y="4714237"/>
                    <a:pt x="2465237" y="4710427"/>
                    <a:pt x="2404277" y="4698997"/>
                  </a:cubicBezTo>
                  <a:cubicBezTo>
                    <a:pt x="2325537" y="4685027"/>
                    <a:pt x="2245527" y="4685027"/>
                    <a:pt x="2168057" y="4672327"/>
                  </a:cubicBezTo>
                  <a:cubicBezTo>
                    <a:pt x="1966127" y="4639307"/>
                    <a:pt x="1760387" y="4648197"/>
                    <a:pt x="1557187" y="4634227"/>
                  </a:cubicBezTo>
                  <a:cubicBezTo>
                    <a:pt x="1442887" y="4626607"/>
                    <a:pt x="1328587" y="4608827"/>
                    <a:pt x="1214287" y="4593587"/>
                  </a:cubicBezTo>
                  <a:cubicBezTo>
                    <a:pt x="1084747" y="4577077"/>
                    <a:pt x="955207" y="4558027"/>
                    <a:pt x="824397" y="4540247"/>
                  </a:cubicBezTo>
                  <a:cubicBezTo>
                    <a:pt x="729147" y="4527547"/>
                    <a:pt x="632627" y="4514847"/>
                    <a:pt x="537377" y="4502147"/>
                  </a:cubicBezTo>
                  <a:cubicBezTo>
                    <a:pt x="534837" y="4502147"/>
                    <a:pt x="532297" y="4500877"/>
                    <a:pt x="529757" y="4500877"/>
                  </a:cubicBezTo>
                  <a:cubicBezTo>
                    <a:pt x="449747" y="4466587"/>
                    <a:pt x="364657" y="4439917"/>
                    <a:pt x="290997" y="4395467"/>
                  </a:cubicBezTo>
                  <a:cubicBezTo>
                    <a:pt x="166537" y="4319267"/>
                    <a:pt x="113197" y="4197347"/>
                    <a:pt x="108117" y="4053837"/>
                  </a:cubicBezTo>
                  <a:cubicBezTo>
                    <a:pt x="106847" y="4004307"/>
                    <a:pt x="100497" y="3956047"/>
                    <a:pt x="100497" y="3906517"/>
                  </a:cubicBezTo>
                  <a:cubicBezTo>
                    <a:pt x="101767" y="3837937"/>
                    <a:pt x="106847" y="3770627"/>
                    <a:pt x="110657" y="3703317"/>
                  </a:cubicBezTo>
                  <a:cubicBezTo>
                    <a:pt x="120817" y="3502657"/>
                    <a:pt x="125897" y="3301997"/>
                    <a:pt x="110657" y="3101337"/>
                  </a:cubicBezTo>
                  <a:cubicBezTo>
                    <a:pt x="96687" y="2920997"/>
                    <a:pt x="83987" y="2741927"/>
                    <a:pt x="70017" y="2561587"/>
                  </a:cubicBezTo>
                  <a:cubicBezTo>
                    <a:pt x="61127" y="2446017"/>
                    <a:pt x="49697" y="2331717"/>
                    <a:pt x="42077" y="2216147"/>
                  </a:cubicBezTo>
                  <a:cubicBezTo>
                    <a:pt x="36997" y="2139947"/>
                    <a:pt x="38267" y="2062477"/>
                    <a:pt x="33187" y="1986277"/>
                  </a:cubicBezTo>
                  <a:cubicBezTo>
                    <a:pt x="30647" y="1943097"/>
                    <a:pt x="16677" y="1901187"/>
                    <a:pt x="15407" y="1858007"/>
                  </a:cubicBezTo>
                  <a:cubicBezTo>
                    <a:pt x="10327" y="1753867"/>
                    <a:pt x="9057" y="1648457"/>
                    <a:pt x="6517" y="1543047"/>
                  </a:cubicBezTo>
                  <a:cubicBezTo>
                    <a:pt x="5247" y="1502407"/>
                    <a:pt x="-1103" y="1461767"/>
                    <a:pt x="167" y="1421127"/>
                  </a:cubicBezTo>
                  <a:cubicBezTo>
                    <a:pt x="1437" y="1357627"/>
                    <a:pt x="9057" y="1294127"/>
                    <a:pt x="10327" y="1230627"/>
                  </a:cubicBezTo>
                  <a:cubicBezTo>
                    <a:pt x="11597" y="1156967"/>
                    <a:pt x="3977" y="1083307"/>
                    <a:pt x="6517" y="1010917"/>
                  </a:cubicBezTo>
                  <a:cubicBezTo>
                    <a:pt x="6517" y="941067"/>
                    <a:pt x="15407" y="872487"/>
                    <a:pt x="24297" y="802637"/>
                  </a:cubicBezTo>
                  <a:cubicBezTo>
                    <a:pt x="26837" y="778507"/>
                    <a:pt x="44617" y="756917"/>
                    <a:pt x="49697" y="732787"/>
                  </a:cubicBezTo>
                  <a:cubicBezTo>
                    <a:pt x="71287" y="613407"/>
                    <a:pt x="94147" y="494027"/>
                    <a:pt x="150027" y="383537"/>
                  </a:cubicBezTo>
                  <a:cubicBezTo>
                    <a:pt x="162727" y="359407"/>
                    <a:pt x="183047" y="337817"/>
                    <a:pt x="202097" y="318767"/>
                  </a:cubicBezTo>
                  <a:cubicBezTo>
                    <a:pt x="208447" y="312417"/>
                    <a:pt x="223687" y="316227"/>
                    <a:pt x="227497" y="316227"/>
                  </a:cubicBezTo>
                  <a:cubicBezTo>
                    <a:pt x="236387" y="299717"/>
                    <a:pt x="241467" y="283207"/>
                    <a:pt x="251627" y="275587"/>
                  </a:cubicBezTo>
                  <a:cubicBezTo>
                    <a:pt x="306237" y="233677"/>
                    <a:pt x="363387" y="203197"/>
                    <a:pt x="434507" y="195577"/>
                  </a:cubicBezTo>
                  <a:cubicBezTo>
                    <a:pt x="487847" y="189227"/>
                    <a:pt x="539917" y="166367"/>
                    <a:pt x="593257" y="153667"/>
                  </a:cubicBezTo>
                  <a:cubicBezTo>
                    <a:pt x="658027" y="138427"/>
                    <a:pt x="722797" y="120647"/>
                    <a:pt x="790107" y="111757"/>
                  </a:cubicBezTo>
                  <a:cubicBezTo>
                    <a:pt x="851067" y="104137"/>
                    <a:pt x="909487" y="87627"/>
                    <a:pt x="971717" y="82547"/>
                  </a:cubicBezTo>
                  <a:cubicBezTo>
                    <a:pt x="1035217" y="77467"/>
                    <a:pt x="1098717" y="62227"/>
                    <a:pt x="1163487" y="57147"/>
                  </a:cubicBezTo>
                  <a:cubicBezTo>
                    <a:pt x="1338747" y="44447"/>
                    <a:pt x="1515277" y="35557"/>
                    <a:pt x="1690537" y="25397"/>
                  </a:cubicBezTo>
                  <a:cubicBezTo>
                    <a:pt x="1733717" y="22857"/>
                    <a:pt x="1776897" y="25397"/>
                    <a:pt x="1820077" y="26667"/>
                  </a:cubicBezTo>
                  <a:cubicBezTo>
                    <a:pt x="1841667" y="27937"/>
                    <a:pt x="1863257" y="33017"/>
                    <a:pt x="1886117" y="35557"/>
                  </a:cubicBezTo>
                  <a:cubicBezTo>
                    <a:pt x="1896277" y="36827"/>
                    <a:pt x="1906437" y="33017"/>
                    <a:pt x="1916597" y="33017"/>
                  </a:cubicBezTo>
                  <a:cubicBezTo>
                    <a:pt x="1947077" y="33017"/>
                    <a:pt x="1978827" y="33017"/>
                    <a:pt x="2009307" y="31747"/>
                  </a:cubicBezTo>
                  <a:cubicBezTo>
                    <a:pt x="2067727" y="29207"/>
                    <a:pt x="2127417" y="22857"/>
                    <a:pt x="2185837" y="22857"/>
                  </a:cubicBezTo>
                  <a:cubicBezTo>
                    <a:pt x="2242987" y="22857"/>
                    <a:pt x="2300137" y="26667"/>
                    <a:pt x="2357287" y="29207"/>
                  </a:cubicBezTo>
                  <a:lnTo>
                    <a:pt x="2403007" y="29207"/>
                  </a:lnTo>
                  <a:cubicBezTo>
                    <a:pt x="2472857" y="26667"/>
                    <a:pt x="2541437" y="26667"/>
                    <a:pt x="2611287" y="22857"/>
                  </a:cubicBezTo>
                  <a:cubicBezTo>
                    <a:pt x="2678597" y="19047"/>
                    <a:pt x="2744637" y="10157"/>
                    <a:pt x="2811947" y="6347"/>
                  </a:cubicBezTo>
                  <a:cubicBezTo>
                    <a:pt x="2843697" y="3807"/>
                    <a:pt x="2876717" y="3807"/>
                    <a:pt x="2908467" y="10157"/>
                  </a:cubicBezTo>
                  <a:cubicBezTo>
                    <a:pt x="2956727" y="19047"/>
                    <a:pt x="3002447" y="24127"/>
                    <a:pt x="3050707" y="10157"/>
                  </a:cubicBezTo>
                  <a:cubicBezTo>
                    <a:pt x="3068487" y="5077"/>
                    <a:pt x="3091347" y="13967"/>
                    <a:pt x="3111667" y="16507"/>
                  </a:cubicBezTo>
                  <a:cubicBezTo>
                    <a:pt x="3120557" y="17777"/>
                    <a:pt x="3130717" y="20317"/>
                    <a:pt x="3135797" y="16507"/>
                  </a:cubicBezTo>
                  <a:cubicBezTo>
                    <a:pt x="3170087" y="-8893"/>
                    <a:pt x="3201837" y="-2543"/>
                    <a:pt x="3234857" y="19047"/>
                  </a:cubicBezTo>
                  <a:cubicBezTo>
                    <a:pt x="3238667" y="21587"/>
                    <a:pt x="3248827" y="15237"/>
                    <a:pt x="3256447" y="15237"/>
                  </a:cubicBezTo>
                  <a:cubicBezTo>
                    <a:pt x="3286927" y="15237"/>
                    <a:pt x="3317407" y="15237"/>
                    <a:pt x="3349157" y="16507"/>
                  </a:cubicBezTo>
                  <a:cubicBezTo>
                    <a:pt x="3372017" y="17777"/>
                    <a:pt x="3393607" y="25397"/>
                    <a:pt x="3416467" y="27937"/>
                  </a:cubicBezTo>
                  <a:cubicBezTo>
                    <a:pt x="3465997" y="34287"/>
                    <a:pt x="3516797" y="44447"/>
                    <a:pt x="3567597" y="44447"/>
                  </a:cubicBezTo>
                  <a:cubicBezTo>
                    <a:pt x="3662847" y="45717"/>
                    <a:pt x="3758097" y="49527"/>
                    <a:pt x="3852077" y="69847"/>
                  </a:cubicBezTo>
                  <a:cubicBezTo>
                    <a:pt x="3939707" y="88897"/>
                    <a:pt x="4029877" y="88897"/>
                    <a:pt x="4118777" y="104137"/>
                  </a:cubicBezTo>
                  <a:cubicBezTo>
                    <a:pt x="4172117" y="113027"/>
                    <a:pt x="4226727" y="129537"/>
                    <a:pt x="4272447" y="156207"/>
                  </a:cubicBezTo>
                  <a:cubicBezTo>
                    <a:pt x="4321977" y="184147"/>
                    <a:pt x="4360077" y="229867"/>
                    <a:pt x="4404527" y="267967"/>
                  </a:cubicBezTo>
                  <a:cubicBezTo>
                    <a:pt x="4421037" y="281937"/>
                    <a:pt x="4445167" y="292097"/>
                    <a:pt x="4456597" y="309877"/>
                  </a:cubicBezTo>
                  <a:cubicBezTo>
                    <a:pt x="4489617" y="358137"/>
                    <a:pt x="4518827" y="408937"/>
                    <a:pt x="4548037" y="459737"/>
                  </a:cubicBezTo>
                  <a:cubicBezTo>
                    <a:pt x="4569627" y="496567"/>
                    <a:pt x="4591217" y="534667"/>
                    <a:pt x="4607727" y="572767"/>
                  </a:cubicBezTo>
                  <a:cubicBezTo>
                    <a:pt x="4625507" y="617217"/>
                    <a:pt x="4639477" y="662937"/>
                    <a:pt x="4653447" y="709927"/>
                  </a:cubicBezTo>
                  <a:cubicBezTo>
                    <a:pt x="4675037" y="783587"/>
                    <a:pt x="4700437" y="857247"/>
                    <a:pt x="4714407" y="933447"/>
                  </a:cubicBezTo>
                  <a:cubicBezTo>
                    <a:pt x="4734727" y="1040127"/>
                    <a:pt x="4744887" y="1149347"/>
                    <a:pt x="4760127" y="1257297"/>
                  </a:cubicBezTo>
                  <a:cubicBezTo>
                    <a:pt x="4765207" y="1292857"/>
                    <a:pt x="4771557" y="1328417"/>
                    <a:pt x="4774097" y="1363977"/>
                  </a:cubicBezTo>
                  <a:cubicBezTo>
                    <a:pt x="4781717" y="1465577"/>
                    <a:pt x="4786797" y="1565907"/>
                    <a:pt x="4793147" y="1667507"/>
                  </a:cubicBezTo>
                  <a:cubicBezTo>
                    <a:pt x="4802037" y="1793237"/>
                    <a:pt x="4814737" y="1917697"/>
                    <a:pt x="4821087" y="2043427"/>
                  </a:cubicBezTo>
                  <a:cubicBezTo>
                    <a:pt x="4827437" y="2164077"/>
                    <a:pt x="4832517" y="2285997"/>
                    <a:pt x="4829977" y="2407917"/>
                  </a:cubicBezTo>
                  <a:cubicBezTo>
                    <a:pt x="4826167" y="2611117"/>
                    <a:pt x="4816007" y="2813047"/>
                    <a:pt x="4805847" y="3016247"/>
                  </a:cubicBezTo>
                  <a:cubicBezTo>
                    <a:pt x="4799497" y="3141977"/>
                    <a:pt x="4790607" y="3266437"/>
                    <a:pt x="4777907" y="3390897"/>
                  </a:cubicBezTo>
                  <a:cubicBezTo>
                    <a:pt x="4765207" y="3515357"/>
                    <a:pt x="4746157" y="3638547"/>
                    <a:pt x="4732187" y="3763007"/>
                  </a:cubicBezTo>
                  <a:cubicBezTo>
                    <a:pt x="4722027" y="3849367"/>
                    <a:pt x="4719487" y="3935727"/>
                    <a:pt x="4708057" y="4020817"/>
                  </a:cubicBezTo>
                  <a:cubicBezTo>
                    <a:pt x="4697897" y="4098287"/>
                    <a:pt x="4659797" y="4166867"/>
                    <a:pt x="4608997" y="4224017"/>
                  </a:cubicBezTo>
                  <a:cubicBezTo>
                    <a:pt x="4567087" y="4272277"/>
                    <a:pt x="4534067" y="4326887"/>
                    <a:pt x="4490887" y="4373877"/>
                  </a:cubicBezTo>
                  <a:cubicBezTo>
                    <a:pt x="4452787" y="4415787"/>
                    <a:pt x="4410877" y="4457697"/>
                    <a:pt x="4344837" y="4458967"/>
                  </a:cubicBezTo>
                  <a:cubicBezTo>
                    <a:pt x="4329597" y="4458967"/>
                    <a:pt x="4315627" y="4474207"/>
                    <a:pt x="4300387" y="4481827"/>
                  </a:cubicBezTo>
                  <a:cubicBezTo>
                    <a:pt x="4235617" y="4509767"/>
                    <a:pt x="4168307" y="4533897"/>
                    <a:pt x="4104807" y="4564377"/>
                  </a:cubicBezTo>
                  <a:cubicBezTo>
                    <a:pt x="3987967" y="4620257"/>
                    <a:pt x="3862237" y="4629147"/>
                    <a:pt x="3736507" y="4634227"/>
                  </a:cubicBezTo>
                  <a:cubicBezTo>
                    <a:pt x="3688247" y="4636767"/>
                    <a:pt x="3638717" y="4632957"/>
                    <a:pt x="3590457" y="4636767"/>
                  </a:cubicBezTo>
                  <a:cubicBezTo>
                    <a:pt x="3566327" y="4638037"/>
                    <a:pt x="3543467" y="4649467"/>
                    <a:pt x="3520607" y="4654547"/>
                  </a:cubicBezTo>
                  <a:cubicBezTo>
                    <a:pt x="3510447" y="4657087"/>
                    <a:pt x="3500287" y="4655817"/>
                    <a:pt x="3488857" y="4657087"/>
                  </a:cubicBezTo>
                  <a:cubicBezTo>
                    <a:pt x="3473617" y="4658357"/>
                    <a:pt x="3458377" y="4662167"/>
                    <a:pt x="3443137" y="4660897"/>
                  </a:cubicBezTo>
                  <a:cubicBezTo>
                    <a:pt x="3427897" y="4658357"/>
                    <a:pt x="3417737" y="4653277"/>
                    <a:pt x="3415197" y="4653277"/>
                  </a:cubicBezTo>
                  <a:close/>
                </a:path>
              </a:pathLst>
            </a:custGeom>
            <a:blipFill>
              <a:blip r:embed="rId9"/>
              <a:stretch>
                <a:fillRect l="-23133" r="-23133"/>
              </a:stretch>
            </a:blipFill>
          </p:spPr>
        </p:sp>
      </p:grpSp>
      <p:grpSp>
        <p:nvGrpSpPr>
          <p:cNvPr id="29" name="Group 29"/>
          <p:cNvGrpSpPr/>
          <p:nvPr/>
        </p:nvGrpSpPr>
        <p:grpSpPr>
          <a:xfrm>
            <a:off x="1369444" y="2577139"/>
            <a:ext cx="9041578" cy="4239895"/>
            <a:chOff x="0" y="0"/>
            <a:chExt cx="12055438" cy="5653193"/>
          </a:xfrm>
        </p:grpSpPr>
        <p:sp>
          <p:nvSpPr>
            <p:cNvPr id="30" name="TextBox 30"/>
            <p:cNvSpPr txBox="1"/>
            <p:nvPr/>
          </p:nvSpPr>
          <p:spPr>
            <a:xfrm>
              <a:off x="0" y="-57150"/>
              <a:ext cx="12055438" cy="5710343"/>
            </a:xfrm>
            <a:prstGeom prst="rect">
              <a:avLst/>
            </a:prstGeom>
          </p:spPr>
          <p:txBody>
            <a:bodyPr lIns="0" tIns="0" rIns="0" bIns="0" rtlCol="0" anchor="t">
              <a:spAutoFit/>
            </a:bodyPr>
            <a:lstStyle/>
            <a:p>
              <a:pPr algn="just">
                <a:lnSpc>
                  <a:spcPts val="3080"/>
                </a:lnSpc>
              </a:pPr>
              <a:r>
                <a:rPr lang="en-US" sz="2200" b="1">
                  <a:solidFill>
                    <a:srgbClr val="1D1A1B"/>
                  </a:solidFill>
                  <a:latin typeface="Public Sans Bold"/>
                  <a:ea typeface="Public Sans Bold"/>
                  <a:cs typeface="Public Sans Bold"/>
                  <a:sym typeface="Public Sans Bold"/>
                </a:rPr>
                <a:t>Client Type</a:t>
              </a:r>
              <a:r>
                <a:rPr lang="en-US" sz="2200">
                  <a:solidFill>
                    <a:srgbClr val="1D1A1B"/>
                  </a:solidFill>
                  <a:latin typeface="Public Sans"/>
                  <a:ea typeface="Public Sans"/>
                  <a:cs typeface="Public Sans"/>
                  <a:sym typeface="Public Sans"/>
                </a:rPr>
                <a:t>: Freight Forwarder</a:t>
              </a:r>
            </a:p>
            <a:p>
              <a:pPr algn="just">
                <a:lnSpc>
                  <a:spcPts val="3080"/>
                </a:lnSpc>
              </a:pPr>
              <a:r>
                <a:rPr lang="en-US" sz="2200" b="1">
                  <a:solidFill>
                    <a:srgbClr val="1D1A1B"/>
                  </a:solidFill>
                  <a:latin typeface="Public Sans Bold"/>
                  <a:ea typeface="Public Sans Bold"/>
                  <a:cs typeface="Public Sans Bold"/>
                  <a:sym typeface="Public Sans Bold"/>
                </a:rPr>
                <a:t>Region:</a:t>
              </a:r>
              <a:r>
                <a:rPr lang="en-US" sz="2200">
                  <a:solidFill>
                    <a:srgbClr val="1D1A1B"/>
                  </a:solidFill>
                  <a:latin typeface="Public Sans"/>
                  <a:ea typeface="Public Sans"/>
                  <a:cs typeface="Public Sans"/>
                  <a:sym typeface="Public Sans"/>
                </a:rPr>
                <a:t> India</a:t>
              </a:r>
            </a:p>
            <a:p>
              <a:pPr algn="just">
                <a:lnSpc>
                  <a:spcPts val="3080"/>
                </a:lnSpc>
              </a:pPr>
              <a:r>
                <a:rPr lang="en-US" sz="2200" b="1">
                  <a:solidFill>
                    <a:srgbClr val="1D1A1B"/>
                  </a:solidFill>
                  <a:latin typeface="Public Sans Bold"/>
                  <a:ea typeface="Public Sans Bold"/>
                  <a:cs typeface="Public Sans Bold"/>
                  <a:sym typeface="Public Sans Bold"/>
                </a:rPr>
                <a:t>Requirement</a:t>
              </a:r>
              <a:r>
                <a:rPr lang="en-US" sz="2200">
                  <a:solidFill>
                    <a:srgbClr val="1D1A1B"/>
                  </a:solidFill>
                  <a:latin typeface="Public Sans"/>
                  <a:ea typeface="Public Sans"/>
                  <a:cs typeface="Public Sans"/>
                  <a:sym typeface="Public Sans"/>
                </a:rPr>
                <a:t>: Automate AP/AR invoice processing and reduce manual data entry into CargoWise.</a:t>
              </a:r>
            </a:p>
            <a:p>
              <a:pPr algn="just">
                <a:lnSpc>
                  <a:spcPts val="3080"/>
                </a:lnSpc>
              </a:pPr>
              <a:r>
                <a:rPr lang="en-US" sz="2200" b="1">
                  <a:solidFill>
                    <a:srgbClr val="1D1A1B"/>
                  </a:solidFill>
                  <a:latin typeface="Public Sans Bold"/>
                  <a:ea typeface="Public Sans Bold"/>
                  <a:cs typeface="Public Sans Bold"/>
                  <a:sym typeface="Public Sans Bold"/>
                </a:rPr>
                <a:t>Solution Delivered:</a:t>
              </a:r>
            </a:p>
            <a:p>
              <a:pPr algn="just">
                <a:lnSpc>
                  <a:spcPts val="3080"/>
                </a:lnSpc>
              </a:pPr>
              <a:r>
                <a:rPr lang="en-US" sz="2200">
                  <a:solidFill>
                    <a:srgbClr val="1D1A1B"/>
                  </a:solidFill>
                  <a:latin typeface="Public Sans"/>
                  <a:ea typeface="Public Sans"/>
                  <a:cs typeface="Public Sans"/>
                  <a:sym typeface="Public Sans"/>
                </a:rPr>
                <a:t>          Implemented OCR-based extraction of invoice details</a:t>
              </a:r>
            </a:p>
            <a:p>
              <a:pPr algn="just">
                <a:lnSpc>
                  <a:spcPts val="3080"/>
                </a:lnSpc>
              </a:pPr>
              <a:r>
                <a:rPr lang="en-US" sz="2200">
                  <a:solidFill>
                    <a:srgbClr val="1D1A1B"/>
                  </a:solidFill>
                  <a:latin typeface="Public Sans"/>
                  <a:ea typeface="Public Sans"/>
                  <a:cs typeface="Public Sans"/>
                  <a:sym typeface="Public Sans"/>
                </a:rPr>
                <a:t>         Automated validation and posting of AP/AR invoices into CW1</a:t>
              </a:r>
            </a:p>
            <a:p>
              <a:pPr algn="just">
                <a:lnSpc>
                  <a:spcPts val="3080"/>
                </a:lnSpc>
              </a:pPr>
              <a:r>
                <a:rPr lang="en-US" sz="2200">
                  <a:solidFill>
                    <a:srgbClr val="1D1A1B"/>
                  </a:solidFill>
                  <a:latin typeface="Public Sans"/>
                  <a:ea typeface="Public Sans"/>
                  <a:cs typeface="Public Sans"/>
                  <a:sym typeface="Public Sans"/>
                </a:rPr>
                <a:t>         Created exception workflows and approval steps</a:t>
              </a:r>
            </a:p>
            <a:p>
              <a:pPr algn="just">
                <a:lnSpc>
                  <a:spcPts val="3080"/>
                </a:lnSpc>
              </a:pPr>
              <a:r>
                <a:rPr lang="en-US" sz="2200">
                  <a:solidFill>
                    <a:srgbClr val="1D1A1B"/>
                  </a:solidFill>
                  <a:latin typeface="Public Sans"/>
                  <a:ea typeface="Public Sans"/>
                  <a:cs typeface="Public Sans"/>
                  <a:sym typeface="Public Sans"/>
                </a:rPr>
                <a:t>         Enabled email-based invoice ingestion</a:t>
              </a:r>
            </a:p>
            <a:p>
              <a:pPr algn="just">
                <a:lnSpc>
                  <a:spcPts val="3080"/>
                </a:lnSpc>
              </a:pPr>
              <a:r>
                <a:rPr lang="en-US" sz="2200">
                  <a:solidFill>
                    <a:srgbClr val="1D1A1B"/>
                  </a:solidFill>
                  <a:latin typeface="Public Sans"/>
                  <a:ea typeface="Public Sans"/>
                  <a:cs typeface="Public Sans"/>
                  <a:sym typeface="Public Sans"/>
                </a:rPr>
                <a:t>      Integrated bank API via two-way SSL for secure payments and reconciliation</a:t>
              </a:r>
            </a:p>
          </p:txBody>
        </p:sp>
        <p:sp>
          <p:nvSpPr>
            <p:cNvPr id="31" name="Freeform 31"/>
            <p:cNvSpPr/>
            <p:nvPr/>
          </p:nvSpPr>
          <p:spPr>
            <a:xfrm>
              <a:off x="75584" y="2692400"/>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Freeform 32"/>
            <p:cNvSpPr/>
            <p:nvPr/>
          </p:nvSpPr>
          <p:spPr>
            <a:xfrm>
              <a:off x="75584" y="3215864"/>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3" name="Freeform 33"/>
            <p:cNvSpPr/>
            <p:nvPr/>
          </p:nvSpPr>
          <p:spPr>
            <a:xfrm>
              <a:off x="75584" y="3753697"/>
              <a:ext cx="371581" cy="272648"/>
            </a:xfrm>
            <a:custGeom>
              <a:avLst/>
              <a:gdLst/>
              <a:ahLst/>
              <a:cxnLst/>
              <a:rect l="l" t="t" r="r" b="b"/>
              <a:pathLst>
                <a:path w="371581" h="272648">
                  <a:moveTo>
                    <a:pt x="0" y="0"/>
                  </a:moveTo>
                  <a:lnTo>
                    <a:pt x="371581" y="0"/>
                  </a:lnTo>
                  <a:lnTo>
                    <a:pt x="371581" y="272647"/>
                  </a:lnTo>
                  <a:lnTo>
                    <a:pt x="0" y="27264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4" name="Freeform 34"/>
            <p:cNvSpPr/>
            <p:nvPr/>
          </p:nvSpPr>
          <p:spPr>
            <a:xfrm>
              <a:off x="75584" y="4267644"/>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5" name="Freeform 35"/>
            <p:cNvSpPr/>
            <p:nvPr/>
          </p:nvSpPr>
          <p:spPr>
            <a:xfrm>
              <a:off x="75584" y="4794292"/>
              <a:ext cx="371581" cy="272648"/>
            </a:xfrm>
            <a:custGeom>
              <a:avLst/>
              <a:gdLst/>
              <a:ahLst/>
              <a:cxnLst/>
              <a:rect l="l" t="t" r="r" b="b"/>
              <a:pathLst>
                <a:path w="371581" h="272648">
                  <a:moveTo>
                    <a:pt x="0" y="0"/>
                  </a:moveTo>
                  <a:lnTo>
                    <a:pt x="371581" y="0"/>
                  </a:lnTo>
                  <a:lnTo>
                    <a:pt x="371581" y="272648"/>
                  </a:lnTo>
                  <a:lnTo>
                    <a:pt x="0" y="2726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sp>
        <p:nvSpPr>
          <p:cNvPr id="36" name="TextBox 36"/>
          <p:cNvSpPr txBox="1"/>
          <p:nvPr/>
        </p:nvSpPr>
        <p:spPr>
          <a:xfrm>
            <a:off x="1622625" y="712152"/>
            <a:ext cx="14677549" cy="942975"/>
          </a:xfrm>
          <a:prstGeom prst="rect">
            <a:avLst/>
          </a:prstGeom>
        </p:spPr>
        <p:txBody>
          <a:bodyPr lIns="0" tIns="0" rIns="0" bIns="0" rtlCol="0" anchor="t">
            <a:spAutoFit/>
          </a:bodyPr>
          <a:lstStyle/>
          <a:p>
            <a:pPr marL="0" lvl="0" indent="0" algn="ctr">
              <a:lnSpc>
                <a:spcPts val="7500"/>
              </a:lnSpc>
              <a:spcBef>
                <a:spcPct val="0"/>
              </a:spcBef>
            </a:pPr>
            <a:r>
              <a:rPr lang="en-US" sz="6000" b="1">
                <a:solidFill>
                  <a:srgbClr val="243B55"/>
                </a:solidFill>
                <a:latin typeface="Montserrat Bold"/>
                <a:ea typeface="Montserrat Bold"/>
                <a:cs typeface="Montserrat Bold"/>
                <a:sym typeface="Montserrat Bold"/>
              </a:rPr>
              <a:t>CARGOWISE SUCCESS STORIES (5/5)</a:t>
            </a:r>
          </a:p>
        </p:txBody>
      </p:sp>
      <p:sp>
        <p:nvSpPr>
          <p:cNvPr id="37" name="TextBox 37"/>
          <p:cNvSpPr txBox="1"/>
          <p:nvPr/>
        </p:nvSpPr>
        <p:spPr>
          <a:xfrm>
            <a:off x="1217044" y="2063885"/>
            <a:ext cx="7352598" cy="384175"/>
          </a:xfrm>
          <a:prstGeom prst="rect">
            <a:avLst/>
          </a:prstGeom>
        </p:spPr>
        <p:txBody>
          <a:bodyPr lIns="0" tIns="0" rIns="0" bIns="0" rtlCol="0" anchor="t">
            <a:spAutoFit/>
          </a:bodyPr>
          <a:lstStyle/>
          <a:p>
            <a:pPr marL="0" lvl="0" indent="0" algn="ctr">
              <a:lnSpc>
                <a:spcPts val="3124"/>
              </a:lnSpc>
              <a:spcBef>
                <a:spcPct val="0"/>
              </a:spcBef>
            </a:pPr>
            <a:r>
              <a:rPr lang="en-US" sz="2499" b="1">
                <a:solidFill>
                  <a:srgbClr val="243B55"/>
                </a:solidFill>
                <a:latin typeface="Montserrat Bold"/>
                <a:ea typeface="Montserrat Bold"/>
                <a:cs typeface="Montserrat Bold"/>
                <a:sym typeface="Montserrat Bold"/>
              </a:rPr>
              <a:t>AP/AR INVOICE AUTOMATION USING OCR</a:t>
            </a:r>
          </a:p>
        </p:txBody>
      </p:sp>
      <p:sp>
        <p:nvSpPr>
          <p:cNvPr id="38" name="TextBox 38"/>
          <p:cNvSpPr txBox="1"/>
          <p:nvPr/>
        </p:nvSpPr>
        <p:spPr>
          <a:xfrm>
            <a:off x="1350394" y="6931334"/>
            <a:ext cx="8871709" cy="782320"/>
          </a:xfrm>
          <a:prstGeom prst="rect">
            <a:avLst/>
          </a:prstGeom>
        </p:spPr>
        <p:txBody>
          <a:bodyPr lIns="0" tIns="0" rIns="0" bIns="0" rtlCol="0" anchor="t">
            <a:spAutoFit/>
          </a:bodyPr>
          <a:lstStyle/>
          <a:p>
            <a:pPr algn="just">
              <a:lnSpc>
                <a:spcPts val="3080"/>
              </a:lnSpc>
            </a:pPr>
            <a:r>
              <a:rPr lang="en-US" sz="2200" b="1" spc="57">
                <a:solidFill>
                  <a:srgbClr val="1D1A1B"/>
                </a:solidFill>
                <a:latin typeface="Public Sans Bold"/>
                <a:ea typeface="Public Sans Bold"/>
                <a:cs typeface="Public Sans Bold"/>
                <a:sym typeface="Public Sans Bold"/>
              </a:rPr>
              <a:t>Tech Stack</a:t>
            </a:r>
            <a:r>
              <a:rPr lang="en-US" sz="2200" spc="57">
                <a:solidFill>
                  <a:srgbClr val="1D1A1B"/>
                </a:solidFill>
                <a:latin typeface="Public Sans"/>
                <a:ea typeface="Public Sans"/>
                <a:cs typeface="Public Sans"/>
                <a:sym typeface="Public Sans"/>
              </a:rPr>
              <a:t>: OCR Engine, JSON, CW1 Accounting Interface, ASP.Net, C#, Windows Services, Bank API (Two-Way SSL)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 b="-2"/>
              </a:stretch>
            </a:blipFill>
          </p:spPr>
        </p:sp>
      </p:grpSp>
      <p:grpSp>
        <p:nvGrpSpPr>
          <p:cNvPr id="4" name="Group 4"/>
          <p:cNvGrpSpPr/>
          <p:nvPr/>
        </p:nvGrpSpPr>
        <p:grpSpPr>
          <a:xfrm>
            <a:off x="14679637" y="-370090"/>
            <a:ext cx="6176373" cy="5029235"/>
            <a:chOff x="0" y="0"/>
            <a:chExt cx="8235164" cy="6705647"/>
          </a:xfrm>
        </p:grpSpPr>
        <p:sp>
          <p:nvSpPr>
            <p:cNvPr id="5" name="Freeform 5"/>
            <p:cNvSpPr/>
            <p:nvPr/>
          </p:nvSpPr>
          <p:spPr>
            <a:xfrm>
              <a:off x="13525" y="0"/>
              <a:ext cx="8208185" cy="6705600"/>
            </a:xfrm>
            <a:custGeom>
              <a:avLst/>
              <a:gdLst/>
              <a:ahLst/>
              <a:cxnLst/>
              <a:rect l="l" t="t" r="r" b="b"/>
              <a:pathLst>
                <a:path w="8208185" h="6705600">
                  <a:moveTo>
                    <a:pt x="4038918" y="0"/>
                  </a:moveTo>
                  <a:lnTo>
                    <a:pt x="301689" y="0"/>
                  </a:lnTo>
                  <a:cubicBezTo>
                    <a:pt x="193993" y="0"/>
                    <a:pt x="94298" y="57531"/>
                    <a:pt x="40450" y="150876"/>
                  </a:cubicBezTo>
                  <a:cubicBezTo>
                    <a:pt x="-13398" y="244221"/>
                    <a:pt x="-13525" y="359156"/>
                    <a:pt x="40323" y="452501"/>
                  </a:cubicBezTo>
                  <a:lnTo>
                    <a:pt x="3385757" y="6253099"/>
                  </a:lnTo>
                  <a:cubicBezTo>
                    <a:pt x="3547174" y="6533134"/>
                    <a:pt x="3845878" y="6705600"/>
                    <a:pt x="4169220" y="6705600"/>
                  </a:cubicBezTo>
                  <a:lnTo>
                    <a:pt x="7906322" y="6705600"/>
                  </a:lnTo>
                  <a:cubicBezTo>
                    <a:pt x="8014145" y="6705600"/>
                    <a:pt x="8113713" y="6648069"/>
                    <a:pt x="8167688" y="6554724"/>
                  </a:cubicBezTo>
                  <a:cubicBezTo>
                    <a:pt x="8221663" y="6461379"/>
                    <a:pt x="8221663" y="6346317"/>
                    <a:pt x="8167815" y="6252972"/>
                  </a:cubicBezTo>
                  <a:lnTo>
                    <a:pt x="4822381" y="452501"/>
                  </a:lnTo>
                  <a:cubicBezTo>
                    <a:pt x="4660964" y="172593"/>
                    <a:pt x="4362260" y="0"/>
                    <a:pt x="4038918" y="0"/>
                  </a:cubicBezTo>
                  <a:close/>
                </a:path>
              </a:pathLst>
            </a:custGeom>
            <a:blipFill>
              <a:blip r:embed="rId3"/>
              <a:stretch>
                <a:fillRect l="-22483" r="-22482"/>
              </a:stretch>
            </a:blipFill>
          </p:spPr>
        </p:sp>
      </p:grpSp>
      <p:sp>
        <p:nvSpPr>
          <p:cNvPr id="6" name="Freeform 6"/>
          <p:cNvSpPr/>
          <p:nvPr/>
        </p:nvSpPr>
        <p:spPr>
          <a:xfrm>
            <a:off x="0" y="9645405"/>
            <a:ext cx="18441919" cy="641595"/>
          </a:xfrm>
          <a:custGeom>
            <a:avLst/>
            <a:gdLst/>
            <a:ahLst/>
            <a:cxnLst/>
            <a:rect l="l" t="t" r="r" b="b"/>
            <a:pathLst>
              <a:path w="18441919" h="641595">
                <a:moveTo>
                  <a:pt x="0" y="0"/>
                </a:moveTo>
                <a:lnTo>
                  <a:pt x="18441919" y="0"/>
                </a:lnTo>
                <a:lnTo>
                  <a:pt x="18441919" y="641595"/>
                </a:lnTo>
                <a:lnTo>
                  <a:pt x="0" y="6415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93397" y="-108627"/>
            <a:ext cx="4287337" cy="412575"/>
          </a:xfrm>
          <a:custGeom>
            <a:avLst/>
            <a:gdLst/>
            <a:ahLst/>
            <a:cxnLst/>
            <a:rect l="l" t="t" r="r" b="b"/>
            <a:pathLst>
              <a:path w="4287337" h="412575">
                <a:moveTo>
                  <a:pt x="0" y="0"/>
                </a:moveTo>
                <a:lnTo>
                  <a:pt x="4287337" y="0"/>
                </a:lnTo>
                <a:lnTo>
                  <a:pt x="4287337" y="412575"/>
                </a:lnTo>
                <a:lnTo>
                  <a:pt x="0" y="412575"/>
                </a:lnTo>
                <a:lnTo>
                  <a:pt x="0" y="0"/>
                </a:lnTo>
                <a:close/>
              </a:path>
            </a:pathLst>
          </a:custGeom>
          <a:blipFill>
            <a:blip r:embed="rId6">
              <a:extLst>
                <a:ext uri="{96DAC541-7B7A-43D3-8B79-37D633B846F1}">
                  <asvg:svgBlip xmlns:asvg="http://schemas.microsoft.com/office/drawing/2016/SVG/main" r:embed="rId7"/>
                </a:ext>
              </a:extLst>
            </a:blip>
            <a:stretch>
              <a:fillRect t="-263362" b="-263362"/>
            </a:stretch>
          </a:blipFill>
        </p:spPr>
      </p:sp>
      <p:sp>
        <p:nvSpPr>
          <p:cNvPr id="8" name="Freeform 8"/>
          <p:cNvSpPr/>
          <p:nvPr/>
        </p:nvSpPr>
        <p:spPr>
          <a:xfrm>
            <a:off x="-1437916" y="-888390"/>
            <a:ext cx="2875835" cy="2628858"/>
          </a:xfrm>
          <a:custGeom>
            <a:avLst/>
            <a:gdLst/>
            <a:ahLst/>
            <a:cxnLst/>
            <a:rect l="l" t="t" r="r" b="b"/>
            <a:pathLst>
              <a:path w="2875835" h="2628858">
                <a:moveTo>
                  <a:pt x="0" y="0"/>
                </a:moveTo>
                <a:lnTo>
                  <a:pt x="2875835" y="0"/>
                </a:lnTo>
                <a:lnTo>
                  <a:pt x="2875835" y="2628858"/>
                </a:lnTo>
                <a:lnTo>
                  <a:pt x="0" y="26288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7444837" y="7441102"/>
            <a:ext cx="2263192" cy="1975652"/>
          </a:xfrm>
          <a:custGeom>
            <a:avLst/>
            <a:gdLst/>
            <a:ahLst/>
            <a:cxnLst/>
            <a:rect l="l" t="t" r="r" b="b"/>
            <a:pathLst>
              <a:path w="2263192" h="1975652">
                <a:moveTo>
                  <a:pt x="0" y="0"/>
                </a:moveTo>
                <a:lnTo>
                  <a:pt x="2263192" y="0"/>
                </a:lnTo>
                <a:lnTo>
                  <a:pt x="2263192" y="1975652"/>
                </a:lnTo>
                <a:lnTo>
                  <a:pt x="0" y="19756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4695992" y="691522"/>
            <a:ext cx="8896015" cy="1109345"/>
          </a:xfrm>
          <a:prstGeom prst="rect">
            <a:avLst/>
          </a:prstGeom>
        </p:spPr>
        <p:txBody>
          <a:bodyPr lIns="0" tIns="0" rIns="0" bIns="0" rtlCol="0" anchor="t">
            <a:spAutoFit/>
          </a:bodyPr>
          <a:lstStyle/>
          <a:p>
            <a:pPr algn="ctr">
              <a:lnSpc>
                <a:spcPts val="8499"/>
              </a:lnSpc>
            </a:pPr>
            <a:r>
              <a:rPr lang="en-US" sz="6798" b="1">
                <a:solidFill>
                  <a:srgbClr val="243B55"/>
                </a:solidFill>
                <a:latin typeface="Public Sans Bold"/>
                <a:ea typeface="Public Sans Bold"/>
                <a:cs typeface="Public Sans Bold"/>
                <a:sym typeface="Public Sans Bold"/>
              </a:rPr>
              <a:t>OUR CLIENTS</a:t>
            </a:r>
          </a:p>
        </p:txBody>
      </p:sp>
      <p:sp>
        <p:nvSpPr>
          <p:cNvPr id="11" name="Freeform 11"/>
          <p:cNvSpPr/>
          <p:nvPr/>
        </p:nvSpPr>
        <p:spPr>
          <a:xfrm>
            <a:off x="17092320" y="10059862"/>
            <a:ext cx="1351009" cy="454277"/>
          </a:xfrm>
          <a:custGeom>
            <a:avLst/>
            <a:gdLst/>
            <a:ahLst/>
            <a:cxnLst/>
            <a:rect l="l" t="t" r="r" b="b"/>
            <a:pathLst>
              <a:path w="1351009" h="454277">
                <a:moveTo>
                  <a:pt x="0" y="0"/>
                </a:moveTo>
                <a:lnTo>
                  <a:pt x="1351009" y="0"/>
                </a:lnTo>
                <a:lnTo>
                  <a:pt x="1351009" y="454277"/>
                </a:lnTo>
                <a:lnTo>
                  <a:pt x="0" y="454277"/>
                </a:lnTo>
                <a:lnTo>
                  <a:pt x="0" y="0"/>
                </a:lnTo>
                <a:close/>
              </a:path>
            </a:pathLst>
          </a:custGeom>
          <a:blipFill>
            <a:blip r:embed="rId12">
              <a:extLst>
                <a:ext uri="{96DAC541-7B7A-43D3-8B79-37D633B846F1}">
                  <asvg:svgBlip xmlns:asvg="http://schemas.microsoft.com/office/drawing/2016/SVG/main" r:embed="rId13"/>
                </a:ext>
              </a:extLst>
            </a:blip>
            <a:stretch>
              <a:fillRect t="-264" b="-264"/>
            </a:stretch>
          </a:blipFill>
        </p:spPr>
      </p:sp>
      <p:grpSp>
        <p:nvGrpSpPr>
          <p:cNvPr id="12" name="Group 12"/>
          <p:cNvGrpSpPr/>
          <p:nvPr/>
        </p:nvGrpSpPr>
        <p:grpSpPr>
          <a:xfrm>
            <a:off x="-2541821" y="5842555"/>
            <a:ext cx="5899753" cy="4791110"/>
            <a:chOff x="0" y="0"/>
            <a:chExt cx="7866338" cy="6388147"/>
          </a:xfrm>
        </p:grpSpPr>
        <p:sp>
          <p:nvSpPr>
            <p:cNvPr id="13" name="Freeform 13"/>
            <p:cNvSpPr/>
            <p:nvPr/>
          </p:nvSpPr>
          <p:spPr>
            <a:xfrm flipH="1">
              <a:off x="13462" y="0"/>
              <a:ext cx="7839504" cy="6388227"/>
            </a:xfrm>
            <a:custGeom>
              <a:avLst/>
              <a:gdLst/>
              <a:ahLst/>
              <a:cxnLst/>
              <a:rect l="l" t="t" r="r" b="b"/>
              <a:pathLst>
                <a:path w="7839504" h="6388227">
                  <a:moveTo>
                    <a:pt x="3984673" y="0"/>
                  </a:moveTo>
                  <a:lnTo>
                    <a:pt x="7539149" y="0"/>
                  </a:lnTo>
                  <a:cubicBezTo>
                    <a:pt x="7646464" y="0"/>
                    <a:pt x="7745651" y="57277"/>
                    <a:pt x="7799245" y="150114"/>
                  </a:cubicBezTo>
                  <a:cubicBezTo>
                    <a:pt x="7852839" y="242951"/>
                    <a:pt x="7852966" y="357505"/>
                    <a:pt x="7799372" y="450469"/>
                  </a:cubicBezTo>
                  <a:lnTo>
                    <a:pt x="4634659" y="5937758"/>
                  </a:lnTo>
                  <a:cubicBezTo>
                    <a:pt x="4473877" y="6216523"/>
                    <a:pt x="4176697" y="6388227"/>
                    <a:pt x="3854879" y="6388227"/>
                  </a:cubicBezTo>
                  <a:lnTo>
                    <a:pt x="300403" y="6388227"/>
                  </a:lnTo>
                  <a:cubicBezTo>
                    <a:pt x="193088" y="6388227"/>
                    <a:pt x="94028" y="6330950"/>
                    <a:pt x="40307" y="6238113"/>
                  </a:cubicBezTo>
                  <a:cubicBezTo>
                    <a:pt x="-13415" y="6145276"/>
                    <a:pt x="-13415" y="6030722"/>
                    <a:pt x="40180" y="5937758"/>
                  </a:cubicBezTo>
                  <a:lnTo>
                    <a:pt x="3204893" y="450469"/>
                  </a:lnTo>
                  <a:cubicBezTo>
                    <a:pt x="3365675" y="171704"/>
                    <a:pt x="3662982" y="0"/>
                    <a:pt x="3984673" y="0"/>
                  </a:cubicBezTo>
                  <a:close/>
                </a:path>
              </a:pathLst>
            </a:custGeom>
            <a:blipFill>
              <a:blip r:embed="rId14"/>
              <a:stretch>
                <a:fillRect l="-11115" r="-11114" b="1"/>
              </a:stretch>
            </a:blipFill>
          </p:spPr>
        </p:sp>
      </p:grpSp>
      <p:grpSp>
        <p:nvGrpSpPr>
          <p:cNvPr id="14" name="Group 14"/>
          <p:cNvGrpSpPr/>
          <p:nvPr/>
        </p:nvGrpSpPr>
        <p:grpSpPr>
          <a:xfrm>
            <a:off x="3338988" y="3072851"/>
            <a:ext cx="2938990" cy="1259567"/>
            <a:chOff x="0" y="0"/>
            <a:chExt cx="3918654" cy="1679423"/>
          </a:xfrm>
        </p:grpSpPr>
        <p:sp>
          <p:nvSpPr>
            <p:cNvPr id="15" name="Freeform 15"/>
            <p:cNvSpPr/>
            <p:nvPr/>
          </p:nvSpPr>
          <p:spPr>
            <a:xfrm>
              <a:off x="0" y="0"/>
              <a:ext cx="3918712" cy="1679448"/>
            </a:xfrm>
            <a:custGeom>
              <a:avLst/>
              <a:gdLst/>
              <a:ahLst/>
              <a:cxnLst/>
              <a:rect l="l" t="t" r="r" b="b"/>
              <a:pathLst>
                <a:path w="3918712" h="1679448">
                  <a:moveTo>
                    <a:pt x="0" y="0"/>
                  </a:moveTo>
                  <a:lnTo>
                    <a:pt x="3918712" y="0"/>
                  </a:lnTo>
                  <a:lnTo>
                    <a:pt x="3918712" y="1679448"/>
                  </a:lnTo>
                  <a:lnTo>
                    <a:pt x="0" y="1679448"/>
                  </a:lnTo>
                  <a:lnTo>
                    <a:pt x="0" y="0"/>
                  </a:lnTo>
                  <a:close/>
                </a:path>
              </a:pathLst>
            </a:custGeom>
            <a:blipFill>
              <a:blip r:embed="rId15"/>
              <a:stretch>
                <a:fillRect r="1" b="1"/>
              </a:stretch>
            </a:blipFill>
          </p:spPr>
        </p:sp>
      </p:grpSp>
      <p:grpSp>
        <p:nvGrpSpPr>
          <p:cNvPr id="16" name="Group 16"/>
          <p:cNvGrpSpPr/>
          <p:nvPr/>
        </p:nvGrpSpPr>
        <p:grpSpPr>
          <a:xfrm>
            <a:off x="7258133" y="3072851"/>
            <a:ext cx="2938990" cy="1259567"/>
            <a:chOff x="0" y="0"/>
            <a:chExt cx="3918654" cy="1679423"/>
          </a:xfrm>
        </p:grpSpPr>
        <p:sp>
          <p:nvSpPr>
            <p:cNvPr id="17" name="Freeform 17"/>
            <p:cNvSpPr/>
            <p:nvPr/>
          </p:nvSpPr>
          <p:spPr>
            <a:xfrm>
              <a:off x="0" y="0"/>
              <a:ext cx="3918712" cy="1679448"/>
            </a:xfrm>
            <a:custGeom>
              <a:avLst/>
              <a:gdLst/>
              <a:ahLst/>
              <a:cxnLst/>
              <a:rect l="l" t="t" r="r" b="b"/>
              <a:pathLst>
                <a:path w="3918712" h="1679448">
                  <a:moveTo>
                    <a:pt x="0" y="0"/>
                  </a:moveTo>
                  <a:lnTo>
                    <a:pt x="3918712" y="0"/>
                  </a:lnTo>
                  <a:lnTo>
                    <a:pt x="3918712" y="1679448"/>
                  </a:lnTo>
                  <a:lnTo>
                    <a:pt x="0" y="1679448"/>
                  </a:lnTo>
                  <a:lnTo>
                    <a:pt x="0" y="0"/>
                  </a:lnTo>
                  <a:close/>
                </a:path>
              </a:pathLst>
            </a:custGeom>
            <a:blipFill>
              <a:blip r:embed="rId16"/>
              <a:stretch>
                <a:fillRect r="1" b="1"/>
              </a:stretch>
            </a:blipFill>
          </p:spPr>
        </p:sp>
      </p:grpSp>
      <p:grpSp>
        <p:nvGrpSpPr>
          <p:cNvPr id="18" name="Group 18"/>
          <p:cNvGrpSpPr/>
          <p:nvPr/>
        </p:nvGrpSpPr>
        <p:grpSpPr>
          <a:xfrm>
            <a:off x="11174182" y="3351742"/>
            <a:ext cx="4773771" cy="701785"/>
            <a:chOff x="0" y="0"/>
            <a:chExt cx="6365028" cy="935713"/>
          </a:xfrm>
        </p:grpSpPr>
        <p:sp>
          <p:nvSpPr>
            <p:cNvPr id="19" name="Freeform 19"/>
            <p:cNvSpPr/>
            <p:nvPr/>
          </p:nvSpPr>
          <p:spPr>
            <a:xfrm>
              <a:off x="0" y="0"/>
              <a:ext cx="6364986" cy="935736"/>
            </a:xfrm>
            <a:custGeom>
              <a:avLst/>
              <a:gdLst/>
              <a:ahLst/>
              <a:cxnLst/>
              <a:rect l="l" t="t" r="r" b="b"/>
              <a:pathLst>
                <a:path w="6364986" h="935736">
                  <a:moveTo>
                    <a:pt x="0" y="0"/>
                  </a:moveTo>
                  <a:lnTo>
                    <a:pt x="6364986" y="0"/>
                  </a:lnTo>
                  <a:lnTo>
                    <a:pt x="6364986" y="935736"/>
                  </a:lnTo>
                  <a:lnTo>
                    <a:pt x="0" y="935736"/>
                  </a:lnTo>
                  <a:lnTo>
                    <a:pt x="0" y="0"/>
                  </a:lnTo>
                  <a:close/>
                </a:path>
              </a:pathLst>
            </a:custGeom>
            <a:blipFill>
              <a:blip r:embed="rId17"/>
              <a:stretch>
                <a:fillRect b="2"/>
              </a:stretch>
            </a:blipFill>
          </p:spPr>
        </p:sp>
      </p:grpSp>
      <p:grpSp>
        <p:nvGrpSpPr>
          <p:cNvPr id="20" name="Group 20"/>
          <p:cNvGrpSpPr/>
          <p:nvPr/>
        </p:nvGrpSpPr>
        <p:grpSpPr>
          <a:xfrm>
            <a:off x="11456936" y="5185354"/>
            <a:ext cx="2530180" cy="1084363"/>
            <a:chOff x="0" y="0"/>
            <a:chExt cx="3373574" cy="1445817"/>
          </a:xfrm>
        </p:grpSpPr>
        <p:sp>
          <p:nvSpPr>
            <p:cNvPr id="21" name="Freeform 21"/>
            <p:cNvSpPr/>
            <p:nvPr/>
          </p:nvSpPr>
          <p:spPr>
            <a:xfrm>
              <a:off x="0" y="0"/>
              <a:ext cx="3373628" cy="1445768"/>
            </a:xfrm>
            <a:custGeom>
              <a:avLst/>
              <a:gdLst/>
              <a:ahLst/>
              <a:cxnLst/>
              <a:rect l="l" t="t" r="r" b="b"/>
              <a:pathLst>
                <a:path w="3373628" h="1445768">
                  <a:moveTo>
                    <a:pt x="0" y="0"/>
                  </a:moveTo>
                  <a:lnTo>
                    <a:pt x="3373628" y="0"/>
                  </a:lnTo>
                  <a:lnTo>
                    <a:pt x="3373628" y="1445768"/>
                  </a:lnTo>
                  <a:lnTo>
                    <a:pt x="0" y="1445768"/>
                  </a:lnTo>
                  <a:lnTo>
                    <a:pt x="0" y="0"/>
                  </a:lnTo>
                  <a:close/>
                </a:path>
              </a:pathLst>
            </a:custGeom>
            <a:blipFill>
              <a:blip r:embed="rId18"/>
              <a:stretch>
                <a:fillRect r="1" b="-3"/>
              </a:stretch>
            </a:blipFill>
          </p:spPr>
        </p:sp>
      </p:grpSp>
      <p:grpSp>
        <p:nvGrpSpPr>
          <p:cNvPr id="22" name="Group 22"/>
          <p:cNvGrpSpPr/>
          <p:nvPr/>
        </p:nvGrpSpPr>
        <p:grpSpPr>
          <a:xfrm>
            <a:off x="3338988" y="7031583"/>
            <a:ext cx="3688244" cy="1580676"/>
            <a:chOff x="0" y="0"/>
            <a:chExt cx="4917659" cy="2107568"/>
          </a:xfrm>
        </p:grpSpPr>
        <p:sp>
          <p:nvSpPr>
            <p:cNvPr id="23" name="Freeform 23"/>
            <p:cNvSpPr/>
            <p:nvPr/>
          </p:nvSpPr>
          <p:spPr>
            <a:xfrm>
              <a:off x="0" y="0"/>
              <a:ext cx="4917694" cy="2107565"/>
            </a:xfrm>
            <a:custGeom>
              <a:avLst/>
              <a:gdLst/>
              <a:ahLst/>
              <a:cxnLst/>
              <a:rect l="l" t="t" r="r" b="b"/>
              <a:pathLst>
                <a:path w="4917694" h="2107565">
                  <a:moveTo>
                    <a:pt x="0" y="0"/>
                  </a:moveTo>
                  <a:lnTo>
                    <a:pt x="4917694" y="0"/>
                  </a:lnTo>
                  <a:lnTo>
                    <a:pt x="4917694" y="2107565"/>
                  </a:lnTo>
                  <a:lnTo>
                    <a:pt x="0" y="2107565"/>
                  </a:lnTo>
                  <a:lnTo>
                    <a:pt x="0" y="0"/>
                  </a:lnTo>
                  <a:close/>
                </a:path>
              </a:pathLst>
            </a:custGeom>
            <a:blipFill>
              <a:blip r:embed="rId19"/>
              <a:stretch>
                <a:fillRect/>
              </a:stretch>
            </a:blipFill>
          </p:spPr>
        </p:sp>
      </p:grpSp>
      <p:grpSp>
        <p:nvGrpSpPr>
          <p:cNvPr id="24" name="Group 24"/>
          <p:cNvGrpSpPr/>
          <p:nvPr/>
        </p:nvGrpSpPr>
        <p:grpSpPr>
          <a:xfrm>
            <a:off x="7258133" y="4874049"/>
            <a:ext cx="3051806" cy="1307917"/>
            <a:chOff x="0" y="0"/>
            <a:chExt cx="4069075" cy="1743889"/>
          </a:xfrm>
        </p:grpSpPr>
        <p:sp>
          <p:nvSpPr>
            <p:cNvPr id="25" name="Freeform 25"/>
            <p:cNvSpPr/>
            <p:nvPr/>
          </p:nvSpPr>
          <p:spPr>
            <a:xfrm>
              <a:off x="0" y="0"/>
              <a:ext cx="4069080" cy="1743837"/>
            </a:xfrm>
            <a:custGeom>
              <a:avLst/>
              <a:gdLst/>
              <a:ahLst/>
              <a:cxnLst/>
              <a:rect l="l" t="t" r="r" b="b"/>
              <a:pathLst>
                <a:path w="4069080" h="1743837">
                  <a:moveTo>
                    <a:pt x="0" y="0"/>
                  </a:moveTo>
                  <a:lnTo>
                    <a:pt x="4069080" y="0"/>
                  </a:lnTo>
                  <a:lnTo>
                    <a:pt x="4069080" y="1743837"/>
                  </a:lnTo>
                  <a:lnTo>
                    <a:pt x="0" y="1743837"/>
                  </a:lnTo>
                  <a:lnTo>
                    <a:pt x="0" y="0"/>
                  </a:lnTo>
                  <a:close/>
                </a:path>
              </a:pathLst>
            </a:custGeom>
            <a:blipFill>
              <a:blip r:embed="rId20"/>
              <a:stretch>
                <a:fillRect b="-2"/>
              </a:stretch>
            </a:blipFill>
          </p:spPr>
        </p:sp>
      </p:grpSp>
      <p:grpSp>
        <p:nvGrpSpPr>
          <p:cNvPr id="26" name="Group 26"/>
          <p:cNvGrpSpPr/>
          <p:nvPr/>
        </p:nvGrpSpPr>
        <p:grpSpPr>
          <a:xfrm>
            <a:off x="3338988" y="5185354"/>
            <a:ext cx="3688244" cy="868274"/>
            <a:chOff x="0" y="0"/>
            <a:chExt cx="4917659" cy="1157699"/>
          </a:xfrm>
        </p:grpSpPr>
        <p:sp>
          <p:nvSpPr>
            <p:cNvPr id="27" name="Freeform 27"/>
            <p:cNvSpPr/>
            <p:nvPr/>
          </p:nvSpPr>
          <p:spPr>
            <a:xfrm>
              <a:off x="0" y="0"/>
              <a:ext cx="4917694" cy="1157732"/>
            </a:xfrm>
            <a:custGeom>
              <a:avLst/>
              <a:gdLst/>
              <a:ahLst/>
              <a:cxnLst/>
              <a:rect l="l" t="t" r="r" b="b"/>
              <a:pathLst>
                <a:path w="4917694" h="1157732">
                  <a:moveTo>
                    <a:pt x="0" y="0"/>
                  </a:moveTo>
                  <a:lnTo>
                    <a:pt x="4917694" y="0"/>
                  </a:lnTo>
                  <a:lnTo>
                    <a:pt x="4917694" y="1157732"/>
                  </a:lnTo>
                  <a:lnTo>
                    <a:pt x="0" y="1157732"/>
                  </a:lnTo>
                  <a:lnTo>
                    <a:pt x="0" y="0"/>
                  </a:lnTo>
                  <a:close/>
                </a:path>
              </a:pathLst>
            </a:custGeom>
            <a:blipFill>
              <a:blip r:embed="rId21"/>
              <a:stretch>
                <a:fillRect t="-136" b="-134"/>
              </a:stretch>
            </a:blipFill>
          </p:spPr>
        </p:sp>
      </p:grpSp>
      <p:grpSp>
        <p:nvGrpSpPr>
          <p:cNvPr id="28" name="Group 28"/>
          <p:cNvGrpSpPr/>
          <p:nvPr/>
        </p:nvGrpSpPr>
        <p:grpSpPr>
          <a:xfrm>
            <a:off x="7999220" y="7040570"/>
            <a:ext cx="3457717" cy="1571690"/>
            <a:chOff x="0" y="0"/>
            <a:chExt cx="4610289" cy="2095586"/>
          </a:xfrm>
        </p:grpSpPr>
        <p:sp>
          <p:nvSpPr>
            <p:cNvPr id="29" name="Freeform 29"/>
            <p:cNvSpPr/>
            <p:nvPr/>
          </p:nvSpPr>
          <p:spPr>
            <a:xfrm>
              <a:off x="0" y="0"/>
              <a:ext cx="4610227" cy="2095627"/>
            </a:xfrm>
            <a:custGeom>
              <a:avLst/>
              <a:gdLst/>
              <a:ahLst/>
              <a:cxnLst/>
              <a:rect l="l" t="t" r="r" b="b"/>
              <a:pathLst>
                <a:path w="4610227" h="2095627">
                  <a:moveTo>
                    <a:pt x="0" y="0"/>
                  </a:moveTo>
                  <a:lnTo>
                    <a:pt x="4610227" y="0"/>
                  </a:lnTo>
                  <a:lnTo>
                    <a:pt x="4610227" y="2095627"/>
                  </a:lnTo>
                  <a:lnTo>
                    <a:pt x="0" y="2095627"/>
                  </a:lnTo>
                  <a:lnTo>
                    <a:pt x="0" y="0"/>
                  </a:lnTo>
                  <a:close/>
                </a:path>
              </a:pathLst>
            </a:custGeom>
            <a:blipFill>
              <a:blip r:embed="rId22"/>
              <a:stretch>
                <a:fillRect r="-1" b="1"/>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 b="-2"/>
              </a:stretch>
            </a:blipFill>
          </p:spPr>
        </p:sp>
      </p:grpSp>
      <p:sp>
        <p:nvSpPr>
          <p:cNvPr id="4" name="Freeform 4"/>
          <p:cNvSpPr/>
          <p:nvPr/>
        </p:nvSpPr>
        <p:spPr>
          <a:xfrm>
            <a:off x="16805673" y="-370834"/>
            <a:ext cx="2098286" cy="1817640"/>
          </a:xfrm>
          <a:custGeom>
            <a:avLst/>
            <a:gdLst/>
            <a:ahLst/>
            <a:cxnLst/>
            <a:rect l="l" t="t" r="r" b="b"/>
            <a:pathLst>
              <a:path w="2098286" h="1817640">
                <a:moveTo>
                  <a:pt x="0" y="0"/>
                </a:moveTo>
                <a:lnTo>
                  <a:pt x="2098286" y="0"/>
                </a:lnTo>
                <a:lnTo>
                  <a:pt x="2098286" y="1817640"/>
                </a:lnTo>
                <a:lnTo>
                  <a:pt x="0" y="1817640"/>
                </a:lnTo>
                <a:lnTo>
                  <a:pt x="0" y="0"/>
                </a:lnTo>
                <a:close/>
              </a:path>
            </a:pathLst>
          </a:custGeom>
          <a:blipFill>
            <a:blip r:embed="rId3">
              <a:alphaModFix amt="5000"/>
              <a:extLst>
                <a:ext uri="{96DAC541-7B7A-43D3-8B79-37D633B846F1}">
                  <asvg:svgBlip xmlns:asvg="http://schemas.microsoft.com/office/drawing/2016/SVG/main" r:embed="rId4"/>
                </a:ext>
              </a:extLst>
            </a:blip>
            <a:stretch>
              <a:fillRect l="-115" r="-115"/>
            </a:stretch>
          </a:blipFill>
        </p:spPr>
      </p:sp>
      <p:sp>
        <p:nvSpPr>
          <p:cNvPr id="5" name="Freeform 5"/>
          <p:cNvSpPr/>
          <p:nvPr/>
        </p:nvSpPr>
        <p:spPr>
          <a:xfrm>
            <a:off x="15445100" y="-1911981"/>
            <a:ext cx="2875835" cy="2628858"/>
          </a:xfrm>
          <a:custGeom>
            <a:avLst/>
            <a:gdLst/>
            <a:ahLst/>
            <a:cxnLst/>
            <a:rect l="l" t="t" r="r" b="b"/>
            <a:pathLst>
              <a:path w="2875835" h="2628858">
                <a:moveTo>
                  <a:pt x="0" y="0"/>
                </a:moveTo>
                <a:lnTo>
                  <a:pt x="2875835" y="0"/>
                </a:lnTo>
                <a:lnTo>
                  <a:pt x="2875835" y="2628858"/>
                </a:lnTo>
                <a:lnTo>
                  <a:pt x="0" y="26288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7819719" y="5488476"/>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8150054" y="5488476"/>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7800669" y="6174676"/>
            <a:ext cx="995164" cy="995165"/>
          </a:xfrm>
          <a:custGeom>
            <a:avLst/>
            <a:gdLst/>
            <a:ahLst/>
            <a:cxnLst/>
            <a:rect l="l" t="t" r="r" b="b"/>
            <a:pathLst>
              <a:path w="995164" h="995165">
                <a:moveTo>
                  <a:pt x="0" y="0"/>
                </a:moveTo>
                <a:lnTo>
                  <a:pt x="995164" y="0"/>
                </a:lnTo>
                <a:lnTo>
                  <a:pt x="995164" y="995165"/>
                </a:lnTo>
                <a:lnTo>
                  <a:pt x="0" y="99516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Freeform 9"/>
          <p:cNvSpPr/>
          <p:nvPr/>
        </p:nvSpPr>
        <p:spPr>
          <a:xfrm>
            <a:off x="7872550" y="6246558"/>
            <a:ext cx="851401" cy="851401"/>
          </a:xfrm>
          <a:custGeom>
            <a:avLst/>
            <a:gdLst/>
            <a:ahLst/>
            <a:cxnLst/>
            <a:rect l="l" t="t" r="r" b="b"/>
            <a:pathLst>
              <a:path w="851401" h="851401">
                <a:moveTo>
                  <a:pt x="0" y="0"/>
                </a:moveTo>
                <a:lnTo>
                  <a:pt x="851401" y="0"/>
                </a:lnTo>
                <a:lnTo>
                  <a:pt x="851401" y="851400"/>
                </a:lnTo>
                <a:lnTo>
                  <a:pt x="0" y="8514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 name="TextBox 10"/>
          <p:cNvSpPr txBox="1"/>
          <p:nvPr/>
        </p:nvSpPr>
        <p:spPr>
          <a:xfrm>
            <a:off x="8883336" y="5740395"/>
            <a:ext cx="8777563" cy="1811337"/>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"It offers everything a user would need to run their business for a fair price. It has different functions that you can use when needed and only get charged for the usage."</a:t>
            </a:r>
          </a:p>
          <a:p>
            <a:pPr algn="just">
              <a:lnSpc>
                <a:spcPts val="2800"/>
              </a:lnSpc>
            </a:pPr>
            <a:r>
              <a:rPr lang="en-US" sz="2000">
                <a:solidFill>
                  <a:srgbClr val="FFFFFF"/>
                </a:solidFill>
                <a:latin typeface="Public Sans"/>
                <a:ea typeface="Public Sans"/>
                <a:cs typeface="Public Sans"/>
                <a:sym typeface="Public Sans"/>
              </a:rPr>
              <a:t>Logistics Client</a:t>
            </a:r>
          </a:p>
          <a:p>
            <a:pPr algn="just">
              <a:lnSpc>
                <a:spcPts val="2800"/>
              </a:lnSpc>
            </a:pPr>
            <a:r>
              <a:rPr lang="en-US" sz="2000">
                <a:solidFill>
                  <a:srgbClr val="FFFFFF"/>
                </a:solidFill>
                <a:latin typeface="Public Sans"/>
                <a:ea typeface="Public Sans"/>
                <a:cs typeface="Public Sans"/>
                <a:sym typeface="Public Sans"/>
              </a:rPr>
              <a:t>CargoWise Implementation</a:t>
            </a:r>
          </a:p>
        </p:txBody>
      </p:sp>
      <p:sp>
        <p:nvSpPr>
          <p:cNvPr id="11" name="Freeform 11"/>
          <p:cNvSpPr/>
          <p:nvPr/>
        </p:nvSpPr>
        <p:spPr>
          <a:xfrm>
            <a:off x="244308" y="598646"/>
            <a:ext cx="7381958" cy="5148227"/>
          </a:xfrm>
          <a:custGeom>
            <a:avLst/>
            <a:gdLst/>
            <a:ahLst/>
            <a:cxnLst/>
            <a:rect l="l" t="t" r="r" b="b"/>
            <a:pathLst>
              <a:path w="7381958" h="5148227">
                <a:moveTo>
                  <a:pt x="0" y="0"/>
                </a:moveTo>
                <a:lnTo>
                  <a:pt x="7381958" y="0"/>
                </a:lnTo>
                <a:lnTo>
                  <a:pt x="7381958" y="5148227"/>
                </a:lnTo>
                <a:lnTo>
                  <a:pt x="0" y="514822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2" name="TextBox 12"/>
          <p:cNvSpPr txBox="1"/>
          <p:nvPr/>
        </p:nvSpPr>
        <p:spPr>
          <a:xfrm>
            <a:off x="734611" y="1654280"/>
            <a:ext cx="6629488" cy="964406"/>
          </a:xfrm>
          <a:prstGeom prst="rect">
            <a:avLst/>
          </a:prstGeom>
        </p:spPr>
        <p:txBody>
          <a:bodyPr lIns="0" tIns="0" rIns="0" bIns="0" rtlCol="0" anchor="t">
            <a:spAutoFit/>
          </a:bodyPr>
          <a:lstStyle/>
          <a:p>
            <a:pPr algn="l">
              <a:lnSpc>
                <a:spcPts val="7500"/>
              </a:lnSpc>
            </a:pPr>
            <a:r>
              <a:rPr lang="en-US" sz="6000" b="1">
                <a:solidFill>
                  <a:srgbClr val="1D1A1B"/>
                </a:solidFill>
                <a:latin typeface="Montserrat Bold"/>
                <a:ea typeface="Montserrat Bold"/>
                <a:cs typeface="Montserrat Bold"/>
                <a:sym typeface="Montserrat Bold"/>
              </a:rPr>
              <a:t>SUCCESS STORY</a:t>
            </a:r>
          </a:p>
        </p:txBody>
      </p:sp>
      <p:sp>
        <p:nvSpPr>
          <p:cNvPr id="13" name="TextBox 13"/>
          <p:cNvSpPr txBox="1"/>
          <p:nvPr/>
        </p:nvSpPr>
        <p:spPr>
          <a:xfrm>
            <a:off x="1216622" y="2935627"/>
            <a:ext cx="5665466" cy="1811337"/>
          </a:xfrm>
          <a:prstGeom prst="rect">
            <a:avLst/>
          </a:prstGeom>
        </p:spPr>
        <p:txBody>
          <a:bodyPr lIns="0" tIns="0" rIns="0" bIns="0" rtlCol="0" anchor="t">
            <a:spAutoFit/>
          </a:bodyPr>
          <a:lstStyle/>
          <a:p>
            <a:pPr algn="just">
              <a:lnSpc>
                <a:spcPts val="2800"/>
              </a:lnSpc>
            </a:pPr>
            <a:r>
              <a:rPr lang="en-US" sz="2000">
                <a:solidFill>
                  <a:srgbClr val="1D1A1B"/>
                </a:solidFill>
                <a:latin typeface="Public Sans"/>
                <a:ea typeface="Public Sans"/>
                <a:cs typeface="Public Sans"/>
                <a:sym typeface="Public Sans"/>
              </a:rPr>
              <a:t>At Infologia Technologies, client satisfaction is our top priority. Our commitment to excellence and dedication to delivering exceptional solutions has earned us widespread recognition and trust in the industry.</a:t>
            </a:r>
          </a:p>
        </p:txBody>
      </p:sp>
      <p:sp>
        <p:nvSpPr>
          <p:cNvPr id="14" name="Freeform 14"/>
          <p:cNvSpPr/>
          <p:nvPr/>
        </p:nvSpPr>
        <p:spPr>
          <a:xfrm>
            <a:off x="7819719" y="3034889"/>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5" name="Freeform 15"/>
          <p:cNvSpPr/>
          <p:nvPr/>
        </p:nvSpPr>
        <p:spPr>
          <a:xfrm>
            <a:off x="8150054" y="3034889"/>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6" name="TextBox 16"/>
          <p:cNvSpPr txBox="1"/>
          <p:nvPr/>
        </p:nvSpPr>
        <p:spPr>
          <a:xfrm>
            <a:off x="8843458" y="3286808"/>
            <a:ext cx="8777563" cy="1811337"/>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"Infologia Technologies efficiently streamlined our custom decorations process, delivering on time and within budget. Highly recommended for reliable, cost-effective IT services."</a:t>
            </a:r>
          </a:p>
          <a:p>
            <a:pPr algn="just">
              <a:lnSpc>
                <a:spcPts val="2800"/>
              </a:lnSpc>
            </a:pPr>
            <a:r>
              <a:rPr lang="en-US" sz="2000">
                <a:solidFill>
                  <a:srgbClr val="FFFFFF"/>
                </a:solidFill>
                <a:latin typeface="Public Sans"/>
                <a:ea typeface="Public Sans"/>
                <a:cs typeface="Public Sans"/>
                <a:sym typeface="Public Sans"/>
              </a:rPr>
              <a:t>Jijesh Puliyappottammal</a:t>
            </a:r>
          </a:p>
          <a:p>
            <a:pPr algn="just">
              <a:lnSpc>
                <a:spcPts val="2800"/>
              </a:lnSpc>
            </a:pPr>
            <a:r>
              <a:rPr lang="en-US" sz="2000">
                <a:solidFill>
                  <a:srgbClr val="FFFFFF"/>
                </a:solidFill>
                <a:latin typeface="Public Sans"/>
                <a:ea typeface="Public Sans"/>
                <a:cs typeface="Public Sans"/>
                <a:sym typeface="Public Sans"/>
              </a:rPr>
              <a:t>IT Manager</a:t>
            </a:r>
          </a:p>
        </p:txBody>
      </p:sp>
      <p:sp>
        <p:nvSpPr>
          <p:cNvPr id="17" name="Freeform 17"/>
          <p:cNvSpPr/>
          <p:nvPr/>
        </p:nvSpPr>
        <p:spPr>
          <a:xfrm>
            <a:off x="7810194" y="3692686"/>
            <a:ext cx="995164" cy="995165"/>
          </a:xfrm>
          <a:custGeom>
            <a:avLst/>
            <a:gdLst/>
            <a:ahLst/>
            <a:cxnLst/>
            <a:rect l="l" t="t" r="r" b="b"/>
            <a:pathLst>
              <a:path w="995164" h="995165">
                <a:moveTo>
                  <a:pt x="0" y="0"/>
                </a:moveTo>
                <a:lnTo>
                  <a:pt x="995164" y="0"/>
                </a:lnTo>
                <a:lnTo>
                  <a:pt x="995164" y="995164"/>
                </a:lnTo>
                <a:lnTo>
                  <a:pt x="0" y="995164"/>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8" name="Freeform 18"/>
          <p:cNvSpPr/>
          <p:nvPr/>
        </p:nvSpPr>
        <p:spPr>
          <a:xfrm>
            <a:off x="7882075" y="3764567"/>
            <a:ext cx="851401" cy="851401"/>
          </a:xfrm>
          <a:custGeom>
            <a:avLst/>
            <a:gdLst/>
            <a:ahLst/>
            <a:cxnLst/>
            <a:rect l="l" t="t" r="r" b="b"/>
            <a:pathLst>
              <a:path w="851401" h="851401">
                <a:moveTo>
                  <a:pt x="0" y="0"/>
                </a:moveTo>
                <a:lnTo>
                  <a:pt x="851401" y="0"/>
                </a:lnTo>
                <a:lnTo>
                  <a:pt x="851401" y="851401"/>
                </a:lnTo>
                <a:lnTo>
                  <a:pt x="0" y="85140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9" name="Freeform 19"/>
          <p:cNvSpPr/>
          <p:nvPr/>
        </p:nvSpPr>
        <p:spPr>
          <a:xfrm>
            <a:off x="7819719" y="7856338"/>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0" name="Freeform 20"/>
          <p:cNvSpPr/>
          <p:nvPr/>
        </p:nvSpPr>
        <p:spPr>
          <a:xfrm>
            <a:off x="8150054" y="7856338"/>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1" name="TextBox 21"/>
          <p:cNvSpPr txBox="1"/>
          <p:nvPr/>
        </p:nvSpPr>
        <p:spPr>
          <a:xfrm>
            <a:off x="8911911" y="8146702"/>
            <a:ext cx="8777563" cy="1811337"/>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"We have two implementations and our business analysts were able to pick up the functionality quickly. All the utilities and features that this system provides have been invaluable."</a:t>
            </a:r>
          </a:p>
          <a:p>
            <a:pPr algn="just">
              <a:lnSpc>
                <a:spcPts val="2800"/>
              </a:lnSpc>
            </a:pPr>
            <a:r>
              <a:rPr lang="en-US" sz="2000">
                <a:solidFill>
                  <a:srgbClr val="FFFFFF"/>
                </a:solidFill>
                <a:latin typeface="Public Sans"/>
                <a:ea typeface="Public Sans"/>
                <a:cs typeface="Public Sans"/>
                <a:sym typeface="Public Sans"/>
              </a:rPr>
              <a:t>Enterprise Client</a:t>
            </a:r>
          </a:p>
          <a:p>
            <a:pPr algn="just">
              <a:lnSpc>
                <a:spcPts val="2800"/>
              </a:lnSpc>
            </a:pPr>
            <a:r>
              <a:rPr lang="en-US" sz="2000">
                <a:solidFill>
                  <a:srgbClr val="FFFFFF"/>
                </a:solidFill>
                <a:latin typeface="Public Sans"/>
                <a:ea typeface="Public Sans"/>
                <a:cs typeface="Public Sans"/>
                <a:sym typeface="Public Sans"/>
              </a:rPr>
              <a:t>Software Solutions</a:t>
            </a:r>
          </a:p>
        </p:txBody>
      </p:sp>
      <p:sp>
        <p:nvSpPr>
          <p:cNvPr id="22" name="Freeform 22"/>
          <p:cNvSpPr/>
          <p:nvPr/>
        </p:nvSpPr>
        <p:spPr>
          <a:xfrm>
            <a:off x="7810194" y="8518726"/>
            <a:ext cx="995164" cy="995165"/>
          </a:xfrm>
          <a:custGeom>
            <a:avLst/>
            <a:gdLst/>
            <a:ahLst/>
            <a:cxnLst/>
            <a:rect l="l" t="t" r="r" b="b"/>
            <a:pathLst>
              <a:path w="995164" h="995165">
                <a:moveTo>
                  <a:pt x="0" y="0"/>
                </a:moveTo>
                <a:lnTo>
                  <a:pt x="995164" y="0"/>
                </a:lnTo>
                <a:lnTo>
                  <a:pt x="995164" y="995164"/>
                </a:lnTo>
                <a:lnTo>
                  <a:pt x="0" y="995164"/>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23" name="Freeform 23"/>
          <p:cNvSpPr/>
          <p:nvPr/>
        </p:nvSpPr>
        <p:spPr>
          <a:xfrm>
            <a:off x="7882075" y="8590607"/>
            <a:ext cx="851401" cy="851401"/>
          </a:xfrm>
          <a:custGeom>
            <a:avLst/>
            <a:gdLst/>
            <a:ahLst/>
            <a:cxnLst/>
            <a:rect l="l" t="t" r="r" b="b"/>
            <a:pathLst>
              <a:path w="851401" h="851401">
                <a:moveTo>
                  <a:pt x="0" y="0"/>
                </a:moveTo>
                <a:lnTo>
                  <a:pt x="851401" y="0"/>
                </a:lnTo>
                <a:lnTo>
                  <a:pt x="851401" y="851401"/>
                </a:lnTo>
                <a:lnTo>
                  <a:pt x="0" y="85140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4" name="Freeform 24"/>
          <p:cNvSpPr/>
          <p:nvPr/>
        </p:nvSpPr>
        <p:spPr>
          <a:xfrm>
            <a:off x="7819719" y="647977"/>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Freeform 25"/>
          <p:cNvSpPr/>
          <p:nvPr/>
        </p:nvSpPr>
        <p:spPr>
          <a:xfrm>
            <a:off x="8150054" y="647977"/>
            <a:ext cx="9841180" cy="2234363"/>
          </a:xfrm>
          <a:custGeom>
            <a:avLst/>
            <a:gdLst/>
            <a:ahLst/>
            <a:cxnLst/>
            <a:rect l="l" t="t" r="r" b="b"/>
            <a:pathLst>
              <a:path w="9841180" h="2234363">
                <a:moveTo>
                  <a:pt x="0" y="0"/>
                </a:moveTo>
                <a:lnTo>
                  <a:pt x="9841180" y="0"/>
                </a:lnTo>
                <a:lnTo>
                  <a:pt x="9841180" y="2234363"/>
                </a:lnTo>
                <a:lnTo>
                  <a:pt x="0" y="22343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TextBox 26"/>
          <p:cNvSpPr txBox="1"/>
          <p:nvPr/>
        </p:nvSpPr>
        <p:spPr>
          <a:xfrm>
            <a:off x="8843458" y="899896"/>
            <a:ext cx="8777563" cy="1811337"/>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"Thanks to Infologia for invaluable support in our Datawarehouse project. Their expertise and dedication were key to our success. Excited to continue working with them!"</a:t>
            </a:r>
          </a:p>
          <a:p>
            <a:pPr algn="just">
              <a:lnSpc>
                <a:spcPts val="2800"/>
              </a:lnSpc>
            </a:pPr>
            <a:r>
              <a:rPr lang="en-US" sz="2000">
                <a:solidFill>
                  <a:srgbClr val="FFFFFF"/>
                </a:solidFill>
                <a:latin typeface="Public Sans"/>
                <a:ea typeface="Public Sans"/>
                <a:cs typeface="Public Sans"/>
                <a:sym typeface="Public Sans"/>
              </a:rPr>
              <a:t>Bharanidharan Viswanathan</a:t>
            </a:r>
          </a:p>
          <a:p>
            <a:pPr algn="just">
              <a:lnSpc>
                <a:spcPts val="2800"/>
              </a:lnSpc>
            </a:pPr>
            <a:r>
              <a:rPr lang="en-US" sz="2000">
                <a:solidFill>
                  <a:srgbClr val="FFFFFF"/>
                </a:solidFill>
                <a:latin typeface="Public Sans"/>
                <a:ea typeface="Public Sans"/>
                <a:cs typeface="Public Sans"/>
                <a:sym typeface="Public Sans"/>
              </a:rPr>
              <a:t>Managing Director</a:t>
            </a:r>
          </a:p>
        </p:txBody>
      </p:sp>
      <p:sp>
        <p:nvSpPr>
          <p:cNvPr id="27" name="Freeform 27"/>
          <p:cNvSpPr/>
          <p:nvPr/>
        </p:nvSpPr>
        <p:spPr>
          <a:xfrm>
            <a:off x="7800669" y="1315676"/>
            <a:ext cx="995164" cy="995165"/>
          </a:xfrm>
          <a:custGeom>
            <a:avLst/>
            <a:gdLst/>
            <a:ahLst/>
            <a:cxnLst/>
            <a:rect l="l" t="t" r="r" b="b"/>
            <a:pathLst>
              <a:path w="995164" h="995165">
                <a:moveTo>
                  <a:pt x="0" y="0"/>
                </a:moveTo>
                <a:lnTo>
                  <a:pt x="995164" y="0"/>
                </a:lnTo>
                <a:lnTo>
                  <a:pt x="995164" y="995165"/>
                </a:lnTo>
                <a:lnTo>
                  <a:pt x="0" y="99516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8" name="Freeform 28"/>
          <p:cNvSpPr/>
          <p:nvPr/>
        </p:nvSpPr>
        <p:spPr>
          <a:xfrm>
            <a:off x="7872550" y="1387558"/>
            <a:ext cx="851401" cy="851401"/>
          </a:xfrm>
          <a:custGeom>
            <a:avLst/>
            <a:gdLst/>
            <a:ahLst/>
            <a:cxnLst/>
            <a:rect l="l" t="t" r="r" b="b"/>
            <a:pathLst>
              <a:path w="851401" h="851401">
                <a:moveTo>
                  <a:pt x="0" y="0"/>
                </a:moveTo>
                <a:lnTo>
                  <a:pt x="851401" y="0"/>
                </a:lnTo>
                <a:lnTo>
                  <a:pt x="851401" y="851400"/>
                </a:lnTo>
                <a:lnTo>
                  <a:pt x="0" y="8514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9" name="Freeform 29"/>
          <p:cNvSpPr/>
          <p:nvPr/>
        </p:nvSpPr>
        <p:spPr>
          <a:xfrm>
            <a:off x="367525" y="5991374"/>
            <a:ext cx="7135525" cy="3266926"/>
          </a:xfrm>
          <a:custGeom>
            <a:avLst/>
            <a:gdLst/>
            <a:ahLst/>
            <a:cxnLst/>
            <a:rect l="l" t="t" r="r" b="b"/>
            <a:pathLst>
              <a:path w="7135525" h="3266926">
                <a:moveTo>
                  <a:pt x="0" y="0"/>
                </a:moveTo>
                <a:lnTo>
                  <a:pt x="7135525" y="0"/>
                </a:lnTo>
                <a:lnTo>
                  <a:pt x="7135525" y="3266926"/>
                </a:lnTo>
                <a:lnTo>
                  <a:pt x="0" y="326692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0" name="TextBox 30"/>
          <p:cNvSpPr txBox="1"/>
          <p:nvPr/>
        </p:nvSpPr>
        <p:spPr>
          <a:xfrm>
            <a:off x="1021980" y="6216953"/>
            <a:ext cx="5826616" cy="2719478"/>
          </a:xfrm>
          <a:prstGeom prst="rect">
            <a:avLst/>
          </a:prstGeom>
        </p:spPr>
        <p:txBody>
          <a:bodyPr lIns="0" tIns="0" rIns="0" bIns="0" rtlCol="0" anchor="t">
            <a:spAutoFit/>
          </a:bodyPr>
          <a:lstStyle/>
          <a:p>
            <a:pPr algn="ctr">
              <a:lnSpc>
                <a:spcPts val="6538"/>
              </a:lnSpc>
            </a:pPr>
            <a:r>
              <a:rPr lang="en-US" sz="4671">
                <a:solidFill>
                  <a:srgbClr val="FFFFFF"/>
                </a:solidFill>
                <a:latin typeface="Public Sans"/>
                <a:ea typeface="Public Sans"/>
                <a:cs typeface="Public Sans"/>
                <a:sym typeface="Public Sans"/>
              </a:rPr>
              <a:t>300+</a:t>
            </a:r>
          </a:p>
          <a:p>
            <a:pPr algn="l">
              <a:lnSpc>
                <a:spcPts val="2900"/>
              </a:lnSpc>
            </a:pPr>
            <a:endParaRPr lang="en-US" sz="4671">
              <a:solidFill>
                <a:srgbClr val="FFFFFF"/>
              </a:solidFill>
              <a:latin typeface="Public Sans"/>
              <a:ea typeface="Public Sans"/>
              <a:cs typeface="Public Sans"/>
              <a:sym typeface="Public Sans"/>
            </a:endParaRPr>
          </a:p>
          <a:p>
            <a:pPr algn="l">
              <a:lnSpc>
                <a:spcPts val="2900"/>
              </a:lnSpc>
            </a:pPr>
            <a:endParaRPr lang="en-US" sz="4671">
              <a:solidFill>
                <a:srgbClr val="FFFFFF"/>
              </a:solidFill>
              <a:latin typeface="Public Sans"/>
              <a:ea typeface="Public Sans"/>
              <a:cs typeface="Public Sans"/>
              <a:sym typeface="Public Sans"/>
            </a:endParaRPr>
          </a:p>
          <a:p>
            <a:pPr algn="l">
              <a:lnSpc>
                <a:spcPts val="2900"/>
              </a:lnSpc>
            </a:pPr>
            <a:endParaRPr lang="en-US" sz="4671">
              <a:solidFill>
                <a:srgbClr val="FFFFFF"/>
              </a:solidFill>
              <a:latin typeface="Public Sans"/>
              <a:ea typeface="Public Sans"/>
              <a:cs typeface="Public Sans"/>
              <a:sym typeface="Public Sans"/>
            </a:endParaRPr>
          </a:p>
          <a:p>
            <a:pPr algn="l">
              <a:lnSpc>
                <a:spcPts val="2900"/>
              </a:lnSpc>
            </a:pPr>
            <a:r>
              <a:rPr lang="en-US" sz="2071">
                <a:solidFill>
                  <a:srgbClr val="FFFFFF"/>
                </a:solidFill>
                <a:latin typeface="Public Sans"/>
                <a:ea typeface="Public Sans"/>
                <a:cs typeface="Public Sans"/>
                <a:sym typeface="Public Sans"/>
              </a:rPr>
              <a:t>Five-star ratings from satisfied clients across industries</a:t>
            </a:r>
          </a:p>
        </p:txBody>
      </p:sp>
      <p:sp>
        <p:nvSpPr>
          <p:cNvPr id="31" name="Freeform 31"/>
          <p:cNvSpPr/>
          <p:nvPr/>
        </p:nvSpPr>
        <p:spPr>
          <a:xfrm>
            <a:off x="1668075" y="7269896"/>
            <a:ext cx="814915" cy="780281"/>
          </a:xfrm>
          <a:custGeom>
            <a:avLst/>
            <a:gdLst/>
            <a:ahLst/>
            <a:cxnLst/>
            <a:rect l="l" t="t" r="r" b="b"/>
            <a:pathLst>
              <a:path w="814915" h="780281">
                <a:moveTo>
                  <a:pt x="0" y="0"/>
                </a:moveTo>
                <a:lnTo>
                  <a:pt x="814914" y="0"/>
                </a:lnTo>
                <a:lnTo>
                  <a:pt x="814914" y="780281"/>
                </a:lnTo>
                <a:lnTo>
                  <a:pt x="0" y="780281"/>
                </a:lnTo>
                <a:lnTo>
                  <a:pt x="0" y="0"/>
                </a:lnTo>
                <a:close/>
              </a:path>
            </a:pathLst>
          </a:custGeom>
          <a:blipFill>
            <a:blip r:embed="rId23">
              <a:extLst>
                <a:ext uri="{96DAC541-7B7A-43D3-8B79-37D633B846F1}">
                  <asvg:svgBlip xmlns:asvg="http://schemas.microsoft.com/office/drawing/2016/SVG/main" r:embed="rId24"/>
                </a:ext>
              </a:extLst>
            </a:blip>
            <a:stretch>
              <a:fillRect l="-210" r="-210"/>
            </a:stretch>
          </a:blipFill>
        </p:spPr>
      </p:sp>
      <p:sp>
        <p:nvSpPr>
          <p:cNvPr id="32" name="Freeform 32"/>
          <p:cNvSpPr/>
          <p:nvPr/>
        </p:nvSpPr>
        <p:spPr>
          <a:xfrm>
            <a:off x="2599941" y="7269896"/>
            <a:ext cx="814915" cy="780281"/>
          </a:xfrm>
          <a:custGeom>
            <a:avLst/>
            <a:gdLst/>
            <a:ahLst/>
            <a:cxnLst/>
            <a:rect l="l" t="t" r="r" b="b"/>
            <a:pathLst>
              <a:path w="814915" h="780281">
                <a:moveTo>
                  <a:pt x="0" y="0"/>
                </a:moveTo>
                <a:lnTo>
                  <a:pt x="814915" y="0"/>
                </a:lnTo>
                <a:lnTo>
                  <a:pt x="814915" y="780281"/>
                </a:lnTo>
                <a:lnTo>
                  <a:pt x="0" y="780281"/>
                </a:lnTo>
                <a:lnTo>
                  <a:pt x="0" y="0"/>
                </a:lnTo>
                <a:close/>
              </a:path>
            </a:pathLst>
          </a:custGeom>
          <a:blipFill>
            <a:blip r:embed="rId23">
              <a:extLst>
                <a:ext uri="{96DAC541-7B7A-43D3-8B79-37D633B846F1}">
                  <asvg:svgBlip xmlns:asvg="http://schemas.microsoft.com/office/drawing/2016/SVG/main" r:embed="rId24"/>
                </a:ext>
              </a:extLst>
            </a:blip>
            <a:stretch>
              <a:fillRect l="-210" r="-210"/>
            </a:stretch>
          </a:blipFill>
        </p:spPr>
      </p:sp>
      <p:sp>
        <p:nvSpPr>
          <p:cNvPr id="33" name="Freeform 33"/>
          <p:cNvSpPr/>
          <p:nvPr/>
        </p:nvSpPr>
        <p:spPr>
          <a:xfrm>
            <a:off x="3529156" y="7269896"/>
            <a:ext cx="814915" cy="780281"/>
          </a:xfrm>
          <a:custGeom>
            <a:avLst/>
            <a:gdLst/>
            <a:ahLst/>
            <a:cxnLst/>
            <a:rect l="l" t="t" r="r" b="b"/>
            <a:pathLst>
              <a:path w="814915" h="780281">
                <a:moveTo>
                  <a:pt x="0" y="0"/>
                </a:moveTo>
                <a:lnTo>
                  <a:pt x="814915" y="0"/>
                </a:lnTo>
                <a:lnTo>
                  <a:pt x="814915" y="780281"/>
                </a:lnTo>
                <a:lnTo>
                  <a:pt x="0" y="780281"/>
                </a:lnTo>
                <a:lnTo>
                  <a:pt x="0" y="0"/>
                </a:lnTo>
                <a:close/>
              </a:path>
            </a:pathLst>
          </a:custGeom>
          <a:blipFill>
            <a:blip r:embed="rId23">
              <a:extLst>
                <a:ext uri="{96DAC541-7B7A-43D3-8B79-37D633B846F1}">
                  <asvg:svgBlip xmlns:asvg="http://schemas.microsoft.com/office/drawing/2016/SVG/main" r:embed="rId24"/>
                </a:ext>
              </a:extLst>
            </a:blip>
            <a:stretch>
              <a:fillRect l="-210" r="-210"/>
            </a:stretch>
          </a:blipFill>
        </p:spPr>
      </p:sp>
      <p:sp>
        <p:nvSpPr>
          <p:cNvPr id="34" name="Freeform 34"/>
          <p:cNvSpPr/>
          <p:nvPr/>
        </p:nvSpPr>
        <p:spPr>
          <a:xfrm>
            <a:off x="4458371" y="7269896"/>
            <a:ext cx="814915" cy="780281"/>
          </a:xfrm>
          <a:custGeom>
            <a:avLst/>
            <a:gdLst/>
            <a:ahLst/>
            <a:cxnLst/>
            <a:rect l="l" t="t" r="r" b="b"/>
            <a:pathLst>
              <a:path w="814915" h="780281">
                <a:moveTo>
                  <a:pt x="0" y="0"/>
                </a:moveTo>
                <a:lnTo>
                  <a:pt x="814915" y="0"/>
                </a:lnTo>
                <a:lnTo>
                  <a:pt x="814915" y="780281"/>
                </a:lnTo>
                <a:lnTo>
                  <a:pt x="0" y="780281"/>
                </a:lnTo>
                <a:lnTo>
                  <a:pt x="0" y="0"/>
                </a:lnTo>
                <a:close/>
              </a:path>
            </a:pathLst>
          </a:custGeom>
          <a:blipFill>
            <a:blip r:embed="rId23">
              <a:extLst>
                <a:ext uri="{96DAC541-7B7A-43D3-8B79-37D633B846F1}">
                  <asvg:svgBlip xmlns:asvg="http://schemas.microsoft.com/office/drawing/2016/SVG/main" r:embed="rId24"/>
                </a:ext>
              </a:extLst>
            </a:blip>
            <a:stretch>
              <a:fillRect l="-210" r="-210"/>
            </a:stretch>
          </a:blipFill>
        </p:spPr>
      </p:sp>
      <p:sp>
        <p:nvSpPr>
          <p:cNvPr id="35" name="Freeform 35"/>
          <p:cNvSpPr/>
          <p:nvPr/>
        </p:nvSpPr>
        <p:spPr>
          <a:xfrm>
            <a:off x="5387586" y="7269896"/>
            <a:ext cx="814915" cy="780281"/>
          </a:xfrm>
          <a:custGeom>
            <a:avLst/>
            <a:gdLst/>
            <a:ahLst/>
            <a:cxnLst/>
            <a:rect l="l" t="t" r="r" b="b"/>
            <a:pathLst>
              <a:path w="814915" h="780281">
                <a:moveTo>
                  <a:pt x="0" y="0"/>
                </a:moveTo>
                <a:lnTo>
                  <a:pt x="814914" y="0"/>
                </a:lnTo>
                <a:lnTo>
                  <a:pt x="814914" y="780281"/>
                </a:lnTo>
                <a:lnTo>
                  <a:pt x="0" y="780281"/>
                </a:lnTo>
                <a:lnTo>
                  <a:pt x="0" y="0"/>
                </a:lnTo>
                <a:close/>
              </a:path>
            </a:pathLst>
          </a:custGeom>
          <a:blipFill>
            <a:blip r:embed="rId23">
              <a:extLst>
                <a:ext uri="{96DAC541-7B7A-43D3-8B79-37D633B846F1}">
                  <asvg:svgBlip xmlns:asvg="http://schemas.microsoft.com/office/drawing/2016/SVG/main" r:embed="rId24"/>
                </a:ext>
              </a:extLst>
            </a:blip>
            <a:stretch>
              <a:fillRect l="-210" r="-210"/>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 b="-2"/>
              </a:stretch>
            </a:blipFill>
          </p:spPr>
        </p:sp>
      </p:grpSp>
      <p:sp>
        <p:nvSpPr>
          <p:cNvPr id="4" name="Freeform 4"/>
          <p:cNvSpPr/>
          <p:nvPr/>
        </p:nvSpPr>
        <p:spPr>
          <a:xfrm>
            <a:off x="-1133808" y="5648288"/>
            <a:ext cx="5461347" cy="4990084"/>
          </a:xfrm>
          <a:custGeom>
            <a:avLst/>
            <a:gdLst/>
            <a:ahLst/>
            <a:cxnLst/>
            <a:rect l="l" t="t" r="r" b="b"/>
            <a:pathLst>
              <a:path w="5461347" h="4990084">
                <a:moveTo>
                  <a:pt x="0" y="0"/>
                </a:moveTo>
                <a:lnTo>
                  <a:pt x="5461347" y="0"/>
                </a:lnTo>
                <a:lnTo>
                  <a:pt x="5461347" y="4990084"/>
                </a:lnTo>
                <a:lnTo>
                  <a:pt x="0" y="49900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3695065" y="-524788"/>
            <a:ext cx="10378555" cy="9641360"/>
          </a:xfrm>
          <a:custGeom>
            <a:avLst/>
            <a:gdLst/>
            <a:ahLst/>
            <a:cxnLst/>
            <a:rect l="l" t="t" r="r" b="b"/>
            <a:pathLst>
              <a:path w="10378555" h="9641360">
                <a:moveTo>
                  <a:pt x="0" y="0"/>
                </a:moveTo>
                <a:lnTo>
                  <a:pt x="10378555" y="0"/>
                </a:lnTo>
                <a:lnTo>
                  <a:pt x="10378555" y="9641360"/>
                </a:lnTo>
                <a:lnTo>
                  <a:pt x="0" y="96413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3796700" y="7419580"/>
            <a:ext cx="1640142" cy="1535821"/>
          </a:xfrm>
          <a:custGeom>
            <a:avLst/>
            <a:gdLst/>
            <a:ahLst/>
            <a:cxnLst/>
            <a:rect l="l" t="t" r="r" b="b"/>
            <a:pathLst>
              <a:path w="1640142" h="1535821">
                <a:moveTo>
                  <a:pt x="0" y="0"/>
                </a:moveTo>
                <a:lnTo>
                  <a:pt x="1640142" y="0"/>
                </a:lnTo>
                <a:lnTo>
                  <a:pt x="1640142" y="1535821"/>
                </a:lnTo>
                <a:lnTo>
                  <a:pt x="0" y="15358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4249785" y="7847617"/>
            <a:ext cx="816565" cy="777778"/>
          </a:xfrm>
          <a:custGeom>
            <a:avLst/>
            <a:gdLst/>
            <a:ahLst/>
            <a:cxnLst/>
            <a:rect l="l" t="t" r="r" b="b"/>
            <a:pathLst>
              <a:path w="816565" h="777778">
                <a:moveTo>
                  <a:pt x="0" y="0"/>
                </a:moveTo>
                <a:lnTo>
                  <a:pt x="816565" y="0"/>
                </a:lnTo>
                <a:lnTo>
                  <a:pt x="816565" y="777779"/>
                </a:lnTo>
                <a:lnTo>
                  <a:pt x="0" y="777779"/>
                </a:lnTo>
                <a:lnTo>
                  <a:pt x="0" y="0"/>
                </a:lnTo>
                <a:close/>
              </a:path>
            </a:pathLst>
          </a:custGeom>
          <a:blipFill>
            <a:blip r:embed="rId9">
              <a:extLst>
                <a:ext uri="{96DAC541-7B7A-43D3-8B79-37D633B846F1}">
                  <asvg:svgBlip xmlns:asvg="http://schemas.microsoft.com/office/drawing/2016/SVG/main" r:embed="rId10"/>
                </a:ext>
              </a:extLst>
            </a:blip>
            <a:stretch>
              <a:fillRect t="-662" b="-662"/>
            </a:stretch>
          </a:blipFill>
        </p:spPr>
      </p:sp>
      <p:grpSp>
        <p:nvGrpSpPr>
          <p:cNvPr id="8" name="Group 8"/>
          <p:cNvGrpSpPr/>
          <p:nvPr/>
        </p:nvGrpSpPr>
        <p:grpSpPr>
          <a:xfrm>
            <a:off x="-3345963" y="-1011443"/>
            <a:ext cx="9317621" cy="9995723"/>
            <a:chOff x="0" y="0"/>
            <a:chExt cx="12423495" cy="13327631"/>
          </a:xfrm>
        </p:grpSpPr>
        <p:sp>
          <p:nvSpPr>
            <p:cNvPr id="9" name="Freeform 9"/>
            <p:cNvSpPr/>
            <p:nvPr/>
          </p:nvSpPr>
          <p:spPr>
            <a:xfrm>
              <a:off x="107410" y="63500"/>
              <a:ext cx="10736389" cy="11728324"/>
            </a:xfrm>
            <a:custGeom>
              <a:avLst/>
              <a:gdLst/>
              <a:ahLst/>
              <a:cxnLst/>
              <a:rect l="l" t="t" r="r" b="b"/>
              <a:pathLst>
                <a:path w="10736389" h="11728324">
                  <a:moveTo>
                    <a:pt x="10604532" y="6352667"/>
                  </a:moveTo>
                  <a:lnTo>
                    <a:pt x="7761129" y="11239881"/>
                  </a:lnTo>
                  <a:cubicBezTo>
                    <a:pt x="7585107" y="11542268"/>
                    <a:pt x="7261638" y="11728324"/>
                    <a:pt x="6911753" y="11728324"/>
                  </a:cubicBezTo>
                  <a:lnTo>
                    <a:pt x="3824510" y="11728324"/>
                  </a:lnTo>
                  <a:cubicBezTo>
                    <a:pt x="3474625" y="11728324"/>
                    <a:pt x="3151156" y="11542268"/>
                    <a:pt x="2975134" y="11239881"/>
                  </a:cubicBezTo>
                  <a:lnTo>
                    <a:pt x="131731" y="6352667"/>
                  </a:lnTo>
                  <a:cubicBezTo>
                    <a:pt x="-43910" y="6050661"/>
                    <a:pt x="-43910" y="5677662"/>
                    <a:pt x="131731" y="5375656"/>
                  </a:cubicBezTo>
                  <a:lnTo>
                    <a:pt x="2975261" y="488442"/>
                  </a:lnTo>
                  <a:cubicBezTo>
                    <a:pt x="3151156" y="186055"/>
                    <a:pt x="3474625" y="0"/>
                    <a:pt x="3824510" y="0"/>
                  </a:cubicBezTo>
                  <a:lnTo>
                    <a:pt x="6911753" y="0"/>
                  </a:lnTo>
                  <a:cubicBezTo>
                    <a:pt x="7261638" y="0"/>
                    <a:pt x="7585107" y="186055"/>
                    <a:pt x="7761129" y="488442"/>
                  </a:cubicBezTo>
                  <a:lnTo>
                    <a:pt x="10604659" y="5375656"/>
                  </a:lnTo>
                  <a:cubicBezTo>
                    <a:pt x="10780300" y="5677662"/>
                    <a:pt x="10780300" y="6050661"/>
                    <a:pt x="10604659" y="6352540"/>
                  </a:cubicBezTo>
                  <a:close/>
                </a:path>
              </a:pathLst>
            </a:custGeom>
            <a:blipFill>
              <a:blip r:embed="rId11"/>
              <a:stretch>
                <a:fillRect l="-36244" t="-541" r="-49957" b="-13094"/>
              </a:stretch>
            </a:blipFill>
          </p:spPr>
        </p:sp>
        <p:sp>
          <p:nvSpPr>
            <p:cNvPr id="10" name="Freeform 10"/>
            <p:cNvSpPr/>
            <p:nvPr/>
          </p:nvSpPr>
          <p:spPr>
            <a:xfrm>
              <a:off x="43879" y="0"/>
              <a:ext cx="10863453" cy="11855323"/>
            </a:xfrm>
            <a:custGeom>
              <a:avLst/>
              <a:gdLst/>
              <a:ahLst/>
              <a:cxnLst/>
              <a:rect l="l" t="t" r="r" b="b"/>
              <a:pathLst>
                <a:path w="10863453" h="11855323">
                  <a:moveTo>
                    <a:pt x="10723054" y="6448044"/>
                  </a:moveTo>
                  <a:lnTo>
                    <a:pt x="7879524" y="11335258"/>
                  </a:lnTo>
                  <a:cubicBezTo>
                    <a:pt x="7692199" y="11657202"/>
                    <a:pt x="7347775" y="11855323"/>
                    <a:pt x="6975284" y="11855323"/>
                  </a:cubicBezTo>
                  <a:lnTo>
                    <a:pt x="6975284" y="11791823"/>
                  </a:lnTo>
                  <a:lnTo>
                    <a:pt x="6975284" y="11855323"/>
                  </a:lnTo>
                  <a:lnTo>
                    <a:pt x="3888041" y="11855323"/>
                  </a:lnTo>
                  <a:lnTo>
                    <a:pt x="3888041" y="11791823"/>
                  </a:lnTo>
                  <a:lnTo>
                    <a:pt x="3888041" y="11855323"/>
                  </a:lnTo>
                  <a:cubicBezTo>
                    <a:pt x="3515550" y="11855323"/>
                    <a:pt x="3171126" y="11657202"/>
                    <a:pt x="2983801" y="11335258"/>
                  </a:cubicBezTo>
                  <a:lnTo>
                    <a:pt x="3038665" y="11303381"/>
                  </a:lnTo>
                  <a:lnTo>
                    <a:pt x="2983801" y="11335258"/>
                  </a:lnTo>
                  <a:lnTo>
                    <a:pt x="140398" y="6448044"/>
                  </a:lnTo>
                  <a:lnTo>
                    <a:pt x="195262" y="6416167"/>
                  </a:lnTo>
                  <a:lnTo>
                    <a:pt x="140398" y="6448044"/>
                  </a:lnTo>
                  <a:cubicBezTo>
                    <a:pt x="-46800" y="6126353"/>
                    <a:pt x="-46800" y="5728970"/>
                    <a:pt x="140398" y="5407279"/>
                  </a:cubicBezTo>
                  <a:lnTo>
                    <a:pt x="195262" y="5439156"/>
                  </a:lnTo>
                  <a:lnTo>
                    <a:pt x="140398" y="5407279"/>
                  </a:lnTo>
                  <a:lnTo>
                    <a:pt x="2983928" y="520065"/>
                  </a:lnTo>
                  <a:lnTo>
                    <a:pt x="3038792" y="551942"/>
                  </a:lnTo>
                  <a:lnTo>
                    <a:pt x="2983928" y="520065"/>
                  </a:lnTo>
                  <a:cubicBezTo>
                    <a:pt x="3171253" y="198120"/>
                    <a:pt x="3515550" y="0"/>
                    <a:pt x="3888041" y="0"/>
                  </a:cubicBezTo>
                  <a:lnTo>
                    <a:pt x="3888041" y="63500"/>
                  </a:lnTo>
                  <a:lnTo>
                    <a:pt x="3888041" y="0"/>
                  </a:lnTo>
                  <a:lnTo>
                    <a:pt x="6975284" y="0"/>
                  </a:lnTo>
                  <a:lnTo>
                    <a:pt x="6975284" y="63500"/>
                  </a:lnTo>
                  <a:lnTo>
                    <a:pt x="6975284" y="0"/>
                  </a:lnTo>
                  <a:cubicBezTo>
                    <a:pt x="7347775" y="0"/>
                    <a:pt x="7692199" y="198120"/>
                    <a:pt x="7879524" y="520065"/>
                  </a:cubicBezTo>
                  <a:lnTo>
                    <a:pt x="10723054" y="5407279"/>
                  </a:lnTo>
                  <a:lnTo>
                    <a:pt x="10668190" y="5439156"/>
                  </a:lnTo>
                  <a:lnTo>
                    <a:pt x="10723054" y="5407279"/>
                  </a:lnTo>
                  <a:cubicBezTo>
                    <a:pt x="10910252" y="5728970"/>
                    <a:pt x="10910252" y="6126353"/>
                    <a:pt x="10723054" y="6448044"/>
                  </a:cubicBezTo>
                  <a:lnTo>
                    <a:pt x="10668190" y="6416167"/>
                  </a:lnTo>
                  <a:lnTo>
                    <a:pt x="10723054" y="6448044"/>
                  </a:lnTo>
                  <a:moveTo>
                    <a:pt x="10613326" y="6384163"/>
                  </a:moveTo>
                  <a:cubicBezTo>
                    <a:pt x="10777537" y="6101969"/>
                    <a:pt x="10777537" y="5753354"/>
                    <a:pt x="10613326" y="5471160"/>
                  </a:cubicBezTo>
                  <a:lnTo>
                    <a:pt x="7769796" y="583946"/>
                  </a:lnTo>
                  <a:lnTo>
                    <a:pt x="7824660" y="552069"/>
                  </a:lnTo>
                  <a:lnTo>
                    <a:pt x="7769796" y="583946"/>
                  </a:lnTo>
                  <a:cubicBezTo>
                    <a:pt x="7605204" y="300990"/>
                    <a:pt x="7302563" y="127000"/>
                    <a:pt x="6975284" y="127000"/>
                  </a:cubicBezTo>
                  <a:lnTo>
                    <a:pt x="3888041" y="127000"/>
                  </a:lnTo>
                  <a:cubicBezTo>
                    <a:pt x="3560762" y="127000"/>
                    <a:pt x="3258121" y="300990"/>
                    <a:pt x="3093656" y="583946"/>
                  </a:cubicBezTo>
                  <a:lnTo>
                    <a:pt x="250126" y="5471160"/>
                  </a:lnTo>
                  <a:cubicBezTo>
                    <a:pt x="85915" y="5753354"/>
                    <a:pt x="85915" y="6101969"/>
                    <a:pt x="250126" y="6384163"/>
                  </a:cubicBezTo>
                  <a:lnTo>
                    <a:pt x="3093656" y="11271377"/>
                  </a:lnTo>
                  <a:cubicBezTo>
                    <a:pt x="3258248" y="11554206"/>
                    <a:pt x="3560762" y="11728323"/>
                    <a:pt x="3888041" y="11728323"/>
                  </a:cubicBezTo>
                  <a:lnTo>
                    <a:pt x="6975284" y="11728323"/>
                  </a:lnTo>
                  <a:cubicBezTo>
                    <a:pt x="7302563" y="11728323"/>
                    <a:pt x="7605077" y="11554333"/>
                    <a:pt x="7769669" y="11271377"/>
                  </a:cubicBezTo>
                  <a:lnTo>
                    <a:pt x="7824533" y="11303254"/>
                  </a:lnTo>
                  <a:lnTo>
                    <a:pt x="7769669" y="11271377"/>
                  </a:lnTo>
                  <a:lnTo>
                    <a:pt x="10613199" y="6384163"/>
                  </a:lnTo>
                  <a:close/>
                </a:path>
              </a:pathLst>
            </a:custGeom>
            <a:solidFill>
              <a:srgbClr val="FFFFFF"/>
            </a:solidFill>
            <a:ln w="12700">
              <a:solidFill>
                <a:srgbClr val="000000"/>
              </a:solidFill>
            </a:ln>
          </p:spPr>
        </p:sp>
      </p:grpSp>
      <p:grpSp>
        <p:nvGrpSpPr>
          <p:cNvPr id="11" name="Group 11"/>
          <p:cNvGrpSpPr/>
          <p:nvPr/>
        </p:nvGrpSpPr>
        <p:grpSpPr>
          <a:xfrm rot="7353578">
            <a:off x="1002137" y="5662902"/>
            <a:ext cx="6279545" cy="1610757"/>
            <a:chOff x="0" y="0"/>
            <a:chExt cx="8372727" cy="2147676"/>
          </a:xfrm>
        </p:grpSpPr>
        <p:sp>
          <p:nvSpPr>
            <p:cNvPr id="12" name="Freeform 12"/>
            <p:cNvSpPr/>
            <p:nvPr/>
          </p:nvSpPr>
          <p:spPr>
            <a:xfrm>
              <a:off x="0" y="0"/>
              <a:ext cx="8372729" cy="2147697"/>
            </a:xfrm>
            <a:custGeom>
              <a:avLst/>
              <a:gdLst/>
              <a:ahLst/>
              <a:cxnLst/>
              <a:rect l="l" t="t" r="r" b="b"/>
              <a:pathLst>
                <a:path w="8372729" h="2147697">
                  <a:moveTo>
                    <a:pt x="0" y="0"/>
                  </a:moveTo>
                  <a:lnTo>
                    <a:pt x="8372729" y="0"/>
                  </a:lnTo>
                  <a:lnTo>
                    <a:pt x="8372729" y="2147697"/>
                  </a:lnTo>
                  <a:lnTo>
                    <a:pt x="0" y="2147697"/>
                  </a:lnTo>
                  <a:lnTo>
                    <a:pt x="0" y="0"/>
                  </a:lnTo>
                  <a:close/>
                </a:path>
              </a:pathLst>
            </a:custGeom>
            <a:blipFill>
              <a:blip r:embed="rId12">
                <a:alphaModFix amt="35000"/>
              </a:blip>
              <a:stretch>
                <a:fillRect t="-1147" b="-1146"/>
              </a:stretch>
            </a:blipFill>
          </p:spPr>
        </p:sp>
      </p:grpSp>
      <p:grpSp>
        <p:nvGrpSpPr>
          <p:cNvPr id="13" name="Group 13"/>
          <p:cNvGrpSpPr/>
          <p:nvPr/>
        </p:nvGrpSpPr>
        <p:grpSpPr>
          <a:xfrm rot="-10800000">
            <a:off x="-3034299" y="7656045"/>
            <a:ext cx="6279545" cy="1610757"/>
            <a:chOff x="0" y="0"/>
            <a:chExt cx="8372727" cy="2147676"/>
          </a:xfrm>
        </p:grpSpPr>
        <p:sp>
          <p:nvSpPr>
            <p:cNvPr id="14" name="Freeform 14"/>
            <p:cNvSpPr/>
            <p:nvPr/>
          </p:nvSpPr>
          <p:spPr>
            <a:xfrm>
              <a:off x="0" y="0"/>
              <a:ext cx="8372729" cy="2147697"/>
            </a:xfrm>
            <a:custGeom>
              <a:avLst/>
              <a:gdLst/>
              <a:ahLst/>
              <a:cxnLst/>
              <a:rect l="l" t="t" r="r" b="b"/>
              <a:pathLst>
                <a:path w="8372729" h="2147697">
                  <a:moveTo>
                    <a:pt x="0" y="0"/>
                  </a:moveTo>
                  <a:lnTo>
                    <a:pt x="8372729" y="0"/>
                  </a:lnTo>
                  <a:lnTo>
                    <a:pt x="8372729" y="2147697"/>
                  </a:lnTo>
                  <a:lnTo>
                    <a:pt x="0" y="2147697"/>
                  </a:lnTo>
                  <a:lnTo>
                    <a:pt x="0" y="0"/>
                  </a:lnTo>
                  <a:close/>
                </a:path>
              </a:pathLst>
            </a:custGeom>
            <a:blipFill>
              <a:blip r:embed="rId12">
                <a:alphaModFix amt="35000"/>
              </a:blip>
              <a:stretch>
                <a:fillRect t="-1147" b="-1146"/>
              </a:stretch>
            </a:blipFill>
          </p:spPr>
        </p:sp>
      </p:grpSp>
      <p:sp>
        <p:nvSpPr>
          <p:cNvPr id="15" name="Freeform 15"/>
          <p:cNvSpPr/>
          <p:nvPr/>
        </p:nvSpPr>
        <p:spPr>
          <a:xfrm>
            <a:off x="4730709" y="1491727"/>
            <a:ext cx="1486148" cy="1394460"/>
          </a:xfrm>
          <a:custGeom>
            <a:avLst/>
            <a:gdLst/>
            <a:ahLst/>
            <a:cxnLst/>
            <a:rect l="l" t="t" r="r" b="b"/>
            <a:pathLst>
              <a:path w="1486148" h="1394460">
                <a:moveTo>
                  <a:pt x="0" y="0"/>
                </a:moveTo>
                <a:lnTo>
                  <a:pt x="1486148" y="0"/>
                </a:lnTo>
                <a:lnTo>
                  <a:pt x="1486148" y="1394460"/>
                </a:lnTo>
                <a:lnTo>
                  <a:pt x="0" y="139446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6" name="Freeform 16"/>
          <p:cNvSpPr/>
          <p:nvPr/>
        </p:nvSpPr>
        <p:spPr>
          <a:xfrm>
            <a:off x="5093247" y="1818001"/>
            <a:ext cx="761072" cy="761072"/>
          </a:xfrm>
          <a:custGeom>
            <a:avLst/>
            <a:gdLst/>
            <a:ahLst/>
            <a:cxnLst/>
            <a:rect l="l" t="t" r="r" b="b"/>
            <a:pathLst>
              <a:path w="761072" h="761072">
                <a:moveTo>
                  <a:pt x="0" y="0"/>
                </a:moveTo>
                <a:lnTo>
                  <a:pt x="761073" y="0"/>
                </a:lnTo>
                <a:lnTo>
                  <a:pt x="761073" y="761073"/>
                </a:lnTo>
                <a:lnTo>
                  <a:pt x="0" y="761073"/>
                </a:lnTo>
                <a:lnTo>
                  <a:pt x="0" y="0"/>
                </a:lnTo>
                <a:close/>
              </a:path>
            </a:pathLst>
          </a:custGeom>
          <a:blipFill>
            <a:blip r:embed="rId15">
              <a:extLst>
                <a:ext uri="{96DAC541-7B7A-43D3-8B79-37D633B846F1}">
                  <asvg:svgBlip xmlns:asvg="http://schemas.microsoft.com/office/drawing/2016/SVG/main" r:embed="rId16"/>
                </a:ext>
              </a:extLst>
            </a:blip>
            <a:stretch>
              <a:fillRect l="-1875" r="-1875"/>
            </a:stretch>
          </a:blipFill>
        </p:spPr>
      </p:sp>
      <p:sp>
        <p:nvSpPr>
          <p:cNvPr id="17" name="Freeform 17"/>
          <p:cNvSpPr/>
          <p:nvPr/>
        </p:nvSpPr>
        <p:spPr>
          <a:xfrm>
            <a:off x="5178984" y="3860934"/>
            <a:ext cx="2108673" cy="1965917"/>
          </a:xfrm>
          <a:custGeom>
            <a:avLst/>
            <a:gdLst/>
            <a:ahLst/>
            <a:cxnLst/>
            <a:rect l="l" t="t" r="r" b="b"/>
            <a:pathLst>
              <a:path w="2108673" h="1965917">
                <a:moveTo>
                  <a:pt x="0" y="0"/>
                </a:moveTo>
                <a:lnTo>
                  <a:pt x="2108672" y="0"/>
                </a:lnTo>
                <a:lnTo>
                  <a:pt x="2108672" y="1965917"/>
                </a:lnTo>
                <a:lnTo>
                  <a:pt x="0" y="1965917"/>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8" name="Freeform 18"/>
          <p:cNvSpPr/>
          <p:nvPr/>
        </p:nvSpPr>
        <p:spPr>
          <a:xfrm>
            <a:off x="5725881" y="4308792"/>
            <a:ext cx="1014874" cy="1178373"/>
          </a:xfrm>
          <a:custGeom>
            <a:avLst/>
            <a:gdLst/>
            <a:ahLst/>
            <a:cxnLst/>
            <a:rect l="l" t="t" r="r" b="b"/>
            <a:pathLst>
              <a:path w="1014874" h="1178373">
                <a:moveTo>
                  <a:pt x="0" y="0"/>
                </a:moveTo>
                <a:lnTo>
                  <a:pt x="1014874" y="0"/>
                </a:lnTo>
                <a:lnTo>
                  <a:pt x="1014874" y="1178373"/>
                </a:lnTo>
                <a:lnTo>
                  <a:pt x="0" y="1178373"/>
                </a:lnTo>
                <a:lnTo>
                  <a:pt x="0" y="0"/>
                </a:lnTo>
                <a:close/>
              </a:path>
            </a:pathLst>
          </a:custGeom>
          <a:blipFill>
            <a:blip r:embed="rId19">
              <a:extLst>
                <a:ext uri="{96DAC541-7B7A-43D3-8B79-37D633B846F1}">
                  <asvg:svgBlip xmlns:asvg="http://schemas.microsoft.com/office/drawing/2016/SVG/main" r:embed="rId20"/>
                </a:ext>
              </a:extLst>
            </a:blip>
            <a:stretch>
              <a:fillRect l="-95" r="-95"/>
            </a:stretch>
          </a:blipFill>
        </p:spPr>
      </p:sp>
      <p:sp>
        <p:nvSpPr>
          <p:cNvPr id="19" name="Freeform 19"/>
          <p:cNvSpPr/>
          <p:nvPr/>
        </p:nvSpPr>
        <p:spPr>
          <a:xfrm>
            <a:off x="14043734" y="9851941"/>
            <a:ext cx="6154891" cy="592292"/>
          </a:xfrm>
          <a:custGeom>
            <a:avLst/>
            <a:gdLst/>
            <a:ahLst/>
            <a:cxnLst/>
            <a:rect l="l" t="t" r="r" b="b"/>
            <a:pathLst>
              <a:path w="6154891" h="592292">
                <a:moveTo>
                  <a:pt x="0" y="0"/>
                </a:moveTo>
                <a:lnTo>
                  <a:pt x="6154891" y="0"/>
                </a:lnTo>
                <a:lnTo>
                  <a:pt x="6154891" y="592292"/>
                </a:lnTo>
                <a:lnTo>
                  <a:pt x="0" y="592292"/>
                </a:lnTo>
                <a:lnTo>
                  <a:pt x="0" y="0"/>
                </a:lnTo>
                <a:close/>
              </a:path>
            </a:pathLst>
          </a:custGeom>
          <a:blipFill>
            <a:blip r:embed="rId21">
              <a:extLst>
                <a:ext uri="{96DAC541-7B7A-43D3-8B79-37D633B846F1}">
                  <asvg:svgBlip xmlns:asvg="http://schemas.microsoft.com/office/drawing/2016/SVG/main" r:embed="rId22"/>
                </a:ext>
              </a:extLst>
            </a:blip>
            <a:stretch>
              <a:fillRect t="-263195" b="-263195"/>
            </a:stretch>
          </a:blipFill>
        </p:spPr>
      </p:sp>
      <p:sp>
        <p:nvSpPr>
          <p:cNvPr id="20" name="Freeform 20"/>
          <p:cNvSpPr/>
          <p:nvPr/>
        </p:nvSpPr>
        <p:spPr>
          <a:xfrm>
            <a:off x="15744928" y="-2814172"/>
            <a:ext cx="5086149" cy="5585195"/>
          </a:xfrm>
          <a:custGeom>
            <a:avLst/>
            <a:gdLst/>
            <a:ahLst/>
            <a:cxnLst/>
            <a:rect l="l" t="t" r="r" b="b"/>
            <a:pathLst>
              <a:path w="5086149" h="5585195">
                <a:moveTo>
                  <a:pt x="0" y="0"/>
                </a:moveTo>
                <a:lnTo>
                  <a:pt x="5086149" y="0"/>
                </a:lnTo>
                <a:lnTo>
                  <a:pt x="5086149" y="5585195"/>
                </a:lnTo>
                <a:lnTo>
                  <a:pt x="0" y="558519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1" name="Freeform 21"/>
          <p:cNvSpPr/>
          <p:nvPr/>
        </p:nvSpPr>
        <p:spPr>
          <a:xfrm>
            <a:off x="-675504" y="10059862"/>
            <a:ext cx="1351009" cy="454277"/>
          </a:xfrm>
          <a:custGeom>
            <a:avLst/>
            <a:gdLst/>
            <a:ahLst/>
            <a:cxnLst/>
            <a:rect l="l" t="t" r="r" b="b"/>
            <a:pathLst>
              <a:path w="1351009" h="454277">
                <a:moveTo>
                  <a:pt x="0" y="0"/>
                </a:moveTo>
                <a:lnTo>
                  <a:pt x="1351009" y="0"/>
                </a:lnTo>
                <a:lnTo>
                  <a:pt x="1351009" y="454277"/>
                </a:lnTo>
                <a:lnTo>
                  <a:pt x="0" y="454277"/>
                </a:lnTo>
                <a:lnTo>
                  <a:pt x="0" y="0"/>
                </a:lnTo>
                <a:close/>
              </a:path>
            </a:pathLst>
          </a:custGeom>
          <a:blipFill>
            <a:blip r:embed="rId25">
              <a:extLst>
                <a:ext uri="{96DAC541-7B7A-43D3-8B79-37D633B846F1}">
                  <asvg:svgBlip xmlns:asvg="http://schemas.microsoft.com/office/drawing/2016/SVG/main" r:embed="rId26"/>
                </a:ext>
              </a:extLst>
            </a:blip>
            <a:stretch>
              <a:fillRect t="-264" b="-264"/>
            </a:stretch>
          </a:blipFill>
        </p:spPr>
      </p:sp>
      <p:sp>
        <p:nvSpPr>
          <p:cNvPr id="22" name="Freeform 22"/>
          <p:cNvSpPr/>
          <p:nvPr/>
        </p:nvSpPr>
        <p:spPr>
          <a:xfrm>
            <a:off x="4271153" y="9961423"/>
            <a:ext cx="961113" cy="651154"/>
          </a:xfrm>
          <a:custGeom>
            <a:avLst/>
            <a:gdLst/>
            <a:ahLst/>
            <a:cxnLst/>
            <a:rect l="l" t="t" r="r" b="b"/>
            <a:pathLst>
              <a:path w="961113" h="651154">
                <a:moveTo>
                  <a:pt x="0" y="0"/>
                </a:moveTo>
                <a:lnTo>
                  <a:pt x="961113" y="0"/>
                </a:lnTo>
                <a:lnTo>
                  <a:pt x="961113" y="651154"/>
                </a:lnTo>
                <a:lnTo>
                  <a:pt x="0" y="651154"/>
                </a:lnTo>
                <a:lnTo>
                  <a:pt x="0" y="0"/>
                </a:lnTo>
                <a:close/>
              </a:path>
            </a:pathLst>
          </a:custGeom>
          <a:blipFill>
            <a:blip r:embed="rId27">
              <a:extLst>
                <a:ext uri="{96DAC541-7B7A-43D3-8B79-37D633B846F1}">
                  <asvg:svgBlip xmlns:asvg="http://schemas.microsoft.com/office/drawing/2016/SVG/main" r:embed="rId28"/>
                </a:ext>
              </a:extLst>
            </a:blip>
            <a:stretch>
              <a:fillRect t="-418" b="-418"/>
            </a:stretch>
          </a:blipFill>
        </p:spPr>
      </p:sp>
      <p:sp>
        <p:nvSpPr>
          <p:cNvPr id="23" name="Freeform 23"/>
          <p:cNvSpPr/>
          <p:nvPr/>
        </p:nvSpPr>
        <p:spPr>
          <a:xfrm>
            <a:off x="7884204" y="4548381"/>
            <a:ext cx="9841180" cy="1592512"/>
          </a:xfrm>
          <a:custGeom>
            <a:avLst/>
            <a:gdLst/>
            <a:ahLst/>
            <a:cxnLst/>
            <a:rect l="l" t="t" r="r" b="b"/>
            <a:pathLst>
              <a:path w="9841180" h="1592512">
                <a:moveTo>
                  <a:pt x="0" y="0"/>
                </a:moveTo>
                <a:lnTo>
                  <a:pt x="9841180" y="0"/>
                </a:lnTo>
                <a:lnTo>
                  <a:pt x="9841180" y="1592512"/>
                </a:lnTo>
                <a:lnTo>
                  <a:pt x="0" y="159251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24" name="Freeform 24"/>
          <p:cNvSpPr/>
          <p:nvPr/>
        </p:nvSpPr>
        <p:spPr>
          <a:xfrm>
            <a:off x="8214539" y="4548381"/>
            <a:ext cx="9822130" cy="1592512"/>
          </a:xfrm>
          <a:custGeom>
            <a:avLst/>
            <a:gdLst/>
            <a:ahLst/>
            <a:cxnLst/>
            <a:rect l="l" t="t" r="r" b="b"/>
            <a:pathLst>
              <a:path w="9822130" h="1592512">
                <a:moveTo>
                  <a:pt x="0" y="0"/>
                </a:moveTo>
                <a:lnTo>
                  <a:pt x="9822130" y="0"/>
                </a:lnTo>
                <a:lnTo>
                  <a:pt x="9822130" y="1592512"/>
                </a:lnTo>
                <a:lnTo>
                  <a:pt x="0" y="1592512"/>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25" name="TextBox 25"/>
          <p:cNvSpPr txBox="1"/>
          <p:nvPr/>
        </p:nvSpPr>
        <p:spPr>
          <a:xfrm>
            <a:off x="8907943" y="4902450"/>
            <a:ext cx="8777563" cy="1106487"/>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Great Work. Professional Team</a:t>
            </a:r>
          </a:p>
          <a:p>
            <a:pPr algn="just">
              <a:lnSpc>
                <a:spcPts val="2800"/>
              </a:lnSpc>
            </a:pPr>
            <a:endParaRPr lang="en-US" sz="2000">
              <a:solidFill>
                <a:srgbClr val="FFFFFF"/>
              </a:solidFill>
              <a:latin typeface="Public Sans"/>
              <a:ea typeface="Public Sans"/>
              <a:cs typeface="Public Sans"/>
              <a:sym typeface="Public Sans"/>
            </a:endParaRPr>
          </a:p>
          <a:p>
            <a:pPr algn="just">
              <a:lnSpc>
                <a:spcPts val="2800"/>
              </a:lnSpc>
            </a:pPr>
            <a:r>
              <a:rPr lang="en-US" sz="2000">
                <a:solidFill>
                  <a:srgbClr val="FFFFFF"/>
                </a:solidFill>
                <a:latin typeface="Public Sans"/>
                <a:ea typeface="Public Sans"/>
                <a:cs typeface="Public Sans"/>
                <a:sym typeface="Public Sans"/>
              </a:rPr>
              <a:t>New Globe Logistik LLP</a:t>
            </a:r>
          </a:p>
        </p:txBody>
      </p:sp>
      <p:sp>
        <p:nvSpPr>
          <p:cNvPr id="26" name="Freeform 26"/>
          <p:cNvSpPr/>
          <p:nvPr/>
        </p:nvSpPr>
        <p:spPr>
          <a:xfrm>
            <a:off x="7865154" y="4937468"/>
            <a:ext cx="995164" cy="995164"/>
          </a:xfrm>
          <a:custGeom>
            <a:avLst/>
            <a:gdLst/>
            <a:ahLst/>
            <a:cxnLst/>
            <a:rect l="l" t="t" r="r" b="b"/>
            <a:pathLst>
              <a:path w="995164" h="995164">
                <a:moveTo>
                  <a:pt x="0" y="0"/>
                </a:moveTo>
                <a:lnTo>
                  <a:pt x="995164" y="0"/>
                </a:lnTo>
                <a:lnTo>
                  <a:pt x="995164" y="995164"/>
                </a:lnTo>
                <a:lnTo>
                  <a:pt x="0" y="995164"/>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27" name="Freeform 27"/>
          <p:cNvSpPr/>
          <p:nvPr/>
        </p:nvSpPr>
        <p:spPr>
          <a:xfrm>
            <a:off x="7937035" y="5009349"/>
            <a:ext cx="851401" cy="851401"/>
          </a:xfrm>
          <a:custGeom>
            <a:avLst/>
            <a:gdLst/>
            <a:ahLst/>
            <a:cxnLst/>
            <a:rect l="l" t="t" r="r" b="b"/>
            <a:pathLst>
              <a:path w="851401" h="851401">
                <a:moveTo>
                  <a:pt x="0" y="0"/>
                </a:moveTo>
                <a:lnTo>
                  <a:pt x="851401" y="0"/>
                </a:lnTo>
                <a:lnTo>
                  <a:pt x="851401" y="851401"/>
                </a:lnTo>
                <a:lnTo>
                  <a:pt x="0" y="851401"/>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8" name="Freeform 28"/>
          <p:cNvSpPr/>
          <p:nvPr/>
        </p:nvSpPr>
        <p:spPr>
          <a:xfrm>
            <a:off x="7865154" y="2609350"/>
            <a:ext cx="9841181" cy="1956094"/>
          </a:xfrm>
          <a:custGeom>
            <a:avLst/>
            <a:gdLst/>
            <a:ahLst/>
            <a:cxnLst/>
            <a:rect l="l" t="t" r="r" b="b"/>
            <a:pathLst>
              <a:path w="9841181" h="1956094">
                <a:moveTo>
                  <a:pt x="0" y="0"/>
                </a:moveTo>
                <a:lnTo>
                  <a:pt x="9841181" y="0"/>
                </a:lnTo>
                <a:lnTo>
                  <a:pt x="9841181" y="1956094"/>
                </a:lnTo>
                <a:lnTo>
                  <a:pt x="0" y="1956094"/>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9" name="Freeform 29"/>
          <p:cNvSpPr/>
          <p:nvPr/>
        </p:nvSpPr>
        <p:spPr>
          <a:xfrm>
            <a:off x="8195489" y="2609350"/>
            <a:ext cx="9841181" cy="1956094"/>
          </a:xfrm>
          <a:custGeom>
            <a:avLst/>
            <a:gdLst/>
            <a:ahLst/>
            <a:cxnLst/>
            <a:rect l="l" t="t" r="r" b="b"/>
            <a:pathLst>
              <a:path w="9841181" h="1956094">
                <a:moveTo>
                  <a:pt x="0" y="0"/>
                </a:moveTo>
                <a:lnTo>
                  <a:pt x="9841181" y="0"/>
                </a:lnTo>
                <a:lnTo>
                  <a:pt x="9841181" y="1956094"/>
                </a:lnTo>
                <a:lnTo>
                  <a:pt x="0" y="1956094"/>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30" name="TextBox 30"/>
          <p:cNvSpPr txBox="1"/>
          <p:nvPr/>
        </p:nvSpPr>
        <p:spPr>
          <a:xfrm>
            <a:off x="8888893" y="2836435"/>
            <a:ext cx="8777564" cy="1473200"/>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Infologia team had a very good understanding of our requirements and completed the project within the timeframe</a:t>
            </a:r>
          </a:p>
          <a:p>
            <a:pPr algn="just">
              <a:lnSpc>
                <a:spcPts val="2800"/>
              </a:lnSpc>
            </a:pPr>
            <a:endParaRPr lang="en-US" sz="2000">
              <a:solidFill>
                <a:srgbClr val="FFFFFF"/>
              </a:solidFill>
              <a:latin typeface="Public Sans"/>
              <a:ea typeface="Public Sans"/>
              <a:cs typeface="Public Sans"/>
              <a:sym typeface="Public Sans"/>
            </a:endParaRPr>
          </a:p>
          <a:p>
            <a:pPr algn="just">
              <a:lnSpc>
                <a:spcPts val="2800"/>
              </a:lnSpc>
            </a:pPr>
            <a:r>
              <a:rPr lang="en-US" sz="2000">
                <a:solidFill>
                  <a:srgbClr val="FFFFFF"/>
                </a:solidFill>
                <a:latin typeface="Public Sans"/>
                <a:ea typeface="Public Sans"/>
                <a:cs typeface="Public Sans"/>
                <a:sym typeface="Public Sans"/>
              </a:rPr>
              <a:t>AJ Worldwide Services Inc</a:t>
            </a:r>
          </a:p>
        </p:txBody>
      </p:sp>
      <p:sp>
        <p:nvSpPr>
          <p:cNvPr id="31" name="Freeform 31"/>
          <p:cNvSpPr/>
          <p:nvPr/>
        </p:nvSpPr>
        <p:spPr>
          <a:xfrm>
            <a:off x="7846104" y="3180228"/>
            <a:ext cx="995164" cy="995164"/>
          </a:xfrm>
          <a:custGeom>
            <a:avLst/>
            <a:gdLst/>
            <a:ahLst/>
            <a:cxnLst/>
            <a:rect l="l" t="t" r="r" b="b"/>
            <a:pathLst>
              <a:path w="995164" h="995164">
                <a:moveTo>
                  <a:pt x="0" y="0"/>
                </a:moveTo>
                <a:lnTo>
                  <a:pt x="995164" y="0"/>
                </a:lnTo>
                <a:lnTo>
                  <a:pt x="995164" y="995164"/>
                </a:lnTo>
                <a:lnTo>
                  <a:pt x="0" y="995164"/>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32" name="Freeform 32"/>
          <p:cNvSpPr/>
          <p:nvPr/>
        </p:nvSpPr>
        <p:spPr>
          <a:xfrm>
            <a:off x="7917985" y="3252110"/>
            <a:ext cx="851401" cy="851401"/>
          </a:xfrm>
          <a:custGeom>
            <a:avLst/>
            <a:gdLst/>
            <a:ahLst/>
            <a:cxnLst/>
            <a:rect l="l" t="t" r="r" b="b"/>
            <a:pathLst>
              <a:path w="851401" h="851401">
                <a:moveTo>
                  <a:pt x="0" y="0"/>
                </a:moveTo>
                <a:lnTo>
                  <a:pt x="851401" y="0"/>
                </a:lnTo>
                <a:lnTo>
                  <a:pt x="851401" y="851401"/>
                </a:lnTo>
                <a:lnTo>
                  <a:pt x="0" y="851401"/>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33" name="Freeform 33"/>
          <p:cNvSpPr/>
          <p:nvPr/>
        </p:nvSpPr>
        <p:spPr>
          <a:xfrm>
            <a:off x="7865154" y="6123830"/>
            <a:ext cx="9841180" cy="3613811"/>
          </a:xfrm>
          <a:custGeom>
            <a:avLst/>
            <a:gdLst/>
            <a:ahLst/>
            <a:cxnLst/>
            <a:rect l="l" t="t" r="r" b="b"/>
            <a:pathLst>
              <a:path w="9841180" h="3613811">
                <a:moveTo>
                  <a:pt x="0" y="0"/>
                </a:moveTo>
                <a:lnTo>
                  <a:pt x="9841180" y="0"/>
                </a:lnTo>
                <a:lnTo>
                  <a:pt x="9841180" y="3613811"/>
                </a:lnTo>
                <a:lnTo>
                  <a:pt x="0" y="3613811"/>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34" name="Freeform 34"/>
          <p:cNvSpPr/>
          <p:nvPr/>
        </p:nvSpPr>
        <p:spPr>
          <a:xfrm>
            <a:off x="8195489" y="6123830"/>
            <a:ext cx="9841180" cy="3613811"/>
          </a:xfrm>
          <a:custGeom>
            <a:avLst/>
            <a:gdLst/>
            <a:ahLst/>
            <a:cxnLst/>
            <a:rect l="l" t="t" r="r" b="b"/>
            <a:pathLst>
              <a:path w="9841180" h="3613811">
                <a:moveTo>
                  <a:pt x="0" y="0"/>
                </a:moveTo>
                <a:lnTo>
                  <a:pt x="9841180" y="0"/>
                </a:lnTo>
                <a:lnTo>
                  <a:pt x="9841180" y="3613811"/>
                </a:lnTo>
                <a:lnTo>
                  <a:pt x="0" y="3613811"/>
                </a:lnTo>
                <a:lnTo>
                  <a:pt x="0" y="0"/>
                </a:lnTo>
                <a:close/>
              </a:path>
            </a:pathLst>
          </a:custGeom>
          <a:blipFill>
            <a:blip r:embed="rId43">
              <a:extLst>
                <a:ext uri="{96DAC541-7B7A-43D3-8B79-37D633B846F1}">
                  <asvg:svgBlip xmlns:asvg="http://schemas.microsoft.com/office/drawing/2016/SVG/main" r:embed="rId44"/>
                </a:ext>
              </a:extLst>
            </a:blip>
            <a:stretch>
              <a:fillRect/>
            </a:stretch>
          </a:blipFill>
        </p:spPr>
      </p:sp>
      <p:sp>
        <p:nvSpPr>
          <p:cNvPr id="35" name="TextBox 35"/>
          <p:cNvSpPr txBox="1"/>
          <p:nvPr/>
        </p:nvSpPr>
        <p:spPr>
          <a:xfrm>
            <a:off x="8841268" y="6360623"/>
            <a:ext cx="8777563" cy="3221037"/>
          </a:xfrm>
          <a:prstGeom prst="rect">
            <a:avLst/>
          </a:prstGeom>
        </p:spPr>
        <p:txBody>
          <a:bodyPr lIns="0" tIns="0" rIns="0" bIns="0" rtlCol="0" anchor="t">
            <a:spAutoFit/>
          </a:bodyPr>
          <a:lstStyle/>
          <a:p>
            <a:pPr algn="just">
              <a:lnSpc>
                <a:spcPts val="2800"/>
              </a:lnSpc>
            </a:pPr>
            <a:r>
              <a:rPr lang="en-US" sz="2000">
                <a:solidFill>
                  <a:srgbClr val="FFFFFF"/>
                </a:solidFill>
                <a:latin typeface="Public Sans"/>
                <a:ea typeface="Public Sans"/>
                <a:cs typeface="Public Sans"/>
                <a:sym typeface="Public Sans"/>
              </a:rPr>
              <a:t>We want to extend our heartfelt thanks to infologia for their invaluable support during our datawarehouse project. Their expertise in using our datawarehouse tool efficiently has been a game - changer, enabling us to make informed decisions and drive our initiatives forward. infologia’s dedication to excellence and top - notch customer service have been key to the project’s success, and we’re excited to continue working with them in the future.</a:t>
            </a:r>
          </a:p>
          <a:p>
            <a:pPr algn="just">
              <a:lnSpc>
                <a:spcPts val="2800"/>
              </a:lnSpc>
            </a:pPr>
            <a:endParaRPr lang="en-US" sz="2000">
              <a:solidFill>
                <a:srgbClr val="FFFFFF"/>
              </a:solidFill>
              <a:latin typeface="Public Sans"/>
              <a:ea typeface="Public Sans"/>
              <a:cs typeface="Public Sans"/>
              <a:sym typeface="Public Sans"/>
            </a:endParaRPr>
          </a:p>
          <a:p>
            <a:pPr algn="just">
              <a:lnSpc>
                <a:spcPts val="2800"/>
              </a:lnSpc>
            </a:pPr>
            <a:r>
              <a:rPr lang="en-US" sz="2000">
                <a:solidFill>
                  <a:srgbClr val="FFFFFF"/>
                </a:solidFill>
                <a:latin typeface="Public Sans"/>
                <a:ea typeface="Public Sans"/>
                <a:cs typeface="Public Sans"/>
                <a:sym typeface="Public Sans"/>
              </a:rPr>
              <a:t>Intoglo Private Limited</a:t>
            </a:r>
          </a:p>
        </p:txBody>
      </p:sp>
      <p:sp>
        <p:nvSpPr>
          <p:cNvPr id="36" name="Freeform 36"/>
          <p:cNvSpPr/>
          <p:nvPr/>
        </p:nvSpPr>
        <p:spPr>
          <a:xfrm>
            <a:off x="7846104" y="7352878"/>
            <a:ext cx="995164" cy="995165"/>
          </a:xfrm>
          <a:custGeom>
            <a:avLst/>
            <a:gdLst/>
            <a:ahLst/>
            <a:cxnLst/>
            <a:rect l="l" t="t" r="r" b="b"/>
            <a:pathLst>
              <a:path w="995164" h="995165">
                <a:moveTo>
                  <a:pt x="0" y="0"/>
                </a:moveTo>
                <a:lnTo>
                  <a:pt x="995164" y="0"/>
                </a:lnTo>
                <a:lnTo>
                  <a:pt x="995164" y="995164"/>
                </a:lnTo>
                <a:lnTo>
                  <a:pt x="0" y="995164"/>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37" name="Freeform 37"/>
          <p:cNvSpPr/>
          <p:nvPr/>
        </p:nvSpPr>
        <p:spPr>
          <a:xfrm>
            <a:off x="7917985" y="7424759"/>
            <a:ext cx="851401" cy="851401"/>
          </a:xfrm>
          <a:custGeom>
            <a:avLst/>
            <a:gdLst/>
            <a:ahLst/>
            <a:cxnLst/>
            <a:rect l="l" t="t" r="r" b="b"/>
            <a:pathLst>
              <a:path w="851401" h="851401">
                <a:moveTo>
                  <a:pt x="0" y="0"/>
                </a:moveTo>
                <a:lnTo>
                  <a:pt x="851401" y="0"/>
                </a:lnTo>
                <a:lnTo>
                  <a:pt x="851401" y="851401"/>
                </a:lnTo>
                <a:lnTo>
                  <a:pt x="0" y="851401"/>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38" name="TextBox 38"/>
          <p:cNvSpPr txBox="1"/>
          <p:nvPr/>
        </p:nvSpPr>
        <p:spPr>
          <a:xfrm>
            <a:off x="7304116" y="249661"/>
            <a:ext cx="7899258" cy="1924050"/>
          </a:xfrm>
          <a:prstGeom prst="rect">
            <a:avLst/>
          </a:prstGeom>
        </p:spPr>
        <p:txBody>
          <a:bodyPr lIns="0" tIns="0" rIns="0" bIns="0" rtlCol="0" anchor="t">
            <a:spAutoFit/>
          </a:bodyPr>
          <a:lstStyle/>
          <a:p>
            <a:pPr algn="l">
              <a:lnSpc>
                <a:spcPts val="7500"/>
              </a:lnSpc>
            </a:pPr>
            <a:r>
              <a:rPr lang="en-US" sz="6000" b="1">
                <a:solidFill>
                  <a:srgbClr val="243B55"/>
                </a:solidFill>
                <a:latin typeface="Montserrat Bold"/>
                <a:ea typeface="Montserrat Bold"/>
                <a:cs typeface="Montserrat Bold"/>
                <a:sym typeface="Montserrat Bold"/>
              </a:rPr>
              <a:t>CLIENTS TESTIMONIALS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 b="-2"/>
              </a:stretch>
            </a:blipFill>
          </p:spPr>
        </p:sp>
      </p:grpSp>
      <p:sp>
        <p:nvSpPr>
          <p:cNvPr id="4" name="Freeform 4"/>
          <p:cNvSpPr/>
          <p:nvPr/>
        </p:nvSpPr>
        <p:spPr>
          <a:xfrm>
            <a:off x="3153652" y="-3704493"/>
            <a:ext cx="8498911" cy="5095555"/>
          </a:xfrm>
          <a:custGeom>
            <a:avLst/>
            <a:gdLst/>
            <a:ahLst/>
            <a:cxnLst/>
            <a:rect l="l" t="t" r="r" b="b"/>
            <a:pathLst>
              <a:path w="8498911" h="5095555">
                <a:moveTo>
                  <a:pt x="0" y="0"/>
                </a:moveTo>
                <a:lnTo>
                  <a:pt x="8498911" y="0"/>
                </a:lnTo>
                <a:lnTo>
                  <a:pt x="8498911" y="5095555"/>
                </a:lnTo>
                <a:lnTo>
                  <a:pt x="0" y="50955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7176984">
            <a:off x="11480286" y="3457851"/>
            <a:ext cx="14260162" cy="7068925"/>
          </a:xfrm>
          <a:custGeom>
            <a:avLst/>
            <a:gdLst/>
            <a:ahLst/>
            <a:cxnLst/>
            <a:rect l="l" t="t" r="r" b="b"/>
            <a:pathLst>
              <a:path w="14260162" h="7068925">
                <a:moveTo>
                  <a:pt x="0" y="0"/>
                </a:moveTo>
                <a:lnTo>
                  <a:pt x="14260162" y="0"/>
                </a:lnTo>
                <a:lnTo>
                  <a:pt x="14260162" y="7068925"/>
                </a:lnTo>
                <a:lnTo>
                  <a:pt x="0" y="7068925"/>
                </a:lnTo>
                <a:lnTo>
                  <a:pt x="0" y="0"/>
                </a:lnTo>
                <a:close/>
              </a:path>
            </a:pathLst>
          </a:custGeom>
          <a:blipFill>
            <a:blip r:embed="rId5">
              <a:extLst>
                <a:ext uri="{96DAC541-7B7A-43D3-8B79-37D633B846F1}">
                  <asvg:svgBlip xmlns:asvg="http://schemas.microsoft.com/office/drawing/2016/SVG/main" r:embed="rId6"/>
                </a:ext>
              </a:extLst>
            </a:blip>
            <a:stretch>
              <a:fillRect t="-16727" b="-16727"/>
            </a:stretch>
          </a:blipFill>
        </p:spPr>
      </p:sp>
      <p:sp>
        <p:nvSpPr>
          <p:cNvPr id="6" name="Freeform 6"/>
          <p:cNvSpPr/>
          <p:nvPr/>
        </p:nvSpPr>
        <p:spPr>
          <a:xfrm>
            <a:off x="13061882" y="8399337"/>
            <a:ext cx="3380208" cy="3084698"/>
          </a:xfrm>
          <a:custGeom>
            <a:avLst/>
            <a:gdLst/>
            <a:ahLst/>
            <a:cxnLst/>
            <a:rect l="l" t="t" r="r" b="b"/>
            <a:pathLst>
              <a:path w="3380208" h="3084698">
                <a:moveTo>
                  <a:pt x="0" y="0"/>
                </a:moveTo>
                <a:lnTo>
                  <a:pt x="3380208" y="0"/>
                </a:lnTo>
                <a:lnTo>
                  <a:pt x="3380208" y="3084698"/>
                </a:lnTo>
                <a:lnTo>
                  <a:pt x="0" y="30846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12704892" y="-811600"/>
            <a:ext cx="10378556" cy="9641361"/>
          </a:xfrm>
          <a:custGeom>
            <a:avLst/>
            <a:gdLst/>
            <a:ahLst/>
            <a:cxnLst/>
            <a:rect l="l" t="t" r="r" b="b"/>
            <a:pathLst>
              <a:path w="10378556" h="9641361">
                <a:moveTo>
                  <a:pt x="0" y="0"/>
                </a:moveTo>
                <a:lnTo>
                  <a:pt x="10378556" y="0"/>
                </a:lnTo>
                <a:lnTo>
                  <a:pt x="10378556" y="9641361"/>
                </a:lnTo>
                <a:lnTo>
                  <a:pt x="0" y="964136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4573383" y="-3983901"/>
            <a:ext cx="12869033" cy="6384796"/>
          </a:xfrm>
          <a:custGeom>
            <a:avLst/>
            <a:gdLst/>
            <a:ahLst/>
            <a:cxnLst/>
            <a:rect l="l" t="t" r="r" b="b"/>
            <a:pathLst>
              <a:path w="12869033" h="6384796">
                <a:moveTo>
                  <a:pt x="0" y="0"/>
                </a:moveTo>
                <a:lnTo>
                  <a:pt x="12869032" y="0"/>
                </a:lnTo>
                <a:lnTo>
                  <a:pt x="12869032" y="6384796"/>
                </a:lnTo>
                <a:lnTo>
                  <a:pt x="0" y="638479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9" name="Group 9"/>
          <p:cNvGrpSpPr/>
          <p:nvPr/>
        </p:nvGrpSpPr>
        <p:grpSpPr>
          <a:xfrm rot="3827403">
            <a:off x="11612214" y="5316481"/>
            <a:ext cx="6279545" cy="1610757"/>
            <a:chOff x="0" y="0"/>
            <a:chExt cx="8372727" cy="2147676"/>
          </a:xfrm>
        </p:grpSpPr>
        <p:sp>
          <p:nvSpPr>
            <p:cNvPr id="10" name="Freeform 10"/>
            <p:cNvSpPr/>
            <p:nvPr/>
          </p:nvSpPr>
          <p:spPr>
            <a:xfrm>
              <a:off x="0" y="0"/>
              <a:ext cx="8372729" cy="2147697"/>
            </a:xfrm>
            <a:custGeom>
              <a:avLst/>
              <a:gdLst/>
              <a:ahLst/>
              <a:cxnLst/>
              <a:rect l="l" t="t" r="r" b="b"/>
              <a:pathLst>
                <a:path w="8372729" h="2147697">
                  <a:moveTo>
                    <a:pt x="0" y="0"/>
                  </a:moveTo>
                  <a:lnTo>
                    <a:pt x="8372729" y="0"/>
                  </a:lnTo>
                  <a:lnTo>
                    <a:pt x="8372729" y="2147697"/>
                  </a:lnTo>
                  <a:lnTo>
                    <a:pt x="0" y="2147697"/>
                  </a:lnTo>
                  <a:lnTo>
                    <a:pt x="0" y="0"/>
                  </a:lnTo>
                  <a:close/>
                </a:path>
              </a:pathLst>
            </a:custGeom>
            <a:blipFill>
              <a:blip r:embed="rId13">
                <a:alphaModFix amt="35000"/>
              </a:blip>
              <a:stretch>
                <a:fillRect t="-1147" b="-1146"/>
              </a:stretch>
            </a:blipFill>
          </p:spPr>
        </p:sp>
      </p:grpSp>
      <p:grpSp>
        <p:nvGrpSpPr>
          <p:cNvPr id="11" name="Group 11"/>
          <p:cNvGrpSpPr/>
          <p:nvPr/>
        </p:nvGrpSpPr>
        <p:grpSpPr>
          <a:xfrm>
            <a:off x="12941850" y="-791503"/>
            <a:ext cx="9030215" cy="9921817"/>
            <a:chOff x="0" y="0"/>
            <a:chExt cx="12040286" cy="13229089"/>
          </a:xfrm>
        </p:grpSpPr>
        <p:sp>
          <p:nvSpPr>
            <p:cNvPr id="12" name="Freeform 12"/>
            <p:cNvSpPr/>
            <p:nvPr/>
          </p:nvSpPr>
          <p:spPr>
            <a:xfrm>
              <a:off x="108585" y="63500"/>
              <a:ext cx="10362565" cy="11641709"/>
            </a:xfrm>
            <a:custGeom>
              <a:avLst/>
              <a:gdLst/>
              <a:ahLst/>
              <a:cxnLst/>
              <a:rect l="l" t="t" r="r" b="b"/>
              <a:pathLst>
                <a:path w="10362565" h="11641709">
                  <a:moveTo>
                    <a:pt x="10227310" y="6322314"/>
                  </a:moveTo>
                  <a:lnTo>
                    <a:pt x="7424166" y="11140186"/>
                  </a:lnTo>
                  <a:cubicBezTo>
                    <a:pt x="7243572" y="11450701"/>
                    <a:pt x="6911467" y="11641709"/>
                    <a:pt x="6552311" y="11641709"/>
                  </a:cubicBezTo>
                  <a:lnTo>
                    <a:pt x="3810381" y="11641709"/>
                  </a:lnTo>
                  <a:cubicBezTo>
                    <a:pt x="3451225" y="11641709"/>
                    <a:pt x="3119120" y="11450701"/>
                    <a:pt x="2938526" y="11140186"/>
                  </a:cubicBezTo>
                  <a:lnTo>
                    <a:pt x="135255" y="6322314"/>
                  </a:lnTo>
                  <a:cubicBezTo>
                    <a:pt x="-45085" y="6012307"/>
                    <a:pt x="-45085" y="5629275"/>
                    <a:pt x="135255" y="5319395"/>
                  </a:cubicBezTo>
                  <a:lnTo>
                    <a:pt x="2938399" y="501523"/>
                  </a:lnTo>
                  <a:cubicBezTo>
                    <a:pt x="3118993" y="191008"/>
                    <a:pt x="3451098" y="0"/>
                    <a:pt x="3810381" y="0"/>
                  </a:cubicBezTo>
                  <a:lnTo>
                    <a:pt x="6552311" y="0"/>
                  </a:lnTo>
                  <a:cubicBezTo>
                    <a:pt x="6911467" y="0"/>
                    <a:pt x="7243572" y="191008"/>
                    <a:pt x="7424166" y="501523"/>
                  </a:cubicBezTo>
                  <a:lnTo>
                    <a:pt x="10227310" y="5319395"/>
                  </a:lnTo>
                  <a:cubicBezTo>
                    <a:pt x="10407650" y="5629402"/>
                    <a:pt x="10407650" y="6012307"/>
                    <a:pt x="10227310" y="6322314"/>
                  </a:cubicBezTo>
                  <a:close/>
                </a:path>
              </a:pathLst>
            </a:custGeom>
            <a:blipFill>
              <a:blip r:embed="rId14"/>
              <a:stretch>
                <a:fillRect l="-38699" t="-545" r="-52793" b="-13089"/>
              </a:stretch>
            </a:blipFill>
          </p:spPr>
        </p:sp>
        <p:sp>
          <p:nvSpPr>
            <p:cNvPr id="13" name="Freeform 13"/>
            <p:cNvSpPr/>
            <p:nvPr/>
          </p:nvSpPr>
          <p:spPr>
            <a:xfrm>
              <a:off x="45053" y="0"/>
              <a:ext cx="10489755" cy="11768582"/>
            </a:xfrm>
            <a:custGeom>
              <a:avLst/>
              <a:gdLst/>
              <a:ahLst/>
              <a:cxnLst/>
              <a:rect l="l" t="t" r="r" b="b"/>
              <a:pathLst>
                <a:path w="10489755" h="11768582">
                  <a:moveTo>
                    <a:pt x="10345833" y="6417691"/>
                  </a:moveTo>
                  <a:lnTo>
                    <a:pt x="7542689" y="11235563"/>
                  </a:lnTo>
                  <a:lnTo>
                    <a:pt x="7487825" y="11203686"/>
                  </a:lnTo>
                  <a:lnTo>
                    <a:pt x="7542689" y="11235563"/>
                  </a:lnTo>
                  <a:cubicBezTo>
                    <a:pt x="7350665" y="11565509"/>
                    <a:pt x="6997733" y="11768582"/>
                    <a:pt x="6615844" y="11768582"/>
                  </a:cubicBezTo>
                  <a:lnTo>
                    <a:pt x="6615844" y="11705082"/>
                  </a:lnTo>
                  <a:lnTo>
                    <a:pt x="6615844" y="11768582"/>
                  </a:lnTo>
                  <a:lnTo>
                    <a:pt x="3873913" y="11768582"/>
                  </a:lnTo>
                  <a:lnTo>
                    <a:pt x="3873913" y="11705082"/>
                  </a:lnTo>
                  <a:lnTo>
                    <a:pt x="3873913" y="11768582"/>
                  </a:lnTo>
                  <a:cubicBezTo>
                    <a:pt x="3492151" y="11768582"/>
                    <a:pt x="3139091" y="11565509"/>
                    <a:pt x="2947067" y="11235563"/>
                  </a:cubicBezTo>
                  <a:lnTo>
                    <a:pt x="3001931" y="11203686"/>
                  </a:lnTo>
                  <a:lnTo>
                    <a:pt x="2947067" y="11235563"/>
                  </a:lnTo>
                  <a:lnTo>
                    <a:pt x="143923" y="6417691"/>
                  </a:lnTo>
                  <a:cubicBezTo>
                    <a:pt x="-47974" y="6087999"/>
                    <a:pt x="-47974" y="5680583"/>
                    <a:pt x="143923" y="5350891"/>
                  </a:cubicBezTo>
                  <a:lnTo>
                    <a:pt x="2947067" y="533019"/>
                  </a:lnTo>
                  <a:lnTo>
                    <a:pt x="3001931" y="564896"/>
                  </a:lnTo>
                  <a:lnTo>
                    <a:pt x="2947067" y="533019"/>
                  </a:lnTo>
                  <a:cubicBezTo>
                    <a:pt x="3139091" y="203073"/>
                    <a:pt x="3492024" y="0"/>
                    <a:pt x="3873913" y="0"/>
                  </a:cubicBezTo>
                  <a:lnTo>
                    <a:pt x="3873913" y="63500"/>
                  </a:lnTo>
                  <a:lnTo>
                    <a:pt x="3873913" y="0"/>
                  </a:lnTo>
                  <a:lnTo>
                    <a:pt x="6615843" y="0"/>
                  </a:lnTo>
                  <a:lnTo>
                    <a:pt x="6615843" y="63500"/>
                  </a:lnTo>
                  <a:lnTo>
                    <a:pt x="6615843" y="0"/>
                  </a:lnTo>
                  <a:cubicBezTo>
                    <a:pt x="6997605" y="0"/>
                    <a:pt x="7350665" y="203073"/>
                    <a:pt x="7542689" y="533019"/>
                  </a:cubicBezTo>
                  <a:lnTo>
                    <a:pt x="7487824" y="564896"/>
                  </a:lnTo>
                  <a:lnTo>
                    <a:pt x="7542689" y="533019"/>
                  </a:lnTo>
                  <a:lnTo>
                    <a:pt x="10345833" y="5350891"/>
                  </a:lnTo>
                  <a:cubicBezTo>
                    <a:pt x="10537730" y="5680583"/>
                    <a:pt x="10537730" y="6087999"/>
                    <a:pt x="10345833" y="6417691"/>
                  </a:cubicBezTo>
                  <a:moveTo>
                    <a:pt x="10236105" y="6353810"/>
                  </a:moveTo>
                  <a:lnTo>
                    <a:pt x="10290969" y="6385687"/>
                  </a:lnTo>
                  <a:lnTo>
                    <a:pt x="10236105" y="6353810"/>
                  </a:lnTo>
                  <a:cubicBezTo>
                    <a:pt x="10405015" y="6063615"/>
                    <a:pt x="10405015" y="5704967"/>
                    <a:pt x="10236105" y="5414772"/>
                  </a:cubicBezTo>
                  <a:lnTo>
                    <a:pt x="10290969" y="5382895"/>
                  </a:lnTo>
                  <a:lnTo>
                    <a:pt x="10236105" y="5414772"/>
                  </a:lnTo>
                  <a:lnTo>
                    <a:pt x="7432834" y="596900"/>
                  </a:lnTo>
                  <a:cubicBezTo>
                    <a:pt x="7263543" y="305943"/>
                    <a:pt x="6952393" y="127000"/>
                    <a:pt x="6615843" y="127000"/>
                  </a:cubicBezTo>
                  <a:lnTo>
                    <a:pt x="3873913" y="127000"/>
                  </a:lnTo>
                  <a:cubicBezTo>
                    <a:pt x="3537363" y="127000"/>
                    <a:pt x="3226086" y="305943"/>
                    <a:pt x="3056922" y="596900"/>
                  </a:cubicBezTo>
                  <a:lnTo>
                    <a:pt x="253651" y="5414772"/>
                  </a:lnTo>
                  <a:lnTo>
                    <a:pt x="198787" y="5382895"/>
                  </a:lnTo>
                  <a:lnTo>
                    <a:pt x="253651" y="5414772"/>
                  </a:lnTo>
                  <a:cubicBezTo>
                    <a:pt x="84741" y="5704967"/>
                    <a:pt x="84741" y="6063615"/>
                    <a:pt x="253651" y="6353810"/>
                  </a:cubicBezTo>
                  <a:lnTo>
                    <a:pt x="198787" y="6385687"/>
                  </a:lnTo>
                  <a:lnTo>
                    <a:pt x="253651" y="6353810"/>
                  </a:lnTo>
                  <a:lnTo>
                    <a:pt x="3056795" y="11171682"/>
                  </a:lnTo>
                  <a:cubicBezTo>
                    <a:pt x="3226086" y="11462638"/>
                    <a:pt x="3537236" y="11641582"/>
                    <a:pt x="3873786" y="11641582"/>
                  </a:cubicBezTo>
                  <a:lnTo>
                    <a:pt x="6615716" y="11641582"/>
                  </a:lnTo>
                  <a:cubicBezTo>
                    <a:pt x="6952266" y="11641582"/>
                    <a:pt x="7263543" y="11462638"/>
                    <a:pt x="7432707" y="11171682"/>
                  </a:cubicBezTo>
                  <a:lnTo>
                    <a:pt x="10235978" y="6353810"/>
                  </a:lnTo>
                  <a:close/>
                </a:path>
              </a:pathLst>
            </a:custGeom>
            <a:solidFill>
              <a:srgbClr val="FFFFFF"/>
            </a:solidFill>
            <a:ln w="12700">
              <a:solidFill>
                <a:srgbClr val="000000"/>
              </a:solidFill>
            </a:ln>
          </p:spPr>
        </p:sp>
      </p:grpSp>
      <p:sp>
        <p:nvSpPr>
          <p:cNvPr id="14" name="Freeform 14"/>
          <p:cNvSpPr/>
          <p:nvPr/>
        </p:nvSpPr>
        <p:spPr>
          <a:xfrm>
            <a:off x="1045162" y="5918951"/>
            <a:ext cx="1245865" cy="1173887"/>
          </a:xfrm>
          <a:custGeom>
            <a:avLst/>
            <a:gdLst/>
            <a:ahLst/>
            <a:cxnLst/>
            <a:rect l="l" t="t" r="r" b="b"/>
            <a:pathLst>
              <a:path w="1245865" h="1173887">
                <a:moveTo>
                  <a:pt x="0" y="0"/>
                </a:moveTo>
                <a:lnTo>
                  <a:pt x="1245864" y="0"/>
                </a:lnTo>
                <a:lnTo>
                  <a:pt x="1245864" y="1173887"/>
                </a:lnTo>
                <a:lnTo>
                  <a:pt x="0" y="117388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5" name="Freeform 15"/>
          <p:cNvSpPr/>
          <p:nvPr/>
        </p:nvSpPr>
        <p:spPr>
          <a:xfrm>
            <a:off x="7236500" y="5897568"/>
            <a:ext cx="1289658" cy="1214088"/>
          </a:xfrm>
          <a:custGeom>
            <a:avLst/>
            <a:gdLst/>
            <a:ahLst/>
            <a:cxnLst/>
            <a:rect l="l" t="t" r="r" b="b"/>
            <a:pathLst>
              <a:path w="1289658" h="1214088">
                <a:moveTo>
                  <a:pt x="0" y="0"/>
                </a:moveTo>
                <a:lnTo>
                  <a:pt x="1289658" y="0"/>
                </a:lnTo>
                <a:lnTo>
                  <a:pt x="1289658" y="1214088"/>
                </a:lnTo>
                <a:lnTo>
                  <a:pt x="0" y="121408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6" name="Freeform 16"/>
          <p:cNvSpPr/>
          <p:nvPr/>
        </p:nvSpPr>
        <p:spPr>
          <a:xfrm>
            <a:off x="1045162" y="7560623"/>
            <a:ext cx="1245865" cy="1173887"/>
          </a:xfrm>
          <a:custGeom>
            <a:avLst/>
            <a:gdLst/>
            <a:ahLst/>
            <a:cxnLst/>
            <a:rect l="l" t="t" r="r" b="b"/>
            <a:pathLst>
              <a:path w="1245865" h="1173887">
                <a:moveTo>
                  <a:pt x="0" y="0"/>
                </a:moveTo>
                <a:lnTo>
                  <a:pt x="1245864" y="0"/>
                </a:lnTo>
                <a:lnTo>
                  <a:pt x="1245864" y="1173887"/>
                </a:lnTo>
                <a:lnTo>
                  <a:pt x="0" y="117388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7" name="Freeform 17"/>
          <p:cNvSpPr/>
          <p:nvPr/>
        </p:nvSpPr>
        <p:spPr>
          <a:xfrm>
            <a:off x="7258397" y="7560623"/>
            <a:ext cx="1245865" cy="1173887"/>
          </a:xfrm>
          <a:custGeom>
            <a:avLst/>
            <a:gdLst/>
            <a:ahLst/>
            <a:cxnLst/>
            <a:rect l="l" t="t" r="r" b="b"/>
            <a:pathLst>
              <a:path w="1245865" h="1173887">
                <a:moveTo>
                  <a:pt x="0" y="0"/>
                </a:moveTo>
                <a:lnTo>
                  <a:pt x="1245864" y="0"/>
                </a:lnTo>
                <a:lnTo>
                  <a:pt x="1245864" y="1173887"/>
                </a:lnTo>
                <a:lnTo>
                  <a:pt x="0" y="117388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8" name="Freeform 18"/>
          <p:cNvSpPr/>
          <p:nvPr/>
        </p:nvSpPr>
        <p:spPr>
          <a:xfrm>
            <a:off x="-305557" y="9761384"/>
            <a:ext cx="4377976" cy="718812"/>
          </a:xfrm>
          <a:custGeom>
            <a:avLst/>
            <a:gdLst/>
            <a:ahLst/>
            <a:cxnLst/>
            <a:rect l="l" t="t" r="r" b="b"/>
            <a:pathLst>
              <a:path w="4377976" h="718812">
                <a:moveTo>
                  <a:pt x="0" y="0"/>
                </a:moveTo>
                <a:lnTo>
                  <a:pt x="4377976" y="0"/>
                </a:lnTo>
                <a:lnTo>
                  <a:pt x="4377976" y="718812"/>
                </a:lnTo>
                <a:lnTo>
                  <a:pt x="0" y="71881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9" name="Freeform 19"/>
          <p:cNvSpPr/>
          <p:nvPr/>
        </p:nvSpPr>
        <p:spPr>
          <a:xfrm>
            <a:off x="1390909" y="7907499"/>
            <a:ext cx="554370" cy="555064"/>
          </a:xfrm>
          <a:custGeom>
            <a:avLst/>
            <a:gdLst/>
            <a:ahLst/>
            <a:cxnLst/>
            <a:rect l="l" t="t" r="r" b="b"/>
            <a:pathLst>
              <a:path w="554370" h="555064">
                <a:moveTo>
                  <a:pt x="0" y="0"/>
                </a:moveTo>
                <a:lnTo>
                  <a:pt x="554370" y="0"/>
                </a:lnTo>
                <a:lnTo>
                  <a:pt x="554370" y="555064"/>
                </a:lnTo>
                <a:lnTo>
                  <a:pt x="0" y="555064"/>
                </a:lnTo>
                <a:lnTo>
                  <a:pt x="0" y="0"/>
                </a:lnTo>
                <a:close/>
              </a:path>
            </a:pathLst>
          </a:custGeom>
          <a:blipFill>
            <a:blip r:embed="rId21">
              <a:extLst>
                <a:ext uri="{96DAC541-7B7A-43D3-8B79-37D633B846F1}">
                  <asvg:svgBlip xmlns:asvg="http://schemas.microsoft.com/office/drawing/2016/SVG/main" r:embed="rId22"/>
                </a:ext>
              </a:extLst>
            </a:blip>
            <a:stretch>
              <a:fillRect l="-62" r="-62"/>
            </a:stretch>
          </a:blipFill>
        </p:spPr>
      </p:sp>
      <p:sp>
        <p:nvSpPr>
          <p:cNvPr id="20" name="Freeform 20"/>
          <p:cNvSpPr/>
          <p:nvPr/>
        </p:nvSpPr>
        <p:spPr>
          <a:xfrm>
            <a:off x="1365696" y="6240682"/>
            <a:ext cx="605355" cy="605355"/>
          </a:xfrm>
          <a:custGeom>
            <a:avLst/>
            <a:gdLst/>
            <a:ahLst/>
            <a:cxnLst/>
            <a:rect l="l" t="t" r="r" b="b"/>
            <a:pathLst>
              <a:path w="605355" h="605355">
                <a:moveTo>
                  <a:pt x="0" y="0"/>
                </a:moveTo>
                <a:lnTo>
                  <a:pt x="605355" y="0"/>
                </a:lnTo>
                <a:lnTo>
                  <a:pt x="605355" y="605355"/>
                </a:lnTo>
                <a:lnTo>
                  <a:pt x="0" y="60535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1" name="Freeform 21"/>
          <p:cNvSpPr/>
          <p:nvPr/>
        </p:nvSpPr>
        <p:spPr>
          <a:xfrm>
            <a:off x="7578368" y="7847939"/>
            <a:ext cx="605922" cy="674183"/>
          </a:xfrm>
          <a:custGeom>
            <a:avLst/>
            <a:gdLst/>
            <a:ahLst/>
            <a:cxnLst/>
            <a:rect l="l" t="t" r="r" b="b"/>
            <a:pathLst>
              <a:path w="605922" h="674183">
                <a:moveTo>
                  <a:pt x="0" y="0"/>
                </a:moveTo>
                <a:lnTo>
                  <a:pt x="605922" y="0"/>
                </a:lnTo>
                <a:lnTo>
                  <a:pt x="605922" y="674183"/>
                </a:lnTo>
                <a:lnTo>
                  <a:pt x="0" y="674183"/>
                </a:lnTo>
                <a:lnTo>
                  <a:pt x="0" y="0"/>
                </a:lnTo>
                <a:close/>
              </a:path>
            </a:pathLst>
          </a:custGeom>
          <a:blipFill>
            <a:blip r:embed="rId25">
              <a:extLst>
                <a:ext uri="{96DAC541-7B7A-43D3-8B79-37D633B846F1}">
                  <asvg:svgBlip xmlns:asvg="http://schemas.microsoft.com/office/drawing/2016/SVG/main" r:embed="rId26"/>
                </a:ext>
              </a:extLst>
            </a:blip>
            <a:stretch>
              <a:fillRect l="-147" r="-147"/>
            </a:stretch>
          </a:blipFill>
        </p:spPr>
      </p:sp>
      <p:sp>
        <p:nvSpPr>
          <p:cNvPr id="22" name="Freeform 22"/>
          <p:cNvSpPr/>
          <p:nvPr/>
        </p:nvSpPr>
        <p:spPr>
          <a:xfrm>
            <a:off x="7567993" y="6308357"/>
            <a:ext cx="626673" cy="470005"/>
          </a:xfrm>
          <a:custGeom>
            <a:avLst/>
            <a:gdLst/>
            <a:ahLst/>
            <a:cxnLst/>
            <a:rect l="l" t="t" r="r" b="b"/>
            <a:pathLst>
              <a:path w="626673" h="470005">
                <a:moveTo>
                  <a:pt x="0" y="0"/>
                </a:moveTo>
                <a:lnTo>
                  <a:pt x="626673" y="0"/>
                </a:lnTo>
                <a:lnTo>
                  <a:pt x="626673" y="470005"/>
                </a:lnTo>
                <a:lnTo>
                  <a:pt x="0" y="470005"/>
                </a:lnTo>
                <a:lnTo>
                  <a:pt x="0" y="0"/>
                </a:lnTo>
                <a:close/>
              </a:path>
            </a:pathLst>
          </a:custGeom>
          <a:blipFill>
            <a:blip r:embed="rId27">
              <a:extLst>
                <a:ext uri="{96DAC541-7B7A-43D3-8B79-37D633B846F1}">
                  <asvg:svgBlip xmlns:asvg="http://schemas.microsoft.com/office/drawing/2016/SVG/main" r:embed="rId28"/>
                </a:ext>
              </a:extLst>
            </a:blip>
            <a:stretch>
              <a:fillRect t="-505" b="-505"/>
            </a:stretch>
          </a:blipFill>
        </p:spPr>
      </p:sp>
      <p:sp>
        <p:nvSpPr>
          <p:cNvPr id="23" name="Freeform 23"/>
          <p:cNvSpPr/>
          <p:nvPr/>
        </p:nvSpPr>
        <p:spPr>
          <a:xfrm>
            <a:off x="12864858" y="9812324"/>
            <a:ext cx="1177504" cy="797759"/>
          </a:xfrm>
          <a:custGeom>
            <a:avLst/>
            <a:gdLst/>
            <a:ahLst/>
            <a:cxnLst/>
            <a:rect l="l" t="t" r="r" b="b"/>
            <a:pathLst>
              <a:path w="1177504" h="797759">
                <a:moveTo>
                  <a:pt x="0" y="0"/>
                </a:moveTo>
                <a:lnTo>
                  <a:pt x="1177504" y="0"/>
                </a:lnTo>
                <a:lnTo>
                  <a:pt x="1177504" y="797759"/>
                </a:lnTo>
                <a:lnTo>
                  <a:pt x="0" y="797759"/>
                </a:lnTo>
                <a:lnTo>
                  <a:pt x="0" y="0"/>
                </a:lnTo>
                <a:close/>
              </a:path>
            </a:pathLst>
          </a:custGeom>
          <a:blipFill>
            <a:blip r:embed="rId29">
              <a:extLst>
                <a:ext uri="{96DAC541-7B7A-43D3-8B79-37D633B846F1}">
                  <asvg:svgBlip xmlns:asvg="http://schemas.microsoft.com/office/drawing/2016/SVG/main" r:embed="rId30"/>
                </a:ext>
              </a:extLst>
            </a:blip>
            <a:stretch>
              <a:fillRect l="-5" r="-5"/>
            </a:stretch>
          </a:blipFill>
        </p:spPr>
      </p:sp>
      <p:sp>
        <p:nvSpPr>
          <p:cNvPr id="24" name="Freeform 24"/>
          <p:cNvSpPr/>
          <p:nvPr/>
        </p:nvSpPr>
        <p:spPr>
          <a:xfrm>
            <a:off x="-588752" y="-398880"/>
            <a:ext cx="1177504" cy="797759"/>
          </a:xfrm>
          <a:custGeom>
            <a:avLst/>
            <a:gdLst/>
            <a:ahLst/>
            <a:cxnLst/>
            <a:rect l="l" t="t" r="r" b="b"/>
            <a:pathLst>
              <a:path w="1177504" h="797759">
                <a:moveTo>
                  <a:pt x="0" y="0"/>
                </a:moveTo>
                <a:lnTo>
                  <a:pt x="1177504" y="0"/>
                </a:lnTo>
                <a:lnTo>
                  <a:pt x="1177504" y="797759"/>
                </a:lnTo>
                <a:lnTo>
                  <a:pt x="0" y="797759"/>
                </a:lnTo>
                <a:lnTo>
                  <a:pt x="0" y="0"/>
                </a:lnTo>
                <a:close/>
              </a:path>
            </a:pathLst>
          </a:custGeom>
          <a:blipFill>
            <a:blip r:embed="rId29">
              <a:extLst>
                <a:ext uri="{96DAC541-7B7A-43D3-8B79-37D633B846F1}">
                  <asvg:svgBlip xmlns:asvg="http://schemas.microsoft.com/office/drawing/2016/SVG/main" r:embed="rId30"/>
                </a:ext>
              </a:extLst>
            </a:blip>
            <a:stretch>
              <a:fillRect l="-5" r="-5"/>
            </a:stretch>
          </a:blipFill>
        </p:spPr>
      </p:sp>
      <p:sp>
        <p:nvSpPr>
          <p:cNvPr id="25" name="Freeform 25"/>
          <p:cNvSpPr/>
          <p:nvPr/>
        </p:nvSpPr>
        <p:spPr>
          <a:xfrm>
            <a:off x="8242291" y="66675"/>
            <a:ext cx="5924537" cy="1681475"/>
          </a:xfrm>
          <a:custGeom>
            <a:avLst/>
            <a:gdLst/>
            <a:ahLst/>
            <a:cxnLst/>
            <a:rect l="l" t="t" r="r" b="b"/>
            <a:pathLst>
              <a:path w="5924537" h="1681475">
                <a:moveTo>
                  <a:pt x="0" y="0"/>
                </a:moveTo>
                <a:lnTo>
                  <a:pt x="5924537" y="0"/>
                </a:lnTo>
                <a:lnTo>
                  <a:pt x="5924537" y="1681475"/>
                </a:lnTo>
                <a:lnTo>
                  <a:pt x="0" y="1681475"/>
                </a:lnTo>
                <a:lnTo>
                  <a:pt x="0" y="0"/>
                </a:lnTo>
                <a:close/>
              </a:path>
            </a:pathLst>
          </a:custGeom>
          <a:blipFill>
            <a:blip r:embed="rId31"/>
            <a:stretch>
              <a:fillRect/>
            </a:stretch>
          </a:blipFill>
        </p:spPr>
      </p:sp>
      <p:sp>
        <p:nvSpPr>
          <p:cNvPr id="26" name="TextBox 26"/>
          <p:cNvSpPr txBox="1"/>
          <p:nvPr/>
        </p:nvSpPr>
        <p:spPr>
          <a:xfrm>
            <a:off x="388351" y="2663458"/>
            <a:ext cx="7786186" cy="2895575"/>
          </a:xfrm>
          <a:prstGeom prst="rect">
            <a:avLst/>
          </a:prstGeom>
        </p:spPr>
        <p:txBody>
          <a:bodyPr lIns="0" tIns="0" rIns="0" bIns="0" rtlCol="0" anchor="t">
            <a:spAutoFit/>
          </a:bodyPr>
          <a:lstStyle/>
          <a:p>
            <a:pPr algn="l">
              <a:lnSpc>
                <a:spcPts val="11435"/>
              </a:lnSpc>
            </a:pPr>
            <a:r>
              <a:rPr lang="en-US" sz="9529" b="1">
                <a:solidFill>
                  <a:srgbClr val="243B55"/>
                </a:solidFill>
                <a:latin typeface="Montserrat Bold"/>
                <a:ea typeface="Montserrat Bold"/>
                <a:cs typeface="Montserrat Bold"/>
                <a:sym typeface="Montserrat Bold"/>
              </a:rPr>
              <a:t>BIG THANKS</a:t>
            </a:r>
          </a:p>
        </p:txBody>
      </p:sp>
      <p:sp>
        <p:nvSpPr>
          <p:cNvPr id="27" name="TextBox 27"/>
          <p:cNvSpPr txBox="1"/>
          <p:nvPr/>
        </p:nvSpPr>
        <p:spPr>
          <a:xfrm>
            <a:off x="2570902" y="6225224"/>
            <a:ext cx="4338151" cy="521970"/>
          </a:xfrm>
          <a:prstGeom prst="rect">
            <a:avLst/>
          </a:prstGeom>
        </p:spPr>
        <p:txBody>
          <a:bodyPr lIns="0" tIns="0" rIns="0" bIns="0" rtlCol="0" anchor="t">
            <a:spAutoFit/>
          </a:bodyPr>
          <a:lstStyle/>
          <a:p>
            <a:pPr algn="l">
              <a:lnSpc>
                <a:spcPts val="3779"/>
              </a:lnSpc>
            </a:pPr>
            <a:r>
              <a:rPr lang="en-US" sz="2699" b="1">
                <a:solidFill>
                  <a:srgbClr val="243B55"/>
                </a:solidFill>
                <a:latin typeface="Public Sans Bold"/>
                <a:ea typeface="Public Sans Bold"/>
                <a:cs typeface="Public Sans Bold"/>
                <a:sym typeface="Public Sans Bold"/>
              </a:rPr>
              <a:t>www.infologia.in</a:t>
            </a:r>
          </a:p>
        </p:txBody>
      </p:sp>
      <p:sp>
        <p:nvSpPr>
          <p:cNvPr id="28" name="TextBox 28"/>
          <p:cNvSpPr txBox="1"/>
          <p:nvPr/>
        </p:nvSpPr>
        <p:spPr>
          <a:xfrm>
            <a:off x="8784137" y="6225224"/>
            <a:ext cx="3547576" cy="521970"/>
          </a:xfrm>
          <a:prstGeom prst="rect">
            <a:avLst/>
          </a:prstGeom>
        </p:spPr>
        <p:txBody>
          <a:bodyPr lIns="0" tIns="0" rIns="0" bIns="0" rtlCol="0" anchor="t">
            <a:spAutoFit/>
          </a:bodyPr>
          <a:lstStyle/>
          <a:p>
            <a:pPr algn="l">
              <a:lnSpc>
                <a:spcPts val="3779"/>
              </a:lnSpc>
            </a:pPr>
            <a:r>
              <a:rPr lang="en-US" sz="2699" b="1">
                <a:solidFill>
                  <a:srgbClr val="243B55"/>
                </a:solidFill>
                <a:latin typeface="Public Sans Bold"/>
                <a:ea typeface="Public Sans Bold"/>
                <a:cs typeface="Public Sans Bold"/>
                <a:sym typeface="Public Sans Bold"/>
              </a:rPr>
              <a:t>info@infologia.in</a:t>
            </a:r>
          </a:p>
        </p:txBody>
      </p:sp>
      <p:sp>
        <p:nvSpPr>
          <p:cNvPr id="29" name="TextBox 29"/>
          <p:cNvSpPr txBox="1"/>
          <p:nvPr/>
        </p:nvSpPr>
        <p:spPr>
          <a:xfrm>
            <a:off x="2570902" y="7866896"/>
            <a:ext cx="3547576" cy="521970"/>
          </a:xfrm>
          <a:prstGeom prst="rect">
            <a:avLst/>
          </a:prstGeom>
        </p:spPr>
        <p:txBody>
          <a:bodyPr lIns="0" tIns="0" rIns="0" bIns="0" rtlCol="0" anchor="t">
            <a:spAutoFit/>
          </a:bodyPr>
          <a:lstStyle/>
          <a:p>
            <a:pPr algn="l">
              <a:lnSpc>
                <a:spcPts val="3779"/>
              </a:lnSpc>
            </a:pPr>
            <a:r>
              <a:rPr lang="en-US" sz="2699" b="1">
                <a:solidFill>
                  <a:srgbClr val="243B55"/>
                </a:solidFill>
                <a:latin typeface="Public Sans Bold"/>
                <a:ea typeface="Public Sans Bold"/>
                <a:cs typeface="Public Sans Bold"/>
                <a:sym typeface="Public Sans Bold"/>
              </a:rPr>
              <a:t>044-3555 8065</a:t>
            </a:r>
          </a:p>
        </p:txBody>
      </p:sp>
      <p:sp>
        <p:nvSpPr>
          <p:cNvPr id="30" name="TextBox 30"/>
          <p:cNvSpPr txBox="1"/>
          <p:nvPr/>
        </p:nvSpPr>
        <p:spPr>
          <a:xfrm>
            <a:off x="8784137" y="7560023"/>
            <a:ext cx="4669473" cy="1950720"/>
          </a:xfrm>
          <a:prstGeom prst="rect">
            <a:avLst/>
          </a:prstGeom>
        </p:spPr>
        <p:txBody>
          <a:bodyPr lIns="0" tIns="0" rIns="0" bIns="0" rtlCol="0" anchor="t">
            <a:spAutoFit/>
          </a:bodyPr>
          <a:lstStyle/>
          <a:p>
            <a:pPr algn="l">
              <a:lnSpc>
                <a:spcPts val="3779"/>
              </a:lnSpc>
            </a:pPr>
            <a:r>
              <a:rPr lang="en-US" sz="2699" b="1">
                <a:solidFill>
                  <a:srgbClr val="243B55"/>
                </a:solidFill>
                <a:latin typeface="Public Sans Bold"/>
                <a:ea typeface="Public Sans Bold"/>
                <a:cs typeface="Public Sans Bold"/>
                <a:sym typeface="Public Sans Bold"/>
              </a:rPr>
              <a:t>No 15, 3rd Floor, Sarayu Park, 2rd </a:t>
            </a:r>
          </a:p>
          <a:p>
            <a:pPr algn="l">
              <a:lnSpc>
                <a:spcPts val="3779"/>
              </a:lnSpc>
            </a:pPr>
            <a:r>
              <a:rPr lang="en-US" sz="2699" b="1">
                <a:solidFill>
                  <a:srgbClr val="243B55"/>
                </a:solidFill>
                <a:latin typeface="Public Sans Bold"/>
                <a:ea typeface="Public Sans Bold"/>
                <a:cs typeface="Public Sans Bold"/>
                <a:sym typeface="Public Sans Bold"/>
              </a:rPr>
              <a:t>Main Road, New Colony, Chromepet Chennai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1147</Words>
  <Application>Microsoft Office PowerPoint</Application>
  <PresentationFormat>Custom</PresentationFormat>
  <Paragraphs>160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Public Sans Bold</vt:lpstr>
      <vt:lpstr>Montserrat Bold</vt:lpstr>
      <vt:lpstr>Calibri</vt:lpstr>
      <vt:lpstr>Arial</vt:lpstr>
      <vt:lpstr>Public Sans</vt:lpstr>
      <vt:lpstr>Barlow 2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Cargowise Business Profile</dc:title>
  <cp:lastModifiedBy>Vidhura Baskaran</cp:lastModifiedBy>
  <cp:revision>2</cp:revision>
  <dcterms:created xsi:type="dcterms:W3CDTF">2006-08-16T00:00:00Z</dcterms:created>
  <dcterms:modified xsi:type="dcterms:W3CDTF">2026-01-08T07:14:01Z</dcterms:modified>
  <dc:identifier>DAG5UvF5K5E</dc:identifier>
</cp:coreProperties>
</file>