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rimo Bold" charset="1" panose="020B0704020202020204"/>
      <p:regular r:id="rId30"/>
    </p:embeddedFont>
    <p:embeddedFont>
      <p:font typeface="Arimo" charset="1" panose="020B0604020202020204"/>
      <p:regular r:id="rId31"/>
    </p:embeddedFont>
    <p:embeddedFont>
      <p:font typeface="Glacial Indifference" charset="1" panose="00000000000000000000"/>
      <p:regular r:id="rId32"/>
    </p:embeddedFont>
    <p:embeddedFont>
      <p:font typeface="Glacial Indifference Bold" charset="1" panose="00000800000000000000"/>
      <p:regular r:id="rId33"/>
    </p:embeddedFont>
    <p:embeddedFont>
      <p:font typeface="Aileron Bold" charset="1" panose="00000800000000000000"/>
      <p:regular r:id="rId34"/>
    </p:embeddedFont>
    <p:embeddedFont>
      <p:font typeface="Aileron" charset="1" panose="000005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38.png" Type="http://schemas.openxmlformats.org/officeDocument/2006/relationships/image"/><Relationship Id="rId2" Target="../media/image21.jpeg" Type="http://schemas.openxmlformats.org/officeDocument/2006/relationships/image"/><Relationship Id="rId20" Target="../media/image39.sv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42.png" Type="http://schemas.openxmlformats.org/officeDocument/2006/relationships/image"/><Relationship Id="rId12" Target="../media/image43.svg" Type="http://schemas.openxmlformats.org/officeDocument/2006/relationships/image"/><Relationship Id="rId13" Target="../media/image44.png" Type="http://schemas.openxmlformats.org/officeDocument/2006/relationships/image"/><Relationship Id="rId14" Target="../media/image45.svg" Type="http://schemas.openxmlformats.org/officeDocument/2006/relationships/image"/><Relationship Id="rId15" Target="../media/image46.png" Type="http://schemas.openxmlformats.org/officeDocument/2006/relationships/image"/><Relationship Id="rId16" Target="../media/image47.svg" Type="http://schemas.openxmlformats.org/officeDocument/2006/relationships/image"/><Relationship Id="rId17" Target="https://www.nexasoft.com" TargetMode="External" Type="http://schemas.openxmlformats.org/officeDocument/2006/relationships/hyperlink"/><Relationship Id="rId2" Target="../media/image40.jpeg" Type="http://schemas.openxmlformats.org/officeDocument/2006/relationships/image"/><Relationship Id="rId3" Target="../media/image41.jpe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media/image55.png" Type="http://schemas.openxmlformats.org/officeDocument/2006/relationships/image"/><Relationship Id="rId14" Target="../media/image56.svg" Type="http://schemas.openxmlformats.org/officeDocument/2006/relationships/image"/><Relationship Id="rId15" Target="../media/image57.png" Type="http://schemas.openxmlformats.org/officeDocument/2006/relationships/image"/><Relationship Id="rId16" Target="../media/image58.svg" Type="http://schemas.openxmlformats.org/officeDocument/2006/relationships/image"/><Relationship Id="rId17" Target="../media/image59.png" Type="http://schemas.openxmlformats.org/officeDocument/2006/relationships/image"/><Relationship Id="rId18" Target="../media/image60.svg" Type="http://schemas.openxmlformats.org/officeDocument/2006/relationships/image"/><Relationship Id="rId19" Target="../media/image61.png" Type="http://schemas.openxmlformats.org/officeDocument/2006/relationships/image"/><Relationship Id="rId2" Target="../media/image48.jpeg" Type="http://schemas.openxmlformats.org/officeDocument/2006/relationships/image"/><Relationship Id="rId20" Target="../media/image62.svg" Type="http://schemas.openxmlformats.org/officeDocument/2006/relationships/image"/><Relationship Id="rId21" Target="../media/image63.png" Type="http://schemas.openxmlformats.org/officeDocument/2006/relationships/image"/><Relationship Id="rId22" Target="../media/image64.svg" Type="http://schemas.openxmlformats.org/officeDocument/2006/relationships/image"/><Relationship Id="rId23" Target="../media/image65.png" Type="http://schemas.openxmlformats.org/officeDocument/2006/relationships/image"/><Relationship Id="rId24" Target="../media/image66.svg" Type="http://schemas.openxmlformats.org/officeDocument/2006/relationships/image"/><Relationship Id="rId25" Target="../media/image67.png" Type="http://schemas.openxmlformats.org/officeDocument/2006/relationships/image"/><Relationship Id="rId26" Target="../media/image68.svg" Type="http://schemas.openxmlformats.org/officeDocument/2006/relationships/image"/><Relationship Id="rId27" Target="../media/image69.png" Type="http://schemas.openxmlformats.org/officeDocument/2006/relationships/image"/><Relationship Id="rId28" Target="../media/image70.svg" Type="http://schemas.openxmlformats.org/officeDocument/2006/relationships/image"/><Relationship Id="rId29" Target="../media/image71.png" Type="http://schemas.openxmlformats.org/officeDocument/2006/relationships/image"/><Relationship Id="rId3" Target="../media/image1.png" Type="http://schemas.openxmlformats.org/officeDocument/2006/relationships/image"/><Relationship Id="rId30" Target="../media/image72.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3.pn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8.svg" Type="http://schemas.openxmlformats.org/officeDocument/2006/relationships/image"/><Relationship Id="rId11" Target="../media/image79.png" Type="http://schemas.openxmlformats.org/officeDocument/2006/relationships/image"/><Relationship Id="rId12" Target="../media/image80.png" Type="http://schemas.openxmlformats.org/officeDocument/2006/relationships/image"/><Relationship Id="rId13" Target="../media/image81.svg" Type="http://schemas.openxmlformats.org/officeDocument/2006/relationships/image"/><Relationship Id="rId14" Target="../media/image82.png" Type="http://schemas.openxmlformats.org/officeDocument/2006/relationships/image"/><Relationship Id="rId15" Target="../media/image83.svg" Type="http://schemas.openxmlformats.org/officeDocument/2006/relationships/image"/><Relationship Id="rId16" Target="../media/image84.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svg" Type="http://schemas.openxmlformats.org/officeDocument/2006/relationships/image"/><Relationship Id="rId9" Target="../media/image7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9.jpeg" Type="http://schemas.openxmlformats.org/officeDocument/2006/relationships/image"/><Relationship Id="rId11" Target="../media/image90.png" Type="http://schemas.openxmlformats.org/officeDocument/2006/relationships/image"/><Relationship Id="rId12" Target="../media/image91.svg" Type="http://schemas.openxmlformats.org/officeDocument/2006/relationships/image"/><Relationship Id="rId13" Target="../media/image92.png" Type="http://schemas.openxmlformats.org/officeDocument/2006/relationships/image"/><Relationship Id="rId14" Target="../media/image93.svg" Type="http://schemas.openxmlformats.org/officeDocument/2006/relationships/image"/><Relationship Id="rId15" Target="../media/image94.png" Type="http://schemas.openxmlformats.org/officeDocument/2006/relationships/image"/><Relationship Id="rId16" Target="../media/image95.svg" Type="http://schemas.openxmlformats.org/officeDocument/2006/relationships/image"/><Relationship Id="rId17" Target="../media/image96.png" Type="http://schemas.openxmlformats.org/officeDocument/2006/relationships/image"/><Relationship Id="rId18" Target="../media/image97.svg" Type="http://schemas.openxmlformats.org/officeDocument/2006/relationships/image"/><Relationship Id="rId19" Target="../media/image98.png" Type="http://schemas.openxmlformats.org/officeDocument/2006/relationships/image"/><Relationship Id="rId2" Target="../media/image4.png" Type="http://schemas.openxmlformats.org/officeDocument/2006/relationships/image"/><Relationship Id="rId20" Target="../media/image99.svg" Type="http://schemas.openxmlformats.org/officeDocument/2006/relationships/image"/><Relationship Id="rId3" Target="../media/image85.png" Type="http://schemas.openxmlformats.org/officeDocument/2006/relationships/image"/><Relationship Id="rId4" Target="../media/image86.svg" Type="http://schemas.openxmlformats.org/officeDocument/2006/relationships/image"/><Relationship Id="rId5" Target="../media/image1.pn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87.png" Type="http://schemas.openxmlformats.org/officeDocument/2006/relationships/image"/><Relationship Id="rId9" Target="../media/image8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101.png" Type="http://schemas.openxmlformats.org/officeDocument/2006/relationships/image"/><Relationship Id="rId13" Target="../media/image102.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103.png" Type="http://schemas.openxmlformats.org/officeDocument/2006/relationships/image"/><Relationship Id="rId17" Target="../media/image104.svg" Type="http://schemas.openxmlformats.org/officeDocument/2006/relationships/image"/><Relationship Id="rId18" Target="../media/image105.png" Type="http://schemas.openxmlformats.org/officeDocument/2006/relationships/image"/><Relationship Id="rId19" Target="../media/image106.svg" Type="http://schemas.openxmlformats.org/officeDocument/2006/relationships/image"/><Relationship Id="rId2" Target="../media/image100.jpeg" Type="http://schemas.openxmlformats.org/officeDocument/2006/relationships/image"/><Relationship Id="rId20" Target="../media/image107.png" Type="http://schemas.openxmlformats.org/officeDocument/2006/relationships/image"/><Relationship Id="rId21" Target="../media/image108.svg" Type="http://schemas.openxmlformats.org/officeDocument/2006/relationships/image"/><Relationship Id="rId22" Target="../media/image109.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113.png" Type="http://schemas.openxmlformats.org/officeDocument/2006/relationships/image"/><Relationship Id="rId13" Target="../media/image114.svg" Type="http://schemas.openxmlformats.org/officeDocument/2006/relationships/image"/><Relationship Id="rId14" Target="../media/image115.png" Type="http://schemas.openxmlformats.org/officeDocument/2006/relationships/image"/><Relationship Id="rId15" Target="../media/image116.svg" Type="http://schemas.openxmlformats.org/officeDocument/2006/relationships/image"/><Relationship Id="rId16" Target="../media/image117.png" Type="http://schemas.openxmlformats.org/officeDocument/2006/relationships/image"/><Relationship Id="rId17" Target="../media/image118.png" Type="http://schemas.openxmlformats.org/officeDocument/2006/relationships/image"/><Relationship Id="rId18" Target="../media/image119.svg" Type="http://schemas.openxmlformats.org/officeDocument/2006/relationships/image"/><Relationship Id="rId2" Target="../media/image110.jpeg" Type="http://schemas.openxmlformats.org/officeDocument/2006/relationships/image"/><Relationship Id="rId3" Target="../media/image111.png" Type="http://schemas.openxmlformats.org/officeDocument/2006/relationships/image"/><Relationship Id="rId4" Target="../media/image112.sv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4.svg" Type="http://schemas.openxmlformats.org/officeDocument/2006/relationships/image"/><Relationship Id="rId11" Target="../media/image23.pn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28.png" Type="http://schemas.openxmlformats.org/officeDocument/2006/relationships/image"/><Relationship Id="rId17" Target="../media/image29.svg" Type="http://schemas.openxmlformats.org/officeDocument/2006/relationships/image"/><Relationship Id="rId18" Target="../media/image125.png" Type="http://schemas.openxmlformats.org/officeDocument/2006/relationships/image"/><Relationship Id="rId19" Target="../media/image126.svg" Type="http://schemas.openxmlformats.org/officeDocument/2006/relationships/image"/><Relationship Id="rId2" Target="../media/image120.jpeg" Type="http://schemas.openxmlformats.org/officeDocument/2006/relationships/image"/><Relationship Id="rId20" Target="../media/image22.png" Type="http://schemas.openxmlformats.org/officeDocument/2006/relationships/image"/><Relationship Id="rId3" Target="../media/image121.png" Type="http://schemas.openxmlformats.org/officeDocument/2006/relationships/image"/><Relationship Id="rId4" Target="../media/image122.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1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7.jpeg" Type="http://schemas.openxmlformats.org/officeDocument/2006/relationships/image"/><Relationship Id="rId3" Target="../media/image22.png" Type="http://schemas.openxmlformats.org/officeDocument/2006/relationships/image"/><Relationship Id="rId4" Target="../media/image118.png" Type="http://schemas.openxmlformats.org/officeDocument/2006/relationships/image"/><Relationship Id="rId5" Target="../media/image119.svg" Type="http://schemas.openxmlformats.org/officeDocument/2006/relationships/image"/><Relationship Id="rId6" Target="../media/image128.png" Type="http://schemas.openxmlformats.org/officeDocument/2006/relationships/image"/><Relationship Id="rId7" Target="../media/image115.png" Type="http://schemas.openxmlformats.org/officeDocument/2006/relationships/image"/><Relationship Id="rId8" Target="../media/image1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130.png" Type="http://schemas.openxmlformats.org/officeDocument/2006/relationships/image"/><Relationship Id="rId12" Target="../media/image131.svg" Type="http://schemas.openxmlformats.org/officeDocument/2006/relationships/image"/><Relationship Id="rId13" Target="../media/image132.png" Type="http://schemas.openxmlformats.org/officeDocument/2006/relationships/image"/><Relationship Id="rId14" Target="../media/image133.svg" Type="http://schemas.openxmlformats.org/officeDocument/2006/relationships/image"/><Relationship Id="rId15" Target="../media/image134.png" Type="http://schemas.openxmlformats.org/officeDocument/2006/relationships/image"/><Relationship Id="rId16" Target="../media/image135.svg" Type="http://schemas.openxmlformats.org/officeDocument/2006/relationships/image"/><Relationship Id="rId17" Target="../media/image42.png" Type="http://schemas.openxmlformats.org/officeDocument/2006/relationships/image"/><Relationship Id="rId18" Target="../media/image43.svg" Type="http://schemas.openxmlformats.org/officeDocument/2006/relationships/image"/><Relationship Id="rId2" Target="../media/image41.jpeg" Type="http://schemas.openxmlformats.org/officeDocument/2006/relationships/image"/><Relationship Id="rId3" Target="../media/image129.jpe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3.svg" Type="http://schemas.openxmlformats.org/officeDocument/2006/relationships/image"/><Relationship Id="rId11" Target="../media/image143.png" Type="http://schemas.openxmlformats.org/officeDocument/2006/relationships/image"/><Relationship Id="rId12" Target="../media/image144.svg" Type="http://schemas.openxmlformats.org/officeDocument/2006/relationships/image"/><Relationship Id="rId2" Target="../media/image136.jpeg" Type="http://schemas.openxmlformats.org/officeDocument/2006/relationships/image"/><Relationship Id="rId3" Target="../media/image137.png" Type="http://schemas.openxmlformats.org/officeDocument/2006/relationships/image"/><Relationship Id="rId4" Target="../media/image138.svg" Type="http://schemas.openxmlformats.org/officeDocument/2006/relationships/image"/><Relationship Id="rId5" Target="../media/image139.png" Type="http://schemas.openxmlformats.org/officeDocument/2006/relationships/image"/><Relationship Id="rId6" Target="../media/image140.svg" Type="http://schemas.openxmlformats.org/officeDocument/2006/relationships/image"/><Relationship Id="rId7" Target="../media/image141.png" Type="http://schemas.openxmlformats.org/officeDocument/2006/relationships/image"/><Relationship Id="rId8" Target="../media/image142.svg" Type="http://schemas.openxmlformats.org/officeDocument/2006/relationships/image"/><Relationship Id="rId9" Target="../media/image1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sv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17" Target="../media/image28.png" Type="http://schemas.openxmlformats.org/officeDocument/2006/relationships/image"/><Relationship Id="rId18" Target="../media/image29.svg" Type="http://schemas.openxmlformats.org/officeDocument/2006/relationships/image"/><Relationship Id="rId19" Target="../media/image149.png" Type="http://schemas.openxmlformats.org/officeDocument/2006/relationships/image"/><Relationship Id="rId2" Target="../media/image145.jpeg" Type="http://schemas.openxmlformats.org/officeDocument/2006/relationships/image"/><Relationship Id="rId20" Target="../media/image150.svg" Type="http://schemas.openxmlformats.org/officeDocument/2006/relationships/image"/><Relationship Id="rId21" Target="../media/image134.png" Type="http://schemas.openxmlformats.org/officeDocument/2006/relationships/image"/><Relationship Id="rId22" Target="../media/image135.svg" Type="http://schemas.openxmlformats.org/officeDocument/2006/relationships/image"/><Relationship Id="rId23" Target="../media/image151.png" Type="http://schemas.openxmlformats.org/officeDocument/2006/relationships/image"/><Relationship Id="rId24" Target="../media/image152.svg" Type="http://schemas.openxmlformats.org/officeDocument/2006/relationships/image"/><Relationship Id="rId3" Target="../media/image146.jpeg" Type="http://schemas.openxmlformats.org/officeDocument/2006/relationships/image"/><Relationship Id="rId4" Target="../media/image132.png" Type="http://schemas.openxmlformats.org/officeDocument/2006/relationships/image"/><Relationship Id="rId5" Target="../media/image133.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147.png" Type="http://schemas.openxmlformats.org/officeDocument/2006/relationships/image"/><Relationship Id="rId9" Target="../media/image14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5.svg" Type="http://schemas.openxmlformats.org/officeDocument/2006/relationships/image"/><Relationship Id="rId11" Target="../media/image156.png" Type="http://schemas.openxmlformats.org/officeDocument/2006/relationships/image"/><Relationship Id="rId12" Target="../media/image157.svg" Type="http://schemas.openxmlformats.org/officeDocument/2006/relationships/image"/><Relationship Id="rId13" Target="../media/image132.png" Type="http://schemas.openxmlformats.org/officeDocument/2006/relationships/image"/><Relationship Id="rId14" Target="../media/image133.svg" Type="http://schemas.openxmlformats.org/officeDocument/2006/relationships/image"/><Relationship Id="rId15" Target="../media/image143.png" Type="http://schemas.openxmlformats.org/officeDocument/2006/relationships/image"/><Relationship Id="rId16" Target="../media/image144.svg" Type="http://schemas.openxmlformats.org/officeDocument/2006/relationships/image"/><Relationship Id="rId17" Target="../media/image158.png" Type="http://schemas.openxmlformats.org/officeDocument/2006/relationships/image"/><Relationship Id="rId18" Target="../media/image159.svg" Type="http://schemas.openxmlformats.org/officeDocument/2006/relationships/image"/><Relationship Id="rId2" Target="../media/image153.jpeg" Type="http://schemas.openxmlformats.org/officeDocument/2006/relationships/image"/><Relationship Id="rId3" Target="../media/image137.png" Type="http://schemas.openxmlformats.org/officeDocument/2006/relationships/image"/><Relationship Id="rId4" Target="../media/image138.svg" Type="http://schemas.openxmlformats.org/officeDocument/2006/relationships/image"/><Relationship Id="rId5" Target="../media/image139.png" Type="http://schemas.openxmlformats.org/officeDocument/2006/relationships/image"/><Relationship Id="rId6" Target="../media/image140.svg" Type="http://schemas.openxmlformats.org/officeDocument/2006/relationships/image"/><Relationship Id="rId7" Target="../media/image141.png" Type="http://schemas.openxmlformats.org/officeDocument/2006/relationships/image"/><Relationship Id="rId8" Target="../media/image142.svg" Type="http://schemas.openxmlformats.org/officeDocument/2006/relationships/image"/><Relationship Id="rId9" Target="../media/image15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7.png" Type="http://schemas.openxmlformats.org/officeDocument/2006/relationships/image"/><Relationship Id="rId11" Target="../media/image168.svg" Type="http://schemas.openxmlformats.org/officeDocument/2006/relationships/image"/><Relationship Id="rId12" Target="../media/image169.png" Type="http://schemas.openxmlformats.org/officeDocument/2006/relationships/image"/><Relationship Id="rId13" Target="../media/image170.svg" Type="http://schemas.openxmlformats.org/officeDocument/2006/relationships/image"/><Relationship Id="rId14" Target="../media/image171.png" Type="http://schemas.openxmlformats.org/officeDocument/2006/relationships/image"/><Relationship Id="rId15" Target="../media/image172.svg" Type="http://schemas.openxmlformats.org/officeDocument/2006/relationships/image"/><Relationship Id="rId2" Target="../media/image1.png" Type="http://schemas.openxmlformats.org/officeDocument/2006/relationships/image"/><Relationship Id="rId3" Target="../media/image160.png" Type="http://schemas.openxmlformats.org/officeDocument/2006/relationships/image"/><Relationship Id="rId4" Target="../media/image161.svg" Type="http://schemas.openxmlformats.org/officeDocument/2006/relationships/image"/><Relationship Id="rId5" Target="../media/image162.png" Type="http://schemas.openxmlformats.org/officeDocument/2006/relationships/image"/><Relationship Id="rId6" Target="../media/image163.svg" Type="http://schemas.openxmlformats.org/officeDocument/2006/relationships/image"/><Relationship Id="rId7" Target="../media/image164.jpeg" Type="http://schemas.openxmlformats.org/officeDocument/2006/relationships/image"/><Relationship Id="rId8" Target="../media/image165.png" Type="http://schemas.openxmlformats.org/officeDocument/2006/relationships/image"/><Relationship Id="rId9" Target="../media/image16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png" Type="http://schemas.openxmlformats.org/officeDocument/2006/relationships/image"/><Relationship Id="rId12" Target="../media/image3.svg" Type="http://schemas.openxmlformats.org/officeDocument/2006/relationships/image"/><Relationship Id="rId13" Target="../media/image55.png" Type="http://schemas.openxmlformats.org/officeDocument/2006/relationships/image"/><Relationship Id="rId14" Target="../media/image56.svg" Type="http://schemas.openxmlformats.org/officeDocument/2006/relationships/image"/><Relationship Id="rId15" Target="../media/image173.png" Type="http://schemas.openxmlformats.org/officeDocument/2006/relationships/image"/><Relationship Id="rId16" Target="../media/image174.svg" Type="http://schemas.openxmlformats.org/officeDocument/2006/relationships/image"/><Relationship Id="rId2" Target="../media/image48.jpeg" Type="http://schemas.openxmlformats.org/officeDocument/2006/relationships/image"/><Relationship Id="rId3" Target="../media/image23.pn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175.png" Type="http://schemas.openxmlformats.org/officeDocument/2006/relationships/image"/><Relationship Id="rId13" Target="../media/image176.svg" Type="http://schemas.openxmlformats.org/officeDocument/2006/relationships/image"/><Relationship Id="rId14" Target="../media/image17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9.svg" Type="http://schemas.openxmlformats.org/officeDocument/2006/relationships/image"/><Relationship Id="rId11" Target="../media/image182.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9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8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186.png" Type="http://schemas.openxmlformats.org/officeDocument/2006/relationships/image"/><Relationship Id="rId12" Target="../media/image187.svg" Type="http://schemas.openxmlformats.org/officeDocument/2006/relationships/image"/><Relationship Id="rId13" Target="../media/image188.png" Type="http://schemas.openxmlformats.org/officeDocument/2006/relationships/image"/><Relationship Id="rId14" Target="../media/image189.svg" Type="http://schemas.openxmlformats.org/officeDocument/2006/relationships/image"/><Relationship Id="rId15" Target="../media/image190.png" Type="http://schemas.openxmlformats.org/officeDocument/2006/relationships/image"/><Relationship Id="rId16" Target="../media/image191.svg" Type="http://schemas.openxmlformats.org/officeDocument/2006/relationships/image"/><Relationship Id="rId2" Target="../media/image184.png" Type="http://schemas.openxmlformats.org/officeDocument/2006/relationships/image"/><Relationship Id="rId3" Target="../media/image185.svg" Type="http://schemas.openxmlformats.org/officeDocument/2006/relationships/image"/><Relationship Id="rId4" Target="../media/image4.png" Type="http://schemas.openxmlformats.org/officeDocument/2006/relationships/image"/><Relationship Id="rId5" Target="../media/image92.png" Type="http://schemas.openxmlformats.org/officeDocument/2006/relationships/image"/><Relationship Id="rId6" Target="../media/image93.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1.svg" Type="http://schemas.openxmlformats.org/officeDocument/2006/relationships/image"/><Relationship Id="rId11" Target="../media/image92.png" Type="http://schemas.openxmlformats.org/officeDocument/2006/relationships/image"/><Relationship Id="rId12" Target="../media/image93.svg" Type="http://schemas.openxmlformats.org/officeDocument/2006/relationships/image"/><Relationship Id="rId13" Target="../media/image2.png" Type="http://schemas.openxmlformats.org/officeDocument/2006/relationships/image"/><Relationship Id="rId14" Target="../media/image3.svg" Type="http://schemas.openxmlformats.org/officeDocument/2006/relationships/image"/><Relationship Id="rId15" Target="../media/image193.png" Type="http://schemas.openxmlformats.org/officeDocument/2006/relationships/image"/><Relationship Id="rId16" Target="../media/image194.jpeg" Type="http://schemas.openxmlformats.org/officeDocument/2006/relationships/image"/><Relationship Id="rId17" Target="../media/image195.png" Type="http://schemas.openxmlformats.org/officeDocument/2006/relationships/image"/><Relationship Id="rId18" Target="../media/image196.png" Type="http://schemas.openxmlformats.org/officeDocument/2006/relationships/image"/><Relationship Id="rId19" Target="../media/image197.png" Type="http://schemas.openxmlformats.org/officeDocument/2006/relationships/image"/><Relationship Id="rId2" Target="../media/image4.png" Type="http://schemas.openxmlformats.org/officeDocument/2006/relationships/image"/><Relationship Id="rId20" Target="../media/image198.png" Type="http://schemas.openxmlformats.org/officeDocument/2006/relationships/image"/><Relationship Id="rId21" Target="../media/image199.png" Type="http://schemas.openxmlformats.org/officeDocument/2006/relationships/image"/><Relationship Id="rId22" Target="../media/image200.jpeg" Type="http://schemas.openxmlformats.org/officeDocument/2006/relationships/image"/><Relationship Id="rId3" Target="../media/image85.png" Type="http://schemas.openxmlformats.org/officeDocument/2006/relationships/image"/><Relationship Id="rId4" Target="../media/image86.svg" Type="http://schemas.openxmlformats.org/officeDocument/2006/relationships/image"/><Relationship Id="rId5" Target="../media/image1.png" Type="http://schemas.openxmlformats.org/officeDocument/2006/relationships/image"/><Relationship Id="rId6" Target="../media/image87.png" Type="http://schemas.openxmlformats.org/officeDocument/2006/relationships/image"/><Relationship Id="rId7" Target="../media/image88.svg" Type="http://schemas.openxmlformats.org/officeDocument/2006/relationships/image"/><Relationship Id="rId8" Target="../media/image192.jpeg" Type="http://schemas.openxmlformats.org/officeDocument/2006/relationships/image"/><Relationship Id="rId9" Target="../media/image9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204.png" Type="http://schemas.openxmlformats.org/officeDocument/2006/relationships/image"/><Relationship Id="rId13" Target="../media/image205.svg" Type="http://schemas.openxmlformats.org/officeDocument/2006/relationships/image"/><Relationship Id="rId2" Target="../media/image201.png" Type="http://schemas.openxmlformats.org/officeDocument/2006/relationships/image"/><Relationship Id="rId3" Target="../media/image202.svg" Type="http://schemas.openxmlformats.org/officeDocument/2006/relationships/image"/><Relationship Id="rId4" Target="../media/image203.jpe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6.jpeg" Type="http://schemas.openxmlformats.org/officeDocument/2006/relationships/image"/><Relationship Id="rId11" Target="../media/image90.png" Type="http://schemas.openxmlformats.org/officeDocument/2006/relationships/image"/><Relationship Id="rId12" Target="../media/image91.svg" Type="http://schemas.openxmlformats.org/officeDocument/2006/relationships/image"/><Relationship Id="rId13" Target="../media/image92.png" Type="http://schemas.openxmlformats.org/officeDocument/2006/relationships/image"/><Relationship Id="rId14" Target="../media/image93.svg" Type="http://schemas.openxmlformats.org/officeDocument/2006/relationships/image"/><Relationship Id="rId15" Target="../media/image207.png" Type="http://schemas.openxmlformats.org/officeDocument/2006/relationships/image"/><Relationship Id="rId16" Target="../media/image208.svg" Type="http://schemas.openxmlformats.org/officeDocument/2006/relationships/image"/><Relationship Id="rId17" Target="../media/image209.png" Type="http://schemas.openxmlformats.org/officeDocument/2006/relationships/image"/><Relationship Id="rId18" Target="../media/image210.svg" Type="http://schemas.openxmlformats.org/officeDocument/2006/relationships/image"/><Relationship Id="rId19" Target="../media/image211.png" Type="http://schemas.openxmlformats.org/officeDocument/2006/relationships/image"/><Relationship Id="rId2" Target="../media/image1.png" Type="http://schemas.openxmlformats.org/officeDocument/2006/relationships/image"/><Relationship Id="rId20" Target="../media/image212.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85.png" Type="http://schemas.openxmlformats.org/officeDocument/2006/relationships/image"/><Relationship Id="rId7" Target="../media/image86.svg" Type="http://schemas.openxmlformats.org/officeDocument/2006/relationships/image"/><Relationship Id="rId8" Target="../media/image87.png" Type="http://schemas.openxmlformats.org/officeDocument/2006/relationships/image"/><Relationship Id="rId9" Target="../media/image8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7.jpe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218.png" Type="http://schemas.openxmlformats.org/officeDocument/2006/relationships/image"/><Relationship Id="rId2" Target="../media/image1.png" Type="http://schemas.openxmlformats.org/officeDocument/2006/relationships/image"/><Relationship Id="rId20" Target="../media/image219.svg" Type="http://schemas.openxmlformats.org/officeDocument/2006/relationships/image"/><Relationship Id="rId21" Target="../media/image18.png" Type="http://schemas.openxmlformats.org/officeDocument/2006/relationships/image"/><Relationship Id="rId22" Target="../media/image19.svg" Type="http://schemas.openxmlformats.org/officeDocument/2006/relationships/image"/><Relationship Id="rId23" Target="../media/image220.png" Type="http://schemas.openxmlformats.org/officeDocument/2006/relationships/image"/><Relationship Id="rId24" Target="../media/image221.svg" Type="http://schemas.openxmlformats.org/officeDocument/2006/relationships/image"/><Relationship Id="rId25" Target="../media/image222.png" Type="http://schemas.openxmlformats.org/officeDocument/2006/relationships/image"/><Relationship Id="rId26" Target="../media/image223.svg" Type="http://schemas.openxmlformats.org/officeDocument/2006/relationships/image"/><Relationship Id="rId27" Target="../media/image2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213.png" Type="http://schemas.openxmlformats.org/officeDocument/2006/relationships/image"/><Relationship Id="rId7" Target="../media/image214.svg" Type="http://schemas.openxmlformats.org/officeDocument/2006/relationships/image"/><Relationship Id="rId8" Target="../media/image215.png" Type="http://schemas.openxmlformats.org/officeDocument/2006/relationships/image"/><Relationship Id="rId9" Target="../media/image2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7253764" y="1388345"/>
            <a:ext cx="11641931" cy="11641931"/>
            <a:chOff x="0" y="0"/>
            <a:chExt cx="15522575" cy="15522575"/>
          </a:xfrm>
        </p:grpSpPr>
        <p:sp>
          <p:nvSpPr>
            <p:cNvPr name="Freeform 3" id="3"/>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4" id="4"/>
          <p:cNvSpPr/>
          <p:nvPr/>
        </p:nvSpPr>
        <p:spPr>
          <a:xfrm flipH="false" flipV="false" rot="0">
            <a:off x="-9722098" y="-773265"/>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8100000">
            <a:off x="5777217" y="8325793"/>
            <a:ext cx="5636924" cy="605971"/>
            <a:chOff x="0" y="0"/>
            <a:chExt cx="7515898" cy="807961"/>
          </a:xfrm>
        </p:grpSpPr>
        <p:sp>
          <p:nvSpPr>
            <p:cNvPr name="Freeform 6" id="6"/>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7" id="7"/>
          <p:cNvSpPr/>
          <p:nvPr/>
        </p:nvSpPr>
        <p:spPr>
          <a:xfrm flipH="false" flipV="false" rot="0">
            <a:off x="7038764" y="6224742"/>
            <a:ext cx="6577720" cy="6577720"/>
          </a:xfrm>
          <a:custGeom>
            <a:avLst/>
            <a:gdLst/>
            <a:ahLst/>
            <a:cxnLst/>
            <a:rect r="r" b="b" t="t" l="l"/>
            <a:pathLst>
              <a:path h="6577720" w="6577720">
                <a:moveTo>
                  <a:pt x="0" y="0"/>
                </a:moveTo>
                <a:lnTo>
                  <a:pt x="6577720" y="0"/>
                </a:lnTo>
                <a:lnTo>
                  <a:pt x="6577720" y="6577719"/>
                </a:lnTo>
                <a:lnTo>
                  <a:pt x="0" y="65777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2700000">
            <a:off x="3826821" y="519179"/>
            <a:ext cx="5636924" cy="605971"/>
            <a:chOff x="0" y="0"/>
            <a:chExt cx="7515898" cy="807961"/>
          </a:xfrm>
        </p:grpSpPr>
        <p:sp>
          <p:nvSpPr>
            <p:cNvPr name="Freeform 9" id="9"/>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10" id="10"/>
          <p:cNvSpPr/>
          <p:nvPr/>
        </p:nvSpPr>
        <p:spPr>
          <a:xfrm flipH="false" flipV="false" rot="0">
            <a:off x="5890839" y="-1922105"/>
            <a:ext cx="4912037" cy="4912037"/>
          </a:xfrm>
          <a:custGeom>
            <a:avLst/>
            <a:gdLst/>
            <a:ahLst/>
            <a:cxnLst/>
            <a:rect r="r" b="b" t="t" l="l"/>
            <a:pathLst>
              <a:path h="4912037" w="4912037">
                <a:moveTo>
                  <a:pt x="0" y="0"/>
                </a:moveTo>
                <a:lnTo>
                  <a:pt x="4912037" y="0"/>
                </a:lnTo>
                <a:lnTo>
                  <a:pt x="4912037" y="4912037"/>
                </a:lnTo>
                <a:lnTo>
                  <a:pt x="0" y="49120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2700000">
            <a:off x="9562900" y="-1975037"/>
            <a:ext cx="11641931" cy="11641931"/>
            <a:chOff x="0" y="0"/>
            <a:chExt cx="15522575" cy="15522575"/>
          </a:xfrm>
        </p:grpSpPr>
        <p:sp>
          <p:nvSpPr>
            <p:cNvPr name="Freeform 12" id="12"/>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57999"/>
              </a:blip>
              <a:stretch>
                <a:fillRect l="0" t="0" r="0" b="0"/>
              </a:stretch>
            </a:blipFill>
          </p:spPr>
        </p:sp>
      </p:grpSp>
      <p:sp>
        <p:nvSpPr>
          <p:cNvPr name="Freeform 13" id="13"/>
          <p:cNvSpPr/>
          <p:nvPr/>
        </p:nvSpPr>
        <p:spPr>
          <a:xfrm flipH="false" flipV="false" rot="0">
            <a:off x="7465298" y="-4072642"/>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8916495" y="-2669067"/>
            <a:ext cx="12914052" cy="12914052"/>
            <a:chOff x="0" y="0"/>
            <a:chExt cx="17218736" cy="17218736"/>
          </a:xfrm>
        </p:grpSpPr>
        <p:sp>
          <p:nvSpPr>
            <p:cNvPr name="Freeform 15" id="15"/>
            <p:cNvSpPr/>
            <p:nvPr/>
          </p:nvSpPr>
          <p:spPr>
            <a:xfrm flipH="false" flipV="false" rot="0">
              <a:off x="0" y="0"/>
              <a:ext cx="17218661" cy="17218661"/>
            </a:xfrm>
            <a:custGeom>
              <a:avLst/>
              <a:gdLst/>
              <a:ahLst/>
              <a:cxnLst/>
              <a:rect r="r" b="b" t="t" l="l"/>
              <a:pathLst>
                <a:path h="17218661" w="17218661">
                  <a:moveTo>
                    <a:pt x="9166098" y="230632"/>
                  </a:moveTo>
                  <a:lnTo>
                    <a:pt x="16988028" y="8052562"/>
                  </a:lnTo>
                  <a:cubicBezTo>
                    <a:pt x="17135729" y="8200263"/>
                    <a:pt x="17218661" y="8400542"/>
                    <a:pt x="17218661" y="8609330"/>
                  </a:cubicBezTo>
                  <a:cubicBezTo>
                    <a:pt x="17218661" y="8818118"/>
                    <a:pt x="17135729" y="9018398"/>
                    <a:pt x="16988028" y="9166099"/>
                  </a:cubicBezTo>
                  <a:lnTo>
                    <a:pt x="9166098" y="16988028"/>
                  </a:lnTo>
                  <a:cubicBezTo>
                    <a:pt x="9018397" y="17135729"/>
                    <a:pt x="8818118" y="17218661"/>
                    <a:pt x="8609330" y="17218661"/>
                  </a:cubicBezTo>
                  <a:cubicBezTo>
                    <a:pt x="8400542" y="17218661"/>
                    <a:pt x="8200263" y="17135729"/>
                    <a:pt x="8052562" y="16988028"/>
                  </a:cubicBezTo>
                  <a:lnTo>
                    <a:pt x="230632" y="9166098"/>
                  </a:lnTo>
                  <a:cubicBezTo>
                    <a:pt x="82931" y="9018524"/>
                    <a:pt x="0" y="8818245"/>
                    <a:pt x="0" y="8609330"/>
                  </a:cubicBezTo>
                  <a:cubicBezTo>
                    <a:pt x="0" y="8400416"/>
                    <a:pt x="82931" y="8200263"/>
                    <a:pt x="230632" y="8052562"/>
                  </a:cubicBezTo>
                  <a:lnTo>
                    <a:pt x="8052562" y="230632"/>
                  </a:lnTo>
                  <a:cubicBezTo>
                    <a:pt x="8200263" y="82931"/>
                    <a:pt x="8400542" y="0"/>
                    <a:pt x="8609330" y="0"/>
                  </a:cubicBezTo>
                  <a:cubicBezTo>
                    <a:pt x="8818118" y="0"/>
                    <a:pt x="9018398" y="82931"/>
                    <a:pt x="9166099" y="230632"/>
                  </a:cubicBezTo>
                  <a:close/>
                </a:path>
              </a:pathLst>
            </a:custGeom>
            <a:blipFill>
              <a:blip r:embed="rId10"/>
              <a:stretch>
                <a:fillRect l="-25046" t="0" r="-25047" b="0"/>
              </a:stretch>
            </a:blipFill>
          </p:spPr>
        </p:sp>
      </p:grpSp>
      <p:grpSp>
        <p:nvGrpSpPr>
          <p:cNvPr name="Group 16" id="16"/>
          <p:cNvGrpSpPr/>
          <p:nvPr/>
        </p:nvGrpSpPr>
        <p:grpSpPr>
          <a:xfrm rot="8100000">
            <a:off x="7965357" y="10637768"/>
            <a:ext cx="5636924" cy="605971"/>
            <a:chOff x="0" y="0"/>
            <a:chExt cx="7515898" cy="807961"/>
          </a:xfrm>
        </p:grpSpPr>
        <p:sp>
          <p:nvSpPr>
            <p:cNvPr name="Freeform 17" id="17"/>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18" id="18"/>
          <p:cNvSpPr/>
          <p:nvPr/>
        </p:nvSpPr>
        <p:spPr>
          <a:xfrm flipH="false" flipV="false" rot="0">
            <a:off x="11239090" y="3249949"/>
            <a:ext cx="9059804" cy="9059804"/>
          </a:xfrm>
          <a:custGeom>
            <a:avLst/>
            <a:gdLst/>
            <a:ahLst/>
            <a:cxnLst/>
            <a:rect r="r" b="b" t="t" l="l"/>
            <a:pathLst>
              <a:path h="9059804" w="9059804">
                <a:moveTo>
                  <a:pt x="0" y="0"/>
                </a:moveTo>
                <a:lnTo>
                  <a:pt x="9059805" y="0"/>
                </a:lnTo>
                <a:lnTo>
                  <a:pt x="9059805" y="9059804"/>
                </a:lnTo>
                <a:lnTo>
                  <a:pt x="0" y="905980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9" id="19"/>
          <p:cNvGrpSpPr/>
          <p:nvPr/>
        </p:nvGrpSpPr>
        <p:grpSpPr>
          <a:xfrm rot="8100000">
            <a:off x="13721105" y="8138017"/>
            <a:ext cx="5636924" cy="605971"/>
            <a:chOff x="0" y="0"/>
            <a:chExt cx="7515898" cy="807961"/>
          </a:xfrm>
        </p:grpSpPr>
        <p:sp>
          <p:nvSpPr>
            <p:cNvPr name="Freeform 20" id="20"/>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21" id="21"/>
          <p:cNvSpPr/>
          <p:nvPr/>
        </p:nvSpPr>
        <p:spPr>
          <a:xfrm flipH="false" flipV="false" rot="0">
            <a:off x="14585052" y="6403817"/>
            <a:ext cx="5905936" cy="5905936"/>
          </a:xfrm>
          <a:custGeom>
            <a:avLst/>
            <a:gdLst/>
            <a:ahLst/>
            <a:cxnLst/>
            <a:rect r="r" b="b" t="t" l="l"/>
            <a:pathLst>
              <a:path h="5905936" w="5905936">
                <a:moveTo>
                  <a:pt x="0" y="0"/>
                </a:moveTo>
                <a:lnTo>
                  <a:pt x="5905936" y="0"/>
                </a:lnTo>
                <a:lnTo>
                  <a:pt x="5905936" y="5905936"/>
                </a:lnTo>
                <a:lnTo>
                  <a:pt x="0" y="59059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1260019" y="7361710"/>
            <a:ext cx="934250" cy="266001"/>
          </a:xfrm>
          <a:custGeom>
            <a:avLst/>
            <a:gdLst/>
            <a:ahLst/>
            <a:cxnLst/>
            <a:rect r="r" b="b" t="t" l="l"/>
            <a:pathLst>
              <a:path h="266001" w="934250">
                <a:moveTo>
                  <a:pt x="0" y="0"/>
                </a:moveTo>
                <a:lnTo>
                  <a:pt x="934250" y="0"/>
                </a:lnTo>
                <a:lnTo>
                  <a:pt x="934250" y="266001"/>
                </a:lnTo>
                <a:lnTo>
                  <a:pt x="0" y="26600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3" id="23"/>
          <p:cNvSpPr/>
          <p:nvPr/>
        </p:nvSpPr>
        <p:spPr>
          <a:xfrm flipH="false" flipV="false" rot="0">
            <a:off x="2313217" y="7352185"/>
            <a:ext cx="312889" cy="266001"/>
          </a:xfrm>
          <a:custGeom>
            <a:avLst/>
            <a:gdLst/>
            <a:ahLst/>
            <a:cxnLst/>
            <a:rect r="r" b="b" t="t" l="l"/>
            <a:pathLst>
              <a:path h="266001" w="312889">
                <a:moveTo>
                  <a:pt x="0" y="0"/>
                </a:moveTo>
                <a:lnTo>
                  <a:pt x="312889" y="0"/>
                </a:lnTo>
                <a:lnTo>
                  <a:pt x="312889" y="266001"/>
                </a:lnTo>
                <a:lnTo>
                  <a:pt x="0" y="26600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028700" y="8684885"/>
            <a:ext cx="557889" cy="557889"/>
          </a:xfrm>
          <a:custGeom>
            <a:avLst/>
            <a:gdLst/>
            <a:ahLst/>
            <a:cxnLst/>
            <a:rect r="r" b="b" t="t" l="l"/>
            <a:pathLst>
              <a:path h="557889" w="557889">
                <a:moveTo>
                  <a:pt x="0" y="0"/>
                </a:moveTo>
                <a:lnTo>
                  <a:pt x="557889" y="0"/>
                </a:lnTo>
                <a:lnTo>
                  <a:pt x="557889" y="557889"/>
                </a:lnTo>
                <a:lnTo>
                  <a:pt x="0" y="55788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1177814" y="2672867"/>
            <a:ext cx="6615789" cy="2143100"/>
          </a:xfrm>
          <a:prstGeom prst="rect">
            <a:avLst/>
          </a:prstGeom>
        </p:spPr>
        <p:txBody>
          <a:bodyPr anchor="t" rtlCol="false" tIns="0" lIns="0" bIns="0" rIns="0">
            <a:spAutoFit/>
          </a:bodyPr>
          <a:lstStyle/>
          <a:p>
            <a:pPr algn="l">
              <a:lnSpc>
                <a:spcPts val="8248"/>
              </a:lnSpc>
            </a:pPr>
            <a:r>
              <a:rPr lang="en-US" sz="7498" b="true">
                <a:solidFill>
                  <a:srgbClr val="16599D"/>
                </a:solidFill>
                <a:latin typeface="Arimo Bold"/>
                <a:ea typeface="Arimo Bold"/>
                <a:cs typeface="Arimo Bold"/>
                <a:sym typeface="Arimo Bold"/>
              </a:rPr>
              <a:t>INVESTOR PROPOSAL</a:t>
            </a:r>
          </a:p>
        </p:txBody>
      </p:sp>
      <p:sp>
        <p:nvSpPr>
          <p:cNvPr name="TextBox 26" id="26"/>
          <p:cNvSpPr txBox="true"/>
          <p:nvPr/>
        </p:nvSpPr>
        <p:spPr>
          <a:xfrm rot="0">
            <a:off x="1202045" y="4659782"/>
            <a:ext cx="8115300" cy="2473300"/>
          </a:xfrm>
          <a:prstGeom prst="rect">
            <a:avLst/>
          </a:prstGeom>
        </p:spPr>
        <p:txBody>
          <a:bodyPr anchor="t" rtlCol="false" tIns="0" lIns="0" bIns="0" rIns="0">
            <a:spAutoFit/>
          </a:bodyPr>
          <a:lstStyle/>
          <a:p>
            <a:pPr algn="l">
              <a:lnSpc>
                <a:spcPts val="4898"/>
              </a:lnSpc>
            </a:pPr>
            <a:r>
              <a:rPr lang="en-US" sz="3499">
                <a:solidFill>
                  <a:srgbClr val="292A2B"/>
                </a:solidFill>
                <a:latin typeface="Arimo"/>
                <a:ea typeface="Arimo"/>
                <a:cs typeface="Arimo"/>
                <a:sym typeface="Arimo"/>
              </a:rPr>
              <a:t>DEVELOPMENT OF A NEXT-GENERATION CONSOLIDATED LOGISTICS MANAGEMENT SOFTWARE</a:t>
            </a:r>
          </a:p>
        </p:txBody>
      </p:sp>
      <p:sp>
        <p:nvSpPr>
          <p:cNvPr name="TextBox 27" id="27"/>
          <p:cNvSpPr txBox="true"/>
          <p:nvPr/>
        </p:nvSpPr>
        <p:spPr>
          <a:xfrm rot="0">
            <a:off x="1734341" y="8691696"/>
            <a:ext cx="2137543" cy="391795"/>
          </a:xfrm>
          <a:prstGeom prst="rect">
            <a:avLst/>
          </a:prstGeom>
        </p:spPr>
        <p:txBody>
          <a:bodyPr anchor="t" rtlCol="false" tIns="0" lIns="0" bIns="0" rIns="0">
            <a:spAutoFit/>
          </a:bodyPr>
          <a:lstStyle/>
          <a:p>
            <a:pPr algn="l">
              <a:lnSpc>
                <a:spcPts val="3079"/>
              </a:lnSpc>
            </a:pPr>
            <a:r>
              <a:rPr lang="en-US" sz="2200">
                <a:solidFill>
                  <a:srgbClr val="000000"/>
                </a:solidFill>
                <a:latin typeface="Arimo"/>
                <a:ea typeface="Arimo"/>
                <a:cs typeface="Arimo"/>
                <a:sym typeface="Arimo"/>
              </a:rPr>
              <a:t>www.infologia.in</a:t>
            </a:r>
          </a:p>
        </p:txBody>
      </p:sp>
      <p:sp>
        <p:nvSpPr>
          <p:cNvPr name="TextBox 28" id="28"/>
          <p:cNvSpPr txBox="true"/>
          <p:nvPr/>
        </p:nvSpPr>
        <p:spPr>
          <a:xfrm rot="0">
            <a:off x="2037702" y="1084164"/>
            <a:ext cx="4698273" cy="457835"/>
          </a:xfrm>
          <a:prstGeom prst="rect">
            <a:avLst/>
          </a:prstGeom>
        </p:spPr>
        <p:txBody>
          <a:bodyPr anchor="t" rtlCol="false" tIns="0" lIns="0" bIns="0" rIns="0">
            <a:spAutoFit/>
          </a:bodyPr>
          <a:lstStyle/>
          <a:p>
            <a:pPr algn="l">
              <a:lnSpc>
                <a:spcPts val="3640"/>
              </a:lnSpc>
            </a:pPr>
            <a:r>
              <a:rPr lang="en-US" sz="2600">
                <a:solidFill>
                  <a:srgbClr val="000000"/>
                </a:solidFill>
                <a:latin typeface="Arimo"/>
                <a:ea typeface="Arimo"/>
                <a:cs typeface="Arimo"/>
                <a:sym typeface="Arimo"/>
              </a:rPr>
              <a:t>Infologia Technologies Pvt Ltd</a:t>
            </a:r>
          </a:p>
        </p:txBody>
      </p:sp>
      <p:grpSp>
        <p:nvGrpSpPr>
          <p:cNvPr name="Group 29" id="29"/>
          <p:cNvGrpSpPr/>
          <p:nvPr/>
        </p:nvGrpSpPr>
        <p:grpSpPr>
          <a:xfrm rot="0">
            <a:off x="832656" y="786755"/>
            <a:ext cx="1205046" cy="1205046"/>
            <a:chOff x="0" y="0"/>
            <a:chExt cx="1606728" cy="1606728"/>
          </a:xfrm>
        </p:grpSpPr>
        <p:sp>
          <p:nvSpPr>
            <p:cNvPr name="Freeform 30" id="30"/>
            <p:cNvSpPr/>
            <p:nvPr/>
          </p:nvSpPr>
          <p:spPr>
            <a:xfrm flipH="false" flipV="false" rot="0">
              <a:off x="0" y="0"/>
              <a:ext cx="1606677" cy="1606677"/>
            </a:xfrm>
            <a:custGeom>
              <a:avLst/>
              <a:gdLst/>
              <a:ahLst/>
              <a:cxnLst/>
              <a:rect r="r" b="b" t="t" l="l"/>
              <a:pathLst>
                <a:path h="1606677" w="1606677">
                  <a:moveTo>
                    <a:pt x="0" y="0"/>
                  </a:moveTo>
                  <a:lnTo>
                    <a:pt x="1606677" y="0"/>
                  </a:lnTo>
                  <a:lnTo>
                    <a:pt x="1606677" y="1606677"/>
                  </a:lnTo>
                  <a:lnTo>
                    <a:pt x="0" y="1606677"/>
                  </a:lnTo>
                  <a:lnTo>
                    <a:pt x="0" y="0"/>
                  </a:lnTo>
                  <a:close/>
                </a:path>
              </a:pathLst>
            </a:custGeom>
            <a:blipFill>
              <a:blip r:embed="rId21"/>
              <a:stretch>
                <a:fillRect l="0" t="0" r="-3" b="-3"/>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3107236" y="5603881"/>
            <a:ext cx="5330847" cy="8265633"/>
          </a:xfrm>
          <a:custGeom>
            <a:avLst/>
            <a:gdLst/>
            <a:ahLst/>
            <a:cxnLst/>
            <a:rect r="r" b="b" t="t" l="l"/>
            <a:pathLst>
              <a:path h="8265633" w="5330847">
                <a:moveTo>
                  <a:pt x="0" y="0"/>
                </a:moveTo>
                <a:lnTo>
                  <a:pt x="5330847" y="0"/>
                </a:lnTo>
                <a:lnTo>
                  <a:pt x="5330847" y="8265633"/>
                </a:lnTo>
                <a:lnTo>
                  <a:pt x="0" y="8265633"/>
                </a:lnTo>
                <a:lnTo>
                  <a:pt x="0" y="0"/>
                </a:lnTo>
                <a:close/>
              </a:path>
            </a:pathLst>
          </a:custGeom>
          <a:blipFill>
            <a:blip r:embed="rId2"/>
            <a:stretch>
              <a:fillRect l="-1700" t="0" r="-1710" b="0"/>
            </a:stretch>
          </a:blipFill>
        </p:spPr>
      </p:sp>
      <p:grpSp>
        <p:nvGrpSpPr>
          <p:cNvPr name="Group 3" id="3"/>
          <p:cNvGrpSpPr/>
          <p:nvPr/>
        </p:nvGrpSpPr>
        <p:grpSpPr>
          <a:xfrm rot="0">
            <a:off x="754704" y="1422825"/>
            <a:ext cx="8797681" cy="4123915"/>
            <a:chOff x="0" y="0"/>
            <a:chExt cx="11730241" cy="5498554"/>
          </a:xfrm>
        </p:grpSpPr>
        <p:sp>
          <p:nvSpPr>
            <p:cNvPr name="Freeform 4" id="4"/>
            <p:cNvSpPr/>
            <p:nvPr/>
          </p:nvSpPr>
          <p:spPr>
            <a:xfrm flipH="false" flipV="false" rot="0">
              <a:off x="0" y="0"/>
              <a:ext cx="11730228" cy="5498592"/>
            </a:xfrm>
            <a:custGeom>
              <a:avLst/>
              <a:gdLst/>
              <a:ahLst/>
              <a:cxnLst/>
              <a:rect r="r" b="b" t="t" l="l"/>
              <a:pathLst>
                <a:path h="5498592" w="11730228">
                  <a:moveTo>
                    <a:pt x="0" y="0"/>
                  </a:moveTo>
                  <a:lnTo>
                    <a:pt x="11730228" y="0"/>
                  </a:lnTo>
                  <a:lnTo>
                    <a:pt x="11730228" y="5498592"/>
                  </a:lnTo>
                  <a:lnTo>
                    <a:pt x="0" y="5498592"/>
                  </a:lnTo>
                  <a:lnTo>
                    <a:pt x="0" y="0"/>
                  </a:lnTo>
                  <a:close/>
                </a:path>
              </a:pathLst>
            </a:custGeom>
            <a:blipFill>
              <a:blip r:embed="rId3">
                <a:alphaModFix amt="40000"/>
              </a:blip>
              <a:stretch>
                <a:fillRect l="0" t="-89" r="0" b="-89"/>
              </a:stretch>
            </a:blipFill>
          </p:spPr>
        </p:sp>
      </p:grpSp>
      <p:grpSp>
        <p:nvGrpSpPr>
          <p:cNvPr name="Group 5" id="5"/>
          <p:cNvGrpSpPr/>
          <p:nvPr/>
        </p:nvGrpSpPr>
        <p:grpSpPr>
          <a:xfrm rot="-10800000">
            <a:off x="7977940" y="7835817"/>
            <a:ext cx="1836820" cy="1843735"/>
            <a:chOff x="0" y="0"/>
            <a:chExt cx="2449093" cy="2458314"/>
          </a:xfrm>
        </p:grpSpPr>
        <p:sp>
          <p:nvSpPr>
            <p:cNvPr name="Freeform 6" id="6"/>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4">
                <a:alphaModFix amt="40000"/>
              </a:blip>
              <a:stretch>
                <a:fillRect l="-18" t="0" r="-19" b="1"/>
              </a:stretch>
            </a:blipFill>
          </p:spPr>
        </p:sp>
      </p:grpSp>
      <p:sp>
        <p:nvSpPr>
          <p:cNvPr name="Freeform 7" id="7"/>
          <p:cNvSpPr/>
          <p:nvPr/>
        </p:nvSpPr>
        <p:spPr>
          <a:xfrm flipH="false" flipV="false" rot="0">
            <a:off x="8096181" y="7957518"/>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167336" y="8028672"/>
            <a:ext cx="1458029" cy="1458028"/>
          </a:xfrm>
          <a:custGeom>
            <a:avLst/>
            <a:gdLst/>
            <a:ahLst/>
            <a:cxnLst/>
            <a:rect r="r" b="b" t="t" l="l"/>
            <a:pathLst>
              <a:path h="1458028" w="1458029">
                <a:moveTo>
                  <a:pt x="0" y="0"/>
                </a:moveTo>
                <a:lnTo>
                  <a:pt x="1458029" y="0"/>
                </a:lnTo>
                <a:lnTo>
                  <a:pt x="1458029" y="1458028"/>
                </a:lnTo>
                <a:lnTo>
                  <a:pt x="0" y="14580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8259147" y="8120484"/>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8566614" y="8431244"/>
            <a:ext cx="659473" cy="652872"/>
          </a:xfrm>
          <a:custGeom>
            <a:avLst/>
            <a:gdLst/>
            <a:ahLst/>
            <a:cxnLst/>
            <a:rect r="r" b="b" t="t" l="l"/>
            <a:pathLst>
              <a:path h="652872" w="659473">
                <a:moveTo>
                  <a:pt x="0" y="0"/>
                </a:moveTo>
                <a:lnTo>
                  <a:pt x="659472" y="0"/>
                </a:lnTo>
                <a:lnTo>
                  <a:pt x="659472" y="652872"/>
                </a:lnTo>
                <a:lnTo>
                  <a:pt x="0" y="652872"/>
                </a:lnTo>
                <a:lnTo>
                  <a:pt x="0" y="0"/>
                </a:lnTo>
                <a:close/>
              </a:path>
            </a:pathLst>
          </a:custGeom>
          <a:blipFill>
            <a:blip r:embed="rId11">
              <a:extLst>
                <a:ext uri="{96DAC541-7B7A-43D3-8B79-37D633B846F1}">
                  <asvg:svgBlip xmlns:asvg="http://schemas.microsoft.com/office/drawing/2016/SVG/main" r:embed="rId12"/>
                </a:ext>
              </a:extLst>
            </a:blip>
            <a:stretch>
              <a:fillRect l="-218" t="0" r="-216" b="0"/>
            </a:stretch>
          </a:blipFill>
        </p:spPr>
      </p:sp>
      <p:sp>
        <p:nvSpPr>
          <p:cNvPr name="Freeform 11" id="11"/>
          <p:cNvSpPr/>
          <p:nvPr/>
        </p:nvSpPr>
        <p:spPr>
          <a:xfrm flipH="false" flipV="false" rot="0">
            <a:off x="764230" y="5470684"/>
            <a:ext cx="2171502" cy="2769633"/>
          </a:xfrm>
          <a:custGeom>
            <a:avLst/>
            <a:gdLst/>
            <a:ahLst/>
            <a:cxnLst/>
            <a:rect r="r" b="b" t="t" l="l"/>
            <a:pathLst>
              <a:path h="2769633" w="2171502">
                <a:moveTo>
                  <a:pt x="0" y="0"/>
                </a:moveTo>
                <a:lnTo>
                  <a:pt x="2171502" y="0"/>
                </a:lnTo>
                <a:lnTo>
                  <a:pt x="2171502" y="2769633"/>
                </a:lnTo>
                <a:lnTo>
                  <a:pt x="0" y="27696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1325442" y="6370291"/>
            <a:ext cx="1049074" cy="1151249"/>
          </a:xfrm>
          <a:custGeom>
            <a:avLst/>
            <a:gdLst/>
            <a:ahLst/>
            <a:cxnLst/>
            <a:rect r="r" b="b" t="t" l="l"/>
            <a:pathLst>
              <a:path h="1151249" w="1049074">
                <a:moveTo>
                  <a:pt x="0" y="0"/>
                </a:moveTo>
                <a:lnTo>
                  <a:pt x="1049074" y="0"/>
                </a:lnTo>
                <a:lnTo>
                  <a:pt x="1049074" y="1151249"/>
                </a:lnTo>
                <a:lnTo>
                  <a:pt x="0" y="1151249"/>
                </a:lnTo>
                <a:lnTo>
                  <a:pt x="0" y="0"/>
                </a:lnTo>
                <a:close/>
              </a:path>
            </a:pathLst>
          </a:custGeom>
          <a:blipFill>
            <a:blip r:embed="rId15">
              <a:extLst>
                <a:ext uri="{96DAC541-7B7A-43D3-8B79-37D633B846F1}">
                  <asvg:svgBlip xmlns:asvg="http://schemas.microsoft.com/office/drawing/2016/SVG/main" r:embed="rId16"/>
                </a:ext>
              </a:extLst>
            </a:blip>
            <a:stretch>
              <a:fillRect l="-335" t="0" r="-335" b="0"/>
            </a:stretch>
          </a:blipFill>
        </p:spPr>
      </p:sp>
      <p:sp>
        <p:nvSpPr>
          <p:cNvPr name="TextBox 13" id="13"/>
          <p:cNvSpPr txBox="true"/>
          <p:nvPr/>
        </p:nvSpPr>
        <p:spPr>
          <a:xfrm rot="0">
            <a:off x="1038225" y="1081507"/>
            <a:ext cx="2793057"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ABSTRACT</a:t>
            </a:r>
          </a:p>
        </p:txBody>
      </p:sp>
      <p:sp>
        <p:nvSpPr>
          <p:cNvPr name="TextBox 14" id="14"/>
          <p:cNvSpPr txBox="true"/>
          <p:nvPr/>
        </p:nvSpPr>
        <p:spPr>
          <a:xfrm rot="0">
            <a:off x="1742542" y="2311270"/>
            <a:ext cx="6802965" cy="1999590"/>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Infologia is building a next-generation Transport Management System (TMS) to overcome the limitations of legacy platforms. With a focused customer acquisition strategy, we aim to establish a strong global presence and position Infologia as a trusted leader in logistics technology, driving innovation and sustainable growth.</a:t>
            </a:r>
          </a:p>
        </p:txBody>
      </p:sp>
      <p:sp>
        <p:nvSpPr>
          <p:cNvPr name="Freeform 15" id="15"/>
          <p:cNvSpPr/>
          <p:nvPr/>
        </p:nvSpPr>
        <p:spPr>
          <a:xfrm flipH="false" flipV="false" rot="0">
            <a:off x="10354359" y="761613"/>
            <a:ext cx="7041850" cy="8946515"/>
          </a:xfrm>
          <a:custGeom>
            <a:avLst/>
            <a:gdLst/>
            <a:ahLst/>
            <a:cxnLst/>
            <a:rect r="r" b="b" t="t" l="l"/>
            <a:pathLst>
              <a:path h="8946515" w="7041850">
                <a:moveTo>
                  <a:pt x="0" y="0"/>
                </a:moveTo>
                <a:lnTo>
                  <a:pt x="7041850" y="0"/>
                </a:lnTo>
                <a:lnTo>
                  <a:pt x="7041850" y="8946515"/>
                </a:lnTo>
                <a:lnTo>
                  <a:pt x="0" y="894651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6" id="16"/>
          <p:cNvSpPr/>
          <p:nvPr/>
        </p:nvSpPr>
        <p:spPr>
          <a:xfrm flipH="false" flipV="false" rot="0">
            <a:off x="10936776" y="1183777"/>
            <a:ext cx="326574" cy="293913"/>
          </a:xfrm>
          <a:custGeom>
            <a:avLst/>
            <a:gdLst/>
            <a:ahLst/>
            <a:cxnLst/>
            <a:rect r="r" b="b" t="t" l="l"/>
            <a:pathLst>
              <a:path h="293913" w="326574">
                <a:moveTo>
                  <a:pt x="0" y="0"/>
                </a:moveTo>
                <a:lnTo>
                  <a:pt x="326575" y="0"/>
                </a:lnTo>
                <a:lnTo>
                  <a:pt x="326575" y="293912"/>
                </a:lnTo>
                <a:lnTo>
                  <a:pt x="0" y="293912"/>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17" id="17"/>
          <p:cNvSpPr/>
          <p:nvPr/>
        </p:nvSpPr>
        <p:spPr>
          <a:xfrm flipH="false" flipV="false" rot="0">
            <a:off x="10936776" y="1594876"/>
            <a:ext cx="326574" cy="293913"/>
          </a:xfrm>
          <a:custGeom>
            <a:avLst/>
            <a:gdLst/>
            <a:ahLst/>
            <a:cxnLst/>
            <a:rect r="r" b="b" t="t" l="l"/>
            <a:pathLst>
              <a:path h="293913" w="326574">
                <a:moveTo>
                  <a:pt x="0" y="0"/>
                </a:moveTo>
                <a:lnTo>
                  <a:pt x="326575" y="0"/>
                </a:lnTo>
                <a:lnTo>
                  <a:pt x="326575" y="293912"/>
                </a:lnTo>
                <a:lnTo>
                  <a:pt x="0" y="293912"/>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18" id="18"/>
          <p:cNvSpPr/>
          <p:nvPr/>
        </p:nvSpPr>
        <p:spPr>
          <a:xfrm flipH="false" flipV="false" rot="0">
            <a:off x="10936776" y="2012194"/>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19" id="19"/>
          <p:cNvSpPr/>
          <p:nvPr/>
        </p:nvSpPr>
        <p:spPr>
          <a:xfrm flipH="false" flipV="false" rot="0">
            <a:off x="10936776" y="2429523"/>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0" id="20"/>
          <p:cNvSpPr/>
          <p:nvPr/>
        </p:nvSpPr>
        <p:spPr>
          <a:xfrm flipH="false" flipV="false" rot="0">
            <a:off x="10936776" y="2857490"/>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1" id="21"/>
          <p:cNvSpPr/>
          <p:nvPr/>
        </p:nvSpPr>
        <p:spPr>
          <a:xfrm flipH="false" flipV="false" rot="0">
            <a:off x="10936776" y="3292440"/>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2" id="22"/>
          <p:cNvSpPr/>
          <p:nvPr/>
        </p:nvSpPr>
        <p:spPr>
          <a:xfrm flipH="false" flipV="false" rot="0">
            <a:off x="10936776" y="3709759"/>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3" id="23"/>
          <p:cNvSpPr/>
          <p:nvPr/>
        </p:nvSpPr>
        <p:spPr>
          <a:xfrm flipH="false" flipV="false" rot="0">
            <a:off x="10936776" y="4127078"/>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4" id="24"/>
          <p:cNvSpPr/>
          <p:nvPr/>
        </p:nvSpPr>
        <p:spPr>
          <a:xfrm flipH="false" flipV="false" rot="0">
            <a:off x="10936776" y="4544406"/>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5" id="25"/>
          <p:cNvSpPr/>
          <p:nvPr/>
        </p:nvSpPr>
        <p:spPr>
          <a:xfrm flipH="false" flipV="false" rot="0">
            <a:off x="10936776" y="4961725"/>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6" id="26"/>
          <p:cNvSpPr/>
          <p:nvPr/>
        </p:nvSpPr>
        <p:spPr>
          <a:xfrm flipH="false" flipV="false" rot="0">
            <a:off x="10936776" y="5379044"/>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7" id="27"/>
          <p:cNvSpPr/>
          <p:nvPr/>
        </p:nvSpPr>
        <p:spPr>
          <a:xfrm flipH="false" flipV="false" rot="0">
            <a:off x="10936776" y="5796363"/>
            <a:ext cx="326574" cy="293913"/>
          </a:xfrm>
          <a:custGeom>
            <a:avLst/>
            <a:gdLst/>
            <a:ahLst/>
            <a:cxnLst/>
            <a:rect r="r" b="b" t="t" l="l"/>
            <a:pathLst>
              <a:path h="293913" w="326574">
                <a:moveTo>
                  <a:pt x="0" y="0"/>
                </a:moveTo>
                <a:lnTo>
                  <a:pt x="326575" y="0"/>
                </a:lnTo>
                <a:lnTo>
                  <a:pt x="326575" y="293912"/>
                </a:lnTo>
                <a:lnTo>
                  <a:pt x="0" y="293912"/>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8" id="28"/>
          <p:cNvSpPr/>
          <p:nvPr/>
        </p:nvSpPr>
        <p:spPr>
          <a:xfrm flipH="false" flipV="false" rot="0">
            <a:off x="10936776" y="6205223"/>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29" id="29"/>
          <p:cNvSpPr/>
          <p:nvPr/>
        </p:nvSpPr>
        <p:spPr>
          <a:xfrm flipH="false" flipV="false" rot="0">
            <a:off x="10936776" y="6591062"/>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30" id="30"/>
          <p:cNvSpPr/>
          <p:nvPr/>
        </p:nvSpPr>
        <p:spPr>
          <a:xfrm flipH="false" flipV="false" rot="0">
            <a:off x="10936776" y="7008381"/>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31" id="31"/>
          <p:cNvSpPr/>
          <p:nvPr/>
        </p:nvSpPr>
        <p:spPr>
          <a:xfrm flipH="false" flipV="false" rot="0">
            <a:off x="10936776" y="7425709"/>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32" id="32"/>
          <p:cNvSpPr/>
          <p:nvPr/>
        </p:nvSpPr>
        <p:spPr>
          <a:xfrm flipH="false" flipV="false" rot="0">
            <a:off x="10936776" y="7807766"/>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33" id="33"/>
          <p:cNvSpPr/>
          <p:nvPr/>
        </p:nvSpPr>
        <p:spPr>
          <a:xfrm flipH="false" flipV="false" rot="0">
            <a:off x="10936776" y="8225095"/>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34" id="34"/>
          <p:cNvSpPr/>
          <p:nvPr/>
        </p:nvSpPr>
        <p:spPr>
          <a:xfrm flipH="false" flipV="false" rot="0">
            <a:off x="10936776" y="8642414"/>
            <a:ext cx="326574" cy="293913"/>
          </a:xfrm>
          <a:custGeom>
            <a:avLst/>
            <a:gdLst/>
            <a:ahLst/>
            <a:cxnLst/>
            <a:rect r="r" b="b" t="t" l="l"/>
            <a:pathLst>
              <a:path h="293913" w="326574">
                <a:moveTo>
                  <a:pt x="0" y="0"/>
                </a:moveTo>
                <a:lnTo>
                  <a:pt x="326575" y="0"/>
                </a:lnTo>
                <a:lnTo>
                  <a:pt x="326575" y="293912"/>
                </a:lnTo>
                <a:lnTo>
                  <a:pt x="0" y="293912"/>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Freeform 35" id="35"/>
          <p:cNvSpPr/>
          <p:nvPr/>
        </p:nvSpPr>
        <p:spPr>
          <a:xfrm flipH="false" flipV="false" rot="0">
            <a:off x="10936776" y="9073486"/>
            <a:ext cx="326574" cy="293913"/>
          </a:xfrm>
          <a:custGeom>
            <a:avLst/>
            <a:gdLst/>
            <a:ahLst/>
            <a:cxnLst/>
            <a:rect r="r" b="b" t="t" l="l"/>
            <a:pathLst>
              <a:path h="293913" w="326574">
                <a:moveTo>
                  <a:pt x="0" y="0"/>
                </a:moveTo>
                <a:lnTo>
                  <a:pt x="326575" y="0"/>
                </a:lnTo>
                <a:lnTo>
                  <a:pt x="326575" y="293913"/>
                </a:lnTo>
                <a:lnTo>
                  <a:pt x="0" y="293913"/>
                </a:lnTo>
                <a:lnTo>
                  <a:pt x="0" y="0"/>
                </a:lnTo>
                <a:close/>
              </a:path>
            </a:pathLst>
          </a:custGeom>
          <a:blipFill>
            <a:blip r:embed="rId19">
              <a:extLst>
                <a:ext uri="{96DAC541-7B7A-43D3-8B79-37D633B846F1}">
                  <asvg:svgBlip xmlns:asvg="http://schemas.microsoft.com/office/drawing/2016/SVG/main" r:embed="rId20"/>
                </a:ext>
              </a:extLst>
            </a:blip>
            <a:stretch>
              <a:fillRect l="-807" t="0" r="-804" b="0"/>
            </a:stretch>
          </a:blipFill>
        </p:spPr>
      </p:sp>
      <p:sp>
        <p:nvSpPr>
          <p:cNvPr name="TextBox 36" id="36"/>
          <p:cNvSpPr txBox="true"/>
          <p:nvPr/>
        </p:nvSpPr>
        <p:spPr>
          <a:xfrm rot="0">
            <a:off x="11406226" y="1133770"/>
            <a:ext cx="2245519"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Company Overview</a:t>
            </a:r>
          </a:p>
        </p:txBody>
      </p:sp>
      <p:sp>
        <p:nvSpPr>
          <p:cNvPr name="TextBox 37" id="37"/>
          <p:cNvSpPr txBox="true"/>
          <p:nvPr/>
        </p:nvSpPr>
        <p:spPr>
          <a:xfrm rot="0">
            <a:off x="11441506" y="1553442"/>
            <a:ext cx="2769394"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Milestone &amp; Partnership</a:t>
            </a:r>
          </a:p>
        </p:txBody>
      </p:sp>
      <p:sp>
        <p:nvSpPr>
          <p:cNvPr name="TextBox 38" id="38"/>
          <p:cNvSpPr txBox="true"/>
          <p:nvPr/>
        </p:nvSpPr>
        <p:spPr>
          <a:xfrm rot="0">
            <a:off x="11423866" y="2388613"/>
            <a:ext cx="2178397"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Executive Abstract</a:t>
            </a:r>
          </a:p>
        </p:txBody>
      </p:sp>
      <p:sp>
        <p:nvSpPr>
          <p:cNvPr name="TextBox 39" id="39"/>
          <p:cNvSpPr txBox="true"/>
          <p:nvPr/>
        </p:nvSpPr>
        <p:spPr>
          <a:xfrm rot="0">
            <a:off x="11406226" y="2816857"/>
            <a:ext cx="1653927"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TMS Overview</a:t>
            </a:r>
          </a:p>
        </p:txBody>
      </p:sp>
      <p:sp>
        <p:nvSpPr>
          <p:cNvPr name="TextBox 40" id="40"/>
          <p:cNvSpPr txBox="true"/>
          <p:nvPr/>
        </p:nvSpPr>
        <p:spPr>
          <a:xfrm rot="0">
            <a:off x="11406226" y="3251302"/>
            <a:ext cx="1854994"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Cargossoft TMS</a:t>
            </a:r>
          </a:p>
        </p:txBody>
      </p:sp>
      <p:sp>
        <p:nvSpPr>
          <p:cNvPr name="TextBox 41" id="41"/>
          <p:cNvSpPr txBox="true"/>
          <p:nvPr/>
        </p:nvSpPr>
        <p:spPr>
          <a:xfrm rot="0">
            <a:off x="11423866" y="3668106"/>
            <a:ext cx="537865"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SITS</a:t>
            </a:r>
          </a:p>
        </p:txBody>
      </p:sp>
      <p:sp>
        <p:nvSpPr>
          <p:cNvPr name="TextBox 42" id="42"/>
          <p:cNvSpPr txBox="true"/>
          <p:nvPr/>
        </p:nvSpPr>
        <p:spPr>
          <a:xfrm rot="0">
            <a:off x="11406226" y="4077386"/>
            <a:ext cx="3636020"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Integration ( Cargossoft + SITS)</a:t>
            </a:r>
          </a:p>
        </p:txBody>
      </p:sp>
      <p:sp>
        <p:nvSpPr>
          <p:cNvPr name="TextBox 43" id="43"/>
          <p:cNvSpPr txBox="true"/>
          <p:nvPr/>
        </p:nvSpPr>
        <p:spPr>
          <a:xfrm rot="0">
            <a:off x="11406226" y="4495943"/>
            <a:ext cx="3226296"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Enhancement of Cargossoft</a:t>
            </a:r>
          </a:p>
        </p:txBody>
      </p:sp>
      <p:sp>
        <p:nvSpPr>
          <p:cNvPr name="TextBox 44" id="44"/>
          <p:cNvSpPr txBox="true"/>
          <p:nvPr/>
        </p:nvSpPr>
        <p:spPr>
          <a:xfrm rot="0">
            <a:off x="11406226" y="4920872"/>
            <a:ext cx="4691509"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New Module Enhancement in Cargossoft</a:t>
            </a:r>
          </a:p>
        </p:txBody>
      </p:sp>
      <p:sp>
        <p:nvSpPr>
          <p:cNvPr name="TextBox 45" id="45"/>
          <p:cNvSpPr txBox="true"/>
          <p:nvPr/>
        </p:nvSpPr>
        <p:spPr>
          <a:xfrm rot="0">
            <a:off x="11406226" y="5337677"/>
            <a:ext cx="2715816"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AI Driven Enhancement</a:t>
            </a:r>
          </a:p>
        </p:txBody>
      </p:sp>
      <p:sp>
        <p:nvSpPr>
          <p:cNvPr name="TextBox 46" id="46"/>
          <p:cNvSpPr txBox="true"/>
          <p:nvPr/>
        </p:nvSpPr>
        <p:spPr>
          <a:xfrm rot="0">
            <a:off x="11406226" y="5754481"/>
            <a:ext cx="1599754"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Segmentation</a:t>
            </a:r>
          </a:p>
        </p:txBody>
      </p:sp>
      <p:sp>
        <p:nvSpPr>
          <p:cNvPr name="TextBox 47" id="47"/>
          <p:cNvSpPr txBox="true"/>
          <p:nvPr/>
        </p:nvSpPr>
        <p:spPr>
          <a:xfrm rot="0">
            <a:off x="11406226" y="6171295"/>
            <a:ext cx="3602534"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Market Opportunity TMS Scope</a:t>
            </a:r>
          </a:p>
        </p:txBody>
      </p:sp>
      <p:sp>
        <p:nvSpPr>
          <p:cNvPr name="TextBox 48" id="48"/>
          <p:cNvSpPr txBox="true"/>
          <p:nvPr/>
        </p:nvSpPr>
        <p:spPr>
          <a:xfrm rot="0">
            <a:off x="11441506" y="1934966"/>
            <a:ext cx="1653778"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Meet My Team</a:t>
            </a:r>
          </a:p>
        </p:txBody>
      </p:sp>
      <p:sp>
        <p:nvSpPr>
          <p:cNvPr name="TextBox 49" id="49"/>
          <p:cNvSpPr txBox="true"/>
          <p:nvPr/>
        </p:nvSpPr>
        <p:spPr>
          <a:xfrm rot="0">
            <a:off x="11406226" y="6576822"/>
            <a:ext cx="2352675"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Competitor Analysis</a:t>
            </a:r>
          </a:p>
        </p:txBody>
      </p:sp>
      <p:sp>
        <p:nvSpPr>
          <p:cNvPr name="TextBox 50" id="50"/>
          <p:cNvSpPr txBox="true"/>
          <p:nvPr/>
        </p:nvSpPr>
        <p:spPr>
          <a:xfrm rot="0">
            <a:off x="11406226" y="7004904"/>
            <a:ext cx="3548807"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Competitor Comparison Matrix</a:t>
            </a:r>
          </a:p>
        </p:txBody>
      </p:sp>
      <p:sp>
        <p:nvSpPr>
          <p:cNvPr name="TextBox 51" id="51"/>
          <p:cNvSpPr txBox="true"/>
          <p:nvPr/>
        </p:nvSpPr>
        <p:spPr>
          <a:xfrm rot="0">
            <a:off x="11406226" y="7386437"/>
            <a:ext cx="5687020"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Company Financial Analysis &amp; Revenue Potential</a:t>
            </a:r>
          </a:p>
        </p:txBody>
      </p:sp>
      <p:sp>
        <p:nvSpPr>
          <p:cNvPr name="TextBox 52" id="52"/>
          <p:cNvSpPr txBox="true"/>
          <p:nvPr/>
        </p:nvSpPr>
        <p:spPr>
          <a:xfrm rot="0">
            <a:off x="11406226" y="7785945"/>
            <a:ext cx="4879628"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Investment Utilization Plan For Cargossoft</a:t>
            </a:r>
          </a:p>
        </p:txBody>
      </p:sp>
      <p:sp>
        <p:nvSpPr>
          <p:cNvPr name="TextBox 53" id="53"/>
          <p:cNvSpPr txBox="true"/>
          <p:nvPr/>
        </p:nvSpPr>
        <p:spPr>
          <a:xfrm rot="0">
            <a:off x="11423866" y="8194977"/>
            <a:ext cx="1304032"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Our Clients</a:t>
            </a:r>
          </a:p>
        </p:txBody>
      </p:sp>
      <p:sp>
        <p:nvSpPr>
          <p:cNvPr name="TextBox 54" id="54"/>
          <p:cNvSpPr txBox="true"/>
          <p:nvPr/>
        </p:nvSpPr>
        <p:spPr>
          <a:xfrm rot="0">
            <a:off x="11406226" y="8601523"/>
            <a:ext cx="2163961"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Terms &amp; Condition</a:t>
            </a:r>
          </a:p>
        </p:txBody>
      </p:sp>
      <p:sp>
        <p:nvSpPr>
          <p:cNvPr name="TextBox 55" id="55"/>
          <p:cNvSpPr txBox="true"/>
          <p:nvPr/>
        </p:nvSpPr>
        <p:spPr>
          <a:xfrm rot="0">
            <a:off x="11406226" y="9050560"/>
            <a:ext cx="1317278" cy="318643"/>
          </a:xfrm>
          <a:prstGeom prst="rect">
            <a:avLst/>
          </a:prstGeom>
        </p:spPr>
        <p:txBody>
          <a:bodyPr anchor="t" rtlCol="false" tIns="0" lIns="0" bIns="0" rIns="0">
            <a:spAutoFit/>
          </a:bodyPr>
          <a:lstStyle/>
          <a:p>
            <a:pPr algn="l">
              <a:lnSpc>
                <a:spcPts val="2476"/>
              </a:lnSpc>
            </a:pPr>
            <a:r>
              <a:rPr lang="en-US" sz="1904" b="true">
                <a:solidFill>
                  <a:srgbClr val="FFFFFF"/>
                </a:solidFill>
                <a:latin typeface="Arimo Bold"/>
                <a:ea typeface="Arimo Bold"/>
                <a:cs typeface="Arimo Bold"/>
                <a:sym typeface="Arimo Bold"/>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0000802" y="-901103"/>
            <a:ext cx="6397238" cy="10159403"/>
          </a:xfrm>
          <a:custGeom>
            <a:avLst/>
            <a:gdLst/>
            <a:ahLst/>
            <a:cxnLst/>
            <a:rect r="r" b="b" t="t" l="l"/>
            <a:pathLst>
              <a:path h="10159403" w="6397238">
                <a:moveTo>
                  <a:pt x="0" y="0"/>
                </a:moveTo>
                <a:lnTo>
                  <a:pt x="6397238" y="0"/>
                </a:lnTo>
                <a:lnTo>
                  <a:pt x="6397238" y="10159403"/>
                </a:lnTo>
                <a:lnTo>
                  <a:pt x="0" y="10159403"/>
                </a:lnTo>
                <a:lnTo>
                  <a:pt x="0" y="0"/>
                </a:lnTo>
                <a:close/>
              </a:path>
            </a:pathLst>
          </a:custGeom>
          <a:blipFill>
            <a:blip r:embed="rId2"/>
            <a:stretch>
              <a:fillRect l="-86086" t="0" r="-86157" b="0"/>
            </a:stretch>
          </a:blipFill>
        </p:spPr>
      </p:sp>
      <p:sp>
        <p:nvSpPr>
          <p:cNvPr name="Freeform 3" id="3"/>
          <p:cNvSpPr/>
          <p:nvPr/>
        </p:nvSpPr>
        <p:spPr>
          <a:xfrm flipH="false" flipV="false" rot="0">
            <a:off x="9934127" y="6937419"/>
            <a:ext cx="6594834" cy="3229756"/>
          </a:xfrm>
          <a:custGeom>
            <a:avLst/>
            <a:gdLst/>
            <a:ahLst/>
            <a:cxnLst/>
            <a:rect r="r" b="b" t="t" l="l"/>
            <a:pathLst>
              <a:path h="3229756" w="6594834">
                <a:moveTo>
                  <a:pt x="0" y="0"/>
                </a:moveTo>
                <a:lnTo>
                  <a:pt x="6594834" y="0"/>
                </a:lnTo>
                <a:lnTo>
                  <a:pt x="6594834" y="3229757"/>
                </a:lnTo>
                <a:lnTo>
                  <a:pt x="0" y="3229757"/>
                </a:lnTo>
                <a:lnTo>
                  <a:pt x="0" y="0"/>
                </a:lnTo>
                <a:close/>
              </a:path>
            </a:pathLst>
          </a:custGeom>
          <a:blipFill>
            <a:blip r:embed="rId3"/>
            <a:stretch>
              <a:fillRect l="0" t="-24437" r="0" b="-11689"/>
            </a:stretch>
          </a:blipFill>
        </p:spPr>
      </p:sp>
      <p:grpSp>
        <p:nvGrpSpPr>
          <p:cNvPr name="Group 4" id="4"/>
          <p:cNvGrpSpPr/>
          <p:nvPr/>
        </p:nvGrpSpPr>
        <p:grpSpPr>
          <a:xfrm rot="-10800000">
            <a:off x="15422480" y="1734388"/>
            <a:ext cx="1836820" cy="1843735"/>
            <a:chOff x="0" y="0"/>
            <a:chExt cx="2449093" cy="2458314"/>
          </a:xfrm>
        </p:grpSpPr>
        <p:sp>
          <p:nvSpPr>
            <p:cNvPr name="Freeform 5" id="5"/>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4">
                <a:alphaModFix amt="40000"/>
              </a:blip>
              <a:stretch>
                <a:fillRect l="-18" t="0" r="-19" b="1"/>
              </a:stretch>
            </a:blipFill>
          </p:spPr>
        </p:sp>
      </p:grpSp>
      <p:sp>
        <p:nvSpPr>
          <p:cNvPr name="Freeform 6" id="6"/>
          <p:cNvSpPr/>
          <p:nvPr/>
        </p:nvSpPr>
        <p:spPr>
          <a:xfrm flipH="false" flipV="false" rot="0">
            <a:off x="15540722" y="1856087"/>
            <a:ext cx="1600337" cy="1600337"/>
          </a:xfrm>
          <a:custGeom>
            <a:avLst/>
            <a:gdLst/>
            <a:ahLst/>
            <a:cxnLst/>
            <a:rect r="r" b="b" t="t" l="l"/>
            <a:pathLst>
              <a:path h="1600337" w="1600337">
                <a:moveTo>
                  <a:pt x="0" y="0"/>
                </a:moveTo>
                <a:lnTo>
                  <a:pt x="1600337" y="0"/>
                </a:lnTo>
                <a:lnTo>
                  <a:pt x="1600337" y="1600337"/>
                </a:lnTo>
                <a:lnTo>
                  <a:pt x="0" y="16003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5611876" y="1927241"/>
            <a:ext cx="1458028" cy="1458028"/>
          </a:xfrm>
          <a:custGeom>
            <a:avLst/>
            <a:gdLst/>
            <a:ahLst/>
            <a:cxnLst/>
            <a:rect r="r" b="b" t="t" l="l"/>
            <a:pathLst>
              <a:path h="1458028" w="1458028">
                <a:moveTo>
                  <a:pt x="0" y="0"/>
                </a:moveTo>
                <a:lnTo>
                  <a:pt x="1458028" y="0"/>
                </a:lnTo>
                <a:lnTo>
                  <a:pt x="1458028" y="1458028"/>
                </a:lnTo>
                <a:lnTo>
                  <a:pt x="0" y="14580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3688" y="2019053"/>
            <a:ext cx="1274405" cy="1274405"/>
          </a:xfrm>
          <a:custGeom>
            <a:avLst/>
            <a:gdLst/>
            <a:ahLst/>
            <a:cxnLst/>
            <a:rect r="r" b="b" t="t" l="l"/>
            <a:pathLst>
              <a:path h="1274405" w="1274405">
                <a:moveTo>
                  <a:pt x="0" y="0"/>
                </a:moveTo>
                <a:lnTo>
                  <a:pt x="1274405" y="0"/>
                </a:lnTo>
                <a:lnTo>
                  <a:pt x="1274405" y="1274405"/>
                </a:lnTo>
                <a:lnTo>
                  <a:pt x="0" y="12744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8424348" y="6274289"/>
            <a:ext cx="309143" cy="309143"/>
          </a:xfrm>
          <a:custGeom>
            <a:avLst/>
            <a:gdLst/>
            <a:ahLst/>
            <a:cxnLst/>
            <a:rect r="r" b="b" t="t" l="l"/>
            <a:pathLst>
              <a:path h="309143" w="309143">
                <a:moveTo>
                  <a:pt x="0" y="0"/>
                </a:moveTo>
                <a:lnTo>
                  <a:pt x="309144" y="0"/>
                </a:lnTo>
                <a:lnTo>
                  <a:pt x="309144" y="309143"/>
                </a:lnTo>
                <a:lnTo>
                  <a:pt x="0" y="30914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8451199" y="5166912"/>
            <a:ext cx="255432" cy="309143"/>
          </a:xfrm>
          <a:custGeom>
            <a:avLst/>
            <a:gdLst/>
            <a:ahLst/>
            <a:cxnLst/>
            <a:rect r="r" b="b" t="t" l="l"/>
            <a:pathLst>
              <a:path h="309143" w="255432">
                <a:moveTo>
                  <a:pt x="0" y="0"/>
                </a:moveTo>
                <a:lnTo>
                  <a:pt x="255432" y="0"/>
                </a:lnTo>
                <a:lnTo>
                  <a:pt x="255432" y="309144"/>
                </a:lnTo>
                <a:lnTo>
                  <a:pt x="0" y="309144"/>
                </a:lnTo>
                <a:lnTo>
                  <a:pt x="0" y="0"/>
                </a:lnTo>
                <a:close/>
              </a:path>
            </a:pathLst>
          </a:custGeom>
          <a:blipFill>
            <a:blip r:embed="rId13">
              <a:extLst>
                <a:ext uri="{96DAC541-7B7A-43D3-8B79-37D633B846F1}">
                  <asvg:svgBlip xmlns:asvg="http://schemas.microsoft.com/office/drawing/2016/SVG/main" r:embed="rId14"/>
                </a:ext>
              </a:extLst>
            </a:blip>
            <a:stretch>
              <a:fillRect l="0" t="-492" r="0" b="-492"/>
            </a:stretch>
          </a:blipFill>
        </p:spPr>
      </p:sp>
      <p:sp>
        <p:nvSpPr>
          <p:cNvPr name="Freeform 11" id="11"/>
          <p:cNvSpPr/>
          <p:nvPr/>
        </p:nvSpPr>
        <p:spPr>
          <a:xfrm flipH="false" flipV="false" rot="0">
            <a:off x="15996637" y="2321462"/>
            <a:ext cx="688515" cy="669579"/>
          </a:xfrm>
          <a:custGeom>
            <a:avLst/>
            <a:gdLst/>
            <a:ahLst/>
            <a:cxnLst/>
            <a:rect r="r" b="b" t="t" l="l"/>
            <a:pathLst>
              <a:path h="669579" w="688515">
                <a:moveTo>
                  <a:pt x="0" y="0"/>
                </a:moveTo>
                <a:lnTo>
                  <a:pt x="688515" y="0"/>
                </a:lnTo>
                <a:lnTo>
                  <a:pt x="688515" y="669578"/>
                </a:lnTo>
                <a:lnTo>
                  <a:pt x="0" y="669578"/>
                </a:lnTo>
                <a:lnTo>
                  <a:pt x="0" y="0"/>
                </a:lnTo>
                <a:close/>
              </a:path>
            </a:pathLst>
          </a:custGeom>
          <a:blipFill>
            <a:blip r:embed="rId15">
              <a:extLst>
                <a:ext uri="{96DAC541-7B7A-43D3-8B79-37D633B846F1}">
                  <asvg:svgBlip xmlns:asvg="http://schemas.microsoft.com/office/drawing/2016/SVG/main" r:embed="rId16"/>
                </a:ext>
              </a:extLst>
            </a:blip>
            <a:stretch>
              <a:fillRect l="0" t="-5" r="0" b="-4"/>
            </a:stretch>
          </a:blipFill>
        </p:spPr>
      </p:sp>
      <p:sp>
        <p:nvSpPr>
          <p:cNvPr name="TextBox 12" id="12"/>
          <p:cNvSpPr txBox="true"/>
          <p:nvPr/>
        </p:nvSpPr>
        <p:spPr>
          <a:xfrm rot="0">
            <a:off x="1028700" y="1081507"/>
            <a:ext cx="5474345"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COMPANY OVERVIEW</a:t>
            </a:r>
          </a:p>
        </p:txBody>
      </p:sp>
      <p:sp>
        <p:nvSpPr>
          <p:cNvPr name="TextBox 13" id="13"/>
          <p:cNvSpPr txBox="true"/>
          <p:nvPr/>
        </p:nvSpPr>
        <p:spPr>
          <a:xfrm rot="0">
            <a:off x="908390" y="2042570"/>
            <a:ext cx="8115300" cy="7186041"/>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Company Name: Infologia Technologies Pvt Ltd</a:t>
            </a:r>
          </a:p>
          <a:p>
            <a:pPr algn="just">
              <a:lnSpc>
                <a:spcPts val="2660"/>
              </a:lnSpc>
            </a:pPr>
            <a:r>
              <a:rPr lang="en-US" sz="1900">
                <a:solidFill>
                  <a:srgbClr val="000000"/>
                </a:solidFill>
                <a:latin typeface="Arimo"/>
                <a:ea typeface="Arimo"/>
                <a:cs typeface="Arimo"/>
                <a:sym typeface="Arimo"/>
              </a:rPr>
              <a:t>Founded: 2017</a:t>
            </a:r>
          </a:p>
          <a:p>
            <a:pPr algn="just">
              <a:lnSpc>
                <a:spcPts val="2660"/>
              </a:lnSpc>
            </a:pPr>
            <a:r>
              <a:rPr lang="en-US" sz="1900">
                <a:solidFill>
                  <a:srgbClr val="000000"/>
                </a:solidFill>
                <a:latin typeface="Arimo"/>
                <a:ea typeface="Arimo"/>
                <a:cs typeface="Arimo"/>
                <a:sym typeface="Arimo"/>
              </a:rPr>
              <a:t>Headquarters: Chennai</a:t>
            </a:r>
          </a:p>
          <a:p>
            <a:pPr algn="just">
              <a:lnSpc>
                <a:spcPts val="2660"/>
              </a:lnSpc>
            </a:pPr>
            <a:r>
              <a:rPr lang="en-US" sz="1900">
                <a:solidFill>
                  <a:srgbClr val="000000"/>
                </a:solidFill>
                <a:latin typeface="Arimo"/>
                <a:ea typeface="Arimo"/>
                <a:cs typeface="Arimo"/>
                <a:sym typeface="Arimo"/>
              </a:rPr>
              <a:t>Employees: 25+</a:t>
            </a:r>
          </a:p>
          <a:p>
            <a:pPr algn="just">
              <a:lnSpc>
                <a:spcPts val="2660"/>
              </a:lnSpc>
            </a:pPr>
            <a:r>
              <a:rPr lang="en-US" sz="1900">
                <a:solidFill>
                  <a:srgbClr val="000000"/>
                </a:solidFill>
                <a:latin typeface="Arimo"/>
                <a:ea typeface="Arimo"/>
                <a:cs typeface="Arimo"/>
                <a:sym typeface="Arimo"/>
              </a:rPr>
              <a:t>Website: </a:t>
            </a:r>
            <a:r>
              <a:rPr lang="en-US" sz="1900" u="sng">
                <a:solidFill>
                  <a:srgbClr val="0000FF"/>
                </a:solidFill>
                <a:latin typeface="Arimo"/>
                <a:ea typeface="Arimo"/>
                <a:cs typeface="Arimo"/>
                <a:sym typeface="Arimo"/>
                <a:hlinkClick r:id="rId17" tooltip="https://www.nexasoft.com"/>
              </a:rPr>
              <a:t>www.</a:t>
            </a:r>
            <a:r>
              <a:rPr lang="en-US" sz="1900" u="sng">
                <a:solidFill>
                  <a:srgbClr val="000000"/>
                </a:solidFill>
                <a:latin typeface="Arimo"/>
                <a:ea typeface="Arimo"/>
                <a:cs typeface="Arimo"/>
                <a:sym typeface="Arimo"/>
              </a:rPr>
              <a:t>infologia.in </a:t>
            </a:r>
          </a:p>
          <a:p>
            <a:pPr algn="just">
              <a:lnSpc>
                <a:spcPts val="2660"/>
              </a:lnSpc>
            </a:pPr>
          </a:p>
          <a:p>
            <a:pPr algn="just">
              <a:lnSpc>
                <a:spcPts val="2583"/>
              </a:lnSpc>
            </a:pPr>
            <a:r>
              <a:rPr lang="en-US" sz="1900" b="true">
                <a:solidFill>
                  <a:srgbClr val="000000"/>
                </a:solidFill>
                <a:latin typeface="Arimo Bold"/>
                <a:ea typeface="Arimo Bold"/>
                <a:cs typeface="Arimo Bold"/>
                <a:sym typeface="Arimo Bold"/>
              </a:rPr>
              <a:t>About Us:</a:t>
            </a:r>
            <a:r>
              <a:rPr lang="en-US" sz="1900">
                <a:solidFill>
                  <a:srgbClr val="000000"/>
                </a:solidFill>
                <a:latin typeface="Arimo"/>
                <a:ea typeface="Arimo"/>
                <a:cs typeface="Arimo"/>
                <a:sym typeface="Arimo"/>
              </a:rPr>
              <a:t> </a:t>
            </a:r>
          </a:p>
          <a:p>
            <a:pPr algn="just">
              <a:lnSpc>
                <a:spcPts val="2583"/>
              </a:lnSpc>
            </a:pPr>
            <a:r>
              <a:rPr lang="en-US" sz="1900">
                <a:solidFill>
                  <a:srgbClr val="000000"/>
                </a:solidFill>
                <a:latin typeface="Arimo"/>
                <a:ea typeface="Arimo"/>
                <a:cs typeface="Arimo"/>
                <a:sym typeface="Arimo"/>
              </a:rPr>
              <a:t>Infologia Technologies, established in 2017, is a Chennai-based IT services company delivering innovative solutions globally. Specializing in custom software, web and mobile applications, enterprise solutions, and logistics automation, Infologia has completed 89+ projects across industries like logistics, e-governance, CRM, and ERP. As a certified CargoWise Service Partner (2022), DP World Business Partner (2024), and Magaya Service Partner (2025), we excel in cloud automation, IT-enabled solutions. Our mission is to drive digital transformation with scalable, client-centric technology solutions.</a:t>
            </a:r>
          </a:p>
          <a:p>
            <a:pPr algn="just">
              <a:lnSpc>
                <a:spcPts val="2583"/>
              </a:lnSpc>
            </a:pPr>
          </a:p>
          <a:p>
            <a:pPr algn="just">
              <a:lnSpc>
                <a:spcPts val="2583"/>
              </a:lnSpc>
            </a:pPr>
          </a:p>
          <a:p>
            <a:pPr algn="just">
              <a:lnSpc>
                <a:spcPts val="2583"/>
              </a:lnSpc>
            </a:pPr>
            <a:r>
              <a:rPr lang="en-US" sz="1900" b="true">
                <a:solidFill>
                  <a:srgbClr val="000000"/>
                </a:solidFill>
                <a:latin typeface="Arimo Bold"/>
                <a:ea typeface="Arimo Bold"/>
                <a:cs typeface="Arimo Bold"/>
                <a:sym typeface="Arimo Bold"/>
              </a:rPr>
              <a:t>Core Expertise:</a:t>
            </a:r>
            <a:r>
              <a:rPr lang="en-US" sz="1900">
                <a:solidFill>
                  <a:srgbClr val="000000"/>
                </a:solidFill>
                <a:latin typeface="Arimo"/>
                <a:ea typeface="Arimo"/>
                <a:cs typeface="Arimo"/>
                <a:sym typeface="Arimo"/>
              </a:rPr>
              <a:t> </a:t>
            </a:r>
          </a:p>
          <a:p>
            <a:pPr algn="just" marL="434342" indent="-144781" lvl="2">
              <a:lnSpc>
                <a:spcPts val="2583"/>
              </a:lnSpc>
              <a:buFont typeface="Arial"/>
              <a:buChar char="⚬"/>
            </a:pPr>
            <a:r>
              <a:rPr lang="en-US" sz="1900">
                <a:solidFill>
                  <a:srgbClr val="000000"/>
                </a:solidFill>
                <a:latin typeface="Arimo"/>
                <a:ea typeface="Arimo"/>
                <a:cs typeface="Arimo"/>
                <a:sym typeface="Arimo"/>
              </a:rPr>
              <a:t>CargoWise Service Partner since 2022 </a:t>
            </a:r>
          </a:p>
          <a:p>
            <a:pPr algn="just" marL="434342" indent="-144781" lvl="2">
              <a:lnSpc>
                <a:spcPts val="2583"/>
              </a:lnSpc>
              <a:buFont typeface="Arial"/>
              <a:buChar char="⚬"/>
            </a:pPr>
            <a:r>
              <a:rPr lang="en-US" sz="1900">
                <a:solidFill>
                  <a:srgbClr val="000000"/>
                </a:solidFill>
                <a:latin typeface="Arimo"/>
                <a:ea typeface="Arimo"/>
                <a:cs typeface="Arimo"/>
                <a:sym typeface="Arimo"/>
              </a:rPr>
              <a:t>DP world Business Partner since 2024</a:t>
            </a:r>
          </a:p>
          <a:p>
            <a:pPr algn="just" marL="434342" indent="-144781" lvl="2">
              <a:lnSpc>
                <a:spcPts val="2583"/>
              </a:lnSpc>
              <a:buFont typeface="Arial"/>
              <a:buChar char="⚬"/>
            </a:pPr>
            <a:r>
              <a:rPr lang="en-US" sz="1900">
                <a:solidFill>
                  <a:srgbClr val="000000"/>
                </a:solidFill>
                <a:latin typeface="Arimo"/>
                <a:ea typeface="Arimo"/>
                <a:cs typeface="Arimo"/>
                <a:sym typeface="Arimo"/>
              </a:rPr>
              <a:t>Softlink Global Service Partner since 2025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794585" y="1028700"/>
            <a:ext cx="5237855" cy="8229600"/>
          </a:xfrm>
          <a:custGeom>
            <a:avLst/>
            <a:gdLst/>
            <a:ahLst/>
            <a:cxnLst/>
            <a:rect r="r" b="b" t="t" l="l"/>
            <a:pathLst>
              <a:path h="8229600" w="5237855">
                <a:moveTo>
                  <a:pt x="0" y="0"/>
                </a:moveTo>
                <a:lnTo>
                  <a:pt x="5237855" y="0"/>
                </a:lnTo>
                <a:lnTo>
                  <a:pt x="5237855" y="8229600"/>
                </a:lnTo>
                <a:lnTo>
                  <a:pt x="0" y="8229600"/>
                </a:lnTo>
                <a:lnTo>
                  <a:pt x="0" y="0"/>
                </a:lnTo>
                <a:close/>
              </a:path>
            </a:pathLst>
          </a:custGeom>
          <a:blipFill>
            <a:blip r:embed="rId2"/>
            <a:stretch>
              <a:fillRect l="-11067" t="-16455" r="-11079" b="0"/>
            </a:stretch>
          </a:blipFill>
        </p:spPr>
      </p:sp>
      <p:grpSp>
        <p:nvGrpSpPr>
          <p:cNvPr name="Group 3" id="3"/>
          <p:cNvGrpSpPr/>
          <p:nvPr/>
        </p:nvGrpSpPr>
        <p:grpSpPr>
          <a:xfrm rot="-2700000">
            <a:off x="13936704" y="-780679"/>
            <a:ext cx="11641931" cy="11641931"/>
            <a:chOff x="0" y="0"/>
            <a:chExt cx="15522575" cy="15522575"/>
          </a:xfrm>
        </p:grpSpPr>
        <p:sp>
          <p:nvSpPr>
            <p:cNvPr name="Freeform 4" id="4"/>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3">
                <a:alphaModFix amt="6999"/>
              </a:blip>
              <a:stretch>
                <a:fillRect l="0" t="0" r="0" b="0"/>
              </a:stretch>
            </a:blipFill>
          </p:spPr>
        </p:sp>
      </p:grpSp>
      <p:sp>
        <p:nvSpPr>
          <p:cNvPr name="Freeform 5" id="5"/>
          <p:cNvSpPr/>
          <p:nvPr/>
        </p:nvSpPr>
        <p:spPr>
          <a:xfrm flipH="false" flipV="false" rot="0">
            <a:off x="12780293" y="-2958264"/>
            <a:ext cx="15542002" cy="15542003"/>
          </a:xfrm>
          <a:custGeom>
            <a:avLst/>
            <a:gdLst/>
            <a:ahLst/>
            <a:cxnLst/>
            <a:rect r="r" b="b" t="t" l="l"/>
            <a:pathLst>
              <a:path h="15542003" w="15542002">
                <a:moveTo>
                  <a:pt x="0" y="0"/>
                </a:moveTo>
                <a:lnTo>
                  <a:pt x="15542003" y="0"/>
                </a:lnTo>
                <a:lnTo>
                  <a:pt x="15542003" y="15542003"/>
                </a:lnTo>
                <a:lnTo>
                  <a:pt x="0" y="155420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84718" y="2438667"/>
            <a:ext cx="1836820" cy="1843735"/>
            <a:chOff x="0" y="0"/>
            <a:chExt cx="2449093" cy="2458314"/>
          </a:xfrm>
        </p:grpSpPr>
        <p:sp>
          <p:nvSpPr>
            <p:cNvPr name="Freeform 7" id="7"/>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6">
                <a:alphaModFix amt="40000"/>
              </a:blip>
              <a:stretch>
                <a:fillRect l="-18" t="0" r="-19" b="1"/>
              </a:stretch>
            </a:blipFill>
          </p:spPr>
        </p:sp>
      </p:grpSp>
      <p:sp>
        <p:nvSpPr>
          <p:cNvPr name="Freeform 8" id="8"/>
          <p:cNvSpPr/>
          <p:nvPr/>
        </p:nvSpPr>
        <p:spPr>
          <a:xfrm flipH="false" flipV="false" rot="0">
            <a:off x="-66481" y="2560362"/>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674" y="2631516"/>
            <a:ext cx="1458029" cy="1458028"/>
          </a:xfrm>
          <a:custGeom>
            <a:avLst/>
            <a:gdLst/>
            <a:ahLst/>
            <a:cxnLst/>
            <a:rect r="r" b="b" t="t" l="l"/>
            <a:pathLst>
              <a:path h="1458028" w="1458029">
                <a:moveTo>
                  <a:pt x="0" y="0"/>
                </a:moveTo>
                <a:lnTo>
                  <a:pt x="1458029" y="0"/>
                </a:lnTo>
                <a:lnTo>
                  <a:pt x="1458029" y="1458028"/>
                </a:lnTo>
                <a:lnTo>
                  <a:pt x="0" y="14580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6485" y="2723328"/>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410718" y="3028855"/>
            <a:ext cx="645938" cy="663350"/>
          </a:xfrm>
          <a:custGeom>
            <a:avLst/>
            <a:gdLst/>
            <a:ahLst/>
            <a:cxnLst/>
            <a:rect r="r" b="b" t="t" l="l"/>
            <a:pathLst>
              <a:path h="663350" w="645938">
                <a:moveTo>
                  <a:pt x="0" y="0"/>
                </a:moveTo>
                <a:lnTo>
                  <a:pt x="645938" y="0"/>
                </a:lnTo>
                <a:lnTo>
                  <a:pt x="645938" y="663349"/>
                </a:lnTo>
                <a:lnTo>
                  <a:pt x="0" y="663349"/>
                </a:lnTo>
                <a:lnTo>
                  <a:pt x="0" y="0"/>
                </a:lnTo>
                <a:close/>
              </a:path>
            </a:pathLst>
          </a:custGeom>
          <a:blipFill>
            <a:blip r:embed="rId13">
              <a:extLst>
                <a:ext uri="{96DAC541-7B7A-43D3-8B79-37D633B846F1}">
                  <asvg:svgBlip xmlns:asvg="http://schemas.microsoft.com/office/drawing/2016/SVG/main" r:embed="rId14"/>
                </a:ext>
              </a:extLst>
            </a:blip>
            <a:stretch>
              <a:fillRect l="0" t="-119" r="0" b="-119"/>
            </a:stretch>
          </a:blipFill>
        </p:spPr>
      </p:sp>
      <p:sp>
        <p:nvSpPr>
          <p:cNvPr name="Freeform 12" id="12"/>
          <p:cNvSpPr/>
          <p:nvPr/>
        </p:nvSpPr>
        <p:spPr>
          <a:xfrm flipH="false" flipV="false" rot="0">
            <a:off x="17609839" y="6766556"/>
            <a:ext cx="2138429" cy="374565"/>
          </a:xfrm>
          <a:custGeom>
            <a:avLst/>
            <a:gdLst/>
            <a:ahLst/>
            <a:cxnLst/>
            <a:rect r="r" b="b" t="t" l="l"/>
            <a:pathLst>
              <a:path h="374565" w="2138429">
                <a:moveTo>
                  <a:pt x="0" y="0"/>
                </a:moveTo>
                <a:lnTo>
                  <a:pt x="2138429" y="0"/>
                </a:lnTo>
                <a:lnTo>
                  <a:pt x="2138429" y="374565"/>
                </a:lnTo>
                <a:lnTo>
                  <a:pt x="0" y="3745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3" id="13"/>
          <p:cNvSpPr txBox="true"/>
          <p:nvPr/>
        </p:nvSpPr>
        <p:spPr>
          <a:xfrm rot="0">
            <a:off x="6937353" y="1081507"/>
            <a:ext cx="7251948"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MILESTONE &amp; PARTNERSHIP</a:t>
            </a:r>
          </a:p>
        </p:txBody>
      </p:sp>
      <p:sp>
        <p:nvSpPr>
          <p:cNvPr name="TextBox 14" id="14"/>
          <p:cNvSpPr txBox="true"/>
          <p:nvPr/>
        </p:nvSpPr>
        <p:spPr>
          <a:xfrm rot="0">
            <a:off x="6937353" y="2251243"/>
            <a:ext cx="9991154" cy="1666240"/>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Infologia’s journey reflects steady growth and innovation – from IT services to global logistics solutions. Each milestone marks a strategic leap, strengthening our expertise and global presence. Partnerships with CargoWise, DP World and Magaya showcase our industry recognition. Our roadmap proves a clear vision: “Shaping the future of digital logistics with purpose”.</a:t>
            </a:r>
          </a:p>
        </p:txBody>
      </p:sp>
      <p:grpSp>
        <p:nvGrpSpPr>
          <p:cNvPr name="Group 15" id="15"/>
          <p:cNvGrpSpPr/>
          <p:nvPr/>
        </p:nvGrpSpPr>
        <p:grpSpPr>
          <a:xfrm rot="0">
            <a:off x="5927665" y="5021237"/>
            <a:ext cx="6530340" cy="38100"/>
            <a:chOff x="0" y="0"/>
            <a:chExt cx="8707120" cy="50800"/>
          </a:xfrm>
        </p:grpSpPr>
        <p:sp>
          <p:nvSpPr>
            <p:cNvPr name="Freeform 16" id="16"/>
            <p:cNvSpPr/>
            <p:nvPr/>
          </p:nvSpPr>
          <p:spPr>
            <a:xfrm flipH="false" flipV="false" rot="0">
              <a:off x="25400" y="0"/>
              <a:ext cx="8656320" cy="50800"/>
            </a:xfrm>
            <a:custGeom>
              <a:avLst/>
              <a:gdLst/>
              <a:ahLst/>
              <a:cxnLst/>
              <a:rect r="r" b="b" t="t" l="l"/>
              <a:pathLst>
                <a:path h="50800" w="8656320">
                  <a:moveTo>
                    <a:pt x="0" y="0"/>
                  </a:moveTo>
                  <a:lnTo>
                    <a:pt x="8656320" y="0"/>
                  </a:lnTo>
                  <a:lnTo>
                    <a:pt x="8656320" y="50800"/>
                  </a:lnTo>
                  <a:lnTo>
                    <a:pt x="0" y="50800"/>
                  </a:lnTo>
                  <a:close/>
                </a:path>
              </a:pathLst>
            </a:custGeom>
            <a:solidFill>
              <a:srgbClr val="000000"/>
            </a:solidFill>
            <a:ln w="12700">
              <a:solidFill>
                <a:srgbClr val="000000"/>
              </a:solidFill>
            </a:ln>
          </p:spPr>
        </p:sp>
      </p:grpSp>
      <p:sp>
        <p:nvSpPr>
          <p:cNvPr name="Freeform 17" id="17"/>
          <p:cNvSpPr/>
          <p:nvPr/>
        </p:nvSpPr>
        <p:spPr>
          <a:xfrm flipH="false" flipV="false" rot="0">
            <a:off x="9557680" y="5573182"/>
            <a:ext cx="4416990" cy="2179053"/>
          </a:xfrm>
          <a:custGeom>
            <a:avLst/>
            <a:gdLst/>
            <a:ahLst/>
            <a:cxnLst/>
            <a:rect r="r" b="b" t="t" l="l"/>
            <a:pathLst>
              <a:path h="2179053" w="4416990">
                <a:moveTo>
                  <a:pt x="0" y="0"/>
                </a:moveTo>
                <a:lnTo>
                  <a:pt x="4416990" y="0"/>
                </a:lnTo>
                <a:lnTo>
                  <a:pt x="4416990" y="2179054"/>
                </a:lnTo>
                <a:lnTo>
                  <a:pt x="0" y="2179054"/>
                </a:lnTo>
                <a:lnTo>
                  <a:pt x="0" y="0"/>
                </a:lnTo>
                <a:close/>
              </a:path>
            </a:pathLst>
          </a:custGeom>
          <a:blipFill>
            <a:blip r:embed="rId17">
              <a:extLst>
                <a:ext uri="{96DAC541-7B7A-43D3-8B79-37D633B846F1}">
                  <asvg:svgBlip xmlns:asvg="http://schemas.microsoft.com/office/drawing/2016/SVG/main" r:embed="rId18"/>
                </a:ext>
              </a:extLst>
            </a:blip>
            <a:stretch>
              <a:fillRect l="0" t="-20" r="0" b="-20"/>
            </a:stretch>
          </a:blipFill>
        </p:spPr>
      </p:sp>
      <p:sp>
        <p:nvSpPr>
          <p:cNvPr name="Freeform 18" id="18"/>
          <p:cNvSpPr/>
          <p:nvPr/>
        </p:nvSpPr>
        <p:spPr>
          <a:xfrm flipH="false" flipV="false" rot="0">
            <a:off x="13261772" y="5957116"/>
            <a:ext cx="331527" cy="415490"/>
          </a:xfrm>
          <a:custGeom>
            <a:avLst/>
            <a:gdLst/>
            <a:ahLst/>
            <a:cxnLst/>
            <a:rect r="r" b="b" t="t" l="l"/>
            <a:pathLst>
              <a:path h="415490" w="331527">
                <a:moveTo>
                  <a:pt x="0" y="0"/>
                </a:moveTo>
                <a:lnTo>
                  <a:pt x="331527" y="0"/>
                </a:lnTo>
                <a:lnTo>
                  <a:pt x="331527" y="415490"/>
                </a:lnTo>
                <a:lnTo>
                  <a:pt x="0" y="415490"/>
                </a:lnTo>
                <a:lnTo>
                  <a:pt x="0" y="0"/>
                </a:lnTo>
                <a:close/>
              </a:path>
            </a:pathLst>
          </a:custGeom>
          <a:blipFill>
            <a:blip r:embed="rId19">
              <a:extLst>
                <a:ext uri="{96DAC541-7B7A-43D3-8B79-37D633B846F1}">
                  <asvg:svgBlip xmlns:asvg="http://schemas.microsoft.com/office/drawing/2016/SVG/main" r:embed="rId20"/>
                </a:ext>
              </a:extLst>
            </a:blip>
            <a:stretch>
              <a:fillRect l="0" t="-155" r="0" b="-153"/>
            </a:stretch>
          </a:blipFill>
        </p:spPr>
      </p:sp>
      <p:sp>
        <p:nvSpPr>
          <p:cNvPr name="Freeform 19" id="19"/>
          <p:cNvSpPr/>
          <p:nvPr/>
        </p:nvSpPr>
        <p:spPr>
          <a:xfrm flipH="false" flipV="false" rot="0">
            <a:off x="6322714" y="5573182"/>
            <a:ext cx="4416990" cy="2179053"/>
          </a:xfrm>
          <a:custGeom>
            <a:avLst/>
            <a:gdLst/>
            <a:ahLst/>
            <a:cxnLst/>
            <a:rect r="r" b="b" t="t" l="l"/>
            <a:pathLst>
              <a:path h="2179053" w="4416990">
                <a:moveTo>
                  <a:pt x="0" y="0"/>
                </a:moveTo>
                <a:lnTo>
                  <a:pt x="4416990" y="0"/>
                </a:lnTo>
                <a:lnTo>
                  <a:pt x="4416990" y="2179054"/>
                </a:lnTo>
                <a:lnTo>
                  <a:pt x="0" y="2179054"/>
                </a:lnTo>
                <a:lnTo>
                  <a:pt x="0" y="0"/>
                </a:lnTo>
                <a:close/>
              </a:path>
            </a:pathLst>
          </a:custGeom>
          <a:blipFill>
            <a:blip r:embed="rId17">
              <a:extLst>
                <a:ext uri="{96DAC541-7B7A-43D3-8B79-37D633B846F1}">
                  <asvg:svgBlip xmlns:asvg="http://schemas.microsoft.com/office/drawing/2016/SVG/main" r:embed="rId18"/>
                </a:ext>
              </a:extLst>
            </a:blip>
            <a:stretch>
              <a:fillRect l="0" t="-20" r="0" b="-20"/>
            </a:stretch>
          </a:blipFill>
        </p:spPr>
      </p:sp>
      <p:sp>
        <p:nvSpPr>
          <p:cNvPr name="Freeform 20" id="20"/>
          <p:cNvSpPr/>
          <p:nvPr/>
        </p:nvSpPr>
        <p:spPr>
          <a:xfrm flipH="false" flipV="false" rot="0">
            <a:off x="9957454" y="5938971"/>
            <a:ext cx="395068" cy="415490"/>
          </a:xfrm>
          <a:custGeom>
            <a:avLst/>
            <a:gdLst/>
            <a:ahLst/>
            <a:cxnLst/>
            <a:rect r="r" b="b" t="t" l="l"/>
            <a:pathLst>
              <a:path h="415490" w="395068">
                <a:moveTo>
                  <a:pt x="0" y="0"/>
                </a:moveTo>
                <a:lnTo>
                  <a:pt x="395068" y="0"/>
                </a:lnTo>
                <a:lnTo>
                  <a:pt x="395068" y="415490"/>
                </a:lnTo>
                <a:lnTo>
                  <a:pt x="0" y="415490"/>
                </a:lnTo>
                <a:lnTo>
                  <a:pt x="0" y="0"/>
                </a:lnTo>
                <a:close/>
              </a:path>
            </a:pathLst>
          </a:custGeom>
          <a:blipFill>
            <a:blip r:embed="rId21">
              <a:extLst>
                <a:ext uri="{96DAC541-7B7A-43D3-8B79-37D633B846F1}">
                  <asvg:svgBlip xmlns:asvg="http://schemas.microsoft.com/office/drawing/2016/SVG/main" r:embed="rId22"/>
                </a:ext>
              </a:extLst>
            </a:blip>
            <a:stretch>
              <a:fillRect l="-195" t="0" r="-192" b="0"/>
            </a:stretch>
          </a:blipFill>
        </p:spPr>
      </p:sp>
      <p:sp>
        <p:nvSpPr>
          <p:cNvPr name="Freeform 21" id="21"/>
          <p:cNvSpPr/>
          <p:nvPr/>
        </p:nvSpPr>
        <p:spPr>
          <a:xfrm flipH="false" flipV="false" rot="0">
            <a:off x="8347672" y="5957116"/>
            <a:ext cx="427606" cy="415490"/>
          </a:xfrm>
          <a:custGeom>
            <a:avLst/>
            <a:gdLst/>
            <a:ahLst/>
            <a:cxnLst/>
            <a:rect r="r" b="b" t="t" l="l"/>
            <a:pathLst>
              <a:path h="415490" w="427606">
                <a:moveTo>
                  <a:pt x="0" y="0"/>
                </a:moveTo>
                <a:lnTo>
                  <a:pt x="427606" y="0"/>
                </a:lnTo>
                <a:lnTo>
                  <a:pt x="427606" y="415490"/>
                </a:lnTo>
                <a:lnTo>
                  <a:pt x="0" y="415490"/>
                </a:lnTo>
                <a:lnTo>
                  <a:pt x="0" y="0"/>
                </a:lnTo>
                <a:close/>
              </a:path>
            </a:pathLst>
          </a:custGeom>
          <a:blipFill>
            <a:blip r:embed="rId23">
              <a:extLst>
                <a:ext uri="{96DAC541-7B7A-43D3-8B79-37D633B846F1}">
                  <asvg:svgBlip xmlns:asvg="http://schemas.microsoft.com/office/drawing/2016/SVG/main" r:embed="rId24"/>
                </a:ext>
              </a:extLst>
            </a:blip>
            <a:stretch>
              <a:fillRect l="0" t="-314" r="0" b="-316"/>
            </a:stretch>
          </a:blipFill>
        </p:spPr>
      </p:sp>
      <p:sp>
        <p:nvSpPr>
          <p:cNvPr name="Freeform 22" id="22"/>
          <p:cNvSpPr/>
          <p:nvPr/>
        </p:nvSpPr>
        <p:spPr>
          <a:xfrm flipH="false" flipV="false" rot="0">
            <a:off x="11563274" y="5929446"/>
            <a:ext cx="414804" cy="415490"/>
          </a:xfrm>
          <a:custGeom>
            <a:avLst/>
            <a:gdLst/>
            <a:ahLst/>
            <a:cxnLst/>
            <a:rect r="r" b="b" t="t" l="l"/>
            <a:pathLst>
              <a:path h="415490" w="414804">
                <a:moveTo>
                  <a:pt x="0" y="0"/>
                </a:moveTo>
                <a:lnTo>
                  <a:pt x="414804" y="0"/>
                </a:lnTo>
                <a:lnTo>
                  <a:pt x="414804" y="415490"/>
                </a:lnTo>
                <a:lnTo>
                  <a:pt x="0" y="415490"/>
                </a:lnTo>
                <a:lnTo>
                  <a:pt x="0" y="0"/>
                </a:lnTo>
                <a:close/>
              </a:path>
            </a:pathLst>
          </a:custGeom>
          <a:blipFill>
            <a:blip r:embed="rId25">
              <a:extLst>
                <a:ext uri="{96DAC541-7B7A-43D3-8B79-37D633B846F1}">
                  <asvg:svgBlip xmlns:asvg="http://schemas.microsoft.com/office/drawing/2016/SVG/main" r:embed="rId26"/>
                </a:ext>
              </a:extLst>
            </a:blip>
            <a:stretch>
              <a:fillRect l="-82" t="0" r="-82" b="0"/>
            </a:stretch>
          </a:blipFill>
        </p:spPr>
      </p:sp>
      <p:sp>
        <p:nvSpPr>
          <p:cNvPr name="Freeform 23" id="23"/>
          <p:cNvSpPr/>
          <p:nvPr/>
        </p:nvSpPr>
        <p:spPr>
          <a:xfrm flipH="false" flipV="false" rot="0">
            <a:off x="12801657" y="5573182"/>
            <a:ext cx="4416990" cy="2179053"/>
          </a:xfrm>
          <a:custGeom>
            <a:avLst/>
            <a:gdLst/>
            <a:ahLst/>
            <a:cxnLst/>
            <a:rect r="r" b="b" t="t" l="l"/>
            <a:pathLst>
              <a:path h="2179053" w="4416990">
                <a:moveTo>
                  <a:pt x="0" y="0"/>
                </a:moveTo>
                <a:lnTo>
                  <a:pt x="4416990" y="0"/>
                </a:lnTo>
                <a:lnTo>
                  <a:pt x="4416990" y="2179054"/>
                </a:lnTo>
                <a:lnTo>
                  <a:pt x="0" y="2179054"/>
                </a:lnTo>
                <a:lnTo>
                  <a:pt x="0" y="0"/>
                </a:lnTo>
                <a:close/>
              </a:path>
            </a:pathLst>
          </a:custGeom>
          <a:blipFill>
            <a:blip r:embed="rId17">
              <a:extLst>
                <a:ext uri="{96DAC541-7B7A-43D3-8B79-37D633B846F1}">
                  <asvg:svgBlip xmlns:asvg="http://schemas.microsoft.com/office/drawing/2016/SVG/main" r:embed="rId18"/>
                </a:ext>
              </a:extLst>
            </a:blip>
            <a:stretch>
              <a:fillRect l="0" t="-20" r="0" b="-20"/>
            </a:stretch>
          </a:blipFill>
        </p:spPr>
      </p:sp>
      <p:sp>
        <p:nvSpPr>
          <p:cNvPr name="Freeform 24" id="24"/>
          <p:cNvSpPr/>
          <p:nvPr/>
        </p:nvSpPr>
        <p:spPr>
          <a:xfrm flipH="false" flipV="false" rot="0">
            <a:off x="13173075" y="5938971"/>
            <a:ext cx="427606" cy="415490"/>
          </a:xfrm>
          <a:custGeom>
            <a:avLst/>
            <a:gdLst/>
            <a:ahLst/>
            <a:cxnLst/>
            <a:rect r="r" b="b" t="t" l="l"/>
            <a:pathLst>
              <a:path h="415490" w="427606">
                <a:moveTo>
                  <a:pt x="0" y="0"/>
                </a:moveTo>
                <a:lnTo>
                  <a:pt x="427606" y="0"/>
                </a:lnTo>
                <a:lnTo>
                  <a:pt x="427606" y="415490"/>
                </a:lnTo>
                <a:lnTo>
                  <a:pt x="0" y="415490"/>
                </a:lnTo>
                <a:lnTo>
                  <a:pt x="0" y="0"/>
                </a:lnTo>
                <a:close/>
              </a:path>
            </a:pathLst>
          </a:custGeom>
          <a:blipFill>
            <a:blip r:embed="rId23">
              <a:extLst>
                <a:ext uri="{96DAC541-7B7A-43D3-8B79-37D633B846F1}">
                  <asvg:svgBlip xmlns:asvg="http://schemas.microsoft.com/office/drawing/2016/SVG/main" r:embed="rId24"/>
                </a:ext>
              </a:extLst>
            </a:blip>
            <a:stretch>
              <a:fillRect l="0" t="-314" r="0" b="-316"/>
            </a:stretch>
          </a:blipFill>
        </p:spPr>
      </p:sp>
      <p:sp>
        <p:nvSpPr>
          <p:cNvPr name="Freeform 25" id="25"/>
          <p:cNvSpPr/>
          <p:nvPr/>
        </p:nvSpPr>
        <p:spPr>
          <a:xfrm flipH="false" flipV="false" rot="0">
            <a:off x="14782419" y="5938971"/>
            <a:ext cx="414804" cy="415490"/>
          </a:xfrm>
          <a:custGeom>
            <a:avLst/>
            <a:gdLst/>
            <a:ahLst/>
            <a:cxnLst/>
            <a:rect r="r" b="b" t="t" l="l"/>
            <a:pathLst>
              <a:path h="415490" w="414804">
                <a:moveTo>
                  <a:pt x="0" y="0"/>
                </a:moveTo>
                <a:lnTo>
                  <a:pt x="414804" y="0"/>
                </a:lnTo>
                <a:lnTo>
                  <a:pt x="414804" y="415490"/>
                </a:lnTo>
                <a:lnTo>
                  <a:pt x="0" y="415490"/>
                </a:lnTo>
                <a:lnTo>
                  <a:pt x="0" y="0"/>
                </a:lnTo>
                <a:close/>
              </a:path>
            </a:pathLst>
          </a:custGeom>
          <a:blipFill>
            <a:blip r:embed="rId25">
              <a:extLst>
                <a:ext uri="{96DAC541-7B7A-43D3-8B79-37D633B846F1}">
                  <asvg:svgBlip xmlns:asvg="http://schemas.microsoft.com/office/drawing/2016/SVG/main" r:embed="rId26"/>
                </a:ext>
              </a:extLst>
            </a:blip>
            <a:stretch>
              <a:fillRect l="-82" t="0" r="-82" b="0"/>
            </a:stretch>
          </a:blipFill>
        </p:spPr>
      </p:sp>
      <p:sp>
        <p:nvSpPr>
          <p:cNvPr name="Freeform 26" id="26"/>
          <p:cNvSpPr/>
          <p:nvPr/>
        </p:nvSpPr>
        <p:spPr>
          <a:xfrm flipH="false" flipV="false" rot="0">
            <a:off x="16466010" y="5892251"/>
            <a:ext cx="334813" cy="415490"/>
          </a:xfrm>
          <a:custGeom>
            <a:avLst/>
            <a:gdLst/>
            <a:ahLst/>
            <a:cxnLst/>
            <a:rect r="r" b="b" t="t" l="l"/>
            <a:pathLst>
              <a:path h="415490" w="334813">
                <a:moveTo>
                  <a:pt x="0" y="0"/>
                </a:moveTo>
                <a:lnTo>
                  <a:pt x="334814" y="0"/>
                </a:lnTo>
                <a:lnTo>
                  <a:pt x="334814" y="415490"/>
                </a:lnTo>
                <a:lnTo>
                  <a:pt x="0" y="415490"/>
                </a:lnTo>
                <a:lnTo>
                  <a:pt x="0" y="0"/>
                </a:lnTo>
                <a:close/>
              </a:path>
            </a:pathLst>
          </a:custGeom>
          <a:blipFill>
            <a:blip r:embed="rId27">
              <a:extLst>
                <a:ext uri="{96DAC541-7B7A-43D3-8B79-37D633B846F1}">
                  <asvg:svgBlip xmlns:asvg="http://schemas.microsoft.com/office/drawing/2016/SVG/main" r:embed="rId28"/>
                </a:ext>
              </a:extLst>
            </a:blip>
            <a:stretch>
              <a:fillRect l="-765" t="0" r="-768" b="0"/>
            </a:stretch>
          </a:blipFill>
        </p:spPr>
      </p:sp>
      <p:sp>
        <p:nvSpPr>
          <p:cNvPr name="Freeform 27" id="27"/>
          <p:cNvSpPr/>
          <p:nvPr/>
        </p:nvSpPr>
        <p:spPr>
          <a:xfrm flipH="false" flipV="false" rot="0">
            <a:off x="6655451" y="5920826"/>
            <a:ext cx="482556" cy="451790"/>
          </a:xfrm>
          <a:custGeom>
            <a:avLst/>
            <a:gdLst/>
            <a:ahLst/>
            <a:cxnLst/>
            <a:rect r="r" b="b" t="t" l="l"/>
            <a:pathLst>
              <a:path h="451790" w="482556">
                <a:moveTo>
                  <a:pt x="0" y="0"/>
                </a:moveTo>
                <a:lnTo>
                  <a:pt x="482555" y="0"/>
                </a:lnTo>
                <a:lnTo>
                  <a:pt x="482555" y="451790"/>
                </a:lnTo>
                <a:lnTo>
                  <a:pt x="0" y="451790"/>
                </a:lnTo>
                <a:lnTo>
                  <a:pt x="0" y="0"/>
                </a:lnTo>
                <a:close/>
              </a:path>
            </a:pathLst>
          </a:custGeom>
          <a:blipFill>
            <a:blip r:embed="rId29">
              <a:extLst>
                <a:ext uri="{96DAC541-7B7A-43D3-8B79-37D633B846F1}">
                  <asvg:svgBlip xmlns:asvg="http://schemas.microsoft.com/office/drawing/2016/SVG/main" r:embed="rId30"/>
                </a:ext>
              </a:extLst>
            </a:blip>
            <a:stretch>
              <a:fillRect l="0" t="-263" r="0" b="-261"/>
            </a:stretch>
          </a:blipFill>
        </p:spPr>
      </p:sp>
      <p:sp>
        <p:nvSpPr>
          <p:cNvPr name="TextBox 28" id="28"/>
          <p:cNvSpPr txBox="true"/>
          <p:nvPr/>
        </p:nvSpPr>
        <p:spPr>
          <a:xfrm rot="0">
            <a:off x="6390761" y="8119681"/>
            <a:ext cx="1137466" cy="1002665"/>
          </a:xfrm>
          <a:prstGeom prst="rect">
            <a:avLst/>
          </a:prstGeom>
        </p:spPr>
        <p:txBody>
          <a:bodyPr anchor="t" rtlCol="false" tIns="0" lIns="0" bIns="0" rIns="0">
            <a:spAutoFit/>
          </a:bodyPr>
          <a:lstStyle/>
          <a:p>
            <a:pPr algn="ctr">
              <a:lnSpc>
                <a:spcPts val="1959"/>
              </a:lnSpc>
            </a:pPr>
            <a:r>
              <a:rPr lang="en-US" sz="1399" b="true">
                <a:solidFill>
                  <a:srgbClr val="000000"/>
                </a:solidFill>
                <a:latin typeface="Arimo Bold"/>
                <a:ea typeface="Arimo Bold"/>
                <a:cs typeface="Arimo Bold"/>
                <a:sym typeface="Arimo Bold"/>
              </a:rPr>
              <a:t>Early Stage </a:t>
            </a:r>
            <a:r>
              <a:rPr lang="en-US" sz="1399">
                <a:solidFill>
                  <a:srgbClr val="000000"/>
                </a:solidFill>
                <a:latin typeface="Arimo"/>
                <a:ea typeface="Arimo"/>
                <a:cs typeface="Arimo"/>
                <a:sym typeface="Arimo"/>
              </a:rPr>
              <a:t> IT/Web development Beginnings</a:t>
            </a:r>
          </a:p>
        </p:txBody>
      </p:sp>
      <p:sp>
        <p:nvSpPr>
          <p:cNvPr name="TextBox 29" id="29"/>
          <p:cNvSpPr txBox="true"/>
          <p:nvPr/>
        </p:nvSpPr>
        <p:spPr>
          <a:xfrm rot="0">
            <a:off x="11144793" y="8054273"/>
            <a:ext cx="1251766" cy="1250315"/>
          </a:xfrm>
          <a:prstGeom prst="rect">
            <a:avLst/>
          </a:prstGeom>
        </p:spPr>
        <p:txBody>
          <a:bodyPr anchor="t" rtlCol="false" tIns="0" lIns="0" bIns="0" rIns="0">
            <a:spAutoFit/>
          </a:bodyPr>
          <a:lstStyle/>
          <a:p>
            <a:pPr algn="ctr">
              <a:lnSpc>
                <a:spcPts val="1959"/>
              </a:lnSpc>
            </a:pPr>
            <a:r>
              <a:rPr lang="en-US" sz="1399" b="true">
                <a:solidFill>
                  <a:srgbClr val="000000"/>
                </a:solidFill>
                <a:latin typeface="Arimo Bold"/>
                <a:ea typeface="Arimo Bold"/>
                <a:cs typeface="Arimo Bold"/>
                <a:sym typeface="Arimo Bold"/>
              </a:rPr>
              <a:t>Expansion </a:t>
            </a:r>
            <a:r>
              <a:rPr lang="en-US" sz="1399">
                <a:solidFill>
                  <a:srgbClr val="000000"/>
                </a:solidFill>
                <a:latin typeface="Arimo"/>
                <a:ea typeface="Arimo"/>
                <a:cs typeface="Arimo"/>
                <a:sym typeface="Arimo"/>
              </a:rPr>
              <a:t>ERP &amp; CRM Solutions has Bought Global Reach</a:t>
            </a:r>
          </a:p>
        </p:txBody>
      </p:sp>
      <p:sp>
        <p:nvSpPr>
          <p:cNvPr name="TextBox 30" id="30"/>
          <p:cNvSpPr txBox="true"/>
          <p:nvPr/>
        </p:nvSpPr>
        <p:spPr>
          <a:xfrm rot="0">
            <a:off x="12801657" y="8119681"/>
            <a:ext cx="1251766" cy="1002665"/>
          </a:xfrm>
          <a:prstGeom prst="rect">
            <a:avLst/>
          </a:prstGeom>
        </p:spPr>
        <p:txBody>
          <a:bodyPr anchor="t" rtlCol="false" tIns="0" lIns="0" bIns="0" rIns="0">
            <a:spAutoFit/>
          </a:bodyPr>
          <a:lstStyle/>
          <a:p>
            <a:pPr algn="ctr">
              <a:lnSpc>
                <a:spcPts val="1959"/>
              </a:lnSpc>
            </a:pPr>
            <a:r>
              <a:rPr lang="en-US" sz="1399" b="true">
                <a:solidFill>
                  <a:srgbClr val="000000"/>
                </a:solidFill>
                <a:latin typeface="Arimo Bold"/>
                <a:ea typeface="Arimo Bold"/>
                <a:cs typeface="Arimo Bold"/>
                <a:sym typeface="Arimo Bold"/>
              </a:rPr>
              <a:t>Strategic Shift  </a:t>
            </a:r>
            <a:r>
              <a:rPr lang="en-US" sz="1399">
                <a:solidFill>
                  <a:srgbClr val="000000"/>
                </a:solidFill>
                <a:latin typeface="Arimo"/>
                <a:ea typeface="Arimo"/>
                <a:cs typeface="Arimo"/>
                <a:sym typeface="Arimo"/>
              </a:rPr>
              <a:t>Service partnered with CargoWise</a:t>
            </a:r>
          </a:p>
        </p:txBody>
      </p:sp>
      <p:sp>
        <p:nvSpPr>
          <p:cNvPr name="TextBox 31" id="31"/>
          <p:cNvSpPr txBox="true"/>
          <p:nvPr/>
        </p:nvSpPr>
        <p:spPr>
          <a:xfrm rot="0">
            <a:off x="14462998" y="8119681"/>
            <a:ext cx="1251766" cy="1002665"/>
          </a:xfrm>
          <a:prstGeom prst="rect">
            <a:avLst/>
          </a:prstGeom>
        </p:spPr>
        <p:txBody>
          <a:bodyPr anchor="t" rtlCol="false" tIns="0" lIns="0" bIns="0" rIns="0">
            <a:spAutoFit/>
          </a:bodyPr>
          <a:lstStyle/>
          <a:p>
            <a:pPr algn="ctr">
              <a:lnSpc>
                <a:spcPts val="1959"/>
              </a:lnSpc>
            </a:pPr>
            <a:r>
              <a:rPr lang="en-US" sz="1399" b="true">
                <a:solidFill>
                  <a:srgbClr val="000000"/>
                </a:solidFill>
                <a:latin typeface="Arimo Bold"/>
                <a:ea typeface="Arimo Bold"/>
                <a:cs typeface="Arimo Bold"/>
                <a:sym typeface="Arimo Bold"/>
              </a:rPr>
              <a:t>Breakthrough  </a:t>
            </a:r>
            <a:r>
              <a:rPr lang="en-US" sz="1399">
                <a:solidFill>
                  <a:srgbClr val="000000"/>
                </a:solidFill>
                <a:latin typeface="Arimo"/>
                <a:ea typeface="Arimo"/>
                <a:cs typeface="Arimo"/>
                <a:sym typeface="Arimo"/>
              </a:rPr>
              <a:t>Business Partnered  with DP World</a:t>
            </a:r>
          </a:p>
        </p:txBody>
      </p:sp>
      <p:sp>
        <p:nvSpPr>
          <p:cNvPr name="TextBox 32" id="32"/>
          <p:cNvSpPr txBox="true"/>
          <p:nvPr/>
        </p:nvSpPr>
        <p:spPr>
          <a:xfrm rot="0">
            <a:off x="16007534" y="8119681"/>
            <a:ext cx="1251766" cy="1002665"/>
          </a:xfrm>
          <a:prstGeom prst="rect">
            <a:avLst/>
          </a:prstGeom>
        </p:spPr>
        <p:txBody>
          <a:bodyPr anchor="t" rtlCol="false" tIns="0" lIns="0" bIns="0" rIns="0">
            <a:spAutoFit/>
          </a:bodyPr>
          <a:lstStyle/>
          <a:p>
            <a:pPr algn="ctr">
              <a:lnSpc>
                <a:spcPts val="1959"/>
              </a:lnSpc>
            </a:pPr>
            <a:r>
              <a:rPr lang="en-US" sz="1399" b="true">
                <a:solidFill>
                  <a:srgbClr val="000000"/>
                </a:solidFill>
                <a:latin typeface="Arimo Bold"/>
                <a:ea typeface="Arimo Bold"/>
                <a:cs typeface="Arimo Bold"/>
                <a:sym typeface="Arimo Bold"/>
              </a:rPr>
              <a:t>Growth  </a:t>
            </a:r>
            <a:r>
              <a:rPr lang="en-US" sz="1399">
                <a:solidFill>
                  <a:srgbClr val="000000"/>
                </a:solidFill>
                <a:latin typeface="Arimo"/>
                <a:ea typeface="Arimo"/>
                <a:cs typeface="Arimo"/>
                <a:sym typeface="Arimo"/>
              </a:rPr>
              <a:t>Service Partnership with Magaya</a:t>
            </a:r>
          </a:p>
        </p:txBody>
      </p:sp>
      <p:sp>
        <p:nvSpPr>
          <p:cNvPr name="TextBox 33" id="33"/>
          <p:cNvSpPr txBox="true"/>
          <p:nvPr/>
        </p:nvSpPr>
        <p:spPr>
          <a:xfrm rot="0">
            <a:off x="7994952" y="8119681"/>
            <a:ext cx="1251766" cy="1250315"/>
          </a:xfrm>
          <a:prstGeom prst="rect">
            <a:avLst/>
          </a:prstGeom>
        </p:spPr>
        <p:txBody>
          <a:bodyPr anchor="t" rtlCol="false" tIns="0" lIns="0" bIns="0" rIns="0">
            <a:spAutoFit/>
          </a:bodyPr>
          <a:lstStyle/>
          <a:p>
            <a:pPr algn="ctr">
              <a:lnSpc>
                <a:spcPts val="1959"/>
              </a:lnSpc>
            </a:pPr>
            <a:r>
              <a:rPr lang="en-US" sz="1399" b="true">
                <a:solidFill>
                  <a:srgbClr val="000000"/>
                </a:solidFill>
                <a:latin typeface="Arimo Bold"/>
                <a:ea typeface="Arimo Bold"/>
                <a:cs typeface="Arimo Bold"/>
                <a:sym typeface="Arimo Bold"/>
              </a:rPr>
              <a:t>Collaboration  </a:t>
            </a:r>
            <a:r>
              <a:rPr lang="en-US" sz="1399">
                <a:solidFill>
                  <a:srgbClr val="000000"/>
                </a:solidFill>
                <a:latin typeface="Arimo"/>
                <a:ea typeface="Arimo"/>
                <a:cs typeface="Arimo"/>
                <a:sym typeface="Arimo"/>
              </a:rPr>
              <a:t>Developed TNPSC Portal with Vishala Designs</a:t>
            </a:r>
          </a:p>
        </p:txBody>
      </p:sp>
      <p:sp>
        <p:nvSpPr>
          <p:cNvPr name="TextBox 34" id="34"/>
          <p:cNvSpPr txBox="true"/>
          <p:nvPr/>
        </p:nvSpPr>
        <p:spPr>
          <a:xfrm rot="0">
            <a:off x="9627718" y="8119681"/>
            <a:ext cx="1251766" cy="1250315"/>
          </a:xfrm>
          <a:prstGeom prst="rect">
            <a:avLst/>
          </a:prstGeom>
        </p:spPr>
        <p:txBody>
          <a:bodyPr anchor="t" rtlCol="false" tIns="0" lIns="0" bIns="0" rIns="0">
            <a:spAutoFit/>
          </a:bodyPr>
          <a:lstStyle/>
          <a:p>
            <a:pPr algn="ctr">
              <a:lnSpc>
                <a:spcPts val="1959"/>
              </a:lnSpc>
            </a:pPr>
            <a:r>
              <a:rPr lang="en-US" sz="1399" b="true">
                <a:solidFill>
                  <a:srgbClr val="000000"/>
                </a:solidFill>
                <a:latin typeface="Arimo Bold"/>
                <a:ea typeface="Arimo Bold"/>
                <a:cs typeface="Arimo Bold"/>
                <a:sym typeface="Arimo Bold"/>
              </a:rPr>
              <a:t>Diversification </a:t>
            </a:r>
            <a:r>
              <a:rPr lang="en-US" sz="1399">
                <a:solidFill>
                  <a:srgbClr val="000000"/>
                </a:solidFill>
                <a:latin typeface="Arimo"/>
                <a:ea typeface="Arimo"/>
                <a:cs typeface="Arimo"/>
                <a:sym typeface="Arimo"/>
              </a:rPr>
              <a:t>Customized ERP For EhamGroups Saudi</a:t>
            </a:r>
          </a:p>
        </p:txBody>
      </p:sp>
      <p:sp>
        <p:nvSpPr>
          <p:cNvPr name="TextBox 35" id="35"/>
          <p:cNvSpPr txBox="true"/>
          <p:nvPr/>
        </p:nvSpPr>
        <p:spPr>
          <a:xfrm rot="0">
            <a:off x="6689265" y="7825045"/>
            <a:ext cx="448742" cy="259715"/>
          </a:xfrm>
          <a:prstGeom prst="rect">
            <a:avLst/>
          </a:prstGeom>
        </p:spPr>
        <p:txBody>
          <a:bodyPr anchor="t" rtlCol="false" tIns="0" lIns="0" bIns="0" rIns="0">
            <a:spAutoFit/>
          </a:bodyPr>
          <a:lstStyle/>
          <a:p>
            <a:pPr algn="just">
              <a:lnSpc>
                <a:spcPts val="1959"/>
              </a:lnSpc>
            </a:pPr>
            <a:r>
              <a:rPr lang="en-US" sz="1399" b="true">
                <a:solidFill>
                  <a:srgbClr val="000000"/>
                </a:solidFill>
                <a:latin typeface="Arimo Bold"/>
                <a:ea typeface="Arimo Bold"/>
                <a:cs typeface="Arimo Bold"/>
                <a:sym typeface="Arimo Bold"/>
              </a:rPr>
              <a:t>2017</a:t>
            </a:r>
          </a:p>
        </p:txBody>
      </p:sp>
      <p:sp>
        <p:nvSpPr>
          <p:cNvPr name="TextBox 36" id="36"/>
          <p:cNvSpPr txBox="true"/>
          <p:nvPr/>
        </p:nvSpPr>
        <p:spPr>
          <a:xfrm rot="0">
            <a:off x="8326545" y="7825045"/>
            <a:ext cx="448742" cy="259715"/>
          </a:xfrm>
          <a:prstGeom prst="rect">
            <a:avLst/>
          </a:prstGeom>
        </p:spPr>
        <p:txBody>
          <a:bodyPr anchor="t" rtlCol="false" tIns="0" lIns="0" bIns="0" rIns="0">
            <a:spAutoFit/>
          </a:bodyPr>
          <a:lstStyle/>
          <a:p>
            <a:pPr algn="just">
              <a:lnSpc>
                <a:spcPts val="1959"/>
              </a:lnSpc>
            </a:pPr>
            <a:r>
              <a:rPr lang="en-US" sz="1399" b="true">
                <a:solidFill>
                  <a:srgbClr val="000000"/>
                </a:solidFill>
                <a:latin typeface="Arimo Bold"/>
                <a:ea typeface="Arimo Bold"/>
                <a:cs typeface="Arimo Bold"/>
                <a:sym typeface="Arimo Bold"/>
              </a:rPr>
              <a:t>2019</a:t>
            </a:r>
          </a:p>
        </p:txBody>
      </p:sp>
      <p:sp>
        <p:nvSpPr>
          <p:cNvPr name="TextBox 37" id="37"/>
          <p:cNvSpPr txBox="true"/>
          <p:nvPr/>
        </p:nvSpPr>
        <p:spPr>
          <a:xfrm rot="0">
            <a:off x="9965912" y="7834570"/>
            <a:ext cx="448742" cy="259715"/>
          </a:xfrm>
          <a:prstGeom prst="rect">
            <a:avLst/>
          </a:prstGeom>
        </p:spPr>
        <p:txBody>
          <a:bodyPr anchor="t" rtlCol="false" tIns="0" lIns="0" bIns="0" rIns="0">
            <a:spAutoFit/>
          </a:bodyPr>
          <a:lstStyle/>
          <a:p>
            <a:pPr algn="just">
              <a:lnSpc>
                <a:spcPts val="1959"/>
              </a:lnSpc>
            </a:pPr>
            <a:r>
              <a:rPr lang="en-US" sz="1399" b="true">
                <a:solidFill>
                  <a:srgbClr val="000000"/>
                </a:solidFill>
                <a:latin typeface="Arimo Bold"/>
                <a:ea typeface="Arimo Bold"/>
                <a:cs typeface="Arimo Bold"/>
                <a:sym typeface="Arimo Bold"/>
              </a:rPr>
              <a:t>2020</a:t>
            </a:r>
          </a:p>
        </p:txBody>
      </p:sp>
      <p:sp>
        <p:nvSpPr>
          <p:cNvPr name="TextBox 38" id="38"/>
          <p:cNvSpPr txBox="true"/>
          <p:nvPr/>
        </p:nvSpPr>
        <p:spPr>
          <a:xfrm rot="0">
            <a:off x="11572799" y="7825045"/>
            <a:ext cx="448742" cy="259715"/>
          </a:xfrm>
          <a:prstGeom prst="rect">
            <a:avLst/>
          </a:prstGeom>
        </p:spPr>
        <p:txBody>
          <a:bodyPr anchor="t" rtlCol="false" tIns="0" lIns="0" bIns="0" rIns="0">
            <a:spAutoFit/>
          </a:bodyPr>
          <a:lstStyle/>
          <a:p>
            <a:pPr algn="just">
              <a:lnSpc>
                <a:spcPts val="1959"/>
              </a:lnSpc>
            </a:pPr>
            <a:r>
              <a:rPr lang="en-US" sz="1399" b="true">
                <a:solidFill>
                  <a:srgbClr val="000000"/>
                </a:solidFill>
                <a:latin typeface="Arimo Bold"/>
                <a:ea typeface="Arimo Bold"/>
                <a:cs typeface="Arimo Bold"/>
                <a:sym typeface="Arimo Bold"/>
              </a:rPr>
              <a:t>2021</a:t>
            </a:r>
          </a:p>
        </p:txBody>
      </p:sp>
      <p:sp>
        <p:nvSpPr>
          <p:cNvPr name="TextBox 39" id="39"/>
          <p:cNvSpPr txBox="true"/>
          <p:nvPr/>
        </p:nvSpPr>
        <p:spPr>
          <a:xfrm rot="0">
            <a:off x="13212166" y="7825045"/>
            <a:ext cx="448742" cy="259715"/>
          </a:xfrm>
          <a:prstGeom prst="rect">
            <a:avLst/>
          </a:prstGeom>
        </p:spPr>
        <p:txBody>
          <a:bodyPr anchor="t" rtlCol="false" tIns="0" lIns="0" bIns="0" rIns="0">
            <a:spAutoFit/>
          </a:bodyPr>
          <a:lstStyle/>
          <a:p>
            <a:pPr algn="just">
              <a:lnSpc>
                <a:spcPts val="1959"/>
              </a:lnSpc>
            </a:pPr>
            <a:r>
              <a:rPr lang="en-US" sz="1399" b="true">
                <a:solidFill>
                  <a:srgbClr val="000000"/>
                </a:solidFill>
                <a:latin typeface="Arimo Bold"/>
                <a:ea typeface="Arimo Bold"/>
                <a:cs typeface="Arimo Bold"/>
                <a:sym typeface="Arimo Bold"/>
              </a:rPr>
              <a:t>2022</a:t>
            </a:r>
          </a:p>
        </p:txBody>
      </p:sp>
      <p:sp>
        <p:nvSpPr>
          <p:cNvPr name="TextBox 40" id="40"/>
          <p:cNvSpPr txBox="true"/>
          <p:nvPr/>
        </p:nvSpPr>
        <p:spPr>
          <a:xfrm rot="0">
            <a:off x="14822957" y="7825045"/>
            <a:ext cx="448742" cy="259715"/>
          </a:xfrm>
          <a:prstGeom prst="rect">
            <a:avLst/>
          </a:prstGeom>
        </p:spPr>
        <p:txBody>
          <a:bodyPr anchor="t" rtlCol="false" tIns="0" lIns="0" bIns="0" rIns="0">
            <a:spAutoFit/>
          </a:bodyPr>
          <a:lstStyle/>
          <a:p>
            <a:pPr algn="just">
              <a:lnSpc>
                <a:spcPts val="1959"/>
              </a:lnSpc>
            </a:pPr>
            <a:r>
              <a:rPr lang="en-US" sz="1399" b="true">
                <a:solidFill>
                  <a:srgbClr val="000000"/>
                </a:solidFill>
                <a:latin typeface="Arimo Bold"/>
                <a:ea typeface="Arimo Bold"/>
                <a:cs typeface="Arimo Bold"/>
                <a:sym typeface="Arimo Bold"/>
              </a:rPr>
              <a:t>2024</a:t>
            </a:r>
          </a:p>
        </p:txBody>
      </p:sp>
      <p:sp>
        <p:nvSpPr>
          <p:cNvPr name="TextBox 41" id="41"/>
          <p:cNvSpPr txBox="true"/>
          <p:nvPr/>
        </p:nvSpPr>
        <p:spPr>
          <a:xfrm rot="0">
            <a:off x="16462324" y="7825045"/>
            <a:ext cx="448742" cy="259715"/>
          </a:xfrm>
          <a:prstGeom prst="rect">
            <a:avLst/>
          </a:prstGeom>
        </p:spPr>
        <p:txBody>
          <a:bodyPr anchor="t" rtlCol="false" tIns="0" lIns="0" bIns="0" rIns="0">
            <a:spAutoFit/>
          </a:bodyPr>
          <a:lstStyle/>
          <a:p>
            <a:pPr algn="just">
              <a:lnSpc>
                <a:spcPts val="1959"/>
              </a:lnSpc>
            </a:pPr>
            <a:r>
              <a:rPr lang="en-US" sz="1399" b="true">
                <a:solidFill>
                  <a:srgbClr val="000000"/>
                </a:solidFill>
                <a:latin typeface="Arimo Bold"/>
                <a:ea typeface="Arimo Bold"/>
                <a:cs typeface="Arimo Bold"/>
                <a:sym typeface="Arimo Bold"/>
              </a:rPr>
              <a:t>2025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2463291" y="-159239"/>
            <a:ext cx="11641931" cy="11641931"/>
            <a:chOff x="0" y="0"/>
            <a:chExt cx="15522575" cy="15522575"/>
          </a:xfrm>
        </p:grpSpPr>
        <p:sp>
          <p:nvSpPr>
            <p:cNvPr name="Freeform 3" id="3"/>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4" id="4"/>
          <p:cNvSpPr/>
          <p:nvPr/>
        </p:nvSpPr>
        <p:spPr>
          <a:xfrm flipH="false" flipV="false" rot="0">
            <a:off x="11306872" y="-2336828"/>
            <a:ext cx="15542002" cy="15542003"/>
          </a:xfrm>
          <a:custGeom>
            <a:avLst/>
            <a:gdLst/>
            <a:ahLst/>
            <a:cxnLst/>
            <a:rect r="r" b="b" t="t" l="l"/>
            <a:pathLst>
              <a:path h="15542003" w="15542002">
                <a:moveTo>
                  <a:pt x="0" y="0"/>
                </a:moveTo>
                <a:lnTo>
                  <a:pt x="15542003" y="0"/>
                </a:lnTo>
                <a:lnTo>
                  <a:pt x="15542003" y="15542003"/>
                </a:lnTo>
                <a:lnTo>
                  <a:pt x="0" y="155420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2700000">
            <a:off x="-8902475" y="-1369247"/>
            <a:ext cx="11641931" cy="11641931"/>
            <a:chOff x="0" y="0"/>
            <a:chExt cx="15522575" cy="15522575"/>
          </a:xfrm>
        </p:grpSpPr>
        <p:sp>
          <p:nvSpPr>
            <p:cNvPr name="Freeform 6" id="6"/>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7" id="7"/>
          <p:cNvSpPr/>
          <p:nvPr/>
        </p:nvSpPr>
        <p:spPr>
          <a:xfrm flipH="false" flipV="false" rot="0">
            <a:off x="-10058894" y="-3546833"/>
            <a:ext cx="15542003" cy="15542003"/>
          </a:xfrm>
          <a:custGeom>
            <a:avLst/>
            <a:gdLst/>
            <a:ahLst/>
            <a:cxnLst/>
            <a:rect r="r" b="b" t="t" l="l"/>
            <a:pathLst>
              <a:path h="15542003" w="15542003">
                <a:moveTo>
                  <a:pt x="0" y="0"/>
                </a:moveTo>
                <a:lnTo>
                  <a:pt x="15542003" y="0"/>
                </a:lnTo>
                <a:lnTo>
                  <a:pt x="15542003" y="15542002"/>
                </a:lnTo>
                <a:lnTo>
                  <a:pt x="0" y="155420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2700000">
            <a:off x="-9731873" y="-1396546"/>
            <a:ext cx="11641931" cy="11641931"/>
            <a:chOff x="0" y="0"/>
            <a:chExt cx="15522575" cy="15522575"/>
          </a:xfrm>
        </p:grpSpPr>
        <p:sp>
          <p:nvSpPr>
            <p:cNvPr name="Freeform 9" id="9"/>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10" id="10"/>
          <p:cNvSpPr/>
          <p:nvPr/>
        </p:nvSpPr>
        <p:spPr>
          <a:xfrm flipH="false" flipV="false" rot="0">
            <a:off x="-10888290" y="-3574138"/>
            <a:ext cx="15542003" cy="15542003"/>
          </a:xfrm>
          <a:custGeom>
            <a:avLst/>
            <a:gdLst/>
            <a:ahLst/>
            <a:cxnLst/>
            <a:rect r="r" b="b" t="t" l="l"/>
            <a:pathLst>
              <a:path h="15542003" w="15542003">
                <a:moveTo>
                  <a:pt x="0" y="0"/>
                </a:moveTo>
                <a:lnTo>
                  <a:pt x="15542004" y="0"/>
                </a:lnTo>
                <a:lnTo>
                  <a:pt x="15542004" y="15542003"/>
                </a:lnTo>
                <a:lnTo>
                  <a:pt x="0" y="155420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9629047" y="6036824"/>
            <a:ext cx="3663665" cy="1907391"/>
          </a:xfrm>
          <a:custGeom>
            <a:avLst/>
            <a:gdLst/>
            <a:ahLst/>
            <a:cxnLst/>
            <a:rect r="r" b="b" t="t" l="l"/>
            <a:pathLst>
              <a:path h="1907391" w="3663665">
                <a:moveTo>
                  <a:pt x="0" y="0"/>
                </a:moveTo>
                <a:lnTo>
                  <a:pt x="3663665" y="0"/>
                </a:lnTo>
                <a:lnTo>
                  <a:pt x="3663665" y="1907391"/>
                </a:lnTo>
                <a:lnTo>
                  <a:pt x="0" y="1907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9931434" y="6418698"/>
            <a:ext cx="1829124" cy="1907391"/>
          </a:xfrm>
          <a:custGeom>
            <a:avLst/>
            <a:gdLst/>
            <a:ahLst/>
            <a:cxnLst/>
            <a:rect r="r" b="b" t="t" l="l"/>
            <a:pathLst>
              <a:path h="1907391" w="1829124">
                <a:moveTo>
                  <a:pt x="0" y="0"/>
                </a:moveTo>
                <a:lnTo>
                  <a:pt x="1829124" y="0"/>
                </a:lnTo>
                <a:lnTo>
                  <a:pt x="1829124" y="1907390"/>
                </a:lnTo>
                <a:lnTo>
                  <a:pt x="0" y="19073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5400000">
            <a:off x="9496263" y="5960840"/>
            <a:ext cx="4600023" cy="2522849"/>
            <a:chOff x="0" y="0"/>
            <a:chExt cx="6133363" cy="3363798"/>
          </a:xfrm>
        </p:grpSpPr>
        <p:sp>
          <p:nvSpPr>
            <p:cNvPr name="Freeform 14" id="14"/>
            <p:cNvSpPr/>
            <p:nvPr/>
          </p:nvSpPr>
          <p:spPr>
            <a:xfrm flipH="false" flipV="false" rot="0">
              <a:off x="8509" y="8509"/>
              <a:ext cx="6097524" cy="3327908"/>
            </a:xfrm>
            <a:custGeom>
              <a:avLst/>
              <a:gdLst/>
              <a:ahLst/>
              <a:cxnLst/>
              <a:rect r="r" b="b" t="t" l="l"/>
              <a:pathLst>
                <a:path h="3327908" w="6097524">
                  <a:moveTo>
                    <a:pt x="0" y="0"/>
                  </a:moveTo>
                  <a:lnTo>
                    <a:pt x="6097524" y="0"/>
                  </a:lnTo>
                  <a:lnTo>
                    <a:pt x="6097524" y="3327908"/>
                  </a:lnTo>
                  <a:lnTo>
                    <a:pt x="0" y="3327908"/>
                  </a:lnTo>
                  <a:close/>
                </a:path>
              </a:pathLst>
            </a:custGeom>
            <a:solidFill>
              <a:srgbClr val="CAE4FC"/>
            </a:solidFill>
            <a:ln w="12700">
              <a:solidFill>
                <a:srgbClr val="000000"/>
              </a:solidFill>
            </a:ln>
          </p:spPr>
        </p:sp>
        <p:sp>
          <p:nvSpPr>
            <p:cNvPr name="Freeform 15" id="15"/>
            <p:cNvSpPr/>
            <p:nvPr/>
          </p:nvSpPr>
          <p:spPr>
            <a:xfrm flipH="false" flipV="false" rot="0">
              <a:off x="0" y="0"/>
              <a:ext cx="6114542" cy="3344926"/>
            </a:xfrm>
            <a:custGeom>
              <a:avLst/>
              <a:gdLst/>
              <a:ahLst/>
              <a:cxnLst/>
              <a:rect r="r" b="b" t="t" l="l"/>
              <a:pathLst>
                <a:path h="3344926" w="6114542">
                  <a:moveTo>
                    <a:pt x="8509" y="0"/>
                  </a:moveTo>
                  <a:lnTo>
                    <a:pt x="6106033" y="0"/>
                  </a:lnTo>
                  <a:cubicBezTo>
                    <a:pt x="6110732" y="0"/>
                    <a:pt x="6114542" y="3810"/>
                    <a:pt x="6114542" y="8509"/>
                  </a:cubicBezTo>
                  <a:lnTo>
                    <a:pt x="6114542" y="3336417"/>
                  </a:lnTo>
                  <a:cubicBezTo>
                    <a:pt x="6114542" y="3341116"/>
                    <a:pt x="6110732" y="3344926"/>
                    <a:pt x="6106033" y="3344926"/>
                  </a:cubicBezTo>
                  <a:lnTo>
                    <a:pt x="8509" y="3344926"/>
                  </a:lnTo>
                  <a:cubicBezTo>
                    <a:pt x="3810" y="3344926"/>
                    <a:pt x="0" y="3341116"/>
                    <a:pt x="0" y="3336417"/>
                  </a:cubicBezTo>
                  <a:lnTo>
                    <a:pt x="0" y="8509"/>
                  </a:lnTo>
                  <a:cubicBezTo>
                    <a:pt x="0" y="3810"/>
                    <a:pt x="3810" y="0"/>
                    <a:pt x="8509" y="0"/>
                  </a:cubicBezTo>
                  <a:moveTo>
                    <a:pt x="8509" y="16891"/>
                  </a:moveTo>
                  <a:lnTo>
                    <a:pt x="8509" y="8509"/>
                  </a:lnTo>
                  <a:lnTo>
                    <a:pt x="17018" y="8509"/>
                  </a:lnTo>
                  <a:lnTo>
                    <a:pt x="17018" y="3336417"/>
                  </a:lnTo>
                  <a:lnTo>
                    <a:pt x="8509" y="3336417"/>
                  </a:lnTo>
                  <a:lnTo>
                    <a:pt x="8509" y="3327908"/>
                  </a:lnTo>
                  <a:lnTo>
                    <a:pt x="6106033" y="3327908"/>
                  </a:lnTo>
                  <a:lnTo>
                    <a:pt x="6106033" y="3336417"/>
                  </a:lnTo>
                  <a:lnTo>
                    <a:pt x="6097524" y="3336417"/>
                  </a:lnTo>
                  <a:lnTo>
                    <a:pt x="6097524" y="8509"/>
                  </a:lnTo>
                  <a:lnTo>
                    <a:pt x="6106033" y="8509"/>
                  </a:lnTo>
                  <a:lnTo>
                    <a:pt x="6106033" y="17018"/>
                  </a:lnTo>
                  <a:lnTo>
                    <a:pt x="8509" y="17018"/>
                  </a:lnTo>
                  <a:close/>
                </a:path>
              </a:pathLst>
            </a:custGeom>
            <a:solidFill>
              <a:srgbClr val="000000"/>
            </a:solidFill>
            <a:ln w="12700">
              <a:solidFill>
                <a:srgbClr val="000000"/>
              </a:solidFill>
            </a:ln>
          </p:spPr>
        </p:sp>
      </p:grpSp>
      <p:grpSp>
        <p:nvGrpSpPr>
          <p:cNvPr name="Group 16" id="16"/>
          <p:cNvGrpSpPr/>
          <p:nvPr/>
        </p:nvGrpSpPr>
        <p:grpSpPr>
          <a:xfrm rot="0">
            <a:off x="10787441" y="5176266"/>
            <a:ext cx="2003384" cy="2795254"/>
            <a:chOff x="0" y="0"/>
            <a:chExt cx="2671178" cy="3727005"/>
          </a:xfrm>
        </p:grpSpPr>
        <p:sp>
          <p:nvSpPr>
            <p:cNvPr name="Freeform 17" id="17"/>
            <p:cNvSpPr/>
            <p:nvPr/>
          </p:nvSpPr>
          <p:spPr>
            <a:xfrm flipH="true" flipV="false" rot="0">
              <a:off x="0" y="0"/>
              <a:ext cx="2671191" cy="3726942"/>
            </a:xfrm>
            <a:custGeom>
              <a:avLst/>
              <a:gdLst/>
              <a:ahLst/>
              <a:cxnLst/>
              <a:rect r="r" b="b" t="t" l="l"/>
              <a:pathLst>
                <a:path h="3726942" w="2671191">
                  <a:moveTo>
                    <a:pt x="2671191" y="0"/>
                  </a:moveTo>
                  <a:lnTo>
                    <a:pt x="0" y="0"/>
                  </a:lnTo>
                  <a:lnTo>
                    <a:pt x="0" y="3726942"/>
                  </a:lnTo>
                  <a:lnTo>
                    <a:pt x="2671191" y="3726942"/>
                  </a:lnTo>
                  <a:close/>
                </a:path>
              </a:pathLst>
            </a:custGeom>
            <a:blipFill>
              <a:blip r:embed="rId11"/>
              <a:stretch>
                <a:fillRect l="-19761" t="0" r="-19761" b="0"/>
              </a:stretch>
            </a:blipFill>
          </p:spPr>
        </p:sp>
      </p:grpSp>
      <p:sp>
        <p:nvSpPr>
          <p:cNvPr name="Freeform 18" id="18"/>
          <p:cNvSpPr/>
          <p:nvPr/>
        </p:nvSpPr>
        <p:spPr>
          <a:xfrm flipH="false" flipV="false" rot="0">
            <a:off x="9950738" y="6981149"/>
            <a:ext cx="4096494" cy="3195422"/>
          </a:xfrm>
          <a:custGeom>
            <a:avLst/>
            <a:gdLst/>
            <a:ahLst/>
            <a:cxnLst/>
            <a:rect r="r" b="b" t="t" l="l"/>
            <a:pathLst>
              <a:path h="3195422" w="4096494">
                <a:moveTo>
                  <a:pt x="0" y="0"/>
                </a:moveTo>
                <a:lnTo>
                  <a:pt x="4096494" y="0"/>
                </a:lnTo>
                <a:lnTo>
                  <a:pt x="4096494" y="3195422"/>
                </a:lnTo>
                <a:lnTo>
                  <a:pt x="0" y="31954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9931433" y="7399698"/>
            <a:ext cx="3343451" cy="1907391"/>
          </a:xfrm>
          <a:custGeom>
            <a:avLst/>
            <a:gdLst/>
            <a:ahLst/>
            <a:cxnLst/>
            <a:rect r="r" b="b" t="t" l="l"/>
            <a:pathLst>
              <a:path h="1907391" w="3343451">
                <a:moveTo>
                  <a:pt x="0" y="0"/>
                </a:moveTo>
                <a:lnTo>
                  <a:pt x="3343452" y="0"/>
                </a:lnTo>
                <a:lnTo>
                  <a:pt x="3343452" y="1907391"/>
                </a:lnTo>
                <a:lnTo>
                  <a:pt x="0" y="19073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4399822" y="6064129"/>
            <a:ext cx="3663665" cy="1907391"/>
          </a:xfrm>
          <a:custGeom>
            <a:avLst/>
            <a:gdLst/>
            <a:ahLst/>
            <a:cxnLst/>
            <a:rect r="r" b="b" t="t" l="l"/>
            <a:pathLst>
              <a:path h="1907391" w="3663665">
                <a:moveTo>
                  <a:pt x="0" y="0"/>
                </a:moveTo>
                <a:lnTo>
                  <a:pt x="3663665" y="0"/>
                </a:lnTo>
                <a:lnTo>
                  <a:pt x="3663665" y="1907391"/>
                </a:lnTo>
                <a:lnTo>
                  <a:pt x="0" y="1907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4702209" y="6446002"/>
            <a:ext cx="1829124" cy="1907391"/>
          </a:xfrm>
          <a:custGeom>
            <a:avLst/>
            <a:gdLst/>
            <a:ahLst/>
            <a:cxnLst/>
            <a:rect r="r" b="b" t="t" l="l"/>
            <a:pathLst>
              <a:path h="1907391" w="1829124">
                <a:moveTo>
                  <a:pt x="0" y="0"/>
                </a:moveTo>
                <a:lnTo>
                  <a:pt x="1829124" y="0"/>
                </a:lnTo>
                <a:lnTo>
                  <a:pt x="1829124" y="1907391"/>
                </a:lnTo>
                <a:lnTo>
                  <a:pt x="0" y="19073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2" id="22"/>
          <p:cNvGrpSpPr/>
          <p:nvPr/>
        </p:nvGrpSpPr>
        <p:grpSpPr>
          <a:xfrm rot="-5400000">
            <a:off x="4267038" y="5988148"/>
            <a:ext cx="4600023" cy="2522849"/>
            <a:chOff x="0" y="0"/>
            <a:chExt cx="6133363" cy="3363798"/>
          </a:xfrm>
        </p:grpSpPr>
        <p:sp>
          <p:nvSpPr>
            <p:cNvPr name="Freeform 23" id="23"/>
            <p:cNvSpPr/>
            <p:nvPr/>
          </p:nvSpPr>
          <p:spPr>
            <a:xfrm flipH="false" flipV="false" rot="0">
              <a:off x="8509" y="8509"/>
              <a:ext cx="6097524" cy="3327908"/>
            </a:xfrm>
            <a:custGeom>
              <a:avLst/>
              <a:gdLst/>
              <a:ahLst/>
              <a:cxnLst/>
              <a:rect r="r" b="b" t="t" l="l"/>
              <a:pathLst>
                <a:path h="3327908" w="6097524">
                  <a:moveTo>
                    <a:pt x="0" y="0"/>
                  </a:moveTo>
                  <a:lnTo>
                    <a:pt x="6097524" y="0"/>
                  </a:lnTo>
                  <a:lnTo>
                    <a:pt x="6097524" y="3327908"/>
                  </a:lnTo>
                  <a:lnTo>
                    <a:pt x="0" y="3327908"/>
                  </a:lnTo>
                  <a:close/>
                </a:path>
              </a:pathLst>
            </a:custGeom>
            <a:solidFill>
              <a:srgbClr val="CAE4FC"/>
            </a:solidFill>
            <a:ln w="12700">
              <a:solidFill>
                <a:srgbClr val="000000"/>
              </a:solidFill>
            </a:ln>
          </p:spPr>
        </p:sp>
        <p:sp>
          <p:nvSpPr>
            <p:cNvPr name="Freeform 24" id="24"/>
            <p:cNvSpPr/>
            <p:nvPr/>
          </p:nvSpPr>
          <p:spPr>
            <a:xfrm flipH="false" flipV="false" rot="0">
              <a:off x="0" y="0"/>
              <a:ext cx="6114542" cy="3344926"/>
            </a:xfrm>
            <a:custGeom>
              <a:avLst/>
              <a:gdLst/>
              <a:ahLst/>
              <a:cxnLst/>
              <a:rect r="r" b="b" t="t" l="l"/>
              <a:pathLst>
                <a:path h="3344926" w="6114542">
                  <a:moveTo>
                    <a:pt x="8509" y="0"/>
                  </a:moveTo>
                  <a:lnTo>
                    <a:pt x="6106033" y="0"/>
                  </a:lnTo>
                  <a:cubicBezTo>
                    <a:pt x="6110732" y="0"/>
                    <a:pt x="6114542" y="3810"/>
                    <a:pt x="6114542" y="8509"/>
                  </a:cubicBezTo>
                  <a:lnTo>
                    <a:pt x="6114542" y="3336417"/>
                  </a:lnTo>
                  <a:cubicBezTo>
                    <a:pt x="6114542" y="3341116"/>
                    <a:pt x="6110732" y="3344926"/>
                    <a:pt x="6106033" y="3344926"/>
                  </a:cubicBezTo>
                  <a:lnTo>
                    <a:pt x="8509" y="3344926"/>
                  </a:lnTo>
                  <a:cubicBezTo>
                    <a:pt x="3810" y="3344926"/>
                    <a:pt x="0" y="3341116"/>
                    <a:pt x="0" y="3336417"/>
                  </a:cubicBezTo>
                  <a:lnTo>
                    <a:pt x="0" y="8509"/>
                  </a:lnTo>
                  <a:cubicBezTo>
                    <a:pt x="0" y="3810"/>
                    <a:pt x="3810" y="0"/>
                    <a:pt x="8509" y="0"/>
                  </a:cubicBezTo>
                  <a:moveTo>
                    <a:pt x="8509" y="16891"/>
                  </a:moveTo>
                  <a:lnTo>
                    <a:pt x="8509" y="8509"/>
                  </a:lnTo>
                  <a:lnTo>
                    <a:pt x="17018" y="8509"/>
                  </a:lnTo>
                  <a:lnTo>
                    <a:pt x="17018" y="3336417"/>
                  </a:lnTo>
                  <a:lnTo>
                    <a:pt x="8509" y="3336417"/>
                  </a:lnTo>
                  <a:lnTo>
                    <a:pt x="8509" y="3327908"/>
                  </a:lnTo>
                  <a:lnTo>
                    <a:pt x="6106033" y="3327908"/>
                  </a:lnTo>
                  <a:lnTo>
                    <a:pt x="6106033" y="3336417"/>
                  </a:lnTo>
                  <a:lnTo>
                    <a:pt x="6097524" y="3336417"/>
                  </a:lnTo>
                  <a:lnTo>
                    <a:pt x="6097524" y="8509"/>
                  </a:lnTo>
                  <a:lnTo>
                    <a:pt x="6106033" y="8509"/>
                  </a:lnTo>
                  <a:lnTo>
                    <a:pt x="6106033" y="17018"/>
                  </a:lnTo>
                  <a:lnTo>
                    <a:pt x="8509" y="17018"/>
                  </a:lnTo>
                  <a:close/>
                </a:path>
              </a:pathLst>
            </a:custGeom>
            <a:solidFill>
              <a:srgbClr val="000000"/>
            </a:solidFill>
            <a:ln w="12700">
              <a:solidFill>
                <a:srgbClr val="000000"/>
              </a:solidFill>
            </a:ln>
          </p:spPr>
        </p:sp>
      </p:grpSp>
      <p:grpSp>
        <p:nvGrpSpPr>
          <p:cNvPr name="Group 25" id="25"/>
          <p:cNvGrpSpPr/>
          <p:nvPr/>
        </p:nvGrpSpPr>
        <p:grpSpPr>
          <a:xfrm rot="0">
            <a:off x="5589661" y="5190449"/>
            <a:ext cx="2030263" cy="2822134"/>
            <a:chOff x="0" y="0"/>
            <a:chExt cx="2707018" cy="3762845"/>
          </a:xfrm>
        </p:grpSpPr>
        <p:sp>
          <p:nvSpPr>
            <p:cNvPr name="Freeform 26" id="26"/>
            <p:cNvSpPr/>
            <p:nvPr/>
          </p:nvSpPr>
          <p:spPr>
            <a:xfrm flipH="false" flipV="false" rot="0">
              <a:off x="0" y="0"/>
              <a:ext cx="2688209" cy="3743960"/>
            </a:xfrm>
            <a:custGeom>
              <a:avLst/>
              <a:gdLst/>
              <a:ahLst/>
              <a:cxnLst/>
              <a:rect r="r" b="b" t="t" l="l"/>
              <a:pathLst>
                <a:path h="3743960" w="2688209">
                  <a:moveTo>
                    <a:pt x="8509" y="0"/>
                  </a:moveTo>
                  <a:lnTo>
                    <a:pt x="2679700" y="0"/>
                  </a:lnTo>
                  <a:cubicBezTo>
                    <a:pt x="2684399" y="0"/>
                    <a:pt x="2688209" y="3810"/>
                    <a:pt x="2688209" y="8509"/>
                  </a:cubicBezTo>
                  <a:lnTo>
                    <a:pt x="2688209" y="3735451"/>
                  </a:lnTo>
                  <a:cubicBezTo>
                    <a:pt x="2688209" y="3740150"/>
                    <a:pt x="2684399" y="3743960"/>
                    <a:pt x="2679700" y="3743960"/>
                  </a:cubicBezTo>
                  <a:lnTo>
                    <a:pt x="8509" y="3743960"/>
                  </a:lnTo>
                  <a:cubicBezTo>
                    <a:pt x="3810" y="3743960"/>
                    <a:pt x="0" y="3740150"/>
                    <a:pt x="0" y="3735451"/>
                  </a:cubicBezTo>
                  <a:lnTo>
                    <a:pt x="0" y="8509"/>
                  </a:lnTo>
                  <a:cubicBezTo>
                    <a:pt x="0" y="3810"/>
                    <a:pt x="3810" y="0"/>
                    <a:pt x="8509" y="0"/>
                  </a:cubicBezTo>
                  <a:moveTo>
                    <a:pt x="8509" y="16891"/>
                  </a:moveTo>
                  <a:lnTo>
                    <a:pt x="8509" y="8509"/>
                  </a:lnTo>
                  <a:lnTo>
                    <a:pt x="17018" y="8509"/>
                  </a:lnTo>
                  <a:lnTo>
                    <a:pt x="17018" y="3735451"/>
                  </a:lnTo>
                  <a:lnTo>
                    <a:pt x="8509" y="3735451"/>
                  </a:lnTo>
                  <a:lnTo>
                    <a:pt x="8509" y="3726942"/>
                  </a:lnTo>
                  <a:lnTo>
                    <a:pt x="2679700" y="3726942"/>
                  </a:lnTo>
                  <a:lnTo>
                    <a:pt x="2679700" y="3735451"/>
                  </a:lnTo>
                  <a:lnTo>
                    <a:pt x="2671191" y="3735451"/>
                  </a:lnTo>
                  <a:lnTo>
                    <a:pt x="2671191" y="8509"/>
                  </a:lnTo>
                  <a:lnTo>
                    <a:pt x="2679700" y="8509"/>
                  </a:lnTo>
                  <a:lnTo>
                    <a:pt x="2679700" y="17018"/>
                  </a:lnTo>
                  <a:lnTo>
                    <a:pt x="8509" y="17018"/>
                  </a:lnTo>
                  <a:close/>
                </a:path>
              </a:pathLst>
            </a:custGeom>
            <a:solidFill>
              <a:srgbClr val="000000"/>
            </a:solidFill>
            <a:ln w="12700">
              <a:solidFill>
                <a:srgbClr val="000000"/>
              </a:solidFill>
            </a:ln>
          </p:spPr>
        </p:sp>
      </p:grpSp>
      <p:grpSp>
        <p:nvGrpSpPr>
          <p:cNvPr name="Group 27" id="27"/>
          <p:cNvGrpSpPr/>
          <p:nvPr/>
        </p:nvGrpSpPr>
        <p:grpSpPr>
          <a:xfrm rot="0">
            <a:off x="5589661" y="5167059"/>
            <a:ext cx="2003384" cy="3402276"/>
            <a:chOff x="0" y="0"/>
            <a:chExt cx="2671178" cy="4536368"/>
          </a:xfrm>
        </p:grpSpPr>
        <p:sp>
          <p:nvSpPr>
            <p:cNvPr name="Freeform 28" id="28"/>
            <p:cNvSpPr/>
            <p:nvPr/>
          </p:nvSpPr>
          <p:spPr>
            <a:xfrm flipH="false" flipV="false" rot="0">
              <a:off x="0" y="0"/>
              <a:ext cx="2671191" cy="4536290"/>
            </a:xfrm>
            <a:custGeom>
              <a:avLst/>
              <a:gdLst/>
              <a:ahLst/>
              <a:cxnLst/>
              <a:rect r="r" b="b" t="t" l="l"/>
              <a:pathLst>
                <a:path h="4536290" w="2671191">
                  <a:moveTo>
                    <a:pt x="0" y="0"/>
                  </a:moveTo>
                  <a:lnTo>
                    <a:pt x="2671191" y="0"/>
                  </a:lnTo>
                  <a:lnTo>
                    <a:pt x="2671191" y="4536290"/>
                  </a:lnTo>
                  <a:lnTo>
                    <a:pt x="0" y="4536290"/>
                  </a:lnTo>
                  <a:close/>
                </a:path>
              </a:pathLst>
            </a:custGeom>
            <a:blipFill>
              <a:blip r:embed="rId16"/>
              <a:stretch>
                <a:fillRect l="-13683" t="0" r="-13683" b="0"/>
              </a:stretch>
            </a:blipFill>
          </p:spPr>
        </p:sp>
      </p:grpSp>
      <p:sp>
        <p:nvSpPr>
          <p:cNvPr name="Freeform 29" id="29"/>
          <p:cNvSpPr/>
          <p:nvPr/>
        </p:nvSpPr>
        <p:spPr>
          <a:xfrm flipH="false" flipV="false" rot="0">
            <a:off x="4721513" y="7008453"/>
            <a:ext cx="4096494" cy="3195422"/>
          </a:xfrm>
          <a:custGeom>
            <a:avLst/>
            <a:gdLst/>
            <a:ahLst/>
            <a:cxnLst/>
            <a:rect r="r" b="b" t="t" l="l"/>
            <a:pathLst>
              <a:path h="3195422" w="4096494">
                <a:moveTo>
                  <a:pt x="0" y="0"/>
                </a:moveTo>
                <a:lnTo>
                  <a:pt x="4096494" y="0"/>
                </a:lnTo>
                <a:lnTo>
                  <a:pt x="4096494" y="3195422"/>
                </a:lnTo>
                <a:lnTo>
                  <a:pt x="0" y="31954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0">
            <a:off x="4702208" y="7399698"/>
            <a:ext cx="3343451" cy="1907391"/>
          </a:xfrm>
          <a:custGeom>
            <a:avLst/>
            <a:gdLst/>
            <a:ahLst/>
            <a:cxnLst/>
            <a:rect r="r" b="b" t="t" l="l"/>
            <a:pathLst>
              <a:path h="1907391" w="3343451">
                <a:moveTo>
                  <a:pt x="0" y="0"/>
                </a:moveTo>
                <a:lnTo>
                  <a:pt x="3343451" y="0"/>
                </a:lnTo>
                <a:lnTo>
                  <a:pt x="3343451" y="1907391"/>
                </a:lnTo>
                <a:lnTo>
                  <a:pt x="0" y="19073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1" id="31"/>
          <p:cNvSpPr txBox="true"/>
          <p:nvPr/>
        </p:nvSpPr>
        <p:spPr>
          <a:xfrm rot="0">
            <a:off x="4748260" y="4365746"/>
            <a:ext cx="3566141" cy="441646"/>
          </a:xfrm>
          <a:prstGeom prst="rect">
            <a:avLst/>
          </a:prstGeom>
        </p:spPr>
        <p:txBody>
          <a:bodyPr anchor="t" rtlCol="false" tIns="0" lIns="0" bIns="0" rIns="0">
            <a:spAutoFit/>
          </a:bodyPr>
          <a:lstStyle/>
          <a:p>
            <a:pPr algn="ctr">
              <a:lnSpc>
                <a:spcPts val="3220"/>
              </a:lnSpc>
            </a:pPr>
            <a:r>
              <a:rPr lang="en-US" sz="2300">
                <a:solidFill>
                  <a:srgbClr val="0A162E"/>
                </a:solidFill>
                <a:latin typeface="Glacial Indifference"/>
                <a:ea typeface="Glacial Indifference"/>
                <a:cs typeface="Glacial Indifference"/>
                <a:sym typeface="Glacial Indifference"/>
              </a:rPr>
              <a:t>Founder &amp; CEO</a:t>
            </a:r>
          </a:p>
        </p:txBody>
      </p:sp>
      <p:sp>
        <p:nvSpPr>
          <p:cNvPr name="TextBox 32" id="32"/>
          <p:cNvSpPr txBox="true"/>
          <p:nvPr/>
        </p:nvSpPr>
        <p:spPr>
          <a:xfrm rot="0">
            <a:off x="4748260" y="4024122"/>
            <a:ext cx="3566141" cy="441646"/>
          </a:xfrm>
          <a:prstGeom prst="rect">
            <a:avLst/>
          </a:prstGeom>
        </p:spPr>
        <p:txBody>
          <a:bodyPr anchor="t" rtlCol="false" tIns="0" lIns="0" bIns="0" rIns="0">
            <a:spAutoFit/>
          </a:bodyPr>
          <a:lstStyle/>
          <a:p>
            <a:pPr algn="ctr">
              <a:lnSpc>
                <a:spcPts val="3220"/>
              </a:lnSpc>
            </a:pPr>
            <a:r>
              <a:rPr lang="en-US" sz="2300" b="true">
                <a:solidFill>
                  <a:srgbClr val="0A162E"/>
                </a:solidFill>
                <a:latin typeface="Glacial Indifference Bold"/>
                <a:ea typeface="Glacial Indifference Bold"/>
                <a:cs typeface="Glacial Indifference Bold"/>
                <a:sym typeface="Glacial Indifference Bold"/>
              </a:rPr>
              <a:t>DHANARUBAN VELUSAMY</a:t>
            </a:r>
          </a:p>
        </p:txBody>
      </p:sp>
      <p:sp>
        <p:nvSpPr>
          <p:cNvPr name="TextBox 33" id="33"/>
          <p:cNvSpPr txBox="true"/>
          <p:nvPr/>
        </p:nvSpPr>
        <p:spPr>
          <a:xfrm rot="0">
            <a:off x="10013204" y="4338447"/>
            <a:ext cx="3566141" cy="441646"/>
          </a:xfrm>
          <a:prstGeom prst="rect">
            <a:avLst/>
          </a:prstGeom>
        </p:spPr>
        <p:txBody>
          <a:bodyPr anchor="t" rtlCol="false" tIns="0" lIns="0" bIns="0" rIns="0">
            <a:spAutoFit/>
          </a:bodyPr>
          <a:lstStyle/>
          <a:p>
            <a:pPr algn="ctr">
              <a:lnSpc>
                <a:spcPts val="3220"/>
              </a:lnSpc>
            </a:pPr>
            <a:r>
              <a:rPr lang="en-US" sz="2300">
                <a:solidFill>
                  <a:srgbClr val="0A162E"/>
                </a:solidFill>
                <a:latin typeface="Glacial Indifference"/>
                <a:ea typeface="Glacial Indifference"/>
                <a:cs typeface="Glacial Indifference"/>
                <a:sym typeface="Glacial Indifference"/>
              </a:rPr>
              <a:t>Director</a:t>
            </a:r>
          </a:p>
        </p:txBody>
      </p:sp>
      <p:sp>
        <p:nvSpPr>
          <p:cNvPr name="TextBox 34" id="34"/>
          <p:cNvSpPr txBox="true"/>
          <p:nvPr/>
        </p:nvSpPr>
        <p:spPr>
          <a:xfrm rot="0">
            <a:off x="10013204" y="3996814"/>
            <a:ext cx="3566141" cy="441646"/>
          </a:xfrm>
          <a:prstGeom prst="rect">
            <a:avLst/>
          </a:prstGeom>
        </p:spPr>
        <p:txBody>
          <a:bodyPr anchor="t" rtlCol="false" tIns="0" lIns="0" bIns="0" rIns="0">
            <a:spAutoFit/>
          </a:bodyPr>
          <a:lstStyle/>
          <a:p>
            <a:pPr algn="ctr">
              <a:lnSpc>
                <a:spcPts val="3220"/>
              </a:lnSpc>
            </a:pPr>
            <a:r>
              <a:rPr lang="en-US" sz="2300" b="true">
                <a:solidFill>
                  <a:srgbClr val="0A162E"/>
                </a:solidFill>
                <a:latin typeface="Glacial Indifference Bold"/>
                <a:ea typeface="Glacial Indifference Bold"/>
                <a:cs typeface="Glacial Indifference Bold"/>
                <a:sym typeface="Glacial Indifference Bold"/>
              </a:rPr>
              <a:t>RAFEEQ RAJA</a:t>
            </a:r>
          </a:p>
        </p:txBody>
      </p:sp>
      <p:sp>
        <p:nvSpPr>
          <p:cNvPr name="TextBox 35" id="35"/>
          <p:cNvSpPr txBox="true"/>
          <p:nvPr/>
        </p:nvSpPr>
        <p:spPr>
          <a:xfrm rot="0">
            <a:off x="2362514" y="2125789"/>
            <a:ext cx="13228996" cy="1332865"/>
          </a:xfrm>
          <a:prstGeom prst="rect">
            <a:avLst/>
          </a:prstGeom>
        </p:spPr>
        <p:txBody>
          <a:bodyPr anchor="t" rtlCol="false" tIns="0" lIns="0" bIns="0" rIns="0">
            <a:spAutoFit/>
          </a:bodyPr>
          <a:lstStyle/>
          <a:p>
            <a:pPr algn="just">
              <a:lnSpc>
                <a:spcPts val="2660"/>
              </a:lnSpc>
            </a:pPr>
            <a:r>
              <a:rPr lang="en-US" sz="1900">
                <a:solidFill>
                  <a:srgbClr val="0A162E"/>
                </a:solidFill>
                <a:latin typeface="Arimo"/>
                <a:ea typeface="Arimo"/>
                <a:cs typeface="Arimo"/>
                <a:sym typeface="Arimo"/>
              </a:rPr>
              <a:t>At Infologia, leadership is hands-on. Our CEO and Directors directly engage with clients and projects, ensuring strategic alignment with execution. With deep logistics domain expertise and a strong focus on customer success, we bridge real-world operational challenges with technology adoption. This direct involvement guarantees that every deployment of Cargossoft + SITS delivers measurable impact and long-term value for SMEs.</a:t>
            </a:r>
          </a:p>
        </p:txBody>
      </p:sp>
      <p:sp>
        <p:nvSpPr>
          <p:cNvPr name="TextBox 36" id="36"/>
          <p:cNvSpPr txBox="true"/>
          <p:nvPr/>
        </p:nvSpPr>
        <p:spPr>
          <a:xfrm rot="0">
            <a:off x="4623492" y="857250"/>
            <a:ext cx="9041006" cy="688950"/>
          </a:xfrm>
          <a:prstGeom prst="rect">
            <a:avLst/>
          </a:prstGeom>
        </p:spPr>
        <p:txBody>
          <a:bodyPr anchor="t" rtlCol="false" tIns="0" lIns="0" bIns="0" rIns="0">
            <a:spAutoFit/>
          </a:bodyPr>
          <a:lstStyle/>
          <a:p>
            <a:pPr algn="ctr">
              <a:lnSpc>
                <a:spcPts val="5598"/>
              </a:lnSpc>
            </a:pPr>
            <a:r>
              <a:rPr lang="en-US" sz="3999" b="true">
                <a:solidFill>
                  <a:srgbClr val="003883"/>
                </a:solidFill>
                <a:latin typeface="Arimo Bold"/>
                <a:ea typeface="Arimo Bold"/>
                <a:cs typeface="Arimo Bold"/>
                <a:sym typeface="Arimo Bold"/>
              </a:rPr>
              <a:t>MEET OUR FOUNDER &amp; DIRECTOR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7001770" y="1126950"/>
            <a:ext cx="5636924" cy="605971"/>
            <a:chOff x="0" y="0"/>
            <a:chExt cx="7515898" cy="807961"/>
          </a:xfrm>
        </p:grpSpPr>
        <p:sp>
          <p:nvSpPr>
            <p:cNvPr name="Freeform 3" id="3"/>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2"/>
              <a:stretch>
                <a:fillRect l="-255" t="0" r="-255" b="1"/>
              </a:stretch>
            </a:blipFill>
          </p:spPr>
        </p:sp>
      </p:grpSp>
      <p:sp>
        <p:nvSpPr>
          <p:cNvPr name="Freeform 4" id="4"/>
          <p:cNvSpPr/>
          <p:nvPr/>
        </p:nvSpPr>
        <p:spPr>
          <a:xfrm flipH="false" flipV="false" rot="0">
            <a:off x="8299037" y="-2081086"/>
            <a:ext cx="5678789" cy="5678789"/>
          </a:xfrm>
          <a:custGeom>
            <a:avLst/>
            <a:gdLst/>
            <a:ahLst/>
            <a:cxnLst/>
            <a:rect r="r" b="b" t="t" l="l"/>
            <a:pathLst>
              <a:path h="5678789" w="5678789">
                <a:moveTo>
                  <a:pt x="0" y="0"/>
                </a:moveTo>
                <a:lnTo>
                  <a:pt x="5678789" y="0"/>
                </a:lnTo>
                <a:lnTo>
                  <a:pt x="5678789" y="5678789"/>
                </a:lnTo>
                <a:lnTo>
                  <a:pt x="0" y="56787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2700000">
            <a:off x="9928260" y="810177"/>
            <a:ext cx="5636924" cy="605971"/>
            <a:chOff x="0" y="0"/>
            <a:chExt cx="7515898" cy="807961"/>
          </a:xfrm>
        </p:grpSpPr>
        <p:sp>
          <p:nvSpPr>
            <p:cNvPr name="Freeform 6" id="6"/>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2"/>
              <a:stretch>
                <a:fillRect l="-255" t="0" r="-255" b="1"/>
              </a:stretch>
            </a:blipFill>
          </p:spPr>
        </p:sp>
      </p:grpSp>
      <p:grpSp>
        <p:nvGrpSpPr>
          <p:cNvPr name="Group 7" id="7"/>
          <p:cNvGrpSpPr/>
          <p:nvPr/>
        </p:nvGrpSpPr>
        <p:grpSpPr>
          <a:xfrm rot="-2700000">
            <a:off x="-4317044" y="-3837184"/>
            <a:ext cx="11641931" cy="11641931"/>
            <a:chOff x="0" y="0"/>
            <a:chExt cx="15522575" cy="15522575"/>
          </a:xfrm>
        </p:grpSpPr>
        <p:sp>
          <p:nvSpPr>
            <p:cNvPr name="Freeform 8" id="8"/>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5">
                <a:alphaModFix amt="6999"/>
              </a:blip>
              <a:stretch>
                <a:fillRect l="0" t="0" r="0" b="0"/>
              </a:stretch>
            </a:blipFill>
          </p:spPr>
        </p:sp>
      </p:grpSp>
      <p:sp>
        <p:nvSpPr>
          <p:cNvPr name="Freeform 9" id="9"/>
          <p:cNvSpPr/>
          <p:nvPr/>
        </p:nvSpPr>
        <p:spPr>
          <a:xfrm flipH="false" flipV="false" rot="0">
            <a:off x="-6414652" y="-5934787"/>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2700000">
            <a:off x="9790309" y="2257196"/>
            <a:ext cx="10898705" cy="10898705"/>
            <a:chOff x="0" y="0"/>
            <a:chExt cx="14531607" cy="14531607"/>
          </a:xfrm>
        </p:grpSpPr>
        <p:sp>
          <p:nvSpPr>
            <p:cNvPr name="Freeform 11" id="11"/>
            <p:cNvSpPr/>
            <p:nvPr/>
          </p:nvSpPr>
          <p:spPr>
            <a:xfrm flipH="false" flipV="false" rot="0">
              <a:off x="0" y="0"/>
              <a:ext cx="14531594" cy="14531594"/>
            </a:xfrm>
            <a:custGeom>
              <a:avLst/>
              <a:gdLst/>
              <a:ahLst/>
              <a:cxnLst/>
              <a:rect r="r" b="b" t="t" l="l"/>
              <a:pathLst>
                <a:path h="14531594" w="14531594">
                  <a:moveTo>
                    <a:pt x="0" y="0"/>
                  </a:moveTo>
                  <a:lnTo>
                    <a:pt x="14531594" y="0"/>
                  </a:lnTo>
                  <a:lnTo>
                    <a:pt x="14531594" y="14531594"/>
                  </a:lnTo>
                  <a:lnTo>
                    <a:pt x="0" y="14531594"/>
                  </a:lnTo>
                  <a:lnTo>
                    <a:pt x="0" y="0"/>
                  </a:lnTo>
                  <a:close/>
                </a:path>
              </a:pathLst>
            </a:custGeom>
            <a:blipFill>
              <a:blip r:embed="rId5">
                <a:alphaModFix amt="57999"/>
              </a:blip>
              <a:stretch>
                <a:fillRect l="0" t="0" r="0" b="0"/>
              </a:stretch>
            </a:blipFill>
          </p:spPr>
        </p:sp>
      </p:grpSp>
      <p:sp>
        <p:nvSpPr>
          <p:cNvPr name="Freeform 12" id="12"/>
          <p:cNvSpPr/>
          <p:nvPr/>
        </p:nvSpPr>
        <p:spPr>
          <a:xfrm flipH="false" flipV="false" rot="0">
            <a:off x="7826620" y="293502"/>
            <a:ext cx="14549803" cy="14549803"/>
          </a:xfrm>
          <a:custGeom>
            <a:avLst/>
            <a:gdLst/>
            <a:ahLst/>
            <a:cxnLst/>
            <a:rect r="r" b="b" t="t" l="l"/>
            <a:pathLst>
              <a:path h="14549803" w="14549803">
                <a:moveTo>
                  <a:pt x="0" y="0"/>
                </a:moveTo>
                <a:lnTo>
                  <a:pt x="14549803" y="0"/>
                </a:lnTo>
                <a:lnTo>
                  <a:pt x="14549803" y="14549803"/>
                </a:lnTo>
                <a:lnTo>
                  <a:pt x="0" y="145498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9098556" y="1565434"/>
            <a:ext cx="12173702" cy="12173702"/>
            <a:chOff x="0" y="0"/>
            <a:chExt cx="16231603" cy="16231603"/>
          </a:xfrm>
        </p:grpSpPr>
        <p:sp>
          <p:nvSpPr>
            <p:cNvPr name="Freeform 14" id="14"/>
            <p:cNvSpPr/>
            <p:nvPr/>
          </p:nvSpPr>
          <p:spPr>
            <a:xfrm flipH="false" flipV="false" rot="0">
              <a:off x="76867" y="76867"/>
              <a:ext cx="16077882" cy="16077882"/>
            </a:xfrm>
            <a:custGeom>
              <a:avLst/>
              <a:gdLst/>
              <a:ahLst/>
              <a:cxnLst/>
              <a:rect r="r" b="b" t="t" l="l"/>
              <a:pathLst>
                <a:path h="16077882" w="16077882">
                  <a:moveTo>
                    <a:pt x="8595709" y="230600"/>
                  </a:moveTo>
                  <a:lnTo>
                    <a:pt x="15847282" y="7482173"/>
                  </a:lnTo>
                  <a:cubicBezTo>
                    <a:pt x="16154748" y="7789640"/>
                    <a:pt x="16154748" y="8288243"/>
                    <a:pt x="15847282" y="8595709"/>
                  </a:cubicBezTo>
                  <a:lnTo>
                    <a:pt x="8595709" y="15847282"/>
                  </a:lnTo>
                  <a:cubicBezTo>
                    <a:pt x="8288242" y="16154748"/>
                    <a:pt x="7789640" y="16154748"/>
                    <a:pt x="7482173" y="15847282"/>
                  </a:cubicBezTo>
                  <a:lnTo>
                    <a:pt x="230600" y="8595709"/>
                  </a:lnTo>
                  <a:cubicBezTo>
                    <a:pt x="-76867" y="8288242"/>
                    <a:pt x="-76867" y="7789640"/>
                    <a:pt x="230600" y="7482173"/>
                  </a:cubicBezTo>
                  <a:lnTo>
                    <a:pt x="7482173" y="230600"/>
                  </a:lnTo>
                  <a:cubicBezTo>
                    <a:pt x="7789640" y="-76867"/>
                    <a:pt x="8288242" y="-76867"/>
                    <a:pt x="8595709" y="230600"/>
                  </a:cubicBezTo>
                  <a:close/>
                </a:path>
              </a:pathLst>
            </a:custGeom>
            <a:blipFill>
              <a:blip r:embed="rId10"/>
              <a:stretch>
                <a:fillRect l="-25669" t="-478" r="-25669" b="-478"/>
              </a:stretch>
            </a:blipFill>
          </p:spPr>
        </p:sp>
      </p:grpSp>
      <p:sp>
        <p:nvSpPr>
          <p:cNvPr name="Freeform 15" id="15"/>
          <p:cNvSpPr/>
          <p:nvPr/>
        </p:nvSpPr>
        <p:spPr>
          <a:xfrm flipH="false" flipV="false" rot="0">
            <a:off x="11225528" y="-2251397"/>
            <a:ext cx="8906950" cy="8906950"/>
          </a:xfrm>
          <a:custGeom>
            <a:avLst/>
            <a:gdLst/>
            <a:ahLst/>
            <a:cxnLst/>
            <a:rect r="r" b="b" t="t" l="l"/>
            <a:pathLst>
              <a:path h="8906950" w="8906950">
                <a:moveTo>
                  <a:pt x="0" y="0"/>
                </a:moveTo>
                <a:lnTo>
                  <a:pt x="8906950" y="0"/>
                </a:lnTo>
                <a:lnTo>
                  <a:pt x="8906950" y="8906950"/>
                </a:lnTo>
                <a:lnTo>
                  <a:pt x="0" y="89069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6" id="16"/>
          <p:cNvGrpSpPr/>
          <p:nvPr/>
        </p:nvGrpSpPr>
        <p:grpSpPr>
          <a:xfrm rot="2700000">
            <a:off x="13557056" y="1280274"/>
            <a:ext cx="5636924" cy="605971"/>
            <a:chOff x="0" y="0"/>
            <a:chExt cx="7515898" cy="807961"/>
          </a:xfrm>
        </p:grpSpPr>
        <p:sp>
          <p:nvSpPr>
            <p:cNvPr name="Freeform 17" id="17"/>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2"/>
              <a:stretch>
                <a:fillRect l="-255" t="0" r="-255" b="1"/>
              </a:stretch>
            </a:blipFill>
          </p:spPr>
        </p:sp>
      </p:grpSp>
      <p:sp>
        <p:nvSpPr>
          <p:cNvPr name="Freeform 18" id="18"/>
          <p:cNvSpPr/>
          <p:nvPr/>
        </p:nvSpPr>
        <p:spPr>
          <a:xfrm flipH="false" flipV="false" rot="0">
            <a:off x="14854330" y="-1781299"/>
            <a:ext cx="5278148" cy="5278148"/>
          </a:xfrm>
          <a:custGeom>
            <a:avLst/>
            <a:gdLst/>
            <a:ahLst/>
            <a:cxnLst/>
            <a:rect r="r" b="b" t="t" l="l"/>
            <a:pathLst>
              <a:path h="5278148" w="5278148">
                <a:moveTo>
                  <a:pt x="0" y="0"/>
                </a:moveTo>
                <a:lnTo>
                  <a:pt x="5278148" y="0"/>
                </a:lnTo>
                <a:lnTo>
                  <a:pt x="5278148" y="5278148"/>
                </a:lnTo>
                <a:lnTo>
                  <a:pt x="0" y="52781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9" id="19"/>
          <p:cNvSpPr txBox="true"/>
          <p:nvPr/>
        </p:nvSpPr>
        <p:spPr>
          <a:xfrm rot="0">
            <a:off x="1028700" y="1209027"/>
            <a:ext cx="5812780" cy="574650"/>
          </a:xfrm>
          <a:prstGeom prst="rect">
            <a:avLst/>
          </a:prstGeom>
        </p:spPr>
        <p:txBody>
          <a:bodyPr anchor="t" rtlCol="false" tIns="0" lIns="0" bIns="0" rIns="0">
            <a:spAutoFit/>
          </a:bodyPr>
          <a:lstStyle/>
          <a:p>
            <a:pPr algn="l">
              <a:lnSpc>
                <a:spcPts val="4399"/>
              </a:lnSpc>
            </a:pPr>
            <a:r>
              <a:rPr lang="en-US" sz="3999" b="true">
                <a:solidFill>
                  <a:srgbClr val="16599D"/>
                </a:solidFill>
                <a:latin typeface="Arimo Bold"/>
                <a:ea typeface="Arimo Bold"/>
                <a:cs typeface="Arimo Bold"/>
                <a:sym typeface="Arimo Bold"/>
              </a:rPr>
              <a:t>EXECUTIVE ABSTRACT</a:t>
            </a:r>
          </a:p>
        </p:txBody>
      </p:sp>
      <p:sp>
        <p:nvSpPr>
          <p:cNvPr name="TextBox 20" id="20"/>
          <p:cNvSpPr txBox="true"/>
          <p:nvPr/>
        </p:nvSpPr>
        <p:spPr>
          <a:xfrm rot="0">
            <a:off x="1028700" y="2078898"/>
            <a:ext cx="7882890" cy="995655"/>
          </a:xfrm>
          <a:prstGeom prst="rect">
            <a:avLst/>
          </a:prstGeom>
        </p:spPr>
        <p:txBody>
          <a:bodyPr anchor="t" rtlCol="false" tIns="0" lIns="0" bIns="0" rIns="0">
            <a:spAutoFit/>
          </a:bodyPr>
          <a:lstStyle/>
          <a:p>
            <a:pPr algn="l">
              <a:lnSpc>
                <a:spcPts val="3919"/>
              </a:lnSpc>
            </a:pPr>
            <a:r>
              <a:rPr lang="en-US" sz="2799">
                <a:solidFill>
                  <a:srgbClr val="292A2B"/>
                </a:solidFill>
                <a:latin typeface="Arimo"/>
                <a:ea typeface="Arimo"/>
                <a:cs typeface="Arimo"/>
                <a:sym typeface="Arimo"/>
              </a:rPr>
              <a:t>AFFORDABLE, SCALABLE, GAME-CHANGING LOGISTICS MANAGEMENT SYSTEM</a:t>
            </a:r>
          </a:p>
        </p:txBody>
      </p:sp>
      <p:sp>
        <p:nvSpPr>
          <p:cNvPr name="TextBox 21" id="21"/>
          <p:cNvSpPr txBox="true"/>
          <p:nvPr/>
        </p:nvSpPr>
        <p:spPr>
          <a:xfrm rot="0">
            <a:off x="1028700" y="3477263"/>
            <a:ext cx="8098650" cy="1666215"/>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We are building a next-generation logistics management software designed to streamline global supply chain operations. Unlike fragmented systems in the market today, our platform offers a comprehensive, affordable and scalable solution that directly addresses inefficiencies faced by logistics companies.</a:t>
            </a:r>
          </a:p>
        </p:txBody>
      </p:sp>
      <p:sp>
        <p:nvSpPr>
          <p:cNvPr name="TextBox 22" id="22"/>
          <p:cNvSpPr txBox="true"/>
          <p:nvPr/>
        </p:nvSpPr>
        <p:spPr>
          <a:xfrm rot="0">
            <a:off x="1503921" y="6263421"/>
            <a:ext cx="5820194" cy="415290"/>
          </a:xfrm>
          <a:prstGeom prst="rect">
            <a:avLst/>
          </a:prstGeom>
        </p:spPr>
        <p:txBody>
          <a:bodyPr anchor="t" rtlCol="false" tIns="0" lIns="0" bIns="0" rIns="0">
            <a:spAutoFit/>
          </a:bodyPr>
          <a:lstStyle/>
          <a:p>
            <a:pPr algn="just">
              <a:lnSpc>
                <a:spcPts val="3359"/>
              </a:lnSpc>
            </a:pPr>
            <a:r>
              <a:rPr lang="en-US" sz="2400" b="true">
                <a:solidFill>
                  <a:srgbClr val="000000"/>
                </a:solidFill>
                <a:latin typeface="Arimo Bold"/>
                <a:ea typeface="Arimo Bold"/>
                <a:cs typeface="Arimo Bold"/>
                <a:sym typeface="Arimo Bold"/>
              </a:rPr>
              <a:t>Vision &amp; Mission - Positioning</a:t>
            </a:r>
          </a:p>
        </p:txBody>
      </p:sp>
      <p:sp>
        <p:nvSpPr>
          <p:cNvPr name="Freeform 23" id="23"/>
          <p:cNvSpPr/>
          <p:nvPr/>
        </p:nvSpPr>
        <p:spPr>
          <a:xfrm flipH="false" flipV="false" rot="0">
            <a:off x="784544" y="5832441"/>
            <a:ext cx="7245994" cy="3810942"/>
          </a:xfrm>
          <a:custGeom>
            <a:avLst/>
            <a:gdLst/>
            <a:ahLst/>
            <a:cxnLst/>
            <a:rect r="r" b="b" t="t" l="l"/>
            <a:pathLst>
              <a:path h="3810942" w="7245994">
                <a:moveTo>
                  <a:pt x="0" y="0"/>
                </a:moveTo>
                <a:lnTo>
                  <a:pt x="7245994" y="0"/>
                </a:lnTo>
                <a:lnTo>
                  <a:pt x="7245994" y="3810941"/>
                </a:lnTo>
                <a:lnTo>
                  <a:pt x="0" y="381094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4" id="24"/>
          <p:cNvSpPr/>
          <p:nvPr/>
        </p:nvSpPr>
        <p:spPr>
          <a:xfrm flipH="false" flipV="false" rot="0">
            <a:off x="5855943" y="7216525"/>
            <a:ext cx="2400392" cy="2894561"/>
          </a:xfrm>
          <a:custGeom>
            <a:avLst/>
            <a:gdLst/>
            <a:ahLst/>
            <a:cxnLst/>
            <a:rect r="r" b="b" t="t" l="l"/>
            <a:pathLst>
              <a:path h="2894561" w="2400392">
                <a:moveTo>
                  <a:pt x="0" y="0"/>
                </a:moveTo>
                <a:lnTo>
                  <a:pt x="2400392" y="0"/>
                </a:lnTo>
                <a:lnTo>
                  <a:pt x="2400392" y="2894561"/>
                </a:lnTo>
                <a:lnTo>
                  <a:pt x="0" y="289456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5733878" y="9526372"/>
            <a:ext cx="131590" cy="131590"/>
          </a:xfrm>
          <a:custGeom>
            <a:avLst/>
            <a:gdLst/>
            <a:ahLst/>
            <a:cxnLst/>
            <a:rect r="r" b="b" t="t" l="l"/>
            <a:pathLst>
              <a:path h="131590" w="131590">
                <a:moveTo>
                  <a:pt x="0" y="0"/>
                </a:moveTo>
                <a:lnTo>
                  <a:pt x="131590" y="0"/>
                </a:lnTo>
                <a:lnTo>
                  <a:pt x="131590" y="131589"/>
                </a:lnTo>
                <a:lnTo>
                  <a:pt x="0" y="13158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6" id="26"/>
          <p:cNvSpPr txBox="true"/>
          <p:nvPr/>
        </p:nvSpPr>
        <p:spPr>
          <a:xfrm rot="0">
            <a:off x="1134485" y="6829206"/>
            <a:ext cx="6597158" cy="2463800"/>
          </a:xfrm>
          <a:prstGeom prst="rect">
            <a:avLst/>
          </a:prstGeom>
        </p:spPr>
        <p:txBody>
          <a:bodyPr anchor="t" rtlCol="false" tIns="0" lIns="0" bIns="0" rIns="0">
            <a:spAutoFit/>
          </a:bodyPr>
          <a:lstStyle/>
          <a:p>
            <a:pPr algn="just">
              <a:lnSpc>
                <a:spcPts val="2800"/>
              </a:lnSpc>
            </a:pPr>
            <a:r>
              <a:rPr lang="en-US" sz="2000">
                <a:solidFill>
                  <a:srgbClr val="000000"/>
                </a:solidFill>
                <a:latin typeface="Arimo"/>
                <a:ea typeface="Arimo"/>
                <a:cs typeface="Arimo"/>
                <a:sym typeface="Arimo"/>
              </a:rPr>
              <a:t>Our vision is to develop a single integrated product that can handle end-to-end logistics functionality—from Booking to entire transport management, financial reconciliation and compliance. By bridging the current gaps left by leading players, we aim to become the most cost-effective and performance-driven solution provider in the logistics technology sector.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656388" y="6138624"/>
            <a:ext cx="6879279" cy="3896506"/>
          </a:xfrm>
          <a:custGeom>
            <a:avLst/>
            <a:gdLst/>
            <a:ahLst/>
            <a:cxnLst/>
            <a:rect r="r" b="b" t="t" l="l"/>
            <a:pathLst>
              <a:path h="3896506" w="6879279">
                <a:moveTo>
                  <a:pt x="0" y="0"/>
                </a:moveTo>
                <a:lnTo>
                  <a:pt x="6879279" y="0"/>
                </a:lnTo>
                <a:lnTo>
                  <a:pt x="6879279" y="3896506"/>
                </a:lnTo>
                <a:lnTo>
                  <a:pt x="0" y="3896506"/>
                </a:lnTo>
                <a:lnTo>
                  <a:pt x="0" y="0"/>
                </a:lnTo>
                <a:close/>
              </a:path>
            </a:pathLst>
          </a:custGeom>
          <a:blipFill>
            <a:blip r:embed="rId2"/>
            <a:stretch>
              <a:fillRect l="0" t="-4840" r="-65" b="-4840"/>
            </a:stretch>
          </a:blipFill>
        </p:spPr>
      </p:sp>
      <p:grpSp>
        <p:nvGrpSpPr>
          <p:cNvPr name="Group 3" id="3"/>
          <p:cNvGrpSpPr/>
          <p:nvPr/>
        </p:nvGrpSpPr>
        <p:grpSpPr>
          <a:xfrm rot="-10800000">
            <a:off x="295237" y="7165010"/>
            <a:ext cx="1836820" cy="1843735"/>
            <a:chOff x="0" y="0"/>
            <a:chExt cx="2449093" cy="2458314"/>
          </a:xfrm>
        </p:grpSpPr>
        <p:sp>
          <p:nvSpPr>
            <p:cNvPr name="Freeform 4" id="4"/>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3">
                <a:alphaModFix amt="40000"/>
              </a:blip>
              <a:stretch>
                <a:fillRect l="-18" t="0" r="-19" b="1"/>
              </a:stretch>
            </a:blipFill>
          </p:spPr>
        </p:sp>
      </p:grpSp>
      <p:sp>
        <p:nvSpPr>
          <p:cNvPr name="Freeform 5" id="5"/>
          <p:cNvSpPr/>
          <p:nvPr/>
        </p:nvSpPr>
        <p:spPr>
          <a:xfrm flipH="false" flipV="false" rot="0">
            <a:off x="413482" y="7286710"/>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84637" y="7357864"/>
            <a:ext cx="1458029" cy="1458029"/>
          </a:xfrm>
          <a:custGeom>
            <a:avLst/>
            <a:gdLst/>
            <a:ahLst/>
            <a:cxnLst/>
            <a:rect r="r" b="b" t="t" l="l"/>
            <a:pathLst>
              <a:path h="1458029" w="1458029">
                <a:moveTo>
                  <a:pt x="0" y="0"/>
                </a:moveTo>
                <a:lnTo>
                  <a:pt x="1458029" y="0"/>
                </a:lnTo>
                <a:lnTo>
                  <a:pt x="1458029" y="1458028"/>
                </a:lnTo>
                <a:lnTo>
                  <a:pt x="0" y="14580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76448" y="7449676"/>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883920" y="7760437"/>
            <a:ext cx="659473" cy="652872"/>
          </a:xfrm>
          <a:custGeom>
            <a:avLst/>
            <a:gdLst/>
            <a:ahLst/>
            <a:cxnLst/>
            <a:rect r="r" b="b" t="t" l="l"/>
            <a:pathLst>
              <a:path h="652872" w="659473">
                <a:moveTo>
                  <a:pt x="0" y="0"/>
                </a:moveTo>
                <a:lnTo>
                  <a:pt x="659473" y="0"/>
                </a:lnTo>
                <a:lnTo>
                  <a:pt x="659473" y="652872"/>
                </a:lnTo>
                <a:lnTo>
                  <a:pt x="0" y="652872"/>
                </a:lnTo>
                <a:lnTo>
                  <a:pt x="0" y="0"/>
                </a:lnTo>
                <a:close/>
              </a:path>
            </a:pathLst>
          </a:custGeom>
          <a:blipFill>
            <a:blip r:embed="rId10">
              <a:extLst>
                <a:ext uri="{96DAC541-7B7A-43D3-8B79-37D633B846F1}">
                  <asvg:svgBlip xmlns:asvg="http://schemas.microsoft.com/office/drawing/2016/SVG/main" r:embed="rId11"/>
                </a:ext>
              </a:extLst>
            </a:blip>
            <a:stretch>
              <a:fillRect l="-218" t="0" r="-216" b="0"/>
            </a:stretch>
          </a:blipFill>
        </p:spPr>
      </p:sp>
      <p:sp>
        <p:nvSpPr>
          <p:cNvPr name="Freeform 9" id="9"/>
          <p:cNvSpPr/>
          <p:nvPr/>
        </p:nvSpPr>
        <p:spPr>
          <a:xfrm flipH="false" flipV="false" rot="0">
            <a:off x="11465141" y="3308673"/>
            <a:ext cx="6283277" cy="6414696"/>
          </a:xfrm>
          <a:custGeom>
            <a:avLst/>
            <a:gdLst/>
            <a:ahLst/>
            <a:cxnLst/>
            <a:rect r="r" b="b" t="t" l="l"/>
            <a:pathLst>
              <a:path h="6414696" w="6283277">
                <a:moveTo>
                  <a:pt x="0" y="0"/>
                </a:moveTo>
                <a:lnTo>
                  <a:pt x="6283277" y="0"/>
                </a:lnTo>
                <a:lnTo>
                  <a:pt x="6283277" y="6414696"/>
                </a:lnTo>
                <a:lnTo>
                  <a:pt x="0" y="64146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1954875" y="3945722"/>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Freeform 11" id="11"/>
          <p:cNvSpPr/>
          <p:nvPr/>
        </p:nvSpPr>
        <p:spPr>
          <a:xfrm flipH="false" flipV="false" rot="0">
            <a:off x="11954875" y="4537824"/>
            <a:ext cx="402498" cy="362245"/>
          </a:xfrm>
          <a:custGeom>
            <a:avLst/>
            <a:gdLst/>
            <a:ahLst/>
            <a:cxnLst/>
            <a:rect r="r" b="b" t="t" l="l"/>
            <a:pathLst>
              <a:path h="362245" w="402498">
                <a:moveTo>
                  <a:pt x="0" y="0"/>
                </a:moveTo>
                <a:lnTo>
                  <a:pt x="402498" y="0"/>
                </a:lnTo>
                <a:lnTo>
                  <a:pt x="402498" y="362246"/>
                </a:lnTo>
                <a:lnTo>
                  <a:pt x="0" y="362246"/>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Freeform 12" id="12"/>
          <p:cNvSpPr/>
          <p:nvPr/>
        </p:nvSpPr>
        <p:spPr>
          <a:xfrm flipH="false" flipV="false" rot="0">
            <a:off x="11954875" y="5129917"/>
            <a:ext cx="402498" cy="362245"/>
          </a:xfrm>
          <a:custGeom>
            <a:avLst/>
            <a:gdLst/>
            <a:ahLst/>
            <a:cxnLst/>
            <a:rect r="r" b="b" t="t" l="l"/>
            <a:pathLst>
              <a:path h="362245" w="402498">
                <a:moveTo>
                  <a:pt x="0" y="0"/>
                </a:moveTo>
                <a:lnTo>
                  <a:pt x="402498" y="0"/>
                </a:lnTo>
                <a:lnTo>
                  <a:pt x="402498" y="362246"/>
                </a:lnTo>
                <a:lnTo>
                  <a:pt x="0" y="362246"/>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TextBox 13" id="13"/>
          <p:cNvSpPr txBox="true"/>
          <p:nvPr/>
        </p:nvSpPr>
        <p:spPr>
          <a:xfrm rot="0">
            <a:off x="12642580" y="3895715"/>
            <a:ext cx="2757041"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Order Management</a:t>
            </a:r>
          </a:p>
        </p:txBody>
      </p:sp>
      <p:sp>
        <p:nvSpPr>
          <p:cNvPr name="TextBox 14" id="14"/>
          <p:cNvSpPr txBox="true"/>
          <p:nvPr/>
        </p:nvSpPr>
        <p:spPr>
          <a:xfrm rot="0">
            <a:off x="12642580" y="4487818"/>
            <a:ext cx="2925366"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Carrier Management</a:t>
            </a:r>
          </a:p>
        </p:txBody>
      </p:sp>
      <p:sp>
        <p:nvSpPr>
          <p:cNvPr name="TextBox 15" id="15"/>
          <p:cNvSpPr txBox="true"/>
          <p:nvPr/>
        </p:nvSpPr>
        <p:spPr>
          <a:xfrm rot="0">
            <a:off x="12642580" y="5079911"/>
            <a:ext cx="4436715"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Route Planning &amp; Optimization</a:t>
            </a:r>
          </a:p>
        </p:txBody>
      </p:sp>
      <p:sp>
        <p:nvSpPr>
          <p:cNvPr name="Freeform 16" id="16"/>
          <p:cNvSpPr/>
          <p:nvPr/>
        </p:nvSpPr>
        <p:spPr>
          <a:xfrm flipH="false" flipV="false" rot="0">
            <a:off x="11954875" y="5701713"/>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TextBox 17" id="17"/>
          <p:cNvSpPr txBox="true"/>
          <p:nvPr/>
        </p:nvSpPr>
        <p:spPr>
          <a:xfrm rot="0">
            <a:off x="12642580" y="5642181"/>
            <a:ext cx="4487168"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Load Planning &amp; Consolidation</a:t>
            </a:r>
          </a:p>
        </p:txBody>
      </p:sp>
      <p:sp>
        <p:nvSpPr>
          <p:cNvPr name="Freeform 18" id="18"/>
          <p:cNvSpPr/>
          <p:nvPr/>
        </p:nvSpPr>
        <p:spPr>
          <a:xfrm flipH="false" flipV="false" rot="0">
            <a:off x="11954875" y="6261221"/>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TextBox 19" id="19"/>
          <p:cNvSpPr txBox="true"/>
          <p:nvPr/>
        </p:nvSpPr>
        <p:spPr>
          <a:xfrm rot="0">
            <a:off x="12642580" y="6211776"/>
            <a:ext cx="2907953"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Shipment Execution</a:t>
            </a:r>
          </a:p>
        </p:txBody>
      </p:sp>
      <p:sp>
        <p:nvSpPr>
          <p:cNvPr name="Freeform 20" id="20"/>
          <p:cNvSpPr/>
          <p:nvPr/>
        </p:nvSpPr>
        <p:spPr>
          <a:xfrm flipH="false" flipV="false" rot="0">
            <a:off x="11954875" y="6795345"/>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Freeform 21" id="21"/>
          <p:cNvSpPr/>
          <p:nvPr/>
        </p:nvSpPr>
        <p:spPr>
          <a:xfrm flipH="false" flipV="false" rot="0">
            <a:off x="11954875" y="7387438"/>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Freeform 22" id="22"/>
          <p:cNvSpPr/>
          <p:nvPr/>
        </p:nvSpPr>
        <p:spPr>
          <a:xfrm flipH="false" flipV="false" rot="0">
            <a:off x="11954875" y="7979531"/>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TextBox 23" id="23"/>
          <p:cNvSpPr txBox="true"/>
          <p:nvPr/>
        </p:nvSpPr>
        <p:spPr>
          <a:xfrm rot="0">
            <a:off x="12642580" y="6745338"/>
            <a:ext cx="3192810"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Freight Audit &amp; Billing</a:t>
            </a:r>
          </a:p>
        </p:txBody>
      </p:sp>
      <p:sp>
        <p:nvSpPr>
          <p:cNvPr name="TextBox 24" id="24"/>
          <p:cNvSpPr txBox="true"/>
          <p:nvPr/>
        </p:nvSpPr>
        <p:spPr>
          <a:xfrm rot="0">
            <a:off x="12642580" y="7337431"/>
            <a:ext cx="2891582"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Tracking &amp; Visibility</a:t>
            </a:r>
          </a:p>
        </p:txBody>
      </p:sp>
      <p:sp>
        <p:nvSpPr>
          <p:cNvPr name="TextBox 25" id="25"/>
          <p:cNvSpPr txBox="true"/>
          <p:nvPr/>
        </p:nvSpPr>
        <p:spPr>
          <a:xfrm rot="0">
            <a:off x="12642580" y="7929524"/>
            <a:ext cx="4151709"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Customer And Vendor Portal</a:t>
            </a:r>
          </a:p>
        </p:txBody>
      </p:sp>
      <p:sp>
        <p:nvSpPr>
          <p:cNvPr name="Freeform 26" id="26"/>
          <p:cNvSpPr/>
          <p:nvPr/>
        </p:nvSpPr>
        <p:spPr>
          <a:xfrm flipH="false" flipV="false" rot="0">
            <a:off x="11954875" y="8551326"/>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TextBox 27" id="27"/>
          <p:cNvSpPr txBox="true"/>
          <p:nvPr/>
        </p:nvSpPr>
        <p:spPr>
          <a:xfrm rot="0">
            <a:off x="12642580" y="8491795"/>
            <a:ext cx="3160068"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Analytics &amp; Reporting</a:t>
            </a:r>
          </a:p>
        </p:txBody>
      </p:sp>
      <p:sp>
        <p:nvSpPr>
          <p:cNvPr name="Freeform 28" id="28"/>
          <p:cNvSpPr/>
          <p:nvPr/>
        </p:nvSpPr>
        <p:spPr>
          <a:xfrm flipH="false" flipV="false" rot="0">
            <a:off x="11954875" y="9110834"/>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4">
              <a:extLst>
                <a:ext uri="{96DAC541-7B7A-43D3-8B79-37D633B846F1}">
                  <asvg:svgBlip xmlns:asvg="http://schemas.microsoft.com/office/drawing/2016/SVG/main" r:embed="rId15"/>
                </a:ext>
              </a:extLst>
            </a:blip>
            <a:stretch>
              <a:fillRect l="0" t="-386" r="0" b="-389"/>
            </a:stretch>
          </a:blipFill>
        </p:spPr>
      </p:sp>
      <p:sp>
        <p:nvSpPr>
          <p:cNvPr name="TextBox 29" id="29"/>
          <p:cNvSpPr txBox="true"/>
          <p:nvPr/>
        </p:nvSpPr>
        <p:spPr>
          <a:xfrm rot="0">
            <a:off x="12642580" y="9061390"/>
            <a:ext cx="4302919"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Compliance &amp; Documentation</a:t>
            </a:r>
          </a:p>
        </p:txBody>
      </p:sp>
      <p:sp>
        <p:nvSpPr>
          <p:cNvPr name="Freeform 30" id="30"/>
          <p:cNvSpPr/>
          <p:nvPr/>
        </p:nvSpPr>
        <p:spPr>
          <a:xfrm flipH="false" flipV="false" rot="0">
            <a:off x="10011296" y="2127966"/>
            <a:ext cx="1838227" cy="2325433"/>
          </a:xfrm>
          <a:custGeom>
            <a:avLst/>
            <a:gdLst/>
            <a:ahLst/>
            <a:cxnLst/>
            <a:rect r="r" b="b" t="t" l="l"/>
            <a:pathLst>
              <a:path h="2325433" w="1838227">
                <a:moveTo>
                  <a:pt x="0" y="0"/>
                </a:moveTo>
                <a:lnTo>
                  <a:pt x="1838227" y="0"/>
                </a:lnTo>
                <a:lnTo>
                  <a:pt x="1838227" y="2325433"/>
                </a:lnTo>
                <a:lnTo>
                  <a:pt x="0" y="23254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1" id="31"/>
          <p:cNvSpPr/>
          <p:nvPr/>
        </p:nvSpPr>
        <p:spPr>
          <a:xfrm flipH="false" flipV="false" rot="0">
            <a:off x="10079737" y="2217846"/>
            <a:ext cx="1682294" cy="2145675"/>
          </a:xfrm>
          <a:custGeom>
            <a:avLst/>
            <a:gdLst/>
            <a:ahLst/>
            <a:cxnLst/>
            <a:rect r="r" b="b" t="t" l="l"/>
            <a:pathLst>
              <a:path h="2145675" w="1682294">
                <a:moveTo>
                  <a:pt x="0" y="0"/>
                </a:moveTo>
                <a:lnTo>
                  <a:pt x="1682294" y="0"/>
                </a:lnTo>
                <a:lnTo>
                  <a:pt x="1682294" y="2145674"/>
                </a:lnTo>
                <a:lnTo>
                  <a:pt x="0" y="214567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2" id="32"/>
          <p:cNvSpPr/>
          <p:nvPr/>
        </p:nvSpPr>
        <p:spPr>
          <a:xfrm flipH="false" flipV="false" rot="0">
            <a:off x="10434657" y="2990983"/>
            <a:ext cx="972455" cy="972445"/>
          </a:xfrm>
          <a:custGeom>
            <a:avLst/>
            <a:gdLst/>
            <a:ahLst/>
            <a:cxnLst/>
            <a:rect r="r" b="b" t="t" l="l"/>
            <a:pathLst>
              <a:path h="972445" w="972455">
                <a:moveTo>
                  <a:pt x="0" y="0"/>
                </a:moveTo>
                <a:lnTo>
                  <a:pt x="972454" y="0"/>
                </a:lnTo>
                <a:lnTo>
                  <a:pt x="972454" y="972446"/>
                </a:lnTo>
                <a:lnTo>
                  <a:pt x="0" y="97244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33" id="33"/>
          <p:cNvSpPr txBox="true"/>
          <p:nvPr/>
        </p:nvSpPr>
        <p:spPr>
          <a:xfrm rot="0">
            <a:off x="10225383" y="2481062"/>
            <a:ext cx="1410052" cy="291821"/>
          </a:xfrm>
          <a:prstGeom prst="rect">
            <a:avLst/>
          </a:prstGeom>
        </p:spPr>
        <p:txBody>
          <a:bodyPr anchor="t" rtlCol="false" tIns="0" lIns="0" bIns="0" rIns="0">
            <a:spAutoFit/>
          </a:bodyPr>
          <a:lstStyle/>
          <a:p>
            <a:pPr algn="just">
              <a:lnSpc>
                <a:spcPts val="2294"/>
              </a:lnSpc>
            </a:pPr>
            <a:r>
              <a:rPr lang="en-US" sz="1639" b="true">
                <a:solidFill>
                  <a:srgbClr val="FFFFFF"/>
                </a:solidFill>
                <a:latin typeface="Arimo Bold"/>
                <a:ea typeface="Arimo Bold"/>
                <a:cs typeface="Arimo Bold"/>
                <a:sym typeface="Arimo Bold"/>
              </a:rPr>
              <a:t>Core Modules</a:t>
            </a:r>
          </a:p>
        </p:txBody>
      </p:sp>
      <p:sp>
        <p:nvSpPr>
          <p:cNvPr name="TextBox 34" id="34"/>
          <p:cNvSpPr txBox="true"/>
          <p:nvPr/>
        </p:nvSpPr>
        <p:spPr>
          <a:xfrm rot="0">
            <a:off x="1028700" y="852907"/>
            <a:ext cx="4260652"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TMS - OVERVIEW</a:t>
            </a:r>
          </a:p>
        </p:txBody>
      </p:sp>
      <p:grpSp>
        <p:nvGrpSpPr>
          <p:cNvPr name="Group 35" id="35"/>
          <p:cNvGrpSpPr/>
          <p:nvPr/>
        </p:nvGrpSpPr>
        <p:grpSpPr>
          <a:xfrm rot="0">
            <a:off x="153533" y="1734388"/>
            <a:ext cx="9437332" cy="4011082"/>
            <a:chOff x="0" y="0"/>
            <a:chExt cx="12583109" cy="5348110"/>
          </a:xfrm>
        </p:grpSpPr>
        <p:sp>
          <p:nvSpPr>
            <p:cNvPr name="Freeform 36" id="36"/>
            <p:cNvSpPr/>
            <p:nvPr/>
          </p:nvSpPr>
          <p:spPr>
            <a:xfrm flipH="false" flipV="false" rot="0">
              <a:off x="0" y="0"/>
              <a:ext cx="12583160" cy="5348097"/>
            </a:xfrm>
            <a:custGeom>
              <a:avLst/>
              <a:gdLst/>
              <a:ahLst/>
              <a:cxnLst/>
              <a:rect r="r" b="b" t="t" l="l"/>
              <a:pathLst>
                <a:path h="5348097" w="12583160">
                  <a:moveTo>
                    <a:pt x="0" y="0"/>
                  </a:moveTo>
                  <a:lnTo>
                    <a:pt x="12583160" y="0"/>
                  </a:lnTo>
                  <a:lnTo>
                    <a:pt x="12583160" y="5348097"/>
                  </a:lnTo>
                  <a:lnTo>
                    <a:pt x="0" y="5348097"/>
                  </a:lnTo>
                  <a:lnTo>
                    <a:pt x="0" y="0"/>
                  </a:lnTo>
                  <a:close/>
                </a:path>
              </a:pathLst>
            </a:custGeom>
            <a:blipFill>
              <a:blip r:embed="rId22">
                <a:alphaModFix amt="82000"/>
              </a:blip>
              <a:stretch>
                <a:fillRect l="0" t="-5243" r="0" b="-5243"/>
              </a:stretch>
            </a:blipFill>
          </p:spPr>
        </p:sp>
      </p:grpSp>
      <p:sp>
        <p:nvSpPr>
          <p:cNvPr name="TextBox 37" id="37"/>
          <p:cNvSpPr txBox="true"/>
          <p:nvPr/>
        </p:nvSpPr>
        <p:spPr>
          <a:xfrm rot="0">
            <a:off x="1123950" y="2336683"/>
            <a:ext cx="7449826" cy="2999715"/>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A Transport Management System (TMS) is a specialized software solution designed to plan, execute and optimize the physical movement of goods. It is widely used by logistics companies, shippers, freight forwarders and supply chain managers to streamline transportation operations, reduce costs, improve visibility and ensure timely deliveries.TMS helps in automating key transportation processes such as carrier selection, route planning, freight auditing, shipment tracking and compliance.</a:t>
            </a:r>
          </a:p>
          <a:p>
            <a:pPr algn="just">
              <a:lnSpc>
                <a:spcPts val="26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0230583" y="1028700"/>
            <a:ext cx="7028717" cy="5830814"/>
          </a:xfrm>
          <a:custGeom>
            <a:avLst/>
            <a:gdLst/>
            <a:ahLst/>
            <a:cxnLst/>
            <a:rect r="r" b="b" t="t" l="l"/>
            <a:pathLst>
              <a:path h="5830814" w="7028717">
                <a:moveTo>
                  <a:pt x="0" y="0"/>
                </a:moveTo>
                <a:lnTo>
                  <a:pt x="7028717" y="0"/>
                </a:lnTo>
                <a:lnTo>
                  <a:pt x="7028717" y="5830814"/>
                </a:lnTo>
                <a:lnTo>
                  <a:pt x="0" y="5830814"/>
                </a:lnTo>
                <a:lnTo>
                  <a:pt x="0" y="0"/>
                </a:lnTo>
                <a:close/>
              </a:path>
            </a:pathLst>
          </a:custGeom>
          <a:blipFill>
            <a:blip r:embed="rId2"/>
            <a:stretch>
              <a:fillRect l="-25971" t="0" r="-1571" b="-37"/>
            </a:stretch>
          </a:blipFill>
        </p:spPr>
      </p:sp>
      <p:sp>
        <p:nvSpPr>
          <p:cNvPr name="Freeform 3" id="3"/>
          <p:cNvSpPr/>
          <p:nvPr/>
        </p:nvSpPr>
        <p:spPr>
          <a:xfrm flipH="false" flipV="false" rot="0">
            <a:off x="9594689" y="6951397"/>
            <a:ext cx="6283277" cy="3164938"/>
          </a:xfrm>
          <a:custGeom>
            <a:avLst/>
            <a:gdLst/>
            <a:ahLst/>
            <a:cxnLst/>
            <a:rect r="r" b="b" t="t" l="l"/>
            <a:pathLst>
              <a:path h="3164938" w="6283277">
                <a:moveTo>
                  <a:pt x="0" y="0"/>
                </a:moveTo>
                <a:lnTo>
                  <a:pt x="6283277" y="0"/>
                </a:lnTo>
                <a:lnTo>
                  <a:pt x="6283277" y="3164938"/>
                </a:lnTo>
                <a:lnTo>
                  <a:pt x="0" y="3164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975933" y="7344023"/>
            <a:ext cx="5638638" cy="2442820"/>
          </a:xfrm>
          <a:prstGeom prst="rect">
            <a:avLst/>
          </a:prstGeom>
        </p:spPr>
        <p:txBody>
          <a:bodyPr anchor="t" rtlCol="false" tIns="0" lIns="0" bIns="0" rIns="0">
            <a:spAutoFit/>
          </a:bodyPr>
          <a:lstStyle/>
          <a:p>
            <a:pPr algn="just">
              <a:lnSpc>
                <a:spcPts val="2469"/>
              </a:lnSpc>
            </a:pPr>
            <a:r>
              <a:rPr lang="en-US" sz="1899">
                <a:solidFill>
                  <a:srgbClr val="FFFFFF"/>
                </a:solidFill>
                <a:latin typeface="Arimo"/>
                <a:ea typeface="Arimo"/>
                <a:cs typeface="Arimo"/>
                <a:sym typeface="Arimo"/>
              </a:rPr>
              <a:t>By integrating these modules into its existing booking and shipment solutions, Infologia can offer an end-to-end TMS that rivals global platforms like CargoWise, while still being agile, cost-effective, and customizable for customers.</a:t>
            </a:r>
            <a:r>
              <a:rPr lang="en-US" sz="1899" b="true">
                <a:solidFill>
                  <a:srgbClr val="FFFFFF"/>
                </a:solidFill>
                <a:latin typeface="Arimo Bold"/>
                <a:ea typeface="Arimo Bold"/>
                <a:cs typeface="Arimo Bold"/>
                <a:sym typeface="Arimo Bold"/>
              </a:rPr>
              <a:t> </a:t>
            </a:r>
            <a:r>
              <a:rPr lang="en-US" sz="1899">
                <a:solidFill>
                  <a:srgbClr val="FFFFFF"/>
                </a:solidFill>
                <a:latin typeface="Arimo"/>
                <a:ea typeface="Arimo"/>
                <a:cs typeface="Arimo"/>
                <a:sym typeface="Arimo"/>
              </a:rPr>
              <a:t>This positions Infologia not just as an IT service provider, but as a technology partner shaping the future of digital logistics.</a:t>
            </a:r>
          </a:p>
        </p:txBody>
      </p:sp>
      <p:grpSp>
        <p:nvGrpSpPr>
          <p:cNvPr name="Group 5" id="5"/>
          <p:cNvGrpSpPr/>
          <p:nvPr/>
        </p:nvGrpSpPr>
        <p:grpSpPr>
          <a:xfrm rot="-10800000">
            <a:off x="15877965" y="5951420"/>
            <a:ext cx="1836820" cy="1843735"/>
            <a:chOff x="0" y="0"/>
            <a:chExt cx="2449093" cy="2458314"/>
          </a:xfrm>
        </p:grpSpPr>
        <p:sp>
          <p:nvSpPr>
            <p:cNvPr name="Freeform 6" id="6"/>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5">
                <a:alphaModFix amt="40000"/>
              </a:blip>
              <a:stretch>
                <a:fillRect l="-18" t="0" r="-19" b="1"/>
              </a:stretch>
            </a:blipFill>
          </p:spPr>
        </p:sp>
      </p:grpSp>
      <p:sp>
        <p:nvSpPr>
          <p:cNvPr name="Freeform 7" id="7"/>
          <p:cNvSpPr/>
          <p:nvPr/>
        </p:nvSpPr>
        <p:spPr>
          <a:xfrm flipH="false" flipV="false" rot="0">
            <a:off x="15996207" y="6073121"/>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067362" y="6144275"/>
            <a:ext cx="1458029" cy="1458029"/>
          </a:xfrm>
          <a:custGeom>
            <a:avLst/>
            <a:gdLst/>
            <a:ahLst/>
            <a:cxnLst/>
            <a:rect r="r" b="b" t="t" l="l"/>
            <a:pathLst>
              <a:path h="1458029" w="1458029">
                <a:moveTo>
                  <a:pt x="0" y="0"/>
                </a:moveTo>
                <a:lnTo>
                  <a:pt x="1458029" y="0"/>
                </a:lnTo>
                <a:lnTo>
                  <a:pt x="1458029" y="1458028"/>
                </a:lnTo>
                <a:lnTo>
                  <a:pt x="0" y="14580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6159173" y="6236087"/>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6481222" y="6521948"/>
            <a:ext cx="630307" cy="630307"/>
          </a:xfrm>
          <a:custGeom>
            <a:avLst/>
            <a:gdLst/>
            <a:ahLst/>
            <a:cxnLst/>
            <a:rect r="r" b="b" t="t" l="l"/>
            <a:pathLst>
              <a:path h="630307" w="630307">
                <a:moveTo>
                  <a:pt x="0" y="0"/>
                </a:moveTo>
                <a:lnTo>
                  <a:pt x="630307" y="0"/>
                </a:lnTo>
                <a:lnTo>
                  <a:pt x="630307" y="630308"/>
                </a:lnTo>
                <a:lnTo>
                  <a:pt x="0" y="63030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true" flipV="false" rot="0">
            <a:off x="2186645" y="6075007"/>
            <a:ext cx="1146467" cy="1419777"/>
          </a:xfrm>
          <a:custGeom>
            <a:avLst/>
            <a:gdLst/>
            <a:ahLst/>
            <a:cxnLst/>
            <a:rect r="r" b="b" t="t" l="l"/>
            <a:pathLst>
              <a:path h="1419777" w="1146467">
                <a:moveTo>
                  <a:pt x="1146467" y="0"/>
                </a:moveTo>
                <a:lnTo>
                  <a:pt x="0" y="0"/>
                </a:lnTo>
                <a:lnTo>
                  <a:pt x="0" y="1419777"/>
                </a:lnTo>
                <a:lnTo>
                  <a:pt x="1146467" y="1419777"/>
                </a:lnTo>
                <a:lnTo>
                  <a:pt x="1146467" y="0"/>
                </a:lnTo>
                <a:close/>
              </a:path>
            </a:pathLst>
          </a:custGeom>
          <a:blipFill>
            <a:blip r:embed="rId14">
              <a:extLst>
                <a:ext uri="{96DAC541-7B7A-43D3-8B79-37D633B846F1}">
                  <asvg:svgBlip xmlns:asvg="http://schemas.microsoft.com/office/drawing/2016/SVG/main" r:embed="rId15"/>
                </a:ext>
              </a:extLst>
            </a:blip>
            <a:stretch>
              <a:fillRect l="0" t="-51" r="0" b="-51"/>
            </a:stretch>
          </a:blipFill>
        </p:spPr>
      </p:sp>
      <p:sp>
        <p:nvSpPr>
          <p:cNvPr name="TextBox 12" id="12"/>
          <p:cNvSpPr txBox="true"/>
          <p:nvPr/>
        </p:nvSpPr>
        <p:spPr>
          <a:xfrm rot="0">
            <a:off x="1028700" y="1081507"/>
            <a:ext cx="7414450"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CARGOSSOFT - </a:t>
            </a:r>
            <a:r>
              <a:rPr lang="en-US" sz="3999">
                <a:solidFill>
                  <a:srgbClr val="16599D"/>
                </a:solidFill>
                <a:latin typeface="Arimo"/>
                <a:ea typeface="Arimo"/>
                <a:cs typeface="Arimo"/>
                <a:sym typeface="Arimo"/>
              </a:rPr>
              <a:t>INFOLOGIA’S TMS</a:t>
            </a:r>
          </a:p>
        </p:txBody>
      </p:sp>
      <p:grpSp>
        <p:nvGrpSpPr>
          <p:cNvPr name="Group 13" id="13"/>
          <p:cNvGrpSpPr/>
          <p:nvPr/>
        </p:nvGrpSpPr>
        <p:grpSpPr>
          <a:xfrm rot="0">
            <a:off x="984971" y="2172071"/>
            <a:ext cx="8609724" cy="3902935"/>
            <a:chOff x="0" y="0"/>
            <a:chExt cx="11479632" cy="5203914"/>
          </a:xfrm>
        </p:grpSpPr>
        <p:sp>
          <p:nvSpPr>
            <p:cNvPr name="Freeform 14" id="14"/>
            <p:cNvSpPr/>
            <p:nvPr/>
          </p:nvSpPr>
          <p:spPr>
            <a:xfrm flipH="false" flipV="false" rot="0">
              <a:off x="0" y="0"/>
              <a:ext cx="11479657" cy="5203952"/>
            </a:xfrm>
            <a:custGeom>
              <a:avLst/>
              <a:gdLst/>
              <a:ahLst/>
              <a:cxnLst/>
              <a:rect r="r" b="b" t="t" l="l"/>
              <a:pathLst>
                <a:path h="5203952" w="11479657">
                  <a:moveTo>
                    <a:pt x="0" y="0"/>
                  </a:moveTo>
                  <a:lnTo>
                    <a:pt x="11479657" y="0"/>
                  </a:lnTo>
                  <a:lnTo>
                    <a:pt x="11479657" y="5203952"/>
                  </a:lnTo>
                  <a:lnTo>
                    <a:pt x="0" y="5203952"/>
                  </a:lnTo>
                  <a:lnTo>
                    <a:pt x="0" y="0"/>
                  </a:lnTo>
                  <a:close/>
                </a:path>
              </a:pathLst>
            </a:custGeom>
            <a:blipFill>
              <a:blip r:embed="rId16">
                <a:alphaModFix amt="40000"/>
              </a:blip>
              <a:stretch>
                <a:fillRect l="0" t="-1777" r="0" b="-1776"/>
              </a:stretch>
            </a:blipFill>
          </p:spPr>
        </p:sp>
      </p:grpSp>
      <p:sp>
        <p:nvSpPr>
          <p:cNvPr name="TextBox 15" id="15"/>
          <p:cNvSpPr txBox="true"/>
          <p:nvPr/>
        </p:nvSpPr>
        <p:spPr>
          <a:xfrm rot="0">
            <a:off x="1900323" y="2876082"/>
            <a:ext cx="6817119" cy="2332990"/>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Our current TMS (CARGOSSOFT) includes essential functionalities such as Order Management, Shipment Execution, Billing, Tracking &amp; Visibility, and Analytics &amp; Reporting, Customer &amp; Vendor  Portal effectively supporting core transportation workflows. However, to further enhance operational efficiency, user experience, and scalability, the system requires additional key modules. These include:</a:t>
            </a:r>
          </a:p>
        </p:txBody>
      </p:sp>
      <p:sp>
        <p:nvSpPr>
          <p:cNvPr name="Freeform 16" id="16"/>
          <p:cNvSpPr/>
          <p:nvPr/>
        </p:nvSpPr>
        <p:spPr>
          <a:xfrm flipH="false" flipV="false" rot="0">
            <a:off x="4089511" y="6581394"/>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7">
              <a:extLst>
                <a:ext uri="{96DAC541-7B7A-43D3-8B79-37D633B846F1}">
                  <asvg:svgBlip xmlns:asvg="http://schemas.microsoft.com/office/drawing/2016/SVG/main" r:embed="rId18"/>
                </a:ext>
              </a:extLst>
            </a:blip>
            <a:stretch>
              <a:fillRect l="0" t="-386" r="0" b="-389"/>
            </a:stretch>
          </a:blipFill>
        </p:spPr>
      </p:sp>
      <p:sp>
        <p:nvSpPr>
          <p:cNvPr name="TextBox 17" id="17"/>
          <p:cNvSpPr txBox="true"/>
          <p:nvPr/>
        </p:nvSpPr>
        <p:spPr>
          <a:xfrm rot="0">
            <a:off x="4777207" y="6552819"/>
            <a:ext cx="2925366" cy="388925"/>
          </a:xfrm>
          <a:prstGeom prst="rect">
            <a:avLst/>
          </a:prstGeom>
        </p:spPr>
        <p:txBody>
          <a:bodyPr anchor="t" rtlCol="false" tIns="0" lIns="0" bIns="0" rIns="0">
            <a:spAutoFit/>
          </a:bodyPr>
          <a:lstStyle/>
          <a:p>
            <a:pPr algn="l">
              <a:lnSpc>
                <a:spcPts val="3096"/>
              </a:lnSpc>
            </a:pPr>
            <a:r>
              <a:rPr lang="en-US" sz="2382" b="true">
                <a:solidFill>
                  <a:srgbClr val="292A2B"/>
                </a:solidFill>
                <a:latin typeface="Arimo Bold"/>
                <a:ea typeface="Arimo Bold"/>
                <a:cs typeface="Arimo Bold"/>
                <a:sym typeface="Arimo Bold"/>
              </a:rPr>
              <a:t>Carrier Management</a:t>
            </a:r>
          </a:p>
        </p:txBody>
      </p:sp>
      <p:sp>
        <p:nvSpPr>
          <p:cNvPr name="Freeform 18" id="18"/>
          <p:cNvSpPr/>
          <p:nvPr/>
        </p:nvSpPr>
        <p:spPr>
          <a:xfrm flipH="false" flipV="false" rot="0">
            <a:off x="4089511" y="7115089"/>
            <a:ext cx="402498" cy="362245"/>
          </a:xfrm>
          <a:custGeom>
            <a:avLst/>
            <a:gdLst/>
            <a:ahLst/>
            <a:cxnLst/>
            <a:rect r="r" b="b" t="t" l="l"/>
            <a:pathLst>
              <a:path h="362245" w="402498">
                <a:moveTo>
                  <a:pt x="0" y="0"/>
                </a:moveTo>
                <a:lnTo>
                  <a:pt x="402498" y="0"/>
                </a:lnTo>
                <a:lnTo>
                  <a:pt x="402498" y="362246"/>
                </a:lnTo>
                <a:lnTo>
                  <a:pt x="0" y="362246"/>
                </a:lnTo>
                <a:lnTo>
                  <a:pt x="0" y="0"/>
                </a:lnTo>
                <a:close/>
              </a:path>
            </a:pathLst>
          </a:custGeom>
          <a:blipFill>
            <a:blip r:embed="rId17">
              <a:extLst>
                <a:ext uri="{96DAC541-7B7A-43D3-8B79-37D633B846F1}">
                  <asvg:svgBlip xmlns:asvg="http://schemas.microsoft.com/office/drawing/2016/SVG/main" r:embed="rId18"/>
                </a:ext>
              </a:extLst>
            </a:blip>
            <a:stretch>
              <a:fillRect l="0" t="-386" r="0" b="-389"/>
            </a:stretch>
          </a:blipFill>
        </p:spPr>
      </p:sp>
      <p:sp>
        <p:nvSpPr>
          <p:cNvPr name="TextBox 19" id="19"/>
          <p:cNvSpPr txBox="true"/>
          <p:nvPr/>
        </p:nvSpPr>
        <p:spPr>
          <a:xfrm rot="0">
            <a:off x="4777207" y="7059835"/>
            <a:ext cx="4436715" cy="388925"/>
          </a:xfrm>
          <a:prstGeom prst="rect">
            <a:avLst/>
          </a:prstGeom>
        </p:spPr>
        <p:txBody>
          <a:bodyPr anchor="t" rtlCol="false" tIns="0" lIns="0" bIns="0" rIns="0">
            <a:spAutoFit/>
          </a:bodyPr>
          <a:lstStyle/>
          <a:p>
            <a:pPr algn="l">
              <a:lnSpc>
                <a:spcPts val="3096"/>
              </a:lnSpc>
            </a:pPr>
            <a:r>
              <a:rPr lang="en-US" sz="2382" b="true">
                <a:solidFill>
                  <a:srgbClr val="292A2B"/>
                </a:solidFill>
                <a:latin typeface="Arimo Bold"/>
                <a:ea typeface="Arimo Bold"/>
                <a:cs typeface="Arimo Bold"/>
                <a:sym typeface="Arimo Bold"/>
              </a:rPr>
              <a:t>Route Planning &amp; Optimization</a:t>
            </a:r>
          </a:p>
        </p:txBody>
      </p:sp>
      <p:sp>
        <p:nvSpPr>
          <p:cNvPr name="Freeform 20" id="20"/>
          <p:cNvSpPr/>
          <p:nvPr/>
        </p:nvSpPr>
        <p:spPr>
          <a:xfrm flipH="false" flipV="false" rot="0">
            <a:off x="4089511" y="7649223"/>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7">
              <a:extLst>
                <a:ext uri="{96DAC541-7B7A-43D3-8B79-37D633B846F1}">
                  <asvg:svgBlip xmlns:asvg="http://schemas.microsoft.com/office/drawing/2016/SVG/main" r:embed="rId18"/>
                </a:ext>
              </a:extLst>
            </a:blip>
            <a:stretch>
              <a:fillRect l="0" t="-386" r="0" b="-389"/>
            </a:stretch>
          </a:blipFill>
        </p:spPr>
      </p:sp>
      <p:sp>
        <p:nvSpPr>
          <p:cNvPr name="Freeform 21" id="21"/>
          <p:cNvSpPr/>
          <p:nvPr/>
        </p:nvSpPr>
        <p:spPr>
          <a:xfrm flipH="false" flipV="false" rot="0">
            <a:off x="4089511" y="8173393"/>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7">
              <a:extLst>
                <a:ext uri="{96DAC541-7B7A-43D3-8B79-37D633B846F1}">
                  <asvg:svgBlip xmlns:asvg="http://schemas.microsoft.com/office/drawing/2016/SVG/main" r:embed="rId18"/>
                </a:ext>
              </a:extLst>
            </a:blip>
            <a:stretch>
              <a:fillRect l="0" t="-386" r="0" b="-389"/>
            </a:stretch>
          </a:blipFill>
        </p:spPr>
      </p:sp>
      <p:sp>
        <p:nvSpPr>
          <p:cNvPr name="Freeform 22" id="22"/>
          <p:cNvSpPr/>
          <p:nvPr/>
        </p:nvSpPr>
        <p:spPr>
          <a:xfrm flipH="false" flipV="false" rot="0">
            <a:off x="4089511" y="8713099"/>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17">
              <a:extLst>
                <a:ext uri="{96DAC541-7B7A-43D3-8B79-37D633B846F1}">
                  <asvg:svgBlip xmlns:asvg="http://schemas.microsoft.com/office/drawing/2016/SVG/main" r:embed="rId18"/>
                </a:ext>
              </a:extLst>
            </a:blip>
            <a:stretch>
              <a:fillRect l="0" t="-386" r="0" b="-389"/>
            </a:stretch>
          </a:blipFill>
        </p:spPr>
      </p:sp>
      <p:sp>
        <p:nvSpPr>
          <p:cNvPr name="TextBox 23" id="23"/>
          <p:cNvSpPr txBox="true"/>
          <p:nvPr/>
        </p:nvSpPr>
        <p:spPr>
          <a:xfrm rot="0">
            <a:off x="4777207" y="7615360"/>
            <a:ext cx="4487168" cy="388925"/>
          </a:xfrm>
          <a:prstGeom prst="rect">
            <a:avLst/>
          </a:prstGeom>
        </p:spPr>
        <p:txBody>
          <a:bodyPr anchor="t" rtlCol="false" tIns="0" lIns="0" bIns="0" rIns="0">
            <a:spAutoFit/>
          </a:bodyPr>
          <a:lstStyle/>
          <a:p>
            <a:pPr algn="l">
              <a:lnSpc>
                <a:spcPts val="3096"/>
              </a:lnSpc>
            </a:pPr>
            <a:r>
              <a:rPr lang="en-US" sz="2382" b="true">
                <a:solidFill>
                  <a:srgbClr val="292A2B"/>
                </a:solidFill>
                <a:latin typeface="Arimo Bold"/>
                <a:ea typeface="Arimo Bold"/>
                <a:cs typeface="Arimo Bold"/>
                <a:sym typeface="Arimo Bold"/>
              </a:rPr>
              <a:t>Load Planning &amp; Consolidation</a:t>
            </a:r>
          </a:p>
        </p:txBody>
      </p:sp>
      <p:sp>
        <p:nvSpPr>
          <p:cNvPr name="TextBox 24" id="24"/>
          <p:cNvSpPr txBox="true"/>
          <p:nvPr/>
        </p:nvSpPr>
        <p:spPr>
          <a:xfrm rot="0">
            <a:off x="4777207" y="8137188"/>
            <a:ext cx="3950345" cy="388925"/>
          </a:xfrm>
          <a:prstGeom prst="rect">
            <a:avLst/>
          </a:prstGeom>
        </p:spPr>
        <p:txBody>
          <a:bodyPr anchor="t" rtlCol="false" tIns="0" lIns="0" bIns="0" rIns="0">
            <a:spAutoFit/>
          </a:bodyPr>
          <a:lstStyle/>
          <a:p>
            <a:pPr algn="l">
              <a:lnSpc>
                <a:spcPts val="3096"/>
              </a:lnSpc>
            </a:pPr>
            <a:r>
              <a:rPr lang="en-US" sz="2382" b="true">
                <a:solidFill>
                  <a:srgbClr val="292A2B"/>
                </a:solidFill>
                <a:latin typeface="Arimo Bold"/>
                <a:ea typeface="Arimo Bold"/>
                <a:cs typeface="Arimo Bold"/>
                <a:sym typeface="Arimo Bold"/>
              </a:rPr>
              <a:t>Customer &amp; Vendor Portals</a:t>
            </a:r>
          </a:p>
        </p:txBody>
      </p:sp>
      <p:sp>
        <p:nvSpPr>
          <p:cNvPr name="TextBox 25" id="25"/>
          <p:cNvSpPr txBox="true"/>
          <p:nvPr/>
        </p:nvSpPr>
        <p:spPr>
          <a:xfrm rot="0">
            <a:off x="4777207" y="8693772"/>
            <a:ext cx="4302919" cy="388925"/>
          </a:xfrm>
          <a:prstGeom prst="rect">
            <a:avLst/>
          </a:prstGeom>
        </p:spPr>
        <p:txBody>
          <a:bodyPr anchor="t" rtlCol="false" tIns="0" lIns="0" bIns="0" rIns="0">
            <a:spAutoFit/>
          </a:bodyPr>
          <a:lstStyle/>
          <a:p>
            <a:pPr algn="l">
              <a:lnSpc>
                <a:spcPts val="3096"/>
              </a:lnSpc>
            </a:pPr>
            <a:r>
              <a:rPr lang="en-US" sz="2382" b="true">
                <a:solidFill>
                  <a:srgbClr val="292A2B"/>
                </a:solidFill>
                <a:latin typeface="Arimo Bold"/>
                <a:ea typeface="Arimo Bold"/>
                <a:cs typeface="Arimo Bold"/>
                <a:sym typeface="Arimo Bold"/>
              </a:rPr>
              <a:t>Compliance &amp; Documentation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0942320" y="-901103"/>
            <a:ext cx="6061243" cy="10159403"/>
          </a:xfrm>
          <a:custGeom>
            <a:avLst/>
            <a:gdLst/>
            <a:ahLst/>
            <a:cxnLst/>
            <a:rect r="r" b="b" t="t" l="l"/>
            <a:pathLst>
              <a:path h="10159403" w="6061243">
                <a:moveTo>
                  <a:pt x="0" y="0"/>
                </a:moveTo>
                <a:lnTo>
                  <a:pt x="6061243" y="0"/>
                </a:lnTo>
                <a:lnTo>
                  <a:pt x="6061243" y="10159403"/>
                </a:lnTo>
                <a:lnTo>
                  <a:pt x="0" y="10159403"/>
                </a:lnTo>
                <a:lnTo>
                  <a:pt x="0" y="0"/>
                </a:lnTo>
                <a:close/>
              </a:path>
            </a:pathLst>
          </a:custGeom>
          <a:blipFill>
            <a:blip r:embed="rId2"/>
            <a:stretch>
              <a:fillRect l="-75786" t="0" r="-75786" b="-61"/>
            </a:stretch>
          </a:blipFill>
        </p:spPr>
      </p:sp>
      <p:sp>
        <p:nvSpPr>
          <p:cNvPr name="Freeform 3" id="3"/>
          <p:cNvSpPr/>
          <p:nvPr/>
        </p:nvSpPr>
        <p:spPr>
          <a:xfrm flipH="false" flipV="false" rot="0">
            <a:off x="4296245" y="6150301"/>
            <a:ext cx="6283277" cy="3508681"/>
          </a:xfrm>
          <a:custGeom>
            <a:avLst/>
            <a:gdLst/>
            <a:ahLst/>
            <a:cxnLst/>
            <a:rect r="r" b="b" t="t" l="l"/>
            <a:pathLst>
              <a:path h="3508681" w="6283277">
                <a:moveTo>
                  <a:pt x="0" y="0"/>
                </a:moveTo>
                <a:lnTo>
                  <a:pt x="6283277" y="0"/>
                </a:lnTo>
                <a:lnTo>
                  <a:pt x="6283277" y="3508681"/>
                </a:lnTo>
                <a:lnTo>
                  <a:pt x="0" y="35086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664221" y="6713249"/>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5">
              <a:extLst>
                <a:ext uri="{96DAC541-7B7A-43D3-8B79-37D633B846F1}">
                  <asvg:svgBlip xmlns:asvg="http://schemas.microsoft.com/office/drawing/2016/SVG/main" r:embed="rId6"/>
                </a:ext>
              </a:extLst>
            </a:blip>
            <a:stretch>
              <a:fillRect l="0" t="-386" r="0" b="-389"/>
            </a:stretch>
          </a:blipFill>
        </p:spPr>
      </p:sp>
      <p:sp>
        <p:nvSpPr>
          <p:cNvPr name="Freeform 5" id="5"/>
          <p:cNvSpPr/>
          <p:nvPr/>
        </p:nvSpPr>
        <p:spPr>
          <a:xfrm flipH="false" flipV="false" rot="0">
            <a:off x="4664221" y="7305342"/>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5">
              <a:extLst>
                <a:ext uri="{96DAC541-7B7A-43D3-8B79-37D633B846F1}">
                  <asvg:svgBlip xmlns:asvg="http://schemas.microsoft.com/office/drawing/2016/SVG/main" r:embed="rId6"/>
                </a:ext>
              </a:extLst>
            </a:blip>
            <a:stretch>
              <a:fillRect l="0" t="-386" r="0" b="-389"/>
            </a:stretch>
          </a:blipFill>
        </p:spPr>
      </p:sp>
      <p:sp>
        <p:nvSpPr>
          <p:cNvPr name="Freeform 6" id="6"/>
          <p:cNvSpPr/>
          <p:nvPr/>
        </p:nvSpPr>
        <p:spPr>
          <a:xfrm flipH="false" flipV="false" rot="0">
            <a:off x="4664221" y="7897444"/>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5">
              <a:extLst>
                <a:ext uri="{96DAC541-7B7A-43D3-8B79-37D633B846F1}">
                  <asvg:svgBlip xmlns:asvg="http://schemas.microsoft.com/office/drawing/2016/SVG/main" r:embed="rId6"/>
                </a:ext>
              </a:extLst>
            </a:blip>
            <a:stretch>
              <a:fillRect l="0" t="-386" r="0" b="-389"/>
            </a:stretch>
          </a:blipFill>
        </p:spPr>
      </p:sp>
      <p:sp>
        <p:nvSpPr>
          <p:cNvPr name="TextBox 7" id="7"/>
          <p:cNvSpPr txBox="true"/>
          <p:nvPr/>
        </p:nvSpPr>
        <p:spPr>
          <a:xfrm rot="0">
            <a:off x="5351917" y="6663242"/>
            <a:ext cx="3294757"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Centralized Dashboard</a:t>
            </a:r>
          </a:p>
        </p:txBody>
      </p:sp>
      <p:sp>
        <p:nvSpPr>
          <p:cNvPr name="TextBox 8" id="8"/>
          <p:cNvSpPr txBox="true"/>
          <p:nvPr/>
        </p:nvSpPr>
        <p:spPr>
          <a:xfrm rot="0">
            <a:off x="5351917" y="7255335"/>
            <a:ext cx="2941439"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Live Map Integration</a:t>
            </a:r>
          </a:p>
        </p:txBody>
      </p:sp>
      <p:sp>
        <p:nvSpPr>
          <p:cNvPr name="TextBox 9" id="9"/>
          <p:cNvSpPr txBox="true"/>
          <p:nvPr/>
        </p:nvSpPr>
        <p:spPr>
          <a:xfrm rot="0">
            <a:off x="5351917" y="7847438"/>
            <a:ext cx="2151311"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API Integration</a:t>
            </a:r>
          </a:p>
        </p:txBody>
      </p:sp>
      <p:sp>
        <p:nvSpPr>
          <p:cNvPr name="Freeform 10" id="10"/>
          <p:cNvSpPr/>
          <p:nvPr/>
        </p:nvSpPr>
        <p:spPr>
          <a:xfrm flipH="false" flipV="false" rot="0">
            <a:off x="4664221" y="8469239"/>
            <a:ext cx="402498" cy="362245"/>
          </a:xfrm>
          <a:custGeom>
            <a:avLst/>
            <a:gdLst/>
            <a:ahLst/>
            <a:cxnLst/>
            <a:rect r="r" b="b" t="t" l="l"/>
            <a:pathLst>
              <a:path h="362245" w="402498">
                <a:moveTo>
                  <a:pt x="0" y="0"/>
                </a:moveTo>
                <a:lnTo>
                  <a:pt x="402498" y="0"/>
                </a:lnTo>
                <a:lnTo>
                  <a:pt x="402498" y="362246"/>
                </a:lnTo>
                <a:lnTo>
                  <a:pt x="0" y="362246"/>
                </a:lnTo>
                <a:lnTo>
                  <a:pt x="0" y="0"/>
                </a:lnTo>
                <a:close/>
              </a:path>
            </a:pathLst>
          </a:custGeom>
          <a:blipFill>
            <a:blip r:embed="rId5">
              <a:extLst>
                <a:ext uri="{96DAC541-7B7A-43D3-8B79-37D633B846F1}">
                  <asvg:svgBlip xmlns:asvg="http://schemas.microsoft.com/office/drawing/2016/SVG/main" r:embed="rId6"/>
                </a:ext>
              </a:extLst>
            </a:blip>
            <a:stretch>
              <a:fillRect l="0" t="-386" r="0" b="-389"/>
            </a:stretch>
          </a:blipFill>
        </p:spPr>
      </p:sp>
      <p:sp>
        <p:nvSpPr>
          <p:cNvPr name="TextBox 11" id="11"/>
          <p:cNvSpPr txBox="true"/>
          <p:nvPr/>
        </p:nvSpPr>
        <p:spPr>
          <a:xfrm rot="0">
            <a:off x="5351917" y="8409708"/>
            <a:ext cx="2857500"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Sustainability Tools</a:t>
            </a:r>
          </a:p>
        </p:txBody>
      </p:sp>
      <p:sp>
        <p:nvSpPr>
          <p:cNvPr name="Freeform 12" id="12"/>
          <p:cNvSpPr/>
          <p:nvPr/>
        </p:nvSpPr>
        <p:spPr>
          <a:xfrm flipH="false" flipV="false" rot="0">
            <a:off x="4664221" y="9028738"/>
            <a:ext cx="402498" cy="362245"/>
          </a:xfrm>
          <a:custGeom>
            <a:avLst/>
            <a:gdLst/>
            <a:ahLst/>
            <a:cxnLst/>
            <a:rect r="r" b="b" t="t" l="l"/>
            <a:pathLst>
              <a:path h="362245" w="402498">
                <a:moveTo>
                  <a:pt x="0" y="0"/>
                </a:moveTo>
                <a:lnTo>
                  <a:pt x="402498" y="0"/>
                </a:lnTo>
                <a:lnTo>
                  <a:pt x="402498" y="362245"/>
                </a:lnTo>
                <a:lnTo>
                  <a:pt x="0" y="362245"/>
                </a:lnTo>
                <a:lnTo>
                  <a:pt x="0" y="0"/>
                </a:lnTo>
                <a:close/>
              </a:path>
            </a:pathLst>
          </a:custGeom>
          <a:blipFill>
            <a:blip r:embed="rId5">
              <a:extLst>
                <a:ext uri="{96DAC541-7B7A-43D3-8B79-37D633B846F1}">
                  <asvg:svgBlip xmlns:asvg="http://schemas.microsoft.com/office/drawing/2016/SVG/main" r:embed="rId6"/>
                </a:ext>
              </a:extLst>
            </a:blip>
            <a:stretch>
              <a:fillRect l="0" t="-386" r="0" b="-389"/>
            </a:stretch>
          </a:blipFill>
        </p:spPr>
      </p:sp>
      <p:sp>
        <p:nvSpPr>
          <p:cNvPr name="TextBox 13" id="13"/>
          <p:cNvSpPr txBox="true"/>
          <p:nvPr/>
        </p:nvSpPr>
        <p:spPr>
          <a:xfrm rot="0">
            <a:off x="5351917" y="8979303"/>
            <a:ext cx="2740075" cy="388925"/>
          </a:xfrm>
          <a:prstGeom prst="rect">
            <a:avLst/>
          </a:prstGeom>
        </p:spPr>
        <p:txBody>
          <a:bodyPr anchor="t" rtlCol="false" tIns="0" lIns="0" bIns="0" rIns="0">
            <a:spAutoFit/>
          </a:bodyPr>
          <a:lstStyle/>
          <a:p>
            <a:pPr algn="l">
              <a:lnSpc>
                <a:spcPts val="3096"/>
              </a:lnSpc>
            </a:pPr>
            <a:r>
              <a:rPr lang="en-US" sz="2382" b="true">
                <a:solidFill>
                  <a:srgbClr val="FFFFFF"/>
                </a:solidFill>
                <a:latin typeface="Arimo Bold"/>
                <a:ea typeface="Arimo Bold"/>
                <a:cs typeface="Arimo Bold"/>
                <a:sym typeface="Arimo Bold"/>
              </a:rPr>
              <a:t>Milestone Tracking</a:t>
            </a:r>
          </a:p>
        </p:txBody>
      </p:sp>
      <p:sp>
        <p:nvSpPr>
          <p:cNvPr name="Freeform 14" id="14"/>
          <p:cNvSpPr/>
          <p:nvPr/>
        </p:nvSpPr>
        <p:spPr>
          <a:xfrm flipH="false" flipV="false" rot="0">
            <a:off x="1504141" y="6177845"/>
            <a:ext cx="2171502" cy="2769633"/>
          </a:xfrm>
          <a:custGeom>
            <a:avLst/>
            <a:gdLst/>
            <a:ahLst/>
            <a:cxnLst/>
            <a:rect r="r" b="b" t="t" l="l"/>
            <a:pathLst>
              <a:path h="2769633" w="2171502">
                <a:moveTo>
                  <a:pt x="0" y="0"/>
                </a:moveTo>
                <a:lnTo>
                  <a:pt x="2171502" y="0"/>
                </a:lnTo>
                <a:lnTo>
                  <a:pt x="2171502" y="2769633"/>
                </a:lnTo>
                <a:lnTo>
                  <a:pt x="0" y="27696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2041084" y="6962756"/>
            <a:ext cx="1097604" cy="1380639"/>
          </a:xfrm>
          <a:custGeom>
            <a:avLst/>
            <a:gdLst/>
            <a:ahLst/>
            <a:cxnLst/>
            <a:rect r="r" b="b" t="t" l="l"/>
            <a:pathLst>
              <a:path h="1380639" w="1097604">
                <a:moveTo>
                  <a:pt x="0" y="0"/>
                </a:moveTo>
                <a:lnTo>
                  <a:pt x="1097604" y="0"/>
                </a:lnTo>
                <a:lnTo>
                  <a:pt x="1097604" y="1380639"/>
                </a:lnTo>
                <a:lnTo>
                  <a:pt x="0" y="1380639"/>
                </a:lnTo>
                <a:lnTo>
                  <a:pt x="0" y="0"/>
                </a:lnTo>
                <a:close/>
              </a:path>
            </a:pathLst>
          </a:custGeom>
          <a:blipFill>
            <a:blip r:embed="rId9">
              <a:extLst>
                <a:ext uri="{96DAC541-7B7A-43D3-8B79-37D633B846F1}">
                  <asvg:svgBlip xmlns:asvg="http://schemas.microsoft.com/office/drawing/2016/SVG/main" r:embed="rId10"/>
                </a:ext>
              </a:extLst>
            </a:blip>
            <a:stretch>
              <a:fillRect l="0" t="-30" r="0" b="-29"/>
            </a:stretch>
          </a:blipFill>
        </p:spPr>
      </p:sp>
      <p:grpSp>
        <p:nvGrpSpPr>
          <p:cNvPr name="Group 16" id="16"/>
          <p:cNvGrpSpPr/>
          <p:nvPr/>
        </p:nvGrpSpPr>
        <p:grpSpPr>
          <a:xfrm rot="-10800000">
            <a:off x="16085153" y="3514115"/>
            <a:ext cx="1836820" cy="1843735"/>
            <a:chOff x="0" y="0"/>
            <a:chExt cx="2449093" cy="2458314"/>
          </a:xfrm>
        </p:grpSpPr>
        <p:sp>
          <p:nvSpPr>
            <p:cNvPr name="Freeform 17" id="17"/>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11">
                <a:alphaModFix amt="40000"/>
              </a:blip>
              <a:stretch>
                <a:fillRect l="-18" t="0" r="-19" b="1"/>
              </a:stretch>
            </a:blipFill>
          </p:spPr>
        </p:sp>
      </p:grpSp>
      <p:sp>
        <p:nvSpPr>
          <p:cNvPr name="Freeform 18" id="18"/>
          <p:cNvSpPr/>
          <p:nvPr/>
        </p:nvSpPr>
        <p:spPr>
          <a:xfrm flipH="false" flipV="false" rot="0">
            <a:off x="16203392" y="3635817"/>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16274547" y="3706971"/>
            <a:ext cx="1458029" cy="1458028"/>
          </a:xfrm>
          <a:custGeom>
            <a:avLst/>
            <a:gdLst/>
            <a:ahLst/>
            <a:cxnLst/>
            <a:rect r="r" b="b" t="t" l="l"/>
            <a:pathLst>
              <a:path h="1458028" w="1458029">
                <a:moveTo>
                  <a:pt x="0" y="0"/>
                </a:moveTo>
                <a:lnTo>
                  <a:pt x="1458029" y="0"/>
                </a:lnTo>
                <a:lnTo>
                  <a:pt x="1458029" y="1458028"/>
                </a:lnTo>
                <a:lnTo>
                  <a:pt x="0" y="145802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16366358" y="3798783"/>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1" id="21"/>
          <p:cNvSpPr/>
          <p:nvPr/>
        </p:nvSpPr>
        <p:spPr>
          <a:xfrm flipH="false" flipV="false" rot="0">
            <a:off x="16684038" y="4075957"/>
            <a:ext cx="720061" cy="720061"/>
          </a:xfrm>
          <a:custGeom>
            <a:avLst/>
            <a:gdLst/>
            <a:ahLst/>
            <a:cxnLst/>
            <a:rect r="r" b="b" t="t" l="l"/>
            <a:pathLst>
              <a:path h="720061" w="720061">
                <a:moveTo>
                  <a:pt x="0" y="0"/>
                </a:moveTo>
                <a:lnTo>
                  <a:pt x="720061" y="0"/>
                </a:lnTo>
                <a:lnTo>
                  <a:pt x="720061" y="720061"/>
                </a:lnTo>
                <a:lnTo>
                  <a:pt x="0" y="72006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2" id="22"/>
          <p:cNvGrpSpPr/>
          <p:nvPr/>
        </p:nvGrpSpPr>
        <p:grpSpPr>
          <a:xfrm rot="0">
            <a:off x="427149" y="1683620"/>
            <a:ext cx="10306983" cy="4238081"/>
            <a:chOff x="0" y="0"/>
            <a:chExt cx="13742645" cy="5650774"/>
          </a:xfrm>
        </p:grpSpPr>
        <p:sp>
          <p:nvSpPr>
            <p:cNvPr name="Freeform 23" id="23"/>
            <p:cNvSpPr/>
            <p:nvPr/>
          </p:nvSpPr>
          <p:spPr>
            <a:xfrm flipH="false" flipV="false" rot="0">
              <a:off x="0" y="0"/>
              <a:ext cx="13742670" cy="5650800"/>
            </a:xfrm>
            <a:custGeom>
              <a:avLst/>
              <a:gdLst/>
              <a:ahLst/>
              <a:cxnLst/>
              <a:rect r="r" b="b" t="t" l="l"/>
              <a:pathLst>
                <a:path h="5650800" w="13742670">
                  <a:moveTo>
                    <a:pt x="0" y="0"/>
                  </a:moveTo>
                  <a:lnTo>
                    <a:pt x="13742670" y="0"/>
                  </a:lnTo>
                  <a:lnTo>
                    <a:pt x="13742670" y="5650800"/>
                  </a:lnTo>
                  <a:lnTo>
                    <a:pt x="0" y="5650800"/>
                  </a:lnTo>
                  <a:lnTo>
                    <a:pt x="0" y="0"/>
                  </a:lnTo>
                  <a:close/>
                </a:path>
              </a:pathLst>
            </a:custGeom>
            <a:blipFill>
              <a:blip r:embed="rId20">
                <a:alphaModFix amt="40000"/>
              </a:blip>
              <a:stretch>
                <a:fillRect l="0" t="-7102" r="0" b="-7101"/>
              </a:stretch>
            </a:blipFill>
          </p:spPr>
        </p:sp>
      </p:grpSp>
      <p:sp>
        <p:nvSpPr>
          <p:cNvPr name="TextBox 24" id="24"/>
          <p:cNvSpPr txBox="true"/>
          <p:nvPr/>
        </p:nvSpPr>
        <p:spPr>
          <a:xfrm rot="0">
            <a:off x="1334458" y="2536541"/>
            <a:ext cx="8473314" cy="2302759"/>
          </a:xfrm>
          <a:prstGeom prst="rect">
            <a:avLst/>
          </a:prstGeom>
        </p:spPr>
        <p:txBody>
          <a:bodyPr anchor="t" rtlCol="false" tIns="0" lIns="0" bIns="0" rIns="0">
            <a:spAutoFit/>
          </a:bodyPr>
          <a:lstStyle/>
          <a:p>
            <a:pPr algn="just">
              <a:lnSpc>
                <a:spcPts val="2320"/>
              </a:lnSpc>
            </a:pPr>
            <a:r>
              <a:rPr lang="en-US" sz="1656">
                <a:solidFill>
                  <a:srgbClr val="000000"/>
                </a:solidFill>
                <a:latin typeface="Arimo"/>
                <a:ea typeface="Arimo"/>
                <a:cs typeface="Arimo"/>
                <a:sym typeface="Arimo"/>
              </a:rPr>
              <a:t>SITS (Shipment Information Tracking System) by Infologia Technologies is a robust supply chain visibility platform offering real-time tracking across sea, air, road and rail. It consolidates shipment data from ocean carriers, airlines, and third-party solutions into a user-friendly dashboard, enabling logistics providers and cargo owners to monitor shipments without navigating multiple carrier sites. Designed for flexibility, SITS integrates seamlessly with existing Transport Management Systems (TMS), enhancing workflows without disruption. Trusted by clients, SITS boosts operational visibility, efficiency and customer satisfaction.</a:t>
            </a:r>
          </a:p>
        </p:txBody>
      </p:sp>
      <p:sp>
        <p:nvSpPr>
          <p:cNvPr name="TextBox 25" id="25"/>
          <p:cNvSpPr txBox="true"/>
          <p:nvPr/>
        </p:nvSpPr>
        <p:spPr>
          <a:xfrm rot="0">
            <a:off x="427149" y="654663"/>
            <a:ext cx="7414450"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SITS - </a:t>
            </a:r>
            <a:r>
              <a:rPr lang="en-US" sz="3999">
                <a:solidFill>
                  <a:srgbClr val="16599D"/>
                </a:solidFill>
                <a:latin typeface="Arimo"/>
                <a:ea typeface="Arimo"/>
                <a:cs typeface="Arimo"/>
                <a:sym typeface="Arimo"/>
              </a:rPr>
              <a:t>INFOLOGIA’S TRACK &amp; TRACE APPLICATION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9313374" y="1019175"/>
            <a:ext cx="8682876" cy="5266325"/>
          </a:xfrm>
          <a:custGeom>
            <a:avLst/>
            <a:gdLst/>
            <a:ahLst/>
            <a:cxnLst/>
            <a:rect r="r" b="b" t="t" l="l"/>
            <a:pathLst>
              <a:path h="5266325" w="8682876">
                <a:moveTo>
                  <a:pt x="0" y="0"/>
                </a:moveTo>
                <a:lnTo>
                  <a:pt x="8682875" y="0"/>
                </a:lnTo>
                <a:lnTo>
                  <a:pt x="8682875" y="5266325"/>
                </a:lnTo>
                <a:lnTo>
                  <a:pt x="0" y="5266325"/>
                </a:lnTo>
                <a:lnTo>
                  <a:pt x="0" y="0"/>
                </a:lnTo>
                <a:close/>
              </a:path>
            </a:pathLst>
          </a:custGeom>
          <a:blipFill>
            <a:blip r:embed="rId2"/>
            <a:stretch>
              <a:fillRect l="0" t="-5026" r="0" b="-5039"/>
            </a:stretch>
          </a:blipFill>
        </p:spPr>
      </p:sp>
      <p:grpSp>
        <p:nvGrpSpPr>
          <p:cNvPr name="Group 3" id="3"/>
          <p:cNvGrpSpPr/>
          <p:nvPr/>
        </p:nvGrpSpPr>
        <p:grpSpPr>
          <a:xfrm rot="0">
            <a:off x="739883" y="2307060"/>
            <a:ext cx="8404117" cy="3606060"/>
            <a:chOff x="0" y="0"/>
            <a:chExt cx="11205489" cy="4808080"/>
          </a:xfrm>
        </p:grpSpPr>
        <p:sp>
          <p:nvSpPr>
            <p:cNvPr name="Freeform 4" id="4"/>
            <p:cNvSpPr/>
            <p:nvPr/>
          </p:nvSpPr>
          <p:spPr>
            <a:xfrm flipH="false" flipV="false" rot="0">
              <a:off x="0" y="0"/>
              <a:ext cx="11205464" cy="4808093"/>
            </a:xfrm>
            <a:custGeom>
              <a:avLst/>
              <a:gdLst/>
              <a:ahLst/>
              <a:cxnLst/>
              <a:rect r="r" b="b" t="t" l="l"/>
              <a:pathLst>
                <a:path h="4808093" w="11205464">
                  <a:moveTo>
                    <a:pt x="0" y="0"/>
                  </a:moveTo>
                  <a:lnTo>
                    <a:pt x="11205464" y="0"/>
                  </a:lnTo>
                  <a:lnTo>
                    <a:pt x="11205464" y="4808093"/>
                  </a:lnTo>
                  <a:lnTo>
                    <a:pt x="0" y="4808093"/>
                  </a:lnTo>
                  <a:lnTo>
                    <a:pt x="0" y="0"/>
                  </a:lnTo>
                  <a:close/>
                </a:path>
              </a:pathLst>
            </a:custGeom>
            <a:blipFill>
              <a:blip r:embed="rId3">
                <a:alphaModFix amt="40000"/>
              </a:blip>
              <a:stretch>
                <a:fillRect l="0" t="-4720" r="0" b="-4720"/>
              </a:stretch>
            </a:blipFill>
          </p:spPr>
        </p:sp>
      </p:grpSp>
      <p:sp>
        <p:nvSpPr>
          <p:cNvPr name="TextBox 5" id="5"/>
          <p:cNvSpPr txBox="true"/>
          <p:nvPr/>
        </p:nvSpPr>
        <p:spPr>
          <a:xfrm rot="0">
            <a:off x="1806273" y="2987764"/>
            <a:ext cx="6271336" cy="1999615"/>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Infologia’s vision is not only to build a Transport Management System but also to enhance it with real-time visibility and intelligence through seamless integration with SITS (Shipment Information Tracking System). This integration transforms Cargossoft from a process-driven TMS into a data-driven logistics command center.</a:t>
            </a:r>
          </a:p>
        </p:txBody>
      </p:sp>
      <p:sp>
        <p:nvSpPr>
          <p:cNvPr name="Freeform 6" id="6"/>
          <p:cNvSpPr/>
          <p:nvPr/>
        </p:nvSpPr>
        <p:spPr>
          <a:xfrm flipH="false" flipV="false" rot="0">
            <a:off x="2883494" y="7307590"/>
            <a:ext cx="371704" cy="334537"/>
          </a:xfrm>
          <a:custGeom>
            <a:avLst/>
            <a:gdLst/>
            <a:ahLst/>
            <a:cxnLst/>
            <a:rect r="r" b="b" t="t" l="l"/>
            <a:pathLst>
              <a:path h="334537" w="371704">
                <a:moveTo>
                  <a:pt x="0" y="0"/>
                </a:moveTo>
                <a:lnTo>
                  <a:pt x="371703" y="0"/>
                </a:lnTo>
                <a:lnTo>
                  <a:pt x="371703" y="334537"/>
                </a:lnTo>
                <a:lnTo>
                  <a:pt x="0" y="334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883494" y="8065465"/>
            <a:ext cx="371704" cy="334537"/>
          </a:xfrm>
          <a:custGeom>
            <a:avLst/>
            <a:gdLst/>
            <a:ahLst/>
            <a:cxnLst/>
            <a:rect r="r" b="b" t="t" l="l"/>
            <a:pathLst>
              <a:path h="334537" w="371704">
                <a:moveTo>
                  <a:pt x="0" y="0"/>
                </a:moveTo>
                <a:lnTo>
                  <a:pt x="371703" y="0"/>
                </a:lnTo>
                <a:lnTo>
                  <a:pt x="371703" y="334537"/>
                </a:lnTo>
                <a:lnTo>
                  <a:pt x="0" y="334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883494" y="8749779"/>
            <a:ext cx="371704" cy="334537"/>
          </a:xfrm>
          <a:custGeom>
            <a:avLst/>
            <a:gdLst/>
            <a:ahLst/>
            <a:cxnLst/>
            <a:rect r="r" b="b" t="t" l="l"/>
            <a:pathLst>
              <a:path h="334537" w="371704">
                <a:moveTo>
                  <a:pt x="0" y="0"/>
                </a:moveTo>
                <a:lnTo>
                  <a:pt x="371703" y="0"/>
                </a:lnTo>
                <a:lnTo>
                  <a:pt x="371703" y="334537"/>
                </a:lnTo>
                <a:lnTo>
                  <a:pt x="0" y="334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3490532" y="7190737"/>
            <a:ext cx="14629552" cy="701675"/>
          </a:xfrm>
          <a:prstGeom prst="rect">
            <a:avLst/>
          </a:prstGeom>
        </p:spPr>
        <p:txBody>
          <a:bodyPr anchor="t" rtlCol="false" tIns="0" lIns="0" bIns="0" rIns="0">
            <a:spAutoFit/>
          </a:bodyPr>
          <a:lstStyle/>
          <a:p>
            <a:pPr algn="l">
              <a:lnSpc>
                <a:spcPts val="2800"/>
              </a:lnSpc>
            </a:pPr>
            <a:r>
              <a:rPr lang="en-US" sz="2000">
                <a:solidFill>
                  <a:srgbClr val="000000"/>
                </a:solidFill>
                <a:latin typeface="Arimo"/>
                <a:ea typeface="Arimo"/>
                <a:cs typeface="Arimo"/>
                <a:sym typeface="Arimo"/>
              </a:rPr>
              <a:t>Automation: Cargossoft users see shipments created in the TMS while SITS automatically pulls live updates from carriers, customers and partner system. Client can enable or disable the tracking system based on the needs.</a:t>
            </a:r>
          </a:p>
        </p:txBody>
      </p:sp>
      <p:sp>
        <p:nvSpPr>
          <p:cNvPr name="TextBox 10" id="10"/>
          <p:cNvSpPr txBox="true"/>
          <p:nvPr/>
        </p:nvSpPr>
        <p:spPr>
          <a:xfrm rot="0">
            <a:off x="3490532" y="7920987"/>
            <a:ext cx="14629552" cy="701675"/>
          </a:xfrm>
          <a:prstGeom prst="rect">
            <a:avLst/>
          </a:prstGeom>
        </p:spPr>
        <p:txBody>
          <a:bodyPr anchor="t" rtlCol="false" tIns="0" lIns="0" bIns="0" rIns="0">
            <a:spAutoFit/>
          </a:bodyPr>
          <a:lstStyle/>
          <a:p>
            <a:pPr algn="l">
              <a:lnSpc>
                <a:spcPts val="2800"/>
              </a:lnSpc>
            </a:pPr>
            <a:r>
              <a:rPr lang="en-US" sz="2000">
                <a:solidFill>
                  <a:srgbClr val="000000"/>
                </a:solidFill>
                <a:latin typeface="Arimo"/>
                <a:ea typeface="Arimo"/>
                <a:cs typeface="Arimo"/>
                <a:sym typeface="Arimo"/>
              </a:rPr>
              <a:t>Automated Updates: Any milestone update (departure, arrival, customs clearance, POD, etc.) from SITS syncs to the shipment in Cargossoft.</a:t>
            </a:r>
          </a:p>
        </p:txBody>
      </p:sp>
      <p:sp>
        <p:nvSpPr>
          <p:cNvPr name="TextBox 11" id="11"/>
          <p:cNvSpPr txBox="true"/>
          <p:nvPr/>
        </p:nvSpPr>
        <p:spPr>
          <a:xfrm rot="0">
            <a:off x="3490532" y="8677734"/>
            <a:ext cx="14629552" cy="701675"/>
          </a:xfrm>
          <a:prstGeom prst="rect">
            <a:avLst/>
          </a:prstGeom>
        </p:spPr>
        <p:txBody>
          <a:bodyPr anchor="t" rtlCol="false" tIns="0" lIns="0" bIns="0" rIns="0">
            <a:spAutoFit/>
          </a:bodyPr>
          <a:lstStyle/>
          <a:p>
            <a:pPr algn="l">
              <a:lnSpc>
                <a:spcPts val="2800"/>
              </a:lnSpc>
            </a:pPr>
            <a:r>
              <a:rPr lang="en-US" sz="2000">
                <a:solidFill>
                  <a:srgbClr val="000000"/>
                </a:solidFill>
                <a:latin typeface="Arimo"/>
                <a:ea typeface="Arimo"/>
                <a:cs typeface="Arimo"/>
                <a:sym typeface="Arimo"/>
              </a:rPr>
              <a:t>Customer Access: Customers don’t need to log into multiple carrier portals—through Cargossoft’s customer portal, they see SITS-powered real-time visibility.</a:t>
            </a:r>
          </a:p>
        </p:txBody>
      </p:sp>
      <p:sp>
        <p:nvSpPr>
          <p:cNvPr name="TextBox 12" id="12"/>
          <p:cNvSpPr txBox="true"/>
          <p:nvPr/>
        </p:nvSpPr>
        <p:spPr>
          <a:xfrm rot="0">
            <a:off x="3490532" y="9533680"/>
            <a:ext cx="14629552" cy="349250"/>
          </a:xfrm>
          <a:prstGeom prst="rect">
            <a:avLst/>
          </a:prstGeom>
        </p:spPr>
        <p:txBody>
          <a:bodyPr anchor="t" rtlCol="false" tIns="0" lIns="0" bIns="0" rIns="0">
            <a:spAutoFit/>
          </a:bodyPr>
          <a:lstStyle/>
          <a:p>
            <a:pPr algn="l">
              <a:lnSpc>
                <a:spcPts val="2800"/>
              </a:lnSpc>
            </a:pPr>
            <a:r>
              <a:rPr lang="en-US" sz="2000">
                <a:solidFill>
                  <a:srgbClr val="000000"/>
                </a:solidFill>
                <a:latin typeface="Arimo"/>
                <a:ea typeface="Arimo"/>
                <a:cs typeface="Arimo"/>
                <a:sym typeface="Arimo"/>
              </a:rPr>
              <a:t>End-to-End Flow: Book → Execute → Track → Bill → Report → Analyze (all inside one system).</a:t>
            </a:r>
          </a:p>
        </p:txBody>
      </p:sp>
      <p:sp>
        <p:nvSpPr>
          <p:cNvPr name="Freeform 13" id="13"/>
          <p:cNvSpPr/>
          <p:nvPr/>
        </p:nvSpPr>
        <p:spPr>
          <a:xfrm flipH="false" flipV="false" rot="0">
            <a:off x="2883494" y="9529343"/>
            <a:ext cx="371704" cy="334537"/>
          </a:xfrm>
          <a:custGeom>
            <a:avLst/>
            <a:gdLst/>
            <a:ahLst/>
            <a:cxnLst/>
            <a:rect r="r" b="b" t="t" l="l"/>
            <a:pathLst>
              <a:path h="334537" w="371704">
                <a:moveTo>
                  <a:pt x="0" y="0"/>
                </a:moveTo>
                <a:lnTo>
                  <a:pt x="371703" y="0"/>
                </a:lnTo>
                <a:lnTo>
                  <a:pt x="371703" y="334537"/>
                </a:lnTo>
                <a:lnTo>
                  <a:pt x="0" y="334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369246" y="6020648"/>
            <a:ext cx="2737685" cy="1006840"/>
            <a:chOff x="0" y="0"/>
            <a:chExt cx="3650247" cy="1342454"/>
          </a:xfrm>
        </p:grpSpPr>
        <p:sp>
          <p:nvSpPr>
            <p:cNvPr name="Freeform 15" id="15"/>
            <p:cNvSpPr/>
            <p:nvPr/>
          </p:nvSpPr>
          <p:spPr>
            <a:xfrm flipH="false" flipV="false" rot="0">
              <a:off x="0" y="0"/>
              <a:ext cx="3650234" cy="1342390"/>
            </a:xfrm>
            <a:custGeom>
              <a:avLst/>
              <a:gdLst/>
              <a:ahLst/>
              <a:cxnLst/>
              <a:rect r="r" b="b" t="t" l="l"/>
              <a:pathLst>
                <a:path h="1342390" w="3650234">
                  <a:moveTo>
                    <a:pt x="0" y="0"/>
                  </a:moveTo>
                  <a:lnTo>
                    <a:pt x="3650234" y="0"/>
                  </a:lnTo>
                  <a:lnTo>
                    <a:pt x="3650234" y="1342390"/>
                  </a:lnTo>
                  <a:lnTo>
                    <a:pt x="0" y="1342390"/>
                  </a:lnTo>
                  <a:lnTo>
                    <a:pt x="0" y="0"/>
                  </a:lnTo>
                  <a:close/>
                </a:path>
              </a:pathLst>
            </a:custGeom>
            <a:blipFill>
              <a:blip r:embed="rId6"/>
              <a:stretch>
                <a:fillRect l="0" t="-10166" r="0" b="-10170"/>
              </a:stretch>
            </a:blipFill>
          </p:spPr>
        </p:sp>
      </p:grpSp>
      <p:sp>
        <p:nvSpPr>
          <p:cNvPr name="TextBox 16" id="16"/>
          <p:cNvSpPr txBox="true"/>
          <p:nvPr/>
        </p:nvSpPr>
        <p:spPr>
          <a:xfrm rot="0">
            <a:off x="442102" y="6064464"/>
            <a:ext cx="2450917" cy="505824"/>
          </a:xfrm>
          <a:prstGeom prst="rect">
            <a:avLst/>
          </a:prstGeom>
        </p:spPr>
        <p:txBody>
          <a:bodyPr anchor="t" rtlCol="false" tIns="0" lIns="0" bIns="0" rIns="0">
            <a:spAutoFit/>
          </a:bodyPr>
          <a:lstStyle/>
          <a:p>
            <a:pPr algn="ctr">
              <a:lnSpc>
                <a:spcPts val="2005"/>
              </a:lnSpc>
            </a:pPr>
            <a:r>
              <a:rPr lang="en-US" sz="1432">
                <a:solidFill>
                  <a:srgbClr val="000000"/>
                </a:solidFill>
                <a:latin typeface="Arimo"/>
                <a:ea typeface="Arimo"/>
                <a:cs typeface="Arimo"/>
                <a:sym typeface="Arimo"/>
              </a:rPr>
              <a:t>Business Functional Integration - Non Technical</a:t>
            </a:r>
          </a:p>
        </p:txBody>
      </p:sp>
      <p:sp>
        <p:nvSpPr>
          <p:cNvPr name="Freeform 17" id="17"/>
          <p:cNvSpPr/>
          <p:nvPr/>
        </p:nvSpPr>
        <p:spPr>
          <a:xfrm flipH="true" flipV="false" rot="0">
            <a:off x="1499159" y="6960813"/>
            <a:ext cx="1146467" cy="1419777"/>
          </a:xfrm>
          <a:custGeom>
            <a:avLst/>
            <a:gdLst/>
            <a:ahLst/>
            <a:cxnLst/>
            <a:rect r="r" b="b" t="t" l="l"/>
            <a:pathLst>
              <a:path h="1419777" w="1146467">
                <a:moveTo>
                  <a:pt x="1146467" y="0"/>
                </a:moveTo>
                <a:lnTo>
                  <a:pt x="0" y="0"/>
                </a:lnTo>
                <a:lnTo>
                  <a:pt x="0" y="1419777"/>
                </a:lnTo>
                <a:lnTo>
                  <a:pt x="1146467" y="1419777"/>
                </a:lnTo>
                <a:lnTo>
                  <a:pt x="1146467" y="0"/>
                </a:lnTo>
                <a:close/>
              </a:path>
            </a:pathLst>
          </a:custGeom>
          <a:blipFill>
            <a:blip r:embed="rId7">
              <a:extLst>
                <a:ext uri="{96DAC541-7B7A-43D3-8B79-37D633B846F1}">
                  <asvg:svgBlip xmlns:asvg="http://schemas.microsoft.com/office/drawing/2016/SVG/main" r:embed="rId8"/>
                </a:ext>
              </a:extLst>
            </a:blip>
            <a:stretch>
              <a:fillRect l="0" t="-51" r="0" b="-51"/>
            </a:stretch>
          </a:blipFill>
        </p:spPr>
      </p:sp>
      <p:sp>
        <p:nvSpPr>
          <p:cNvPr name="TextBox 18" id="18"/>
          <p:cNvSpPr txBox="true"/>
          <p:nvPr/>
        </p:nvSpPr>
        <p:spPr>
          <a:xfrm rot="0">
            <a:off x="1028700" y="948157"/>
            <a:ext cx="7414450"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CARGOSSOFT &amp; SITS INTEGRATION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050207" y="6567668"/>
            <a:ext cx="6928209" cy="3229756"/>
          </a:xfrm>
          <a:custGeom>
            <a:avLst/>
            <a:gdLst/>
            <a:ahLst/>
            <a:cxnLst/>
            <a:rect r="r" b="b" t="t" l="l"/>
            <a:pathLst>
              <a:path h="3229756" w="6928209">
                <a:moveTo>
                  <a:pt x="0" y="0"/>
                </a:moveTo>
                <a:lnTo>
                  <a:pt x="6928209" y="0"/>
                </a:lnTo>
                <a:lnTo>
                  <a:pt x="6928209" y="3229757"/>
                </a:lnTo>
                <a:lnTo>
                  <a:pt x="0" y="3229757"/>
                </a:lnTo>
                <a:lnTo>
                  <a:pt x="0" y="0"/>
                </a:lnTo>
                <a:close/>
              </a:path>
            </a:pathLst>
          </a:custGeom>
          <a:blipFill>
            <a:blip r:embed="rId2"/>
            <a:stretch>
              <a:fillRect l="0" t="-28201" r="0" b="-14806"/>
            </a:stretch>
          </a:blipFill>
        </p:spPr>
      </p:sp>
      <p:sp>
        <p:nvSpPr>
          <p:cNvPr name="Freeform 3" id="3"/>
          <p:cNvSpPr/>
          <p:nvPr/>
        </p:nvSpPr>
        <p:spPr>
          <a:xfrm flipH="false" flipV="false" rot="0">
            <a:off x="9515675" y="-901103"/>
            <a:ext cx="6397238" cy="10698518"/>
          </a:xfrm>
          <a:custGeom>
            <a:avLst/>
            <a:gdLst/>
            <a:ahLst/>
            <a:cxnLst/>
            <a:rect r="r" b="b" t="t" l="l"/>
            <a:pathLst>
              <a:path h="10698518" w="6397238">
                <a:moveTo>
                  <a:pt x="0" y="0"/>
                </a:moveTo>
                <a:lnTo>
                  <a:pt x="6397238" y="0"/>
                </a:lnTo>
                <a:lnTo>
                  <a:pt x="6397238" y="10698518"/>
                </a:lnTo>
                <a:lnTo>
                  <a:pt x="0" y="10698518"/>
                </a:lnTo>
                <a:lnTo>
                  <a:pt x="0" y="0"/>
                </a:lnTo>
                <a:close/>
              </a:path>
            </a:pathLst>
          </a:custGeom>
          <a:blipFill>
            <a:blip r:embed="rId3"/>
            <a:stretch>
              <a:fillRect l="-91093" t="0" r="-67503" b="0"/>
            </a:stretch>
          </a:blipFill>
        </p:spPr>
      </p:sp>
      <p:grpSp>
        <p:nvGrpSpPr>
          <p:cNvPr name="Group 4" id="4"/>
          <p:cNvGrpSpPr/>
          <p:nvPr/>
        </p:nvGrpSpPr>
        <p:grpSpPr>
          <a:xfrm rot="-10800000">
            <a:off x="15422480" y="1734388"/>
            <a:ext cx="1836820" cy="1843735"/>
            <a:chOff x="0" y="0"/>
            <a:chExt cx="2449093" cy="2458314"/>
          </a:xfrm>
        </p:grpSpPr>
        <p:sp>
          <p:nvSpPr>
            <p:cNvPr name="Freeform 5" id="5"/>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4">
                <a:alphaModFix amt="40000"/>
              </a:blip>
              <a:stretch>
                <a:fillRect l="-18" t="0" r="-19" b="1"/>
              </a:stretch>
            </a:blipFill>
          </p:spPr>
        </p:sp>
      </p:grpSp>
      <p:sp>
        <p:nvSpPr>
          <p:cNvPr name="Freeform 6" id="6"/>
          <p:cNvSpPr/>
          <p:nvPr/>
        </p:nvSpPr>
        <p:spPr>
          <a:xfrm flipH="false" flipV="false" rot="0">
            <a:off x="15540721" y="1856087"/>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5611876" y="1927241"/>
            <a:ext cx="1458029" cy="1458028"/>
          </a:xfrm>
          <a:custGeom>
            <a:avLst/>
            <a:gdLst/>
            <a:ahLst/>
            <a:cxnLst/>
            <a:rect r="r" b="b" t="t" l="l"/>
            <a:pathLst>
              <a:path h="1458028" w="1458029">
                <a:moveTo>
                  <a:pt x="0" y="0"/>
                </a:moveTo>
                <a:lnTo>
                  <a:pt x="1458029" y="0"/>
                </a:lnTo>
                <a:lnTo>
                  <a:pt x="1458029" y="1458028"/>
                </a:lnTo>
                <a:lnTo>
                  <a:pt x="0" y="14580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3687" y="2019053"/>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973825" y="2242423"/>
            <a:ext cx="753180" cy="827675"/>
          </a:xfrm>
          <a:custGeom>
            <a:avLst/>
            <a:gdLst/>
            <a:ahLst/>
            <a:cxnLst/>
            <a:rect r="r" b="b" t="t" l="l"/>
            <a:pathLst>
              <a:path h="827675" w="753180">
                <a:moveTo>
                  <a:pt x="0" y="0"/>
                </a:moveTo>
                <a:lnTo>
                  <a:pt x="753180" y="0"/>
                </a:lnTo>
                <a:lnTo>
                  <a:pt x="753180" y="827675"/>
                </a:lnTo>
                <a:lnTo>
                  <a:pt x="0" y="827675"/>
                </a:lnTo>
                <a:lnTo>
                  <a:pt x="0" y="0"/>
                </a:lnTo>
                <a:close/>
              </a:path>
            </a:pathLst>
          </a:custGeom>
          <a:blipFill>
            <a:blip r:embed="rId11">
              <a:extLst>
                <a:ext uri="{96DAC541-7B7A-43D3-8B79-37D633B846F1}">
                  <asvg:svgBlip xmlns:asvg="http://schemas.microsoft.com/office/drawing/2016/SVG/main" r:embed="rId12"/>
                </a:ext>
              </a:extLst>
            </a:blip>
            <a:stretch>
              <a:fillRect l="-524" t="0" r="-523" b="0"/>
            </a:stretch>
          </a:blipFill>
        </p:spPr>
      </p:sp>
      <p:sp>
        <p:nvSpPr>
          <p:cNvPr name="TextBox 10" id="10"/>
          <p:cNvSpPr txBox="true"/>
          <p:nvPr/>
        </p:nvSpPr>
        <p:spPr>
          <a:xfrm rot="0">
            <a:off x="1028700" y="1081507"/>
            <a:ext cx="5168303"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ENHANCEMENT OF  CARGOSSOFT</a:t>
            </a:r>
          </a:p>
        </p:txBody>
      </p:sp>
      <p:sp>
        <p:nvSpPr>
          <p:cNvPr name="TextBox 11" id="11"/>
          <p:cNvSpPr txBox="true"/>
          <p:nvPr/>
        </p:nvSpPr>
        <p:spPr>
          <a:xfrm rot="0">
            <a:off x="1028700" y="2850366"/>
            <a:ext cx="6949716" cy="3333115"/>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Our current Cargossoft TMS includes essential functionalities such as Order Management, Shipment Execution, Billing, Tracking &amp; Visibility, Analytics &amp; Reporting and Customer &amp; Vendor Portals, which effectively support core transportation workflows. To keep pace with industry demands and deliver a more intelligent, scalable logistics solution, we are embarking on a strategic enhancement of Cargossoft, covering system upgrades, new module integrations and AI-driven innovations. The existing modules will be enhanced into the following modules.</a:t>
            </a:r>
          </a:p>
        </p:txBody>
      </p:sp>
      <p:sp>
        <p:nvSpPr>
          <p:cNvPr name="Freeform 12" id="12"/>
          <p:cNvSpPr/>
          <p:nvPr/>
        </p:nvSpPr>
        <p:spPr>
          <a:xfrm flipH="false" flipV="false" rot="0">
            <a:off x="12960572" y="6882022"/>
            <a:ext cx="4298728" cy="800633"/>
          </a:xfrm>
          <a:custGeom>
            <a:avLst/>
            <a:gdLst/>
            <a:ahLst/>
            <a:cxnLst/>
            <a:rect r="r" b="b" t="t" l="l"/>
            <a:pathLst>
              <a:path h="800633" w="4298728">
                <a:moveTo>
                  <a:pt x="0" y="0"/>
                </a:moveTo>
                <a:lnTo>
                  <a:pt x="4298728" y="0"/>
                </a:lnTo>
                <a:lnTo>
                  <a:pt x="4298728" y="800633"/>
                </a:lnTo>
                <a:lnTo>
                  <a:pt x="0" y="800633"/>
                </a:lnTo>
                <a:lnTo>
                  <a:pt x="0" y="0"/>
                </a:lnTo>
                <a:close/>
              </a:path>
            </a:pathLst>
          </a:custGeom>
          <a:blipFill>
            <a:blip r:embed="rId13">
              <a:extLst>
                <a:ext uri="{96DAC541-7B7A-43D3-8B79-37D633B846F1}">
                  <asvg:svgBlip xmlns:asvg="http://schemas.microsoft.com/office/drawing/2016/SVG/main" r:embed="rId14"/>
                </a:ext>
              </a:extLst>
            </a:blip>
            <a:stretch>
              <a:fillRect l="0" t="-484" r="0" b="-484"/>
            </a:stretch>
          </a:blipFill>
        </p:spPr>
      </p:sp>
      <p:sp>
        <p:nvSpPr>
          <p:cNvPr name="Freeform 13" id="13"/>
          <p:cNvSpPr/>
          <p:nvPr/>
        </p:nvSpPr>
        <p:spPr>
          <a:xfrm flipH="false" flipV="false" rot="0">
            <a:off x="12960572" y="7989399"/>
            <a:ext cx="4298728" cy="800633"/>
          </a:xfrm>
          <a:custGeom>
            <a:avLst/>
            <a:gdLst/>
            <a:ahLst/>
            <a:cxnLst/>
            <a:rect r="r" b="b" t="t" l="l"/>
            <a:pathLst>
              <a:path h="800633" w="4298728">
                <a:moveTo>
                  <a:pt x="0" y="0"/>
                </a:moveTo>
                <a:lnTo>
                  <a:pt x="4298728" y="0"/>
                </a:lnTo>
                <a:lnTo>
                  <a:pt x="4298728" y="800633"/>
                </a:lnTo>
                <a:lnTo>
                  <a:pt x="0" y="800633"/>
                </a:lnTo>
                <a:lnTo>
                  <a:pt x="0" y="0"/>
                </a:lnTo>
                <a:close/>
              </a:path>
            </a:pathLst>
          </a:custGeom>
          <a:blipFill>
            <a:blip r:embed="rId13">
              <a:extLst>
                <a:ext uri="{96DAC541-7B7A-43D3-8B79-37D633B846F1}">
                  <asvg:svgBlip xmlns:asvg="http://schemas.microsoft.com/office/drawing/2016/SVG/main" r:embed="rId14"/>
                </a:ext>
              </a:extLst>
            </a:blip>
            <a:stretch>
              <a:fillRect l="0" t="-484" r="0" b="-484"/>
            </a:stretch>
          </a:blipFill>
        </p:spPr>
      </p:sp>
      <p:sp>
        <p:nvSpPr>
          <p:cNvPr name="Freeform 14" id="14"/>
          <p:cNvSpPr/>
          <p:nvPr/>
        </p:nvSpPr>
        <p:spPr>
          <a:xfrm flipH="false" flipV="false" rot="0">
            <a:off x="13210137" y="8235144"/>
            <a:ext cx="309143" cy="309143"/>
          </a:xfrm>
          <a:custGeom>
            <a:avLst/>
            <a:gdLst/>
            <a:ahLst/>
            <a:cxnLst/>
            <a:rect r="r" b="b" t="t" l="l"/>
            <a:pathLst>
              <a:path h="309143" w="309143">
                <a:moveTo>
                  <a:pt x="0" y="0"/>
                </a:moveTo>
                <a:lnTo>
                  <a:pt x="309143" y="0"/>
                </a:lnTo>
                <a:lnTo>
                  <a:pt x="309143" y="309143"/>
                </a:lnTo>
                <a:lnTo>
                  <a:pt x="0" y="30914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5" id="15"/>
          <p:cNvSpPr txBox="true"/>
          <p:nvPr/>
        </p:nvSpPr>
        <p:spPr>
          <a:xfrm rot="0">
            <a:off x="9840867" y="7127586"/>
            <a:ext cx="2327970" cy="295250"/>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Carrier Management</a:t>
            </a:r>
          </a:p>
        </p:txBody>
      </p:sp>
      <p:sp>
        <p:nvSpPr>
          <p:cNvPr name="Freeform 16" id="16"/>
          <p:cNvSpPr/>
          <p:nvPr/>
        </p:nvSpPr>
        <p:spPr>
          <a:xfrm flipH="false" flipV="false" rot="0">
            <a:off x="8450123" y="6882022"/>
            <a:ext cx="4298728" cy="800633"/>
          </a:xfrm>
          <a:custGeom>
            <a:avLst/>
            <a:gdLst/>
            <a:ahLst/>
            <a:cxnLst/>
            <a:rect r="r" b="b" t="t" l="l"/>
            <a:pathLst>
              <a:path h="800633" w="4298728">
                <a:moveTo>
                  <a:pt x="0" y="0"/>
                </a:moveTo>
                <a:lnTo>
                  <a:pt x="4298728" y="0"/>
                </a:lnTo>
                <a:lnTo>
                  <a:pt x="4298728" y="800633"/>
                </a:lnTo>
                <a:lnTo>
                  <a:pt x="0" y="800633"/>
                </a:lnTo>
                <a:lnTo>
                  <a:pt x="0" y="0"/>
                </a:lnTo>
                <a:close/>
              </a:path>
            </a:pathLst>
          </a:custGeom>
          <a:blipFill>
            <a:blip r:embed="rId13">
              <a:extLst>
                <a:ext uri="{96DAC541-7B7A-43D3-8B79-37D633B846F1}">
                  <asvg:svgBlip xmlns:asvg="http://schemas.microsoft.com/office/drawing/2016/SVG/main" r:embed="rId14"/>
                </a:ext>
              </a:extLst>
            </a:blip>
            <a:stretch>
              <a:fillRect l="0" t="-484" r="0" b="-484"/>
            </a:stretch>
          </a:blipFill>
        </p:spPr>
      </p:sp>
      <p:sp>
        <p:nvSpPr>
          <p:cNvPr name="Freeform 17" id="17"/>
          <p:cNvSpPr/>
          <p:nvPr/>
        </p:nvSpPr>
        <p:spPr>
          <a:xfrm flipH="false" flipV="false" rot="0">
            <a:off x="8705555" y="8235144"/>
            <a:ext cx="309143" cy="309143"/>
          </a:xfrm>
          <a:custGeom>
            <a:avLst/>
            <a:gdLst/>
            <a:ahLst/>
            <a:cxnLst/>
            <a:rect r="r" b="b" t="t" l="l"/>
            <a:pathLst>
              <a:path h="309143" w="309143">
                <a:moveTo>
                  <a:pt x="0" y="0"/>
                </a:moveTo>
                <a:lnTo>
                  <a:pt x="309143" y="0"/>
                </a:lnTo>
                <a:lnTo>
                  <a:pt x="309143" y="309143"/>
                </a:lnTo>
                <a:lnTo>
                  <a:pt x="0" y="30914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8450123" y="7989399"/>
            <a:ext cx="4298728" cy="800633"/>
          </a:xfrm>
          <a:custGeom>
            <a:avLst/>
            <a:gdLst/>
            <a:ahLst/>
            <a:cxnLst/>
            <a:rect r="r" b="b" t="t" l="l"/>
            <a:pathLst>
              <a:path h="800633" w="4298728">
                <a:moveTo>
                  <a:pt x="0" y="0"/>
                </a:moveTo>
                <a:lnTo>
                  <a:pt x="4298728" y="0"/>
                </a:lnTo>
                <a:lnTo>
                  <a:pt x="4298728" y="800633"/>
                </a:lnTo>
                <a:lnTo>
                  <a:pt x="0" y="800633"/>
                </a:lnTo>
                <a:lnTo>
                  <a:pt x="0" y="0"/>
                </a:lnTo>
                <a:close/>
              </a:path>
            </a:pathLst>
          </a:custGeom>
          <a:blipFill>
            <a:blip r:embed="rId13">
              <a:extLst>
                <a:ext uri="{96DAC541-7B7A-43D3-8B79-37D633B846F1}">
                  <asvg:svgBlip xmlns:asvg="http://schemas.microsoft.com/office/drawing/2016/SVG/main" r:embed="rId14"/>
                </a:ext>
              </a:extLst>
            </a:blip>
            <a:stretch>
              <a:fillRect l="0" t="-484" r="0" b="-484"/>
            </a:stretch>
          </a:blipFill>
        </p:spPr>
      </p:sp>
      <p:sp>
        <p:nvSpPr>
          <p:cNvPr name="Freeform 19" id="19"/>
          <p:cNvSpPr/>
          <p:nvPr/>
        </p:nvSpPr>
        <p:spPr>
          <a:xfrm flipH="false" flipV="false" rot="0">
            <a:off x="8705555" y="8233239"/>
            <a:ext cx="309143" cy="309143"/>
          </a:xfrm>
          <a:custGeom>
            <a:avLst/>
            <a:gdLst/>
            <a:ahLst/>
            <a:cxnLst/>
            <a:rect r="r" b="b" t="t" l="l"/>
            <a:pathLst>
              <a:path h="309143" w="309143">
                <a:moveTo>
                  <a:pt x="0" y="0"/>
                </a:moveTo>
                <a:lnTo>
                  <a:pt x="309143" y="0"/>
                </a:lnTo>
                <a:lnTo>
                  <a:pt x="309143" y="309143"/>
                </a:lnTo>
                <a:lnTo>
                  <a:pt x="0" y="30914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0" id="20"/>
          <p:cNvSpPr/>
          <p:nvPr/>
        </p:nvSpPr>
        <p:spPr>
          <a:xfrm flipH="false" flipV="false" rot="0">
            <a:off x="8705555" y="7120861"/>
            <a:ext cx="309143" cy="309143"/>
          </a:xfrm>
          <a:custGeom>
            <a:avLst/>
            <a:gdLst/>
            <a:ahLst/>
            <a:cxnLst/>
            <a:rect r="r" b="b" t="t" l="l"/>
            <a:pathLst>
              <a:path h="309143" w="309143">
                <a:moveTo>
                  <a:pt x="0" y="0"/>
                </a:moveTo>
                <a:lnTo>
                  <a:pt x="309143" y="0"/>
                </a:lnTo>
                <a:lnTo>
                  <a:pt x="309143" y="309144"/>
                </a:lnTo>
                <a:lnTo>
                  <a:pt x="0" y="30914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1" id="21"/>
          <p:cNvSpPr/>
          <p:nvPr/>
        </p:nvSpPr>
        <p:spPr>
          <a:xfrm flipH="false" flipV="false" rot="0">
            <a:off x="13210137" y="7134730"/>
            <a:ext cx="309143" cy="309143"/>
          </a:xfrm>
          <a:custGeom>
            <a:avLst/>
            <a:gdLst/>
            <a:ahLst/>
            <a:cxnLst/>
            <a:rect r="r" b="b" t="t" l="l"/>
            <a:pathLst>
              <a:path h="309143" w="309143">
                <a:moveTo>
                  <a:pt x="0" y="0"/>
                </a:moveTo>
                <a:lnTo>
                  <a:pt x="309143" y="0"/>
                </a:lnTo>
                <a:lnTo>
                  <a:pt x="309143" y="309143"/>
                </a:lnTo>
                <a:lnTo>
                  <a:pt x="0" y="30914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2" id="22"/>
          <p:cNvSpPr txBox="true"/>
          <p:nvPr/>
        </p:nvSpPr>
        <p:spPr>
          <a:xfrm rot="0">
            <a:off x="9569329" y="8087296"/>
            <a:ext cx="2871045" cy="590525"/>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Shipment Execution Optimization</a:t>
            </a:r>
          </a:p>
        </p:txBody>
      </p:sp>
      <p:sp>
        <p:nvSpPr>
          <p:cNvPr name="TextBox 23" id="23"/>
          <p:cNvSpPr txBox="true"/>
          <p:nvPr/>
        </p:nvSpPr>
        <p:spPr>
          <a:xfrm rot="0">
            <a:off x="14210568" y="7120652"/>
            <a:ext cx="2737396" cy="295250"/>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Advanced Freight Billing</a:t>
            </a:r>
          </a:p>
        </p:txBody>
      </p:sp>
      <p:sp>
        <p:nvSpPr>
          <p:cNvPr name="TextBox 24" id="24"/>
          <p:cNvSpPr txBox="true"/>
          <p:nvPr/>
        </p:nvSpPr>
        <p:spPr>
          <a:xfrm rot="0">
            <a:off x="14450777" y="8226095"/>
            <a:ext cx="2256979" cy="295250"/>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Real-Time Analytics</a:t>
            </a:r>
          </a:p>
        </p:txBody>
      </p:sp>
      <p:sp>
        <p:nvSpPr>
          <p:cNvPr name="TextBox 25" id="25"/>
          <p:cNvSpPr txBox="true"/>
          <p:nvPr/>
        </p:nvSpPr>
        <p:spPr>
          <a:xfrm rot="0">
            <a:off x="9203303" y="6903720"/>
            <a:ext cx="3061945" cy="666090"/>
          </a:xfrm>
          <a:prstGeom prst="rect">
            <a:avLst/>
          </a:prstGeom>
        </p:spPr>
        <p:txBody>
          <a:bodyPr anchor="t" rtlCol="false" tIns="0" lIns="0" bIns="0" rIns="0">
            <a:spAutoFit/>
          </a:bodyPr>
          <a:lstStyle/>
          <a:p>
            <a:pPr algn="ctr">
              <a:lnSpc>
                <a:spcPts val="2659"/>
              </a:lnSpc>
            </a:pPr>
            <a:r>
              <a:rPr lang="en-US" sz="1899">
                <a:solidFill>
                  <a:srgbClr val="FFFFFF"/>
                </a:solidFill>
                <a:latin typeface="Arimo"/>
                <a:ea typeface="Arimo"/>
                <a:cs typeface="Arimo"/>
                <a:sym typeface="Arimo"/>
              </a:rPr>
              <a:t>Booking Interface Enhancements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776488"/>
            <a:ext cx="9498254" cy="6901405"/>
          </a:xfrm>
          <a:custGeom>
            <a:avLst/>
            <a:gdLst/>
            <a:ahLst/>
            <a:cxnLst/>
            <a:rect r="r" b="b" t="t" l="l"/>
            <a:pathLst>
              <a:path h="6901405" w="9498254">
                <a:moveTo>
                  <a:pt x="0" y="0"/>
                </a:moveTo>
                <a:lnTo>
                  <a:pt x="9498254" y="0"/>
                </a:lnTo>
                <a:lnTo>
                  <a:pt x="9498254" y="6901406"/>
                </a:lnTo>
                <a:lnTo>
                  <a:pt x="0" y="6901406"/>
                </a:lnTo>
                <a:lnTo>
                  <a:pt x="0" y="0"/>
                </a:lnTo>
                <a:close/>
              </a:path>
            </a:pathLst>
          </a:custGeom>
          <a:blipFill>
            <a:blip r:embed="rId2"/>
            <a:stretch>
              <a:fillRect l="-14874" t="0" r="-14874" b="-43"/>
            </a:stretch>
          </a:blipFill>
        </p:spPr>
      </p:sp>
      <p:sp>
        <p:nvSpPr>
          <p:cNvPr name="Freeform 3" id="3"/>
          <p:cNvSpPr/>
          <p:nvPr/>
        </p:nvSpPr>
        <p:spPr>
          <a:xfrm flipH="false" flipV="false" rot="0">
            <a:off x="10985725" y="4303582"/>
            <a:ext cx="7656532" cy="2054949"/>
          </a:xfrm>
          <a:custGeom>
            <a:avLst/>
            <a:gdLst/>
            <a:ahLst/>
            <a:cxnLst/>
            <a:rect r="r" b="b" t="t" l="l"/>
            <a:pathLst>
              <a:path h="2054949" w="7656532">
                <a:moveTo>
                  <a:pt x="0" y="0"/>
                </a:moveTo>
                <a:lnTo>
                  <a:pt x="7656532" y="0"/>
                </a:lnTo>
                <a:lnTo>
                  <a:pt x="7656532" y="2054949"/>
                </a:lnTo>
                <a:lnTo>
                  <a:pt x="0" y="2054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985725" y="5789025"/>
            <a:ext cx="7656532" cy="4524550"/>
          </a:xfrm>
          <a:custGeom>
            <a:avLst/>
            <a:gdLst/>
            <a:ahLst/>
            <a:cxnLst/>
            <a:rect r="r" b="b" t="t" l="l"/>
            <a:pathLst>
              <a:path h="4524550" w="7656532">
                <a:moveTo>
                  <a:pt x="0" y="0"/>
                </a:moveTo>
                <a:lnTo>
                  <a:pt x="7656532" y="0"/>
                </a:lnTo>
                <a:lnTo>
                  <a:pt x="7656532" y="4524550"/>
                </a:lnTo>
                <a:lnTo>
                  <a:pt x="0" y="45245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0">
            <a:off x="11933072" y="5736898"/>
            <a:ext cx="584283" cy="383505"/>
          </a:xfrm>
          <a:custGeom>
            <a:avLst/>
            <a:gdLst/>
            <a:ahLst/>
            <a:cxnLst/>
            <a:rect r="r" b="b" t="t" l="l"/>
            <a:pathLst>
              <a:path h="383505" w="584283">
                <a:moveTo>
                  <a:pt x="0" y="383505"/>
                </a:moveTo>
                <a:lnTo>
                  <a:pt x="584283" y="383505"/>
                </a:lnTo>
                <a:lnTo>
                  <a:pt x="584283" y="0"/>
                </a:lnTo>
                <a:lnTo>
                  <a:pt x="0" y="0"/>
                </a:lnTo>
                <a:lnTo>
                  <a:pt x="0" y="383505"/>
                </a:lnTo>
                <a:close/>
              </a:path>
            </a:pathLst>
          </a:custGeom>
          <a:blipFill>
            <a:blip r:embed="rId7">
              <a:extLst>
                <a:ext uri="{96DAC541-7B7A-43D3-8B79-37D633B846F1}">
                  <asvg:svgBlip xmlns:asvg="http://schemas.microsoft.com/office/drawing/2016/SVG/main" r:embed="rId8"/>
                </a:ext>
              </a:extLst>
            </a:blip>
            <a:stretch>
              <a:fillRect l="0" t="-375" r="0" b="-375"/>
            </a:stretch>
          </a:blipFill>
        </p:spPr>
      </p:sp>
      <p:sp>
        <p:nvSpPr>
          <p:cNvPr name="Freeform 6" id="6"/>
          <p:cNvSpPr/>
          <p:nvPr/>
        </p:nvSpPr>
        <p:spPr>
          <a:xfrm flipH="false" flipV="false" rot="0">
            <a:off x="1028700" y="6858267"/>
            <a:ext cx="4533729" cy="844410"/>
          </a:xfrm>
          <a:custGeom>
            <a:avLst/>
            <a:gdLst/>
            <a:ahLst/>
            <a:cxnLst/>
            <a:rect r="r" b="b" t="t" l="l"/>
            <a:pathLst>
              <a:path h="844410" w="4533729">
                <a:moveTo>
                  <a:pt x="0" y="0"/>
                </a:moveTo>
                <a:lnTo>
                  <a:pt x="4533729" y="0"/>
                </a:lnTo>
                <a:lnTo>
                  <a:pt x="4533729" y="844410"/>
                </a:lnTo>
                <a:lnTo>
                  <a:pt x="0" y="844410"/>
                </a:lnTo>
                <a:lnTo>
                  <a:pt x="0" y="0"/>
                </a:lnTo>
                <a:close/>
              </a:path>
            </a:pathLst>
          </a:custGeom>
          <a:blipFill>
            <a:blip r:embed="rId9">
              <a:extLst>
                <a:ext uri="{96DAC541-7B7A-43D3-8B79-37D633B846F1}">
                  <asvg:svgBlip xmlns:asvg="http://schemas.microsoft.com/office/drawing/2016/SVG/main" r:embed="rId10"/>
                </a:ext>
              </a:extLst>
            </a:blip>
            <a:stretch>
              <a:fillRect l="0" t="-758" r="0" b="-759"/>
            </a:stretch>
          </a:blipFill>
        </p:spPr>
      </p:sp>
      <p:sp>
        <p:nvSpPr>
          <p:cNvPr name="Freeform 7" id="7"/>
          <p:cNvSpPr/>
          <p:nvPr/>
        </p:nvSpPr>
        <p:spPr>
          <a:xfrm flipH="false" flipV="false" rot="0">
            <a:off x="1028700" y="8007629"/>
            <a:ext cx="4533729" cy="844410"/>
          </a:xfrm>
          <a:custGeom>
            <a:avLst/>
            <a:gdLst/>
            <a:ahLst/>
            <a:cxnLst/>
            <a:rect r="r" b="b" t="t" l="l"/>
            <a:pathLst>
              <a:path h="844410" w="4533729">
                <a:moveTo>
                  <a:pt x="0" y="0"/>
                </a:moveTo>
                <a:lnTo>
                  <a:pt x="4533729" y="0"/>
                </a:lnTo>
                <a:lnTo>
                  <a:pt x="4533729" y="844411"/>
                </a:lnTo>
                <a:lnTo>
                  <a:pt x="0" y="844411"/>
                </a:lnTo>
                <a:lnTo>
                  <a:pt x="0" y="0"/>
                </a:lnTo>
                <a:close/>
              </a:path>
            </a:pathLst>
          </a:custGeom>
          <a:blipFill>
            <a:blip r:embed="rId9">
              <a:extLst>
                <a:ext uri="{96DAC541-7B7A-43D3-8B79-37D633B846F1}">
                  <asvg:svgBlip xmlns:asvg="http://schemas.microsoft.com/office/drawing/2016/SVG/main" r:embed="rId10"/>
                </a:ext>
              </a:extLst>
            </a:blip>
            <a:stretch>
              <a:fillRect l="0" t="-758" r="0" b="-759"/>
            </a:stretch>
          </a:blipFill>
        </p:spPr>
      </p:sp>
      <p:sp>
        <p:nvSpPr>
          <p:cNvPr name="Freeform 8" id="8"/>
          <p:cNvSpPr/>
          <p:nvPr/>
        </p:nvSpPr>
        <p:spPr>
          <a:xfrm flipH="false" flipV="false" rot="0">
            <a:off x="5824899" y="6858267"/>
            <a:ext cx="4533729" cy="844410"/>
          </a:xfrm>
          <a:custGeom>
            <a:avLst/>
            <a:gdLst/>
            <a:ahLst/>
            <a:cxnLst/>
            <a:rect r="r" b="b" t="t" l="l"/>
            <a:pathLst>
              <a:path h="844410" w="4533729">
                <a:moveTo>
                  <a:pt x="0" y="0"/>
                </a:moveTo>
                <a:lnTo>
                  <a:pt x="4533729" y="0"/>
                </a:lnTo>
                <a:lnTo>
                  <a:pt x="4533729" y="844410"/>
                </a:lnTo>
                <a:lnTo>
                  <a:pt x="0" y="844410"/>
                </a:lnTo>
                <a:lnTo>
                  <a:pt x="0" y="0"/>
                </a:lnTo>
                <a:close/>
              </a:path>
            </a:pathLst>
          </a:custGeom>
          <a:blipFill>
            <a:blip r:embed="rId9">
              <a:extLst>
                <a:ext uri="{96DAC541-7B7A-43D3-8B79-37D633B846F1}">
                  <asvg:svgBlip xmlns:asvg="http://schemas.microsoft.com/office/drawing/2016/SVG/main" r:embed="rId10"/>
                </a:ext>
              </a:extLst>
            </a:blip>
            <a:stretch>
              <a:fillRect l="0" t="-758" r="0" b="-759"/>
            </a:stretch>
          </a:blipFill>
        </p:spPr>
      </p:sp>
      <p:sp>
        <p:nvSpPr>
          <p:cNvPr name="TextBox 9" id="9"/>
          <p:cNvSpPr txBox="true"/>
          <p:nvPr/>
        </p:nvSpPr>
        <p:spPr>
          <a:xfrm rot="0">
            <a:off x="2757646" y="7126672"/>
            <a:ext cx="1873746" cy="257150"/>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Carrier Management</a:t>
            </a:r>
          </a:p>
        </p:txBody>
      </p:sp>
      <p:sp>
        <p:nvSpPr>
          <p:cNvPr name="TextBox 10" id="10"/>
          <p:cNvSpPr txBox="true"/>
          <p:nvPr/>
        </p:nvSpPr>
        <p:spPr>
          <a:xfrm rot="0">
            <a:off x="2346627" y="8176260"/>
            <a:ext cx="2752935" cy="495275"/>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Load Planning &amp; Consolidation</a:t>
            </a:r>
          </a:p>
        </p:txBody>
      </p:sp>
      <p:sp>
        <p:nvSpPr>
          <p:cNvPr name="TextBox 11" id="11"/>
          <p:cNvSpPr txBox="true"/>
          <p:nvPr/>
        </p:nvSpPr>
        <p:spPr>
          <a:xfrm rot="0">
            <a:off x="7063159" y="7015744"/>
            <a:ext cx="2752935" cy="495275"/>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Route Planning &amp; Optimization</a:t>
            </a:r>
          </a:p>
        </p:txBody>
      </p:sp>
      <p:sp>
        <p:nvSpPr>
          <p:cNvPr name="Freeform 12" id="12"/>
          <p:cNvSpPr/>
          <p:nvPr/>
        </p:nvSpPr>
        <p:spPr>
          <a:xfrm flipH="false" flipV="false" rot="0">
            <a:off x="5824899" y="8028308"/>
            <a:ext cx="4533729" cy="844410"/>
          </a:xfrm>
          <a:custGeom>
            <a:avLst/>
            <a:gdLst/>
            <a:ahLst/>
            <a:cxnLst/>
            <a:rect r="r" b="b" t="t" l="l"/>
            <a:pathLst>
              <a:path h="844410" w="4533729">
                <a:moveTo>
                  <a:pt x="0" y="0"/>
                </a:moveTo>
                <a:lnTo>
                  <a:pt x="4533729" y="0"/>
                </a:lnTo>
                <a:lnTo>
                  <a:pt x="4533729" y="844410"/>
                </a:lnTo>
                <a:lnTo>
                  <a:pt x="0" y="844410"/>
                </a:lnTo>
                <a:lnTo>
                  <a:pt x="0" y="0"/>
                </a:lnTo>
                <a:close/>
              </a:path>
            </a:pathLst>
          </a:custGeom>
          <a:blipFill>
            <a:blip r:embed="rId9">
              <a:extLst>
                <a:ext uri="{96DAC541-7B7A-43D3-8B79-37D633B846F1}">
                  <asvg:svgBlip xmlns:asvg="http://schemas.microsoft.com/office/drawing/2016/SVG/main" r:embed="rId10"/>
                </a:ext>
              </a:extLst>
            </a:blip>
            <a:stretch>
              <a:fillRect l="0" t="-758" r="0" b="-759"/>
            </a:stretch>
          </a:blipFill>
        </p:spPr>
      </p:sp>
      <p:sp>
        <p:nvSpPr>
          <p:cNvPr name="Freeform 13" id="13"/>
          <p:cNvSpPr/>
          <p:nvPr/>
        </p:nvSpPr>
        <p:spPr>
          <a:xfrm flipH="false" flipV="false" rot="0">
            <a:off x="6072464" y="8287426"/>
            <a:ext cx="326165" cy="326165"/>
          </a:xfrm>
          <a:custGeom>
            <a:avLst/>
            <a:gdLst/>
            <a:ahLst/>
            <a:cxnLst/>
            <a:rect r="r" b="b" t="t" l="l"/>
            <a:pathLst>
              <a:path h="326165" w="326165">
                <a:moveTo>
                  <a:pt x="0" y="0"/>
                </a:moveTo>
                <a:lnTo>
                  <a:pt x="326164" y="0"/>
                </a:lnTo>
                <a:lnTo>
                  <a:pt x="326164" y="326165"/>
                </a:lnTo>
                <a:lnTo>
                  <a:pt x="0" y="3261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7143895" y="8296713"/>
            <a:ext cx="2702868" cy="257150"/>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Compliance &amp; Documentation</a:t>
            </a:r>
          </a:p>
        </p:txBody>
      </p:sp>
      <p:sp>
        <p:nvSpPr>
          <p:cNvPr name="Freeform 15" id="15"/>
          <p:cNvSpPr/>
          <p:nvPr/>
        </p:nvSpPr>
        <p:spPr>
          <a:xfrm flipH="false" flipV="false" rot="0">
            <a:off x="1296562" y="8287426"/>
            <a:ext cx="326165" cy="326165"/>
          </a:xfrm>
          <a:custGeom>
            <a:avLst/>
            <a:gdLst/>
            <a:ahLst/>
            <a:cxnLst/>
            <a:rect r="r" b="b" t="t" l="l"/>
            <a:pathLst>
              <a:path h="326165" w="326165">
                <a:moveTo>
                  <a:pt x="0" y="0"/>
                </a:moveTo>
                <a:lnTo>
                  <a:pt x="326165" y="0"/>
                </a:lnTo>
                <a:lnTo>
                  <a:pt x="326165" y="326165"/>
                </a:lnTo>
                <a:lnTo>
                  <a:pt x="0" y="3261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6072464" y="7116394"/>
            <a:ext cx="326165" cy="326165"/>
          </a:xfrm>
          <a:custGeom>
            <a:avLst/>
            <a:gdLst/>
            <a:ahLst/>
            <a:cxnLst/>
            <a:rect r="r" b="b" t="t" l="l"/>
            <a:pathLst>
              <a:path h="326165" w="326165">
                <a:moveTo>
                  <a:pt x="0" y="0"/>
                </a:moveTo>
                <a:lnTo>
                  <a:pt x="326164" y="0"/>
                </a:lnTo>
                <a:lnTo>
                  <a:pt x="326164" y="326165"/>
                </a:lnTo>
                <a:lnTo>
                  <a:pt x="0" y="3261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7" id="17"/>
          <p:cNvSpPr/>
          <p:nvPr/>
        </p:nvSpPr>
        <p:spPr>
          <a:xfrm flipH="false" flipV="false" rot="0">
            <a:off x="1296562" y="7126910"/>
            <a:ext cx="326165" cy="326165"/>
          </a:xfrm>
          <a:custGeom>
            <a:avLst/>
            <a:gdLst/>
            <a:ahLst/>
            <a:cxnLst/>
            <a:rect r="r" b="b" t="t" l="l"/>
            <a:pathLst>
              <a:path h="326165" w="326165">
                <a:moveTo>
                  <a:pt x="0" y="0"/>
                </a:moveTo>
                <a:lnTo>
                  <a:pt x="326165" y="0"/>
                </a:lnTo>
                <a:lnTo>
                  <a:pt x="326165" y="326164"/>
                </a:lnTo>
                <a:lnTo>
                  <a:pt x="0" y="3261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8" id="18"/>
          <p:cNvSpPr txBox="true"/>
          <p:nvPr/>
        </p:nvSpPr>
        <p:spPr>
          <a:xfrm rot="0">
            <a:off x="1028700" y="1081507"/>
            <a:ext cx="7967701"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NEW MODULE ENHANCEMENT IN CARGOSSOFT</a:t>
            </a:r>
          </a:p>
        </p:txBody>
      </p:sp>
      <p:sp>
        <p:nvSpPr>
          <p:cNvPr name="TextBox 19" id="19"/>
          <p:cNvSpPr txBox="true"/>
          <p:nvPr/>
        </p:nvSpPr>
        <p:spPr>
          <a:xfrm rot="0">
            <a:off x="11933072" y="4788256"/>
            <a:ext cx="5213366" cy="734060"/>
          </a:xfrm>
          <a:prstGeom prst="rect">
            <a:avLst/>
          </a:prstGeom>
        </p:spPr>
        <p:txBody>
          <a:bodyPr anchor="t" rtlCol="false" tIns="0" lIns="0" bIns="0" rIns="0">
            <a:spAutoFit/>
          </a:bodyPr>
          <a:lstStyle/>
          <a:p>
            <a:pPr algn="ctr">
              <a:lnSpc>
                <a:spcPts val="2860"/>
              </a:lnSpc>
            </a:pPr>
            <a:r>
              <a:rPr lang="en-US" sz="2200" b="true">
                <a:solidFill>
                  <a:srgbClr val="FFFFFF"/>
                </a:solidFill>
                <a:latin typeface="Arimo Bold"/>
                <a:ea typeface="Arimo Bold"/>
                <a:cs typeface="Arimo Bold"/>
                <a:sym typeface="Arimo Bold"/>
              </a:rPr>
              <a:t>By focusing on these modules, we ensure these following features</a:t>
            </a:r>
          </a:p>
        </p:txBody>
      </p:sp>
      <p:sp>
        <p:nvSpPr>
          <p:cNvPr name="TextBox 20" id="20"/>
          <p:cNvSpPr txBox="true"/>
          <p:nvPr/>
        </p:nvSpPr>
        <p:spPr>
          <a:xfrm rot="0">
            <a:off x="1028700" y="2951197"/>
            <a:ext cx="7414450" cy="2666365"/>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CargosSoft is evolving into a robust TMS with new modules: Carrier Management, Route Planning &amp; Optimization, Load Planning &amp; Consolidation, and Compliance &amp; Documentation. These streamline logistics and boost efficiency. Integrated AI enhancements, including predictive ETAs, smart load optimization, and automated exception handling, enable proactive decisions, reduce manual work and enhance accuracy. These upgrades make CargosSoft a scalable, future-ready transportation platform.</a:t>
            </a:r>
          </a:p>
        </p:txBody>
      </p:sp>
      <p:sp>
        <p:nvSpPr>
          <p:cNvPr name="TextBox 21" id="21"/>
          <p:cNvSpPr txBox="true"/>
          <p:nvPr/>
        </p:nvSpPr>
        <p:spPr>
          <a:xfrm rot="0">
            <a:off x="12187114" y="6086827"/>
            <a:ext cx="5918425" cy="4588828"/>
          </a:xfrm>
          <a:prstGeom prst="rect">
            <a:avLst/>
          </a:prstGeom>
        </p:spPr>
        <p:txBody>
          <a:bodyPr anchor="t" rtlCol="false" tIns="0" lIns="0" bIns="0" rIns="0">
            <a:spAutoFit/>
          </a:bodyPr>
          <a:lstStyle/>
          <a:p>
            <a:pPr algn="just" marL="434342" indent="-144781" lvl="2">
              <a:lnSpc>
                <a:spcPts val="3135"/>
              </a:lnSpc>
              <a:buFont typeface="Arial"/>
              <a:buChar char="⚬"/>
            </a:pPr>
            <a:r>
              <a:rPr lang="en-US" sz="1900">
                <a:solidFill>
                  <a:srgbClr val="FFFFFF"/>
                </a:solidFill>
                <a:latin typeface="Arimo"/>
                <a:ea typeface="Arimo"/>
                <a:cs typeface="Arimo"/>
                <a:sym typeface="Arimo"/>
              </a:rPr>
              <a:t>Expanded Functional Coverage</a:t>
            </a:r>
          </a:p>
          <a:p>
            <a:pPr algn="just" marL="434342" indent="-144781" lvl="2">
              <a:lnSpc>
                <a:spcPts val="3135"/>
              </a:lnSpc>
              <a:buFont typeface="Arial"/>
              <a:buChar char="⚬"/>
            </a:pPr>
            <a:r>
              <a:rPr lang="en-US" sz="1900">
                <a:solidFill>
                  <a:srgbClr val="FFFFFF"/>
                </a:solidFill>
                <a:latin typeface="Arimo"/>
                <a:ea typeface="Arimo"/>
                <a:cs typeface="Arimo"/>
                <a:sym typeface="Arimo"/>
              </a:rPr>
              <a:t>Upgraded Core Modules</a:t>
            </a:r>
          </a:p>
          <a:p>
            <a:pPr algn="just" marL="434342" indent="-144781" lvl="2">
              <a:lnSpc>
                <a:spcPts val="3135"/>
              </a:lnSpc>
              <a:buFont typeface="Arial"/>
              <a:buChar char="⚬"/>
            </a:pPr>
            <a:r>
              <a:rPr lang="en-US" sz="1900">
                <a:solidFill>
                  <a:srgbClr val="FFFFFF"/>
                </a:solidFill>
                <a:latin typeface="Arimo"/>
                <a:ea typeface="Arimo"/>
                <a:cs typeface="Arimo"/>
                <a:sym typeface="Arimo"/>
              </a:rPr>
              <a:t>AI-Driven Intelligence</a:t>
            </a:r>
          </a:p>
          <a:p>
            <a:pPr algn="just" marL="434342" indent="-144781" lvl="2">
              <a:lnSpc>
                <a:spcPts val="3135"/>
              </a:lnSpc>
              <a:buFont typeface="Arial"/>
              <a:buChar char="⚬"/>
            </a:pPr>
            <a:r>
              <a:rPr lang="en-US" sz="1900">
                <a:solidFill>
                  <a:srgbClr val="FFFFFF"/>
                </a:solidFill>
                <a:latin typeface="Arimo"/>
                <a:ea typeface="Arimo"/>
                <a:cs typeface="Arimo"/>
                <a:sym typeface="Arimo"/>
              </a:rPr>
              <a:t>Stronger Collaboration Tools</a:t>
            </a:r>
          </a:p>
          <a:p>
            <a:pPr algn="just" marL="434342" indent="-144781" lvl="2">
              <a:lnSpc>
                <a:spcPts val="3135"/>
              </a:lnSpc>
              <a:buFont typeface="Arial"/>
              <a:buChar char="⚬"/>
            </a:pPr>
            <a:r>
              <a:rPr lang="en-US" sz="1900">
                <a:solidFill>
                  <a:srgbClr val="FFFFFF"/>
                </a:solidFill>
                <a:latin typeface="Arimo"/>
                <a:ea typeface="Arimo"/>
                <a:cs typeface="Arimo"/>
                <a:sym typeface="Arimo"/>
              </a:rPr>
              <a:t>Scalability &amp; Competitive Edge</a:t>
            </a:r>
          </a:p>
          <a:p>
            <a:pPr algn="just" marL="434342" indent="-144781" lvl="2">
              <a:lnSpc>
                <a:spcPts val="3135"/>
              </a:lnSpc>
              <a:buFont typeface="Arial"/>
              <a:buChar char="⚬"/>
            </a:pPr>
            <a:r>
              <a:rPr lang="en-US" sz="1900">
                <a:solidFill>
                  <a:srgbClr val="FFFFFF"/>
                </a:solidFill>
                <a:latin typeface="Arimo"/>
                <a:ea typeface="Arimo"/>
                <a:cs typeface="Arimo"/>
                <a:sym typeface="Arimo"/>
              </a:rPr>
              <a:t>Improved User Experience</a:t>
            </a:r>
          </a:p>
          <a:p>
            <a:pPr algn="just" marL="434342" indent="-144781" lvl="2">
              <a:lnSpc>
                <a:spcPts val="3135"/>
              </a:lnSpc>
              <a:buFont typeface="Arial"/>
              <a:buChar char="⚬"/>
            </a:pPr>
            <a:r>
              <a:rPr lang="en-US" sz="1900">
                <a:solidFill>
                  <a:srgbClr val="FFFFFF"/>
                </a:solidFill>
                <a:latin typeface="Arimo"/>
                <a:ea typeface="Arimo"/>
                <a:cs typeface="Arimo"/>
                <a:sym typeface="Arimo"/>
              </a:rPr>
              <a:t>Real-Time Visibility &amp; Alerts</a:t>
            </a:r>
          </a:p>
          <a:p>
            <a:pPr algn="just" marL="434342" indent="-144781" lvl="2">
              <a:lnSpc>
                <a:spcPts val="3135"/>
              </a:lnSpc>
              <a:buFont typeface="Arial"/>
              <a:buChar char="⚬"/>
            </a:pPr>
            <a:r>
              <a:rPr lang="en-US" sz="1900">
                <a:solidFill>
                  <a:srgbClr val="FFFFFF"/>
                </a:solidFill>
                <a:latin typeface="Arimo"/>
                <a:ea typeface="Arimo"/>
                <a:cs typeface="Arimo"/>
                <a:sym typeface="Arimo"/>
              </a:rPr>
              <a:t>Optimized Resource Utilization</a:t>
            </a:r>
          </a:p>
          <a:p>
            <a:pPr algn="just" marL="434342" indent="-144781" lvl="2">
              <a:lnSpc>
                <a:spcPts val="3135"/>
              </a:lnSpc>
              <a:buFont typeface="Arial"/>
              <a:buChar char="⚬"/>
            </a:pPr>
            <a:r>
              <a:rPr lang="en-US" sz="1900">
                <a:solidFill>
                  <a:srgbClr val="FFFFFF"/>
                </a:solidFill>
                <a:latin typeface="Arimo"/>
                <a:ea typeface="Arimo"/>
                <a:cs typeface="Arimo"/>
                <a:sym typeface="Arimo"/>
              </a:rPr>
              <a:t>Automated Compliance &amp; Documentation</a:t>
            </a:r>
          </a:p>
          <a:p>
            <a:pPr algn="just" marL="434342" indent="-144781" lvl="2">
              <a:lnSpc>
                <a:spcPts val="3135"/>
              </a:lnSpc>
              <a:buFont typeface="Arial"/>
              <a:buChar char="⚬"/>
            </a:pPr>
            <a:r>
              <a:rPr lang="en-US" sz="1900">
                <a:solidFill>
                  <a:srgbClr val="FFFFFF"/>
                </a:solidFill>
                <a:latin typeface="Arimo"/>
                <a:ea typeface="Arimo"/>
                <a:cs typeface="Arimo"/>
                <a:sym typeface="Arimo"/>
              </a:rPr>
              <a:t>Future-Ready Architecture &amp; Integrations</a:t>
            </a:r>
          </a:p>
          <a:p>
            <a:pPr algn="just" marL="434342" indent="-144781" lvl="2">
              <a:lnSpc>
                <a:spcPts val="2660"/>
              </a:lnSpc>
            </a:pPr>
          </a:p>
          <a:p>
            <a:pPr algn="just" marL="434342" indent="-144781" lvl="2">
              <a:lnSpc>
                <a:spcPts val="266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028544"/>
            <a:ext cx="6594834" cy="3229756"/>
          </a:xfrm>
          <a:custGeom>
            <a:avLst/>
            <a:gdLst/>
            <a:ahLst/>
            <a:cxnLst/>
            <a:rect r="r" b="b" t="t" l="l"/>
            <a:pathLst>
              <a:path h="3229756" w="6594834">
                <a:moveTo>
                  <a:pt x="0" y="0"/>
                </a:moveTo>
                <a:lnTo>
                  <a:pt x="6594834" y="0"/>
                </a:lnTo>
                <a:lnTo>
                  <a:pt x="6594834" y="3229756"/>
                </a:lnTo>
                <a:lnTo>
                  <a:pt x="0" y="3229756"/>
                </a:lnTo>
                <a:lnTo>
                  <a:pt x="0" y="0"/>
                </a:lnTo>
                <a:close/>
              </a:path>
            </a:pathLst>
          </a:custGeom>
          <a:blipFill>
            <a:blip r:embed="rId2"/>
            <a:stretch>
              <a:fillRect l="0" t="-1557" r="-84" b="-1556"/>
            </a:stretch>
          </a:blipFill>
        </p:spPr>
      </p:sp>
      <p:sp>
        <p:nvSpPr>
          <p:cNvPr name="Freeform 3" id="3"/>
          <p:cNvSpPr/>
          <p:nvPr/>
        </p:nvSpPr>
        <p:spPr>
          <a:xfrm flipH="false" flipV="false" rot="0">
            <a:off x="10000802" y="-901103"/>
            <a:ext cx="6397238" cy="10159403"/>
          </a:xfrm>
          <a:custGeom>
            <a:avLst/>
            <a:gdLst/>
            <a:ahLst/>
            <a:cxnLst/>
            <a:rect r="r" b="b" t="t" l="l"/>
            <a:pathLst>
              <a:path h="10159403" w="6397238">
                <a:moveTo>
                  <a:pt x="0" y="0"/>
                </a:moveTo>
                <a:lnTo>
                  <a:pt x="6397238" y="0"/>
                </a:lnTo>
                <a:lnTo>
                  <a:pt x="6397238" y="10159403"/>
                </a:lnTo>
                <a:lnTo>
                  <a:pt x="0" y="10159403"/>
                </a:lnTo>
                <a:lnTo>
                  <a:pt x="0" y="0"/>
                </a:lnTo>
                <a:close/>
              </a:path>
            </a:pathLst>
          </a:custGeom>
          <a:blipFill>
            <a:blip r:embed="rId3"/>
            <a:stretch>
              <a:fillRect l="-69178" t="0" r="-69178" b="-59"/>
            </a:stretch>
          </a:blipFill>
        </p:spPr>
      </p:sp>
      <p:sp>
        <p:nvSpPr>
          <p:cNvPr name="Freeform 4" id="4"/>
          <p:cNvSpPr/>
          <p:nvPr/>
        </p:nvSpPr>
        <p:spPr>
          <a:xfrm flipH="false" flipV="false" rot="0">
            <a:off x="8168916" y="4921167"/>
            <a:ext cx="4298728" cy="800633"/>
          </a:xfrm>
          <a:custGeom>
            <a:avLst/>
            <a:gdLst/>
            <a:ahLst/>
            <a:cxnLst/>
            <a:rect r="r" b="b" t="t" l="l"/>
            <a:pathLst>
              <a:path h="800633" w="4298728">
                <a:moveTo>
                  <a:pt x="0" y="0"/>
                </a:moveTo>
                <a:lnTo>
                  <a:pt x="4298728" y="0"/>
                </a:lnTo>
                <a:lnTo>
                  <a:pt x="4298728" y="800634"/>
                </a:lnTo>
                <a:lnTo>
                  <a:pt x="0" y="800634"/>
                </a:lnTo>
                <a:lnTo>
                  <a:pt x="0" y="0"/>
                </a:lnTo>
                <a:close/>
              </a:path>
            </a:pathLst>
          </a:custGeom>
          <a:blipFill>
            <a:blip r:embed="rId4">
              <a:extLst>
                <a:ext uri="{96DAC541-7B7A-43D3-8B79-37D633B846F1}">
                  <asvg:svgBlip xmlns:asvg="http://schemas.microsoft.com/office/drawing/2016/SVG/main" r:embed="rId5"/>
                </a:ext>
              </a:extLst>
            </a:blip>
            <a:stretch>
              <a:fillRect l="0" t="-484" r="0" b="-484"/>
            </a:stretch>
          </a:blipFill>
        </p:spPr>
      </p:sp>
      <p:sp>
        <p:nvSpPr>
          <p:cNvPr name="Freeform 5" id="5"/>
          <p:cNvSpPr/>
          <p:nvPr/>
        </p:nvSpPr>
        <p:spPr>
          <a:xfrm flipH="false" flipV="false" rot="0">
            <a:off x="12679366" y="4921167"/>
            <a:ext cx="4298728" cy="800633"/>
          </a:xfrm>
          <a:custGeom>
            <a:avLst/>
            <a:gdLst/>
            <a:ahLst/>
            <a:cxnLst/>
            <a:rect r="r" b="b" t="t" l="l"/>
            <a:pathLst>
              <a:path h="800633" w="4298728">
                <a:moveTo>
                  <a:pt x="0" y="0"/>
                </a:moveTo>
                <a:lnTo>
                  <a:pt x="4298727" y="0"/>
                </a:lnTo>
                <a:lnTo>
                  <a:pt x="4298727" y="800634"/>
                </a:lnTo>
                <a:lnTo>
                  <a:pt x="0" y="800634"/>
                </a:lnTo>
                <a:lnTo>
                  <a:pt x="0" y="0"/>
                </a:lnTo>
                <a:close/>
              </a:path>
            </a:pathLst>
          </a:custGeom>
          <a:blipFill>
            <a:blip r:embed="rId4">
              <a:extLst>
                <a:ext uri="{96DAC541-7B7A-43D3-8B79-37D633B846F1}">
                  <asvg:svgBlip xmlns:asvg="http://schemas.microsoft.com/office/drawing/2016/SVG/main" r:embed="rId5"/>
                </a:ext>
              </a:extLst>
            </a:blip>
            <a:stretch>
              <a:fillRect l="0" t="-484" r="0" b="-484"/>
            </a:stretch>
          </a:blipFill>
        </p:spPr>
      </p:sp>
      <p:sp>
        <p:nvSpPr>
          <p:cNvPr name="Freeform 6" id="6"/>
          <p:cNvSpPr/>
          <p:nvPr/>
        </p:nvSpPr>
        <p:spPr>
          <a:xfrm flipH="false" flipV="false" rot="0">
            <a:off x="12679366" y="6028544"/>
            <a:ext cx="4298728" cy="800633"/>
          </a:xfrm>
          <a:custGeom>
            <a:avLst/>
            <a:gdLst/>
            <a:ahLst/>
            <a:cxnLst/>
            <a:rect r="r" b="b" t="t" l="l"/>
            <a:pathLst>
              <a:path h="800633" w="4298728">
                <a:moveTo>
                  <a:pt x="0" y="0"/>
                </a:moveTo>
                <a:lnTo>
                  <a:pt x="4298727" y="0"/>
                </a:lnTo>
                <a:lnTo>
                  <a:pt x="4298727" y="800633"/>
                </a:lnTo>
                <a:lnTo>
                  <a:pt x="0" y="800633"/>
                </a:lnTo>
                <a:lnTo>
                  <a:pt x="0" y="0"/>
                </a:lnTo>
                <a:close/>
              </a:path>
            </a:pathLst>
          </a:custGeom>
          <a:blipFill>
            <a:blip r:embed="rId4">
              <a:extLst>
                <a:ext uri="{96DAC541-7B7A-43D3-8B79-37D633B846F1}">
                  <asvg:svgBlip xmlns:asvg="http://schemas.microsoft.com/office/drawing/2016/SVG/main" r:embed="rId5"/>
                </a:ext>
              </a:extLst>
            </a:blip>
            <a:stretch>
              <a:fillRect l="0" t="-484" r="0" b="-484"/>
            </a:stretch>
          </a:blipFill>
        </p:spPr>
      </p:sp>
      <p:sp>
        <p:nvSpPr>
          <p:cNvPr name="Freeform 7" id="7"/>
          <p:cNvSpPr/>
          <p:nvPr/>
        </p:nvSpPr>
        <p:spPr>
          <a:xfrm flipH="false" flipV="false" rot="0">
            <a:off x="8451199" y="5166912"/>
            <a:ext cx="255432" cy="309143"/>
          </a:xfrm>
          <a:custGeom>
            <a:avLst/>
            <a:gdLst/>
            <a:ahLst/>
            <a:cxnLst/>
            <a:rect r="r" b="b" t="t" l="l"/>
            <a:pathLst>
              <a:path h="309143" w="255432">
                <a:moveTo>
                  <a:pt x="0" y="0"/>
                </a:moveTo>
                <a:lnTo>
                  <a:pt x="255432" y="0"/>
                </a:lnTo>
                <a:lnTo>
                  <a:pt x="255432" y="309144"/>
                </a:lnTo>
                <a:lnTo>
                  <a:pt x="0" y="309144"/>
                </a:lnTo>
                <a:lnTo>
                  <a:pt x="0" y="0"/>
                </a:lnTo>
                <a:close/>
              </a:path>
            </a:pathLst>
          </a:custGeom>
          <a:blipFill>
            <a:blip r:embed="rId6">
              <a:extLst>
                <a:ext uri="{96DAC541-7B7A-43D3-8B79-37D633B846F1}">
                  <asvg:svgBlip xmlns:asvg="http://schemas.microsoft.com/office/drawing/2016/SVG/main" r:embed="rId7"/>
                </a:ext>
              </a:extLst>
            </a:blip>
            <a:stretch>
              <a:fillRect l="0" t="-492" r="0" b="-492"/>
            </a:stretch>
          </a:blipFill>
        </p:spPr>
      </p:sp>
      <p:sp>
        <p:nvSpPr>
          <p:cNvPr name="Freeform 8" id="8"/>
          <p:cNvSpPr/>
          <p:nvPr/>
        </p:nvSpPr>
        <p:spPr>
          <a:xfrm flipH="false" flipV="false" rot="0">
            <a:off x="12928930" y="5166912"/>
            <a:ext cx="309143" cy="309143"/>
          </a:xfrm>
          <a:custGeom>
            <a:avLst/>
            <a:gdLst/>
            <a:ahLst/>
            <a:cxnLst/>
            <a:rect r="r" b="b" t="t" l="l"/>
            <a:pathLst>
              <a:path h="309143" w="309143">
                <a:moveTo>
                  <a:pt x="0" y="0"/>
                </a:moveTo>
                <a:lnTo>
                  <a:pt x="309144" y="0"/>
                </a:lnTo>
                <a:lnTo>
                  <a:pt x="309144" y="309144"/>
                </a:lnTo>
                <a:lnTo>
                  <a:pt x="0" y="3091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168916" y="6028544"/>
            <a:ext cx="4298728" cy="800633"/>
          </a:xfrm>
          <a:custGeom>
            <a:avLst/>
            <a:gdLst/>
            <a:ahLst/>
            <a:cxnLst/>
            <a:rect r="r" b="b" t="t" l="l"/>
            <a:pathLst>
              <a:path h="800633" w="4298728">
                <a:moveTo>
                  <a:pt x="0" y="0"/>
                </a:moveTo>
                <a:lnTo>
                  <a:pt x="4298728" y="0"/>
                </a:lnTo>
                <a:lnTo>
                  <a:pt x="4298728" y="800633"/>
                </a:lnTo>
                <a:lnTo>
                  <a:pt x="0" y="800633"/>
                </a:lnTo>
                <a:lnTo>
                  <a:pt x="0" y="0"/>
                </a:lnTo>
                <a:close/>
              </a:path>
            </a:pathLst>
          </a:custGeom>
          <a:blipFill>
            <a:blip r:embed="rId4">
              <a:extLst>
                <a:ext uri="{96DAC541-7B7A-43D3-8B79-37D633B846F1}">
                  <asvg:svgBlip xmlns:asvg="http://schemas.microsoft.com/office/drawing/2016/SVG/main" r:embed="rId5"/>
                </a:ext>
              </a:extLst>
            </a:blip>
            <a:stretch>
              <a:fillRect l="0" t="-484" r="0" b="-484"/>
            </a:stretch>
          </a:blipFill>
        </p:spPr>
      </p:sp>
      <p:sp>
        <p:nvSpPr>
          <p:cNvPr name="Freeform 10" id="10"/>
          <p:cNvSpPr/>
          <p:nvPr/>
        </p:nvSpPr>
        <p:spPr>
          <a:xfrm flipH="false" flipV="false" rot="0">
            <a:off x="8424348" y="6274289"/>
            <a:ext cx="309143" cy="309143"/>
          </a:xfrm>
          <a:custGeom>
            <a:avLst/>
            <a:gdLst/>
            <a:ahLst/>
            <a:cxnLst/>
            <a:rect r="r" b="b" t="t" l="l"/>
            <a:pathLst>
              <a:path h="309143" w="309143">
                <a:moveTo>
                  <a:pt x="0" y="0"/>
                </a:moveTo>
                <a:lnTo>
                  <a:pt x="309144" y="0"/>
                </a:lnTo>
                <a:lnTo>
                  <a:pt x="309144" y="309143"/>
                </a:lnTo>
                <a:lnTo>
                  <a:pt x="0" y="30914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10800000">
            <a:off x="15422480" y="1734388"/>
            <a:ext cx="1836820" cy="1843735"/>
            <a:chOff x="0" y="0"/>
            <a:chExt cx="2449093" cy="2458314"/>
          </a:xfrm>
        </p:grpSpPr>
        <p:sp>
          <p:nvSpPr>
            <p:cNvPr name="Freeform 12" id="12"/>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12">
                <a:alphaModFix amt="40000"/>
              </a:blip>
              <a:stretch>
                <a:fillRect l="-18" t="0" r="-19" b="1"/>
              </a:stretch>
            </a:blipFill>
          </p:spPr>
        </p:sp>
      </p:grpSp>
      <p:sp>
        <p:nvSpPr>
          <p:cNvPr name="Freeform 13" id="13"/>
          <p:cNvSpPr/>
          <p:nvPr/>
        </p:nvSpPr>
        <p:spPr>
          <a:xfrm flipH="false" flipV="false" rot="0">
            <a:off x="15540721" y="1856087"/>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15611876" y="1927241"/>
            <a:ext cx="1458029" cy="1458028"/>
          </a:xfrm>
          <a:custGeom>
            <a:avLst/>
            <a:gdLst/>
            <a:ahLst/>
            <a:cxnLst/>
            <a:rect r="r" b="b" t="t" l="l"/>
            <a:pathLst>
              <a:path h="1458028" w="1458029">
                <a:moveTo>
                  <a:pt x="0" y="0"/>
                </a:moveTo>
                <a:lnTo>
                  <a:pt x="1458029" y="0"/>
                </a:lnTo>
                <a:lnTo>
                  <a:pt x="1458029" y="1458028"/>
                </a:lnTo>
                <a:lnTo>
                  <a:pt x="0" y="145802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5" id="15"/>
          <p:cNvSpPr/>
          <p:nvPr/>
        </p:nvSpPr>
        <p:spPr>
          <a:xfrm flipH="false" flipV="false" rot="0">
            <a:off x="15703687" y="2019053"/>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6" id="16"/>
          <p:cNvSpPr/>
          <p:nvPr/>
        </p:nvSpPr>
        <p:spPr>
          <a:xfrm flipH="false" flipV="false" rot="0">
            <a:off x="15856334" y="2165880"/>
            <a:ext cx="988162" cy="980751"/>
          </a:xfrm>
          <a:custGeom>
            <a:avLst/>
            <a:gdLst/>
            <a:ahLst/>
            <a:cxnLst/>
            <a:rect r="r" b="b" t="t" l="l"/>
            <a:pathLst>
              <a:path h="980751" w="988162">
                <a:moveTo>
                  <a:pt x="0" y="0"/>
                </a:moveTo>
                <a:lnTo>
                  <a:pt x="988162" y="0"/>
                </a:lnTo>
                <a:lnTo>
                  <a:pt x="988162" y="980751"/>
                </a:lnTo>
                <a:lnTo>
                  <a:pt x="0" y="980751"/>
                </a:lnTo>
                <a:lnTo>
                  <a:pt x="0" y="0"/>
                </a:lnTo>
                <a:close/>
              </a:path>
            </a:pathLst>
          </a:custGeom>
          <a:blipFill>
            <a:blip r:embed="rId19">
              <a:extLst>
                <a:ext uri="{96DAC541-7B7A-43D3-8B79-37D633B846F1}">
                  <asvg:svgBlip xmlns:asvg="http://schemas.microsoft.com/office/drawing/2016/SVG/main" r:embed="rId20"/>
                </a:ext>
              </a:extLst>
            </a:blip>
            <a:stretch>
              <a:fillRect l="-106" t="0" r="-106" b="0"/>
            </a:stretch>
          </a:blipFill>
        </p:spPr>
      </p:sp>
      <p:sp>
        <p:nvSpPr>
          <p:cNvPr name="Freeform 17" id="17"/>
          <p:cNvSpPr/>
          <p:nvPr/>
        </p:nvSpPr>
        <p:spPr>
          <a:xfrm flipH="false" flipV="false" rot="0">
            <a:off x="10723645" y="7133977"/>
            <a:ext cx="4298728" cy="800633"/>
          </a:xfrm>
          <a:custGeom>
            <a:avLst/>
            <a:gdLst/>
            <a:ahLst/>
            <a:cxnLst/>
            <a:rect r="r" b="b" t="t" l="l"/>
            <a:pathLst>
              <a:path h="800633" w="4298728">
                <a:moveTo>
                  <a:pt x="0" y="0"/>
                </a:moveTo>
                <a:lnTo>
                  <a:pt x="4298728" y="0"/>
                </a:lnTo>
                <a:lnTo>
                  <a:pt x="4298728" y="800634"/>
                </a:lnTo>
                <a:lnTo>
                  <a:pt x="0" y="800634"/>
                </a:lnTo>
                <a:lnTo>
                  <a:pt x="0" y="0"/>
                </a:lnTo>
                <a:close/>
              </a:path>
            </a:pathLst>
          </a:custGeom>
          <a:blipFill>
            <a:blip r:embed="rId4">
              <a:extLst>
                <a:ext uri="{96DAC541-7B7A-43D3-8B79-37D633B846F1}">
                  <asvg:svgBlip xmlns:asvg="http://schemas.microsoft.com/office/drawing/2016/SVG/main" r:embed="rId5"/>
                </a:ext>
              </a:extLst>
            </a:blip>
            <a:stretch>
              <a:fillRect l="0" t="-484" r="0" b="-484"/>
            </a:stretch>
          </a:blipFill>
        </p:spPr>
      </p:sp>
      <p:sp>
        <p:nvSpPr>
          <p:cNvPr name="Freeform 18" id="18"/>
          <p:cNvSpPr/>
          <p:nvPr/>
        </p:nvSpPr>
        <p:spPr>
          <a:xfrm flipH="false" flipV="false" rot="0">
            <a:off x="10967304" y="7381627"/>
            <a:ext cx="309143" cy="309143"/>
          </a:xfrm>
          <a:custGeom>
            <a:avLst/>
            <a:gdLst/>
            <a:ahLst/>
            <a:cxnLst/>
            <a:rect r="r" b="b" t="t" l="l"/>
            <a:pathLst>
              <a:path h="309143" w="309143">
                <a:moveTo>
                  <a:pt x="0" y="0"/>
                </a:moveTo>
                <a:lnTo>
                  <a:pt x="309143" y="0"/>
                </a:lnTo>
                <a:lnTo>
                  <a:pt x="309143" y="309144"/>
                </a:lnTo>
                <a:lnTo>
                  <a:pt x="0" y="30914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9" id="19"/>
          <p:cNvSpPr/>
          <p:nvPr/>
        </p:nvSpPr>
        <p:spPr>
          <a:xfrm flipH="false" flipV="false" rot="0">
            <a:off x="12928930" y="6274289"/>
            <a:ext cx="331603" cy="347682"/>
          </a:xfrm>
          <a:custGeom>
            <a:avLst/>
            <a:gdLst/>
            <a:ahLst/>
            <a:cxnLst/>
            <a:rect r="r" b="b" t="t" l="l"/>
            <a:pathLst>
              <a:path h="347682" w="331603">
                <a:moveTo>
                  <a:pt x="0" y="0"/>
                </a:moveTo>
                <a:lnTo>
                  <a:pt x="331604" y="0"/>
                </a:lnTo>
                <a:lnTo>
                  <a:pt x="331604" y="347681"/>
                </a:lnTo>
                <a:lnTo>
                  <a:pt x="0" y="347681"/>
                </a:lnTo>
                <a:lnTo>
                  <a:pt x="0" y="0"/>
                </a:lnTo>
                <a:close/>
              </a:path>
            </a:pathLst>
          </a:custGeom>
          <a:blipFill>
            <a:blip r:embed="rId23">
              <a:extLst>
                <a:ext uri="{96DAC541-7B7A-43D3-8B79-37D633B846F1}">
                  <asvg:svgBlip xmlns:asvg="http://schemas.microsoft.com/office/drawing/2016/SVG/main" r:embed="rId24"/>
                </a:ext>
              </a:extLst>
            </a:blip>
            <a:stretch>
              <a:fillRect l="0" t="-413" r="0" b="-410"/>
            </a:stretch>
          </a:blipFill>
        </p:spPr>
      </p:sp>
      <p:sp>
        <p:nvSpPr>
          <p:cNvPr name="TextBox 20" id="20"/>
          <p:cNvSpPr txBox="true"/>
          <p:nvPr/>
        </p:nvSpPr>
        <p:spPr>
          <a:xfrm rot="0">
            <a:off x="9288123" y="6124061"/>
            <a:ext cx="2871045" cy="590525"/>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Intelligent Exception Handling</a:t>
            </a:r>
          </a:p>
        </p:txBody>
      </p:sp>
      <p:sp>
        <p:nvSpPr>
          <p:cNvPr name="TextBox 21" id="21"/>
          <p:cNvSpPr txBox="true"/>
          <p:nvPr/>
        </p:nvSpPr>
        <p:spPr>
          <a:xfrm rot="0">
            <a:off x="1028700" y="1081507"/>
            <a:ext cx="6659166"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AI DRIVEN ENHANCEMENT</a:t>
            </a:r>
          </a:p>
        </p:txBody>
      </p:sp>
      <p:sp>
        <p:nvSpPr>
          <p:cNvPr name="TextBox 22" id="22"/>
          <p:cNvSpPr txBox="true"/>
          <p:nvPr/>
        </p:nvSpPr>
        <p:spPr>
          <a:xfrm rot="0">
            <a:off x="1048083" y="2038988"/>
            <a:ext cx="6196908" cy="3333115"/>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CargosSoft is becoming a smarter TMS by integrating advanced AI, powered by logistics-specific Small Language Models (SLMs). These enhancements enable predictive insights, automated task handling, and optimized decision-making. Using machine learning, CargosSoft anticipates delays, optimizes loads and delivers real-time intelligence, reducing errors, boosting efficiency and enhancing customer satisfaction. This makes CargosSoft a future-ready, intelligent platform tailored to the logistics sector.</a:t>
            </a:r>
          </a:p>
        </p:txBody>
      </p:sp>
      <p:sp>
        <p:nvSpPr>
          <p:cNvPr name="TextBox 23" id="23"/>
          <p:cNvSpPr txBox="true"/>
          <p:nvPr/>
        </p:nvSpPr>
        <p:spPr>
          <a:xfrm rot="0">
            <a:off x="9288123" y="5016684"/>
            <a:ext cx="2871045" cy="590525"/>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Predictive ETA &amp; Delay Management </a:t>
            </a:r>
          </a:p>
        </p:txBody>
      </p:sp>
      <p:sp>
        <p:nvSpPr>
          <p:cNvPr name="TextBox 24" id="24"/>
          <p:cNvSpPr txBox="true"/>
          <p:nvPr/>
        </p:nvSpPr>
        <p:spPr>
          <a:xfrm rot="0">
            <a:off x="13841985" y="5133975"/>
            <a:ext cx="2864048" cy="295250"/>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Smart Load Optimization </a:t>
            </a:r>
          </a:p>
        </p:txBody>
      </p:sp>
      <p:sp>
        <p:nvSpPr>
          <p:cNvPr name="TextBox 25" id="25"/>
          <p:cNvSpPr txBox="true"/>
          <p:nvPr/>
        </p:nvSpPr>
        <p:spPr>
          <a:xfrm rot="0">
            <a:off x="14168936" y="6271727"/>
            <a:ext cx="2130326" cy="295250"/>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AI Virtual Assistant</a:t>
            </a:r>
          </a:p>
        </p:txBody>
      </p:sp>
      <p:sp>
        <p:nvSpPr>
          <p:cNvPr name="TextBox 26" id="26"/>
          <p:cNvSpPr txBox="true"/>
          <p:nvPr/>
        </p:nvSpPr>
        <p:spPr>
          <a:xfrm rot="0">
            <a:off x="12406329" y="7372102"/>
            <a:ext cx="1876574" cy="295250"/>
          </a:xfrm>
          <a:prstGeom prst="rect">
            <a:avLst/>
          </a:prstGeom>
        </p:spPr>
        <p:txBody>
          <a:bodyPr anchor="t" rtlCol="false" tIns="0" lIns="0" bIns="0" rIns="0">
            <a:spAutoFit/>
          </a:bodyPr>
          <a:lstStyle/>
          <a:p>
            <a:pPr algn="ctr">
              <a:lnSpc>
                <a:spcPts val="2399"/>
              </a:lnSpc>
            </a:pPr>
            <a:r>
              <a:rPr lang="en-US" sz="1999">
                <a:solidFill>
                  <a:srgbClr val="FFFFFF"/>
                </a:solidFill>
                <a:latin typeface="Arimo"/>
                <a:ea typeface="Arimo"/>
                <a:cs typeface="Arimo"/>
                <a:sym typeface="Arimo"/>
              </a:rPr>
              <a:t>AI Enabled OCR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8679847" y="-689219"/>
            <a:ext cx="10199103" cy="6901405"/>
          </a:xfrm>
          <a:custGeom>
            <a:avLst/>
            <a:gdLst/>
            <a:ahLst/>
            <a:cxnLst/>
            <a:rect r="r" b="b" t="t" l="l"/>
            <a:pathLst>
              <a:path h="6901405" w="10199103">
                <a:moveTo>
                  <a:pt x="0" y="0"/>
                </a:moveTo>
                <a:lnTo>
                  <a:pt x="10199103" y="0"/>
                </a:lnTo>
                <a:lnTo>
                  <a:pt x="10199103" y="6901405"/>
                </a:lnTo>
                <a:lnTo>
                  <a:pt x="0" y="6901405"/>
                </a:lnTo>
                <a:lnTo>
                  <a:pt x="0" y="0"/>
                </a:lnTo>
                <a:close/>
              </a:path>
            </a:pathLst>
          </a:custGeom>
          <a:blipFill>
            <a:blip r:embed="rId2"/>
            <a:stretch>
              <a:fillRect l="-5768" t="0" r="-40" b="-3422"/>
            </a:stretch>
          </a:blipFill>
        </p:spPr>
      </p:sp>
      <p:sp>
        <p:nvSpPr>
          <p:cNvPr name="Freeform 3" id="3"/>
          <p:cNvSpPr/>
          <p:nvPr/>
        </p:nvSpPr>
        <p:spPr>
          <a:xfrm flipH="false" flipV="false" rot="0">
            <a:off x="11222423" y="4390850"/>
            <a:ext cx="7656532" cy="2054949"/>
          </a:xfrm>
          <a:custGeom>
            <a:avLst/>
            <a:gdLst/>
            <a:ahLst/>
            <a:cxnLst/>
            <a:rect r="r" b="b" t="t" l="l"/>
            <a:pathLst>
              <a:path h="2054949" w="7656532">
                <a:moveTo>
                  <a:pt x="0" y="0"/>
                </a:moveTo>
                <a:lnTo>
                  <a:pt x="7656532" y="0"/>
                </a:lnTo>
                <a:lnTo>
                  <a:pt x="7656532" y="2054949"/>
                </a:lnTo>
                <a:lnTo>
                  <a:pt x="0" y="2054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222423" y="5876293"/>
            <a:ext cx="7656532" cy="4524550"/>
          </a:xfrm>
          <a:custGeom>
            <a:avLst/>
            <a:gdLst/>
            <a:ahLst/>
            <a:cxnLst/>
            <a:rect r="r" b="b" t="t" l="l"/>
            <a:pathLst>
              <a:path h="4524550" w="7656532">
                <a:moveTo>
                  <a:pt x="0" y="0"/>
                </a:moveTo>
                <a:lnTo>
                  <a:pt x="7656532" y="0"/>
                </a:lnTo>
                <a:lnTo>
                  <a:pt x="7656532" y="4524550"/>
                </a:lnTo>
                <a:lnTo>
                  <a:pt x="0" y="45245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0">
            <a:off x="12169769" y="5824166"/>
            <a:ext cx="584283" cy="383505"/>
          </a:xfrm>
          <a:custGeom>
            <a:avLst/>
            <a:gdLst/>
            <a:ahLst/>
            <a:cxnLst/>
            <a:rect r="r" b="b" t="t" l="l"/>
            <a:pathLst>
              <a:path h="383505" w="584283">
                <a:moveTo>
                  <a:pt x="0" y="383505"/>
                </a:moveTo>
                <a:lnTo>
                  <a:pt x="584282" y="383505"/>
                </a:lnTo>
                <a:lnTo>
                  <a:pt x="584282" y="0"/>
                </a:lnTo>
                <a:lnTo>
                  <a:pt x="0" y="0"/>
                </a:lnTo>
                <a:lnTo>
                  <a:pt x="0" y="383505"/>
                </a:lnTo>
                <a:close/>
              </a:path>
            </a:pathLst>
          </a:custGeom>
          <a:blipFill>
            <a:blip r:embed="rId7">
              <a:extLst>
                <a:ext uri="{96DAC541-7B7A-43D3-8B79-37D633B846F1}">
                  <asvg:svgBlip xmlns:asvg="http://schemas.microsoft.com/office/drawing/2016/SVG/main" r:embed="rId8"/>
                </a:ext>
              </a:extLst>
            </a:blip>
            <a:stretch>
              <a:fillRect l="0" t="-375" r="0" b="-375"/>
            </a:stretch>
          </a:blipFill>
        </p:spPr>
      </p:sp>
      <p:sp>
        <p:nvSpPr>
          <p:cNvPr name="TextBox 6" id="6"/>
          <p:cNvSpPr txBox="true"/>
          <p:nvPr/>
        </p:nvSpPr>
        <p:spPr>
          <a:xfrm rot="0">
            <a:off x="1028700" y="1081507"/>
            <a:ext cx="4091285"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SEGMENTATION</a:t>
            </a:r>
          </a:p>
        </p:txBody>
      </p:sp>
      <p:sp>
        <p:nvSpPr>
          <p:cNvPr name="TextBox 7" id="7"/>
          <p:cNvSpPr txBox="true"/>
          <p:nvPr/>
        </p:nvSpPr>
        <p:spPr>
          <a:xfrm rot="0">
            <a:off x="1028700" y="6097895"/>
            <a:ext cx="7858373" cy="834390"/>
          </a:xfrm>
          <a:prstGeom prst="rect">
            <a:avLst/>
          </a:prstGeom>
        </p:spPr>
        <p:txBody>
          <a:bodyPr anchor="t" rtlCol="false" tIns="0" lIns="0" bIns="0" rIns="0">
            <a:spAutoFit/>
          </a:bodyPr>
          <a:lstStyle/>
          <a:p>
            <a:pPr algn="l">
              <a:lnSpc>
                <a:spcPts val="3359"/>
              </a:lnSpc>
            </a:pPr>
            <a:r>
              <a:rPr lang="en-US" sz="2400" b="true">
                <a:solidFill>
                  <a:srgbClr val="000000"/>
                </a:solidFill>
                <a:latin typeface="Arimo Bold"/>
                <a:ea typeface="Arimo Bold"/>
                <a:cs typeface="Arimo Bold"/>
                <a:sym typeface="Arimo Bold"/>
              </a:rPr>
              <a:t>For our consolidated logistics management platform, the ideal target market lies in these segments</a:t>
            </a:r>
          </a:p>
        </p:txBody>
      </p:sp>
      <p:sp>
        <p:nvSpPr>
          <p:cNvPr name="TextBox 8" id="8"/>
          <p:cNvSpPr txBox="true"/>
          <p:nvPr/>
        </p:nvSpPr>
        <p:spPr>
          <a:xfrm rot="0">
            <a:off x="12169769" y="4875524"/>
            <a:ext cx="5213366" cy="734060"/>
          </a:xfrm>
          <a:prstGeom prst="rect">
            <a:avLst/>
          </a:prstGeom>
        </p:spPr>
        <p:txBody>
          <a:bodyPr anchor="t" rtlCol="false" tIns="0" lIns="0" bIns="0" rIns="0">
            <a:spAutoFit/>
          </a:bodyPr>
          <a:lstStyle/>
          <a:p>
            <a:pPr algn="ctr">
              <a:lnSpc>
                <a:spcPts val="2860"/>
              </a:lnSpc>
            </a:pPr>
            <a:r>
              <a:rPr lang="en-US" sz="2200" b="true">
                <a:solidFill>
                  <a:srgbClr val="FFFFFF"/>
                </a:solidFill>
                <a:latin typeface="Arimo Bold"/>
                <a:ea typeface="Arimo Bold"/>
                <a:cs typeface="Arimo Bold"/>
                <a:sym typeface="Arimo Bold"/>
              </a:rPr>
              <a:t>By focusing on these segments, we ensure</a:t>
            </a:r>
          </a:p>
        </p:txBody>
      </p:sp>
      <p:sp>
        <p:nvSpPr>
          <p:cNvPr name="TextBox 9" id="9"/>
          <p:cNvSpPr txBox="true"/>
          <p:nvPr/>
        </p:nvSpPr>
        <p:spPr>
          <a:xfrm rot="0">
            <a:off x="1028700" y="2524439"/>
            <a:ext cx="7414450" cy="1999615"/>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Infologia targets mid-sized logistics operators, underserved by costly solutions, in growing global markets with rising demand for affordable, scalable tech. Our modular platform ensures seamless integration with existing systems, enabling rapid adoption and scalability. This positions Infologia as a long-term technology partner for clients’ success.</a:t>
            </a:r>
          </a:p>
        </p:txBody>
      </p:sp>
      <p:sp>
        <p:nvSpPr>
          <p:cNvPr name="TextBox 10" id="10"/>
          <p:cNvSpPr txBox="true"/>
          <p:nvPr/>
        </p:nvSpPr>
        <p:spPr>
          <a:xfrm rot="0">
            <a:off x="11773252" y="6445796"/>
            <a:ext cx="5918425" cy="2666365"/>
          </a:xfrm>
          <a:prstGeom prst="rect">
            <a:avLst/>
          </a:prstGeom>
        </p:spPr>
        <p:txBody>
          <a:bodyPr anchor="t" rtlCol="false" tIns="0" lIns="0" bIns="0" rIns="0">
            <a:spAutoFit/>
          </a:bodyPr>
          <a:lstStyle/>
          <a:p>
            <a:pPr algn="just" marL="434342" indent="-144781" lvl="2">
              <a:lnSpc>
                <a:spcPts val="2660"/>
              </a:lnSpc>
              <a:buFont typeface="Arial"/>
              <a:buChar char="⚬"/>
            </a:pPr>
            <a:r>
              <a:rPr lang="en-US" sz="1900">
                <a:solidFill>
                  <a:srgbClr val="FFFFFF"/>
                </a:solidFill>
                <a:latin typeface="Arimo"/>
                <a:ea typeface="Arimo"/>
                <a:cs typeface="Arimo"/>
                <a:sym typeface="Arimo"/>
              </a:rPr>
              <a:t>Faster product adoption due to immediate need.</a:t>
            </a:r>
          </a:p>
          <a:p>
            <a:pPr algn="just" marL="434342" indent="-144781" lvl="2">
              <a:lnSpc>
                <a:spcPts val="2660"/>
              </a:lnSpc>
              <a:buFont typeface="Arial"/>
              <a:buChar char="⚬"/>
            </a:pPr>
            <a:r>
              <a:rPr lang="en-US" sz="1900">
                <a:solidFill>
                  <a:srgbClr val="FFFFFF"/>
                </a:solidFill>
                <a:latin typeface="Arimo"/>
                <a:ea typeface="Arimo"/>
                <a:cs typeface="Arimo"/>
                <a:sym typeface="Arimo"/>
              </a:rPr>
              <a:t>Strong competitive positioning by filling the gaps left by existing players.</a:t>
            </a:r>
          </a:p>
          <a:p>
            <a:pPr algn="just" marL="434342" indent="-144781" lvl="2">
              <a:lnSpc>
                <a:spcPts val="2660"/>
              </a:lnSpc>
              <a:buFont typeface="Arial"/>
              <a:buChar char="⚬"/>
            </a:pPr>
            <a:r>
              <a:rPr lang="en-US" sz="1900">
                <a:solidFill>
                  <a:srgbClr val="FFFFFF"/>
                </a:solidFill>
                <a:latin typeface="Arimo"/>
                <a:ea typeface="Arimo"/>
                <a:cs typeface="Arimo"/>
                <a:sym typeface="Arimo"/>
              </a:rPr>
              <a:t>Sustainable recurring revenue through subscription and integration services.</a:t>
            </a:r>
          </a:p>
          <a:p>
            <a:pPr algn="just" marL="434342" indent="-144781" lvl="2">
              <a:lnSpc>
                <a:spcPts val="2660"/>
              </a:lnSpc>
              <a:buFont typeface="Arial"/>
              <a:buChar char="⚬"/>
            </a:pPr>
            <a:r>
              <a:rPr lang="en-US" sz="1900">
                <a:solidFill>
                  <a:srgbClr val="FFFFFF"/>
                </a:solidFill>
                <a:latin typeface="Arimo"/>
                <a:ea typeface="Arimo"/>
                <a:cs typeface="Arimo"/>
                <a:sym typeface="Arimo"/>
              </a:rPr>
              <a:t>Long-term customer loyalty, as our platform grows alongside their business.</a:t>
            </a:r>
          </a:p>
          <a:p>
            <a:pPr algn="just" marL="434342" indent="-144781" lvl="2">
              <a:lnSpc>
                <a:spcPts val="2660"/>
              </a:lnSpc>
            </a:pPr>
          </a:p>
        </p:txBody>
      </p:sp>
      <p:sp>
        <p:nvSpPr>
          <p:cNvPr name="Freeform 11" id="11"/>
          <p:cNvSpPr/>
          <p:nvPr/>
        </p:nvSpPr>
        <p:spPr>
          <a:xfrm flipH="false" flipV="false" rot="0">
            <a:off x="1266311" y="8718623"/>
            <a:ext cx="309258" cy="278721"/>
          </a:xfrm>
          <a:custGeom>
            <a:avLst/>
            <a:gdLst/>
            <a:ahLst/>
            <a:cxnLst/>
            <a:rect r="r" b="b" t="t" l="l"/>
            <a:pathLst>
              <a:path h="278721" w="309258">
                <a:moveTo>
                  <a:pt x="0" y="0"/>
                </a:moveTo>
                <a:lnTo>
                  <a:pt x="309257" y="0"/>
                </a:lnTo>
                <a:lnTo>
                  <a:pt x="309257" y="278721"/>
                </a:lnTo>
                <a:lnTo>
                  <a:pt x="0" y="278721"/>
                </a:lnTo>
                <a:lnTo>
                  <a:pt x="0" y="0"/>
                </a:lnTo>
                <a:close/>
              </a:path>
            </a:pathLst>
          </a:custGeom>
          <a:blipFill>
            <a:blip r:embed="rId9">
              <a:extLst>
                <a:ext uri="{96DAC541-7B7A-43D3-8B79-37D633B846F1}">
                  <asvg:svgBlip xmlns:asvg="http://schemas.microsoft.com/office/drawing/2016/SVG/main" r:embed="rId10"/>
                </a:ext>
              </a:extLst>
            </a:blip>
            <a:stretch>
              <a:fillRect l="0" t="-434" r="0" b="-437"/>
            </a:stretch>
          </a:blipFill>
        </p:spPr>
      </p:sp>
      <p:sp>
        <p:nvSpPr>
          <p:cNvPr name="Freeform 12" id="12"/>
          <p:cNvSpPr/>
          <p:nvPr/>
        </p:nvSpPr>
        <p:spPr>
          <a:xfrm flipH="false" flipV="false" rot="0">
            <a:off x="1266311" y="7613571"/>
            <a:ext cx="309258" cy="309258"/>
          </a:xfrm>
          <a:custGeom>
            <a:avLst/>
            <a:gdLst/>
            <a:ahLst/>
            <a:cxnLst/>
            <a:rect r="r" b="b" t="t" l="l"/>
            <a:pathLst>
              <a:path h="309258" w="309258">
                <a:moveTo>
                  <a:pt x="0" y="0"/>
                </a:moveTo>
                <a:lnTo>
                  <a:pt x="309257" y="0"/>
                </a:lnTo>
                <a:lnTo>
                  <a:pt x="309257" y="309257"/>
                </a:lnTo>
                <a:lnTo>
                  <a:pt x="0" y="30925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028700" y="7480925"/>
            <a:ext cx="4533729" cy="844410"/>
          </a:xfrm>
          <a:custGeom>
            <a:avLst/>
            <a:gdLst/>
            <a:ahLst/>
            <a:cxnLst/>
            <a:rect r="r" b="b" t="t" l="l"/>
            <a:pathLst>
              <a:path h="844410" w="4533729">
                <a:moveTo>
                  <a:pt x="0" y="0"/>
                </a:moveTo>
                <a:lnTo>
                  <a:pt x="4533729" y="0"/>
                </a:lnTo>
                <a:lnTo>
                  <a:pt x="4533729" y="844411"/>
                </a:lnTo>
                <a:lnTo>
                  <a:pt x="0" y="844411"/>
                </a:lnTo>
                <a:lnTo>
                  <a:pt x="0" y="0"/>
                </a:lnTo>
                <a:close/>
              </a:path>
            </a:pathLst>
          </a:custGeom>
          <a:blipFill>
            <a:blip r:embed="rId13">
              <a:extLst>
                <a:ext uri="{96DAC541-7B7A-43D3-8B79-37D633B846F1}">
                  <asvg:svgBlip xmlns:asvg="http://schemas.microsoft.com/office/drawing/2016/SVG/main" r:embed="rId14"/>
                </a:ext>
              </a:extLst>
            </a:blip>
            <a:stretch>
              <a:fillRect l="0" t="-758" r="0" b="-759"/>
            </a:stretch>
          </a:blipFill>
        </p:spPr>
      </p:sp>
      <p:sp>
        <p:nvSpPr>
          <p:cNvPr name="Freeform 14" id="14"/>
          <p:cNvSpPr/>
          <p:nvPr/>
        </p:nvSpPr>
        <p:spPr>
          <a:xfrm flipH="false" flipV="false" rot="0">
            <a:off x="1028700" y="8630279"/>
            <a:ext cx="4533729" cy="844410"/>
          </a:xfrm>
          <a:custGeom>
            <a:avLst/>
            <a:gdLst/>
            <a:ahLst/>
            <a:cxnLst/>
            <a:rect r="r" b="b" t="t" l="l"/>
            <a:pathLst>
              <a:path h="844410" w="4533729">
                <a:moveTo>
                  <a:pt x="0" y="0"/>
                </a:moveTo>
                <a:lnTo>
                  <a:pt x="4533729" y="0"/>
                </a:lnTo>
                <a:lnTo>
                  <a:pt x="4533729" y="844410"/>
                </a:lnTo>
                <a:lnTo>
                  <a:pt x="0" y="844410"/>
                </a:lnTo>
                <a:lnTo>
                  <a:pt x="0" y="0"/>
                </a:lnTo>
                <a:close/>
              </a:path>
            </a:pathLst>
          </a:custGeom>
          <a:blipFill>
            <a:blip r:embed="rId13">
              <a:extLst>
                <a:ext uri="{96DAC541-7B7A-43D3-8B79-37D633B846F1}">
                  <asvg:svgBlip xmlns:asvg="http://schemas.microsoft.com/office/drawing/2016/SVG/main" r:embed="rId14"/>
                </a:ext>
              </a:extLst>
            </a:blip>
            <a:stretch>
              <a:fillRect l="0" t="-758" r="0" b="-759"/>
            </a:stretch>
          </a:blipFill>
        </p:spPr>
      </p:sp>
      <p:sp>
        <p:nvSpPr>
          <p:cNvPr name="Freeform 15" id="15"/>
          <p:cNvSpPr/>
          <p:nvPr/>
        </p:nvSpPr>
        <p:spPr>
          <a:xfrm flipH="false" flipV="false" rot="0">
            <a:off x="5824899" y="7480925"/>
            <a:ext cx="4533729" cy="844410"/>
          </a:xfrm>
          <a:custGeom>
            <a:avLst/>
            <a:gdLst/>
            <a:ahLst/>
            <a:cxnLst/>
            <a:rect r="r" b="b" t="t" l="l"/>
            <a:pathLst>
              <a:path h="844410" w="4533729">
                <a:moveTo>
                  <a:pt x="0" y="0"/>
                </a:moveTo>
                <a:lnTo>
                  <a:pt x="4533729" y="0"/>
                </a:lnTo>
                <a:lnTo>
                  <a:pt x="4533729" y="844411"/>
                </a:lnTo>
                <a:lnTo>
                  <a:pt x="0" y="844411"/>
                </a:lnTo>
                <a:lnTo>
                  <a:pt x="0" y="0"/>
                </a:lnTo>
                <a:close/>
              </a:path>
            </a:pathLst>
          </a:custGeom>
          <a:blipFill>
            <a:blip r:embed="rId13">
              <a:extLst>
                <a:ext uri="{96DAC541-7B7A-43D3-8B79-37D633B846F1}">
                  <asvg:svgBlip xmlns:asvg="http://schemas.microsoft.com/office/drawing/2016/SVG/main" r:embed="rId14"/>
                </a:ext>
              </a:extLst>
            </a:blip>
            <a:stretch>
              <a:fillRect l="0" t="-758" r="0" b="-759"/>
            </a:stretch>
          </a:blipFill>
        </p:spPr>
      </p:sp>
      <p:sp>
        <p:nvSpPr>
          <p:cNvPr name="Freeform 16" id="16"/>
          <p:cNvSpPr/>
          <p:nvPr/>
        </p:nvSpPr>
        <p:spPr>
          <a:xfrm flipH="false" flipV="false" rot="0">
            <a:off x="5824899" y="8630279"/>
            <a:ext cx="4533729" cy="844410"/>
          </a:xfrm>
          <a:custGeom>
            <a:avLst/>
            <a:gdLst/>
            <a:ahLst/>
            <a:cxnLst/>
            <a:rect r="r" b="b" t="t" l="l"/>
            <a:pathLst>
              <a:path h="844410" w="4533729">
                <a:moveTo>
                  <a:pt x="0" y="0"/>
                </a:moveTo>
                <a:lnTo>
                  <a:pt x="4533729" y="0"/>
                </a:lnTo>
                <a:lnTo>
                  <a:pt x="4533729" y="844410"/>
                </a:lnTo>
                <a:lnTo>
                  <a:pt x="0" y="844410"/>
                </a:lnTo>
                <a:lnTo>
                  <a:pt x="0" y="0"/>
                </a:lnTo>
                <a:close/>
              </a:path>
            </a:pathLst>
          </a:custGeom>
          <a:blipFill>
            <a:blip r:embed="rId13">
              <a:extLst>
                <a:ext uri="{96DAC541-7B7A-43D3-8B79-37D633B846F1}">
                  <asvg:svgBlip xmlns:asvg="http://schemas.microsoft.com/office/drawing/2016/SVG/main" r:embed="rId14"/>
                </a:ext>
              </a:extLst>
            </a:blip>
            <a:stretch>
              <a:fillRect l="0" t="-758" r="0" b="-759"/>
            </a:stretch>
          </a:blipFill>
        </p:spPr>
      </p:sp>
      <p:sp>
        <p:nvSpPr>
          <p:cNvPr name="Freeform 17" id="17"/>
          <p:cNvSpPr/>
          <p:nvPr/>
        </p:nvSpPr>
        <p:spPr>
          <a:xfrm flipH="false" flipV="false" rot="0">
            <a:off x="6072464" y="8889406"/>
            <a:ext cx="326165" cy="326165"/>
          </a:xfrm>
          <a:custGeom>
            <a:avLst/>
            <a:gdLst/>
            <a:ahLst/>
            <a:cxnLst/>
            <a:rect r="r" b="b" t="t" l="l"/>
            <a:pathLst>
              <a:path h="326165" w="326165">
                <a:moveTo>
                  <a:pt x="0" y="0"/>
                </a:moveTo>
                <a:lnTo>
                  <a:pt x="326164" y="0"/>
                </a:lnTo>
                <a:lnTo>
                  <a:pt x="326164" y="326165"/>
                </a:lnTo>
                <a:lnTo>
                  <a:pt x="0" y="3261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8" id="18"/>
          <p:cNvSpPr/>
          <p:nvPr/>
        </p:nvSpPr>
        <p:spPr>
          <a:xfrm flipH="false" flipV="false" rot="0">
            <a:off x="6072464" y="7754922"/>
            <a:ext cx="326165" cy="296408"/>
          </a:xfrm>
          <a:custGeom>
            <a:avLst/>
            <a:gdLst/>
            <a:ahLst/>
            <a:cxnLst/>
            <a:rect r="r" b="b" t="t" l="l"/>
            <a:pathLst>
              <a:path h="296408" w="326165">
                <a:moveTo>
                  <a:pt x="0" y="0"/>
                </a:moveTo>
                <a:lnTo>
                  <a:pt x="326164" y="0"/>
                </a:lnTo>
                <a:lnTo>
                  <a:pt x="326164" y="296408"/>
                </a:lnTo>
                <a:lnTo>
                  <a:pt x="0" y="296408"/>
                </a:lnTo>
                <a:lnTo>
                  <a:pt x="0" y="0"/>
                </a:lnTo>
                <a:close/>
              </a:path>
            </a:pathLst>
          </a:custGeom>
          <a:blipFill>
            <a:blip r:embed="rId17">
              <a:extLst>
                <a:ext uri="{96DAC541-7B7A-43D3-8B79-37D633B846F1}">
                  <asvg:svgBlip xmlns:asvg="http://schemas.microsoft.com/office/drawing/2016/SVG/main" r:embed="rId18"/>
                </a:ext>
              </a:extLst>
            </a:blip>
            <a:stretch>
              <a:fillRect l="0" t="-305" r="0" b="-302"/>
            </a:stretch>
          </a:blipFill>
        </p:spPr>
      </p:sp>
      <p:sp>
        <p:nvSpPr>
          <p:cNvPr name="TextBox 19" id="19"/>
          <p:cNvSpPr txBox="true"/>
          <p:nvPr/>
        </p:nvSpPr>
        <p:spPr>
          <a:xfrm rot="0">
            <a:off x="2514714" y="7628944"/>
            <a:ext cx="2416759" cy="495275"/>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Mid-sized Operators &amp; Modular Enterprises</a:t>
            </a:r>
          </a:p>
        </p:txBody>
      </p:sp>
      <p:sp>
        <p:nvSpPr>
          <p:cNvPr name="TextBox 20" id="20"/>
          <p:cNvSpPr txBox="true"/>
          <p:nvPr/>
        </p:nvSpPr>
        <p:spPr>
          <a:xfrm rot="0">
            <a:off x="3001873" y="8898693"/>
            <a:ext cx="1442442" cy="257150"/>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Faster Adoption</a:t>
            </a:r>
          </a:p>
        </p:txBody>
      </p:sp>
      <p:sp>
        <p:nvSpPr>
          <p:cNvPr name="TextBox 21" id="21"/>
          <p:cNvSpPr txBox="true"/>
          <p:nvPr/>
        </p:nvSpPr>
        <p:spPr>
          <a:xfrm rot="0">
            <a:off x="7610728" y="7749330"/>
            <a:ext cx="1657796" cy="257150"/>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Emerging Markets</a:t>
            </a:r>
          </a:p>
        </p:txBody>
      </p:sp>
      <p:sp>
        <p:nvSpPr>
          <p:cNvPr name="TextBox 22" id="22"/>
          <p:cNvSpPr txBox="true"/>
          <p:nvPr/>
        </p:nvSpPr>
        <p:spPr>
          <a:xfrm rot="0">
            <a:off x="7548071" y="8884691"/>
            <a:ext cx="1783110" cy="257150"/>
          </a:xfrm>
          <a:prstGeom prst="rect">
            <a:avLst/>
          </a:prstGeom>
        </p:spPr>
        <p:txBody>
          <a:bodyPr anchor="t" rtlCol="false" tIns="0" lIns="0" bIns="0" rIns="0">
            <a:spAutoFit/>
          </a:bodyPr>
          <a:lstStyle/>
          <a:p>
            <a:pPr algn="ctr">
              <a:lnSpc>
                <a:spcPts val="1930"/>
              </a:lnSpc>
            </a:pPr>
            <a:r>
              <a:rPr lang="en-US" sz="1609">
                <a:solidFill>
                  <a:srgbClr val="FFFFFF"/>
                </a:solidFill>
                <a:latin typeface="Arimo"/>
                <a:ea typeface="Arimo"/>
                <a:cs typeface="Arimo"/>
                <a:sym typeface="Arimo"/>
              </a:rPr>
              <a:t>Sustainable Growth</a:t>
            </a:r>
          </a:p>
        </p:txBody>
      </p:sp>
      <p:sp>
        <p:nvSpPr>
          <p:cNvPr name="Freeform 23" id="23"/>
          <p:cNvSpPr/>
          <p:nvPr/>
        </p:nvSpPr>
        <p:spPr>
          <a:xfrm flipH="false" flipV="false" rot="0">
            <a:off x="1266311" y="7768199"/>
            <a:ext cx="326165" cy="296408"/>
          </a:xfrm>
          <a:custGeom>
            <a:avLst/>
            <a:gdLst/>
            <a:ahLst/>
            <a:cxnLst/>
            <a:rect r="r" b="b" t="t" l="l"/>
            <a:pathLst>
              <a:path h="296408" w="326165">
                <a:moveTo>
                  <a:pt x="0" y="0"/>
                </a:moveTo>
                <a:lnTo>
                  <a:pt x="326164" y="0"/>
                </a:lnTo>
                <a:lnTo>
                  <a:pt x="326164" y="296409"/>
                </a:lnTo>
                <a:lnTo>
                  <a:pt x="0" y="296409"/>
                </a:lnTo>
                <a:lnTo>
                  <a:pt x="0" y="0"/>
                </a:lnTo>
                <a:close/>
              </a:path>
            </a:pathLst>
          </a:custGeom>
          <a:blipFill>
            <a:blip r:embed="rId17">
              <a:extLst>
                <a:ext uri="{96DAC541-7B7A-43D3-8B79-37D633B846F1}">
                  <asvg:svgBlip xmlns:asvg="http://schemas.microsoft.com/office/drawing/2016/SVG/main" r:embed="rId18"/>
                </a:ext>
              </a:extLst>
            </a:blip>
            <a:stretch>
              <a:fillRect l="0" t="-305" r="0" b="-302"/>
            </a:stretch>
          </a:blipFill>
        </p:spPr>
      </p:sp>
      <p:sp>
        <p:nvSpPr>
          <p:cNvPr name="Freeform 24" id="24"/>
          <p:cNvSpPr/>
          <p:nvPr/>
        </p:nvSpPr>
        <p:spPr>
          <a:xfrm flipH="false" flipV="false" rot="0">
            <a:off x="1296562" y="8889406"/>
            <a:ext cx="326165" cy="296408"/>
          </a:xfrm>
          <a:custGeom>
            <a:avLst/>
            <a:gdLst/>
            <a:ahLst/>
            <a:cxnLst/>
            <a:rect r="r" b="b" t="t" l="l"/>
            <a:pathLst>
              <a:path h="296408" w="326165">
                <a:moveTo>
                  <a:pt x="0" y="0"/>
                </a:moveTo>
                <a:lnTo>
                  <a:pt x="326165" y="0"/>
                </a:lnTo>
                <a:lnTo>
                  <a:pt x="326165" y="296409"/>
                </a:lnTo>
                <a:lnTo>
                  <a:pt x="0" y="296409"/>
                </a:lnTo>
                <a:lnTo>
                  <a:pt x="0" y="0"/>
                </a:lnTo>
                <a:close/>
              </a:path>
            </a:pathLst>
          </a:custGeom>
          <a:blipFill>
            <a:blip r:embed="rId17">
              <a:extLst>
                <a:ext uri="{96DAC541-7B7A-43D3-8B79-37D633B846F1}">
                  <asvg:svgBlip xmlns:asvg="http://schemas.microsoft.com/office/drawing/2016/SVG/main" r:embed="rId18"/>
                </a:ext>
              </a:extLst>
            </a:blip>
            <a:stretch>
              <a:fillRect l="0" t="-305" r="0" b="-302"/>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8100000">
            <a:off x="12732696" y="-1004097"/>
            <a:ext cx="12017635" cy="12017635"/>
            <a:chOff x="0" y="0"/>
            <a:chExt cx="16023514" cy="16023514"/>
          </a:xfrm>
        </p:grpSpPr>
        <p:sp>
          <p:nvSpPr>
            <p:cNvPr name="Freeform 3" id="3"/>
            <p:cNvSpPr/>
            <p:nvPr/>
          </p:nvSpPr>
          <p:spPr>
            <a:xfrm flipH="false" flipV="false" rot="0">
              <a:off x="0" y="0"/>
              <a:ext cx="16023462" cy="16023462"/>
            </a:xfrm>
            <a:custGeom>
              <a:avLst/>
              <a:gdLst/>
              <a:ahLst/>
              <a:cxnLst/>
              <a:rect r="r" b="b" t="t" l="l"/>
              <a:pathLst>
                <a:path h="16023462" w="16023462">
                  <a:moveTo>
                    <a:pt x="0" y="0"/>
                  </a:moveTo>
                  <a:lnTo>
                    <a:pt x="16023462" y="0"/>
                  </a:lnTo>
                  <a:lnTo>
                    <a:pt x="16023462" y="16023462"/>
                  </a:lnTo>
                  <a:lnTo>
                    <a:pt x="0" y="16023462"/>
                  </a:lnTo>
                  <a:lnTo>
                    <a:pt x="0" y="0"/>
                  </a:lnTo>
                  <a:close/>
                </a:path>
              </a:pathLst>
            </a:custGeom>
            <a:blipFill>
              <a:blip r:embed="rId2">
                <a:alphaModFix amt="8999"/>
              </a:blip>
              <a:stretch>
                <a:fillRect l="0" t="0" r="0" b="0"/>
              </a:stretch>
            </a:blipFill>
          </p:spPr>
        </p:sp>
      </p:grpSp>
      <p:sp>
        <p:nvSpPr>
          <p:cNvPr name="Freeform 4" id="4"/>
          <p:cNvSpPr/>
          <p:nvPr/>
        </p:nvSpPr>
        <p:spPr>
          <a:xfrm flipH="false" flipV="false" rot="0">
            <a:off x="11266192" y="-2603642"/>
            <a:ext cx="15542003" cy="15542003"/>
          </a:xfrm>
          <a:custGeom>
            <a:avLst/>
            <a:gdLst/>
            <a:ahLst/>
            <a:cxnLst/>
            <a:rect r="r" b="b" t="t" l="l"/>
            <a:pathLst>
              <a:path h="15542003" w="15542003">
                <a:moveTo>
                  <a:pt x="0" y="0"/>
                </a:moveTo>
                <a:lnTo>
                  <a:pt x="15542004" y="0"/>
                </a:lnTo>
                <a:lnTo>
                  <a:pt x="15542004" y="15542003"/>
                </a:lnTo>
                <a:lnTo>
                  <a:pt x="0" y="155420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579810" y="2825829"/>
            <a:ext cx="4679490" cy="4357783"/>
          </a:xfrm>
          <a:custGeom>
            <a:avLst/>
            <a:gdLst/>
            <a:ahLst/>
            <a:cxnLst/>
            <a:rect r="r" b="b" t="t" l="l"/>
            <a:pathLst>
              <a:path h="4357783" w="4679490">
                <a:moveTo>
                  <a:pt x="0" y="0"/>
                </a:moveTo>
                <a:lnTo>
                  <a:pt x="4679490" y="0"/>
                </a:lnTo>
                <a:lnTo>
                  <a:pt x="4679490" y="4357783"/>
                </a:lnTo>
                <a:lnTo>
                  <a:pt x="0" y="4357783"/>
                </a:lnTo>
                <a:lnTo>
                  <a:pt x="0" y="0"/>
                </a:lnTo>
                <a:close/>
              </a:path>
            </a:pathLst>
          </a:custGeom>
          <a:blipFill>
            <a:blip r:embed="rId5">
              <a:extLst>
                <a:ext uri="{96DAC541-7B7A-43D3-8B79-37D633B846F1}">
                  <asvg:svgBlip xmlns:asvg="http://schemas.microsoft.com/office/drawing/2016/SVG/main" r:embed="rId6"/>
                </a:ext>
              </a:extLst>
            </a:blip>
            <a:stretch>
              <a:fillRect l="-19" t="0" r="-19" b="0"/>
            </a:stretch>
          </a:blipFill>
        </p:spPr>
      </p:sp>
      <p:grpSp>
        <p:nvGrpSpPr>
          <p:cNvPr name="Group 6" id="6"/>
          <p:cNvGrpSpPr/>
          <p:nvPr/>
        </p:nvGrpSpPr>
        <p:grpSpPr>
          <a:xfrm rot="0">
            <a:off x="13583260" y="2234613"/>
            <a:ext cx="1345816" cy="19050"/>
            <a:chOff x="0" y="0"/>
            <a:chExt cx="1794421" cy="25400"/>
          </a:xfrm>
        </p:grpSpPr>
        <p:sp>
          <p:nvSpPr>
            <p:cNvPr name="Freeform 7" id="7"/>
            <p:cNvSpPr/>
            <p:nvPr/>
          </p:nvSpPr>
          <p:spPr>
            <a:xfrm flipH="false" flipV="false" rot="0">
              <a:off x="12700" y="0"/>
              <a:ext cx="1768983" cy="25400"/>
            </a:xfrm>
            <a:custGeom>
              <a:avLst/>
              <a:gdLst/>
              <a:ahLst/>
              <a:cxnLst/>
              <a:rect r="r" b="b" t="t" l="l"/>
              <a:pathLst>
                <a:path h="25400" w="1768983">
                  <a:moveTo>
                    <a:pt x="0" y="0"/>
                  </a:moveTo>
                  <a:lnTo>
                    <a:pt x="1768983" y="0"/>
                  </a:lnTo>
                  <a:lnTo>
                    <a:pt x="1768983" y="25400"/>
                  </a:lnTo>
                  <a:lnTo>
                    <a:pt x="0" y="25400"/>
                  </a:lnTo>
                  <a:close/>
                </a:path>
              </a:pathLst>
            </a:custGeom>
            <a:solidFill>
              <a:srgbClr val="292A2B"/>
            </a:solidFill>
            <a:ln w="12700">
              <a:solidFill>
                <a:srgbClr val="000000"/>
              </a:solidFill>
            </a:ln>
          </p:spPr>
        </p:sp>
      </p:grpSp>
      <p:grpSp>
        <p:nvGrpSpPr>
          <p:cNvPr name="Group 8" id="8"/>
          <p:cNvGrpSpPr/>
          <p:nvPr/>
        </p:nvGrpSpPr>
        <p:grpSpPr>
          <a:xfrm rot="0">
            <a:off x="14800059" y="8041053"/>
            <a:ext cx="1345816" cy="19050"/>
            <a:chOff x="0" y="0"/>
            <a:chExt cx="1794421" cy="25400"/>
          </a:xfrm>
        </p:grpSpPr>
        <p:sp>
          <p:nvSpPr>
            <p:cNvPr name="Freeform 9" id="9"/>
            <p:cNvSpPr/>
            <p:nvPr/>
          </p:nvSpPr>
          <p:spPr>
            <a:xfrm flipH="false" flipV="false" rot="0">
              <a:off x="12700" y="0"/>
              <a:ext cx="1768983" cy="25400"/>
            </a:xfrm>
            <a:custGeom>
              <a:avLst/>
              <a:gdLst/>
              <a:ahLst/>
              <a:cxnLst/>
              <a:rect r="r" b="b" t="t" l="l"/>
              <a:pathLst>
                <a:path h="25400" w="1768983">
                  <a:moveTo>
                    <a:pt x="0" y="0"/>
                  </a:moveTo>
                  <a:lnTo>
                    <a:pt x="1768983" y="0"/>
                  </a:lnTo>
                  <a:lnTo>
                    <a:pt x="1768983" y="25400"/>
                  </a:lnTo>
                  <a:lnTo>
                    <a:pt x="0" y="25400"/>
                  </a:lnTo>
                  <a:close/>
                </a:path>
              </a:pathLst>
            </a:custGeom>
            <a:solidFill>
              <a:srgbClr val="292A2B"/>
            </a:solidFill>
            <a:ln w="12700">
              <a:solidFill>
                <a:srgbClr val="000000"/>
              </a:solidFill>
            </a:ln>
          </p:spPr>
        </p:sp>
      </p:grpSp>
      <p:grpSp>
        <p:nvGrpSpPr>
          <p:cNvPr name="Group 10" id="10"/>
          <p:cNvGrpSpPr/>
          <p:nvPr/>
        </p:nvGrpSpPr>
        <p:grpSpPr>
          <a:xfrm rot="0">
            <a:off x="12313225" y="6099648"/>
            <a:ext cx="745493" cy="19050"/>
            <a:chOff x="0" y="0"/>
            <a:chExt cx="993991" cy="25400"/>
          </a:xfrm>
        </p:grpSpPr>
        <p:sp>
          <p:nvSpPr>
            <p:cNvPr name="Freeform 11" id="11"/>
            <p:cNvSpPr/>
            <p:nvPr/>
          </p:nvSpPr>
          <p:spPr>
            <a:xfrm flipH="false" flipV="false" rot="0">
              <a:off x="12700" y="0"/>
              <a:ext cx="968629" cy="25400"/>
            </a:xfrm>
            <a:custGeom>
              <a:avLst/>
              <a:gdLst/>
              <a:ahLst/>
              <a:cxnLst/>
              <a:rect r="r" b="b" t="t" l="l"/>
              <a:pathLst>
                <a:path h="25400" w="968629">
                  <a:moveTo>
                    <a:pt x="0" y="0"/>
                  </a:moveTo>
                  <a:lnTo>
                    <a:pt x="968629" y="0"/>
                  </a:lnTo>
                  <a:lnTo>
                    <a:pt x="968629" y="25400"/>
                  </a:lnTo>
                  <a:lnTo>
                    <a:pt x="0" y="25400"/>
                  </a:lnTo>
                  <a:close/>
                </a:path>
              </a:pathLst>
            </a:custGeom>
            <a:solidFill>
              <a:srgbClr val="292A2B"/>
            </a:solidFill>
            <a:ln w="12700">
              <a:solidFill>
                <a:srgbClr val="000000"/>
              </a:solidFill>
            </a:ln>
          </p:spPr>
        </p:sp>
      </p:grpSp>
      <p:grpSp>
        <p:nvGrpSpPr>
          <p:cNvPr name="Group 12" id="12"/>
          <p:cNvGrpSpPr/>
          <p:nvPr/>
        </p:nvGrpSpPr>
        <p:grpSpPr>
          <a:xfrm rot="0">
            <a:off x="14902634" y="2226897"/>
            <a:ext cx="19050" cy="1028052"/>
            <a:chOff x="0" y="0"/>
            <a:chExt cx="25400" cy="1370736"/>
          </a:xfrm>
        </p:grpSpPr>
        <p:sp>
          <p:nvSpPr>
            <p:cNvPr name="Freeform 13" id="13"/>
            <p:cNvSpPr/>
            <p:nvPr/>
          </p:nvSpPr>
          <p:spPr>
            <a:xfrm flipH="false" flipV="false" rot="0">
              <a:off x="0" y="12700"/>
              <a:ext cx="25400" cy="1345311"/>
            </a:xfrm>
            <a:custGeom>
              <a:avLst/>
              <a:gdLst/>
              <a:ahLst/>
              <a:cxnLst/>
              <a:rect r="r" b="b" t="t" l="l"/>
              <a:pathLst>
                <a:path h="1345311" w="25400">
                  <a:moveTo>
                    <a:pt x="0" y="1345311"/>
                  </a:moveTo>
                  <a:lnTo>
                    <a:pt x="0" y="0"/>
                  </a:lnTo>
                  <a:lnTo>
                    <a:pt x="25400" y="0"/>
                  </a:lnTo>
                  <a:lnTo>
                    <a:pt x="25400" y="1345311"/>
                  </a:lnTo>
                  <a:close/>
                </a:path>
              </a:pathLst>
            </a:custGeom>
            <a:solidFill>
              <a:srgbClr val="292A2B"/>
            </a:solidFill>
            <a:ln w="12700">
              <a:solidFill>
                <a:srgbClr val="000000"/>
              </a:solidFill>
            </a:ln>
          </p:spPr>
        </p:sp>
      </p:grpSp>
      <p:grpSp>
        <p:nvGrpSpPr>
          <p:cNvPr name="Group 14" id="14"/>
          <p:cNvGrpSpPr/>
          <p:nvPr/>
        </p:nvGrpSpPr>
        <p:grpSpPr>
          <a:xfrm rot="0">
            <a:off x="16119434" y="6669586"/>
            <a:ext cx="19050" cy="1390526"/>
            <a:chOff x="0" y="0"/>
            <a:chExt cx="25400" cy="1854035"/>
          </a:xfrm>
        </p:grpSpPr>
        <p:sp>
          <p:nvSpPr>
            <p:cNvPr name="Freeform 15" id="15"/>
            <p:cNvSpPr/>
            <p:nvPr/>
          </p:nvSpPr>
          <p:spPr>
            <a:xfrm flipH="false" flipV="false" rot="0">
              <a:off x="0" y="12700"/>
              <a:ext cx="25400" cy="1828673"/>
            </a:xfrm>
            <a:custGeom>
              <a:avLst/>
              <a:gdLst/>
              <a:ahLst/>
              <a:cxnLst/>
              <a:rect r="r" b="b" t="t" l="l"/>
              <a:pathLst>
                <a:path h="1828673" w="25400">
                  <a:moveTo>
                    <a:pt x="0" y="1828673"/>
                  </a:moveTo>
                  <a:lnTo>
                    <a:pt x="0" y="0"/>
                  </a:lnTo>
                  <a:lnTo>
                    <a:pt x="25400" y="0"/>
                  </a:lnTo>
                  <a:lnTo>
                    <a:pt x="25400" y="1828673"/>
                  </a:lnTo>
                  <a:close/>
                </a:path>
              </a:pathLst>
            </a:custGeom>
            <a:solidFill>
              <a:srgbClr val="292A2B"/>
            </a:solidFill>
            <a:ln w="12700">
              <a:solidFill>
                <a:srgbClr val="000000"/>
              </a:solidFill>
            </a:ln>
          </p:spPr>
        </p:sp>
      </p:grpSp>
      <p:grpSp>
        <p:nvGrpSpPr>
          <p:cNvPr name="Group 16" id="16"/>
          <p:cNvGrpSpPr/>
          <p:nvPr/>
        </p:nvGrpSpPr>
        <p:grpSpPr>
          <a:xfrm rot="0">
            <a:off x="12322750" y="5090636"/>
            <a:ext cx="19050" cy="1028052"/>
            <a:chOff x="0" y="0"/>
            <a:chExt cx="25400" cy="1370736"/>
          </a:xfrm>
        </p:grpSpPr>
        <p:sp>
          <p:nvSpPr>
            <p:cNvPr name="Freeform 17" id="17"/>
            <p:cNvSpPr/>
            <p:nvPr/>
          </p:nvSpPr>
          <p:spPr>
            <a:xfrm flipH="false" flipV="false" rot="0">
              <a:off x="0" y="12700"/>
              <a:ext cx="25400" cy="1345311"/>
            </a:xfrm>
            <a:custGeom>
              <a:avLst/>
              <a:gdLst/>
              <a:ahLst/>
              <a:cxnLst/>
              <a:rect r="r" b="b" t="t" l="l"/>
              <a:pathLst>
                <a:path h="1345311" w="25400">
                  <a:moveTo>
                    <a:pt x="0" y="1345311"/>
                  </a:moveTo>
                  <a:lnTo>
                    <a:pt x="0" y="0"/>
                  </a:lnTo>
                  <a:lnTo>
                    <a:pt x="25400" y="0"/>
                  </a:lnTo>
                  <a:lnTo>
                    <a:pt x="25400" y="1345311"/>
                  </a:lnTo>
                  <a:close/>
                </a:path>
              </a:pathLst>
            </a:custGeom>
            <a:solidFill>
              <a:srgbClr val="292A2B"/>
            </a:solidFill>
            <a:ln w="12700">
              <a:solidFill>
                <a:srgbClr val="000000"/>
              </a:solidFill>
            </a:ln>
          </p:spPr>
        </p:sp>
      </p:grpSp>
      <p:grpSp>
        <p:nvGrpSpPr>
          <p:cNvPr name="Group 18" id="18"/>
          <p:cNvGrpSpPr/>
          <p:nvPr/>
        </p:nvGrpSpPr>
        <p:grpSpPr>
          <a:xfrm rot="0">
            <a:off x="11596306" y="5090636"/>
            <a:ext cx="745493" cy="19050"/>
            <a:chOff x="0" y="0"/>
            <a:chExt cx="993991" cy="25400"/>
          </a:xfrm>
        </p:grpSpPr>
        <p:sp>
          <p:nvSpPr>
            <p:cNvPr name="Freeform 19" id="19"/>
            <p:cNvSpPr/>
            <p:nvPr/>
          </p:nvSpPr>
          <p:spPr>
            <a:xfrm flipH="false" flipV="false" rot="0">
              <a:off x="12700" y="0"/>
              <a:ext cx="968629" cy="25400"/>
            </a:xfrm>
            <a:custGeom>
              <a:avLst/>
              <a:gdLst/>
              <a:ahLst/>
              <a:cxnLst/>
              <a:rect r="r" b="b" t="t" l="l"/>
              <a:pathLst>
                <a:path h="25400" w="968629">
                  <a:moveTo>
                    <a:pt x="0" y="0"/>
                  </a:moveTo>
                  <a:lnTo>
                    <a:pt x="968629" y="0"/>
                  </a:lnTo>
                  <a:lnTo>
                    <a:pt x="968629" y="25400"/>
                  </a:lnTo>
                  <a:lnTo>
                    <a:pt x="0" y="25400"/>
                  </a:lnTo>
                  <a:close/>
                </a:path>
              </a:pathLst>
            </a:custGeom>
            <a:solidFill>
              <a:srgbClr val="292A2B"/>
            </a:solidFill>
            <a:ln w="12700">
              <a:solidFill>
                <a:srgbClr val="000000"/>
              </a:solidFill>
            </a:ln>
          </p:spPr>
        </p:sp>
      </p:grpSp>
      <p:sp>
        <p:nvSpPr>
          <p:cNvPr name="Freeform 20" id="20"/>
          <p:cNvSpPr/>
          <p:nvPr/>
        </p:nvSpPr>
        <p:spPr>
          <a:xfrm flipH="false" flipV="false" rot="0">
            <a:off x="1028700" y="5100161"/>
            <a:ext cx="5438937" cy="5914682"/>
          </a:xfrm>
          <a:custGeom>
            <a:avLst/>
            <a:gdLst/>
            <a:ahLst/>
            <a:cxnLst/>
            <a:rect r="r" b="b" t="t" l="l"/>
            <a:pathLst>
              <a:path h="5914682" w="5438937">
                <a:moveTo>
                  <a:pt x="0" y="0"/>
                </a:moveTo>
                <a:lnTo>
                  <a:pt x="5438937" y="0"/>
                </a:lnTo>
                <a:lnTo>
                  <a:pt x="5438937" y="5914682"/>
                </a:lnTo>
                <a:lnTo>
                  <a:pt x="0" y="5914682"/>
                </a:lnTo>
                <a:lnTo>
                  <a:pt x="0" y="0"/>
                </a:lnTo>
                <a:close/>
              </a:path>
            </a:pathLst>
          </a:custGeom>
          <a:blipFill>
            <a:blip r:embed="rId7"/>
            <a:stretch>
              <a:fillRect l="-10277" t="-22484" r="-10199" b="0"/>
            </a:stretch>
          </a:blipFill>
        </p:spPr>
      </p:sp>
      <p:sp>
        <p:nvSpPr>
          <p:cNvPr name="Freeform 21" id="21"/>
          <p:cNvSpPr/>
          <p:nvPr/>
        </p:nvSpPr>
        <p:spPr>
          <a:xfrm flipH="false" flipV="false" rot="0">
            <a:off x="13341172" y="5700522"/>
            <a:ext cx="694172" cy="655996"/>
          </a:xfrm>
          <a:custGeom>
            <a:avLst/>
            <a:gdLst/>
            <a:ahLst/>
            <a:cxnLst/>
            <a:rect r="r" b="b" t="t" l="l"/>
            <a:pathLst>
              <a:path h="655996" w="694172">
                <a:moveTo>
                  <a:pt x="0" y="0"/>
                </a:moveTo>
                <a:lnTo>
                  <a:pt x="694173" y="0"/>
                </a:lnTo>
                <a:lnTo>
                  <a:pt x="694173" y="655996"/>
                </a:lnTo>
                <a:lnTo>
                  <a:pt x="0" y="655996"/>
                </a:lnTo>
                <a:lnTo>
                  <a:pt x="0" y="0"/>
                </a:lnTo>
                <a:close/>
              </a:path>
            </a:pathLst>
          </a:custGeom>
          <a:blipFill>
            <a:blip r:embed="rId8">
              <a:extLst>
                <a:ext uri="{96DAC541-7B7A-43D3-8B79-37D633B846F1}">
                  <asvg:svgBlip xmlns:asvg="http://schemas.microsoft.com/office/drawing/2016/SVG/main" r:embed="rId9"/>
                </a:ext>
              </a:extLst>
            </a:blip>
            <a:stretch>
              <a:fillRect l="0" t="-10" r="0" b="-11"/>
            </a:stretch>
          </a:blipFill>
        </p:spPr>
      </p:sp>
      <p:sp>
        <p:nvSpPr>
          <p:cNvPr name="Freeform 22" id="22"/>
          <p:cNvSpPr/>
          <p:nvPr/>
        </p:nvSpPr>
        <p:spPr>
          <a:xfrm flipH="false" flipV="false" rot="0">
            <a:off x="14604263" y="3655143"/>
            <a:ext cx="630574" cy="655996"/>
          </a:xfrm>
          <a:custGeom>
            <a:avLst/>
            <a:gdLst/>
            <a:ahLst/>
            <a:cxnLst/>
            <a:rect r="r" b="b" t="t" l="l"/>
            <a:pathLst>
              <a:path h="655996" w="630574">
                <a:moveTo>
                  <a:pt x="0" y="0"/>
                </a:moveTo>
                <a:lnTo>
                  <a:pt x="630574" y="0"/>
                </a:lnTo>
                <a:lnTo>
                  <a:pt x="630574" y="655996"/>
                </a:lnTo>
                <a:lnTo>
                  <a:pt x="0" y="655996"/>
                </a:lnTo>
                <a:lnTo>
                  <a:pt x="0" y="0"/>
                </a:lnTo>
                <a:close/>
              </a:path>
            </a:pathLst>
          </a:custGeom>
          <a:blipFill>
            <a:blip r:embed="rId10">
              <a:extLst>
                <a:ext uri="{96DAC541-7B7A-43D3-8B79-37D633B846F1}">
                  <asvg:svgBlip xmlns:asvg="http://schemas.microsoft.com/office/drawing/2016/SVG/main" r:embed="rId11"/>
                </a:ext>
              </a:extLst>
            </a:blip>
            <a:stretch>
              <a:fillRect l="-507" t="0" r="-509" b="0"/>
            </a:stretch>
          </a:blipFill>
        </p:spPr>
      </p:sp>
      <p:sp>
        <p:nvSpPr>
          <p:cNvPr name="Freeform 23" id="23"/>
          <p:cNvSpPr/>
          <p:nvPr/>
        </p:nvSpPr>
        <p:spPr>
          <a:xfrm flipH="false" flipV="false" rot="0">
            <a:off x="15830036" y="5667670"/>
            <a:ext cx="650738" cy="732196"/>
          </a:xfrm>
          <a:custGeom>
            <a:avLst/>
            <a:gdLst/>
            <a:ahLst/>
            <a:cxnLst/>
            <a:rect r="r" b="b" t="t" l="l"/>
            <a:pathLst>
              <a:path h="732196" w="650738">
                <a:moveTo>
                  <a:pt x="0" y="0"/>
                </a:moveTo>
                <a:lnTo>
                  <a:pt x="650738" y="0"/>
                </a:lnTo>
                <a:lnTo>
                  <a:pt x="650738" y="732197"/>
                </a:lnTo>
                <a:lnTo>
                  <a:pt x="0" y="732197"/>
                </a:lnTo>
                <a:lnTo>
                  <a:pt x="0" y="0"/>
                </a:lnTo>
                <a:close/>
              </a:path>
            </a:pathLst>
          </a:custGeom>
          <a:blipFill>
            <a:blip r:embed="rId12">
              <a:extLst>
                <a:ext uri="{96DAC541-7B7A-43D3-8B79-37D633B846F1}">
                  <asvg:svgBlip xmlns:asvg="http://schemas.microsoft.com/office/drawing/2016/SVG/main" r:embed="rId13"/>
                </a:ext>
              </a:extLst>
            </a:blip>
            <a:stretch>
              <a:fillRect l="-414" t="0" r="-414" b="0"/>
            </a:stretch>
          </a:blipFill>
        </p:spPr>
      </p:sp>
      <p:sp>
        <p:nvSpPr>
          <p:cNvPr name="TextBox 24" id="24"/>
          <p:cNvSpPr txBox="true"/>
          <p:nvPr/>
        </p:nvSpPr>
        <p:spPr>
          <a:xfrm rot="0">
            <a:off x="1028700" y="1081507"/>
            <a:ext cx="7660329"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MARKET OPPORTUNITY - TMS SCOPE</a:t>
            </a:r>
          </a:p>
        </p:txBody>
      </p:sp>
      <p:sp>
        <p:nvSpPr>
          <p:cNvPr name="TextBox 25" id="25"/>
          <p:cNvSpPr txBox="true"/>
          <p:nvPr/>
        </p:nvSpPr>
        <p:spPr>
          <a:xfrm rot="0">
            <a:off x="1028700" y="2730579"/>
            <a:ext cx="8444655" cy="1666215"/>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The global logistics software market size was valued at USD 17.73 Billion in 2024 and is projected to grow from USD 19.39 Billion in 2025 to reach USD 39.66 Billion by 2033, growing at a CAGR of 9.36% during the forecast period (2025-2033).</a:t>
            </a:r>
          </a:p>
          <a:p>
            <a:pPr algn="just">
              <a:lnSpc>
                <a:spcPts val="2659"/>
              </a:lnSpc>
            </a:pPr>
          </a:p>
        </p:txBody>
      </p:sp>
      <p:sp>
        <p:nvSpPr>
          <p:cNvPr name="TextBox 26" id="26"/>
          <p:cNvSpPr txBox="true"/>
          <p:nvPr/>
        </p:nvSpPr>
        <p:spPr>
          <a:xfrm rot="0">
            <a:off x="8200196" y="4440203"/>
            <a:ext cx="3343275" cy="1490955"/>
          </a:xfrm>
          <a:prstGeom prst="rect">
            <a:avLst/>
          </a:prstGeom>
        </p:spPr>
        <p:txBody>
          <a:bodyPr anchor="t" rtlCol="false" tIns="0" lIns="0" bIns="0" rIns="0">
            <a:spAutoFit/>
          </a:bodyPr>
          <a:lstStyle/>
          <a:p>
            <a:pPr algn="r">
              <a:lnSpc>
                <a:spcPts val="3919"/>
              </a:lnSpc>
            </a:pPr>
            <a:r>
              <a:rPr lang="en-US" sz="2799" b="true">
                <a:solidFill>
                  <a:srgbClr val="000000"/>
                </a:solidFill>
                <a:latin typeface="Arimo Bold"/>
                <a:ea typeface="Arimo Bold"/>
                <a:cs typeface="Arimo Bold"/>
                <a:sym typeface="Arimo Bold"/>
              </a:rPr>
              <a:t>Low End - 0.96 Billion USD - @ 5% NP</a:t>
            </a:r>
          </a:p>
        </p:txBody>
      </p:sp>
      <p:sp>
        <p:nvSpPr>
          <p:cNvPr name="TextBox 27" id="27"/>
          <p:cNvSpPr txBox="true"/>
          <p:nvPr/>
        </p:nvSpPr>
        <p:spPr>
          <a:xfrm rot="0">
            <a:off x="10926851" y="7454894"/>
            <a:ext cx="3812334" cy="995655"/>
          </a:xfrm>
          <a:prstGeom prst="rect">
            <a:avLst/>
          </a:prstGeom>
        </p:spPr>
        <p:txBody>
          <a:bodyPr anchor="t" rtlCol="false" tIns="0" lIns="0" bIns="0" rIns="0">
            <a:spAutoFit/>
          </a:bodyPr>
          <a:lstStyle/>
          <a:p>
            <a:pPr algn="r">
              <a:lnSpc>
                <a:spcPts val="3919"/>
              </a:lnSpc>
            </a:pPr>
            <a:r>
              <a:rPr lang="en-US" sz="2799" b="true">
                <a:solidFill>
                  <a:srgbClr val="000000"/>
                </a:solidFill>
                <a:latin typeface="Arimo Bold"/>
                <a:ea typeface="Arimo Bold"/>
                <a:cs typeface="Arimo Bold"/>
                <a:sym typeface="Arimo Bold"/>
              </a:rPr>
              <a:t>High End - 2.90 Billion USD - @ 15% NP </a:t>
            </a:r>
          </a:p>
        </p:txBody>
      </p:sp>
      <p:sp>
        <p:nvSpPr>
          <p:cNvPr name="Freeform 28" id="28"/>
          <p:cNvSpPr/>
          <p:nvPr/>
        </p:nvSpPr>
        <p:spPr>
          <a:xfrm flipH="false" flipV="false" rot="0">
            <a:off x="4421275" y="7410073"/>
            <a:ext cx="6435177" cy="2553889"/>
          </a:xfrm>
          <a:custGeom>
            <a:avLst/>
            <a:gdLst/>
            <a:ahLst/>
            <a:cxnLst/>
            <a:rect r="r" b="b" t="t" l="l"/>
            <a:pathLst>
              <a:path h="2553889" w="6435177">
                <a:moveTo>
                  <a:pt x="0" y="0"/>
                </a:moveTo>
                <a:lnTo>
                  <a:pt x="6435177" y="0"/>
                </a:lnTo>
                <a:lnTo>
                  <a:pt x="6435177" y="2553889"/>
                </a:lnTo>
                <a:lnTo>
                  <a:pt x="0" y="255388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9" id="29"/>
          <p:cNvSpPr txBox="true"/>
          <p:nvPr/>
        </p:nvSpPr>
        <p:spPr>
          <a:xfrm rot="0">
            <a:off x="4626007" y="7754036"/>
            <a:ext cx="6025706" cy="1999590"/>
          </a:xfrm>
          <a:prstGeom prst="rect">
            <a:avLst/>
          </a:prstGeom>
        </p:spPr>
        <p:txBody>
          <a:bodyPr anchor="t" rtlCol="false" tIns="0" lIns="0" bIns="0" rIns="0">
            <a:spAutoFit/>
          </a:bodyPr>
          <a:lstStyle/>
          <a:p>
            <a:pPr algn="just">
              <a:lnSpc>
                <a:spcPts val="2659"/>
              </a:lnSpc>
            </a:pPr>
            <a:r>
              <a:rPr lang="en-US" sz="1899">
                <a:solidFill>
                  <a:srgbClr val="FFFFFF"/>
                </a:solidFill>
                <a:latin typeface="Arimo"/>
                <a:ea typeface="Arimo"/>
                <a:cs typeface="Arimo"/>
                <a:sym typeface="Arimo"/>
              </a:rPr>
              <a:t>By focusing on niche specialization, global delivery and outcome-driven services, the company has the opportunity to establish itself as a leading logistics technology enabler, carving out a meaningful share of a market projected to more than double in less than a decade.</a:t>
            </a:r>
          </a:p>
        </p:txBody>
      </p:sp>
      <p:sp>
        <p:nvSpPr>
          <p:cNvPr name="TextBox 30" id="30"/>
          <p:cNvSpPr txBox="true"/>
          <p:nvPr/>
        </p:nvSpPr>
        <p:spPr>
          <a:xfrm rot="0">
            <a:off x="9871834" y="1434751"/>
            <a:ext cx="3924281" cy="1490955"/>
          </a:xfrm>
          <a:prstGeom prst="rect">
            <a:avLst/>
          </a:prstGeom>
        </p:spPr>
        <p:txBody>
          <a:bodyPr anchor="t" rtlCol="false" tIns="0" lIns="0" bIns="0" rIns="0">
            <a:spAutoFit/>
          </a:bodyPr>
          <a:lstStyle/>
          <a:p>
            <a:pPr algn="l">
              <a:lnSpc>
                <a:spcPts val="3919"/>
              </a:lnSpc>
            </a:pPr>
            <a:r>
              <a:rPr lang="en-US" sz="2799" b="true">
                <a:solidFill>
                  <a:srgbClr val="000000"/>
                </a:solidFill>
                <a:latin typeface="Arimo Bold"/>
                <a:ea typeface="Arimo Bold"/>
                <a:cs typeface="Arimo Bold"/>
                <a:sym typeface="Arimo Bold"/>
              </a:rPr>
              <a:t>Target Capture @ 1% - 0.19 Billion USD will the turnover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889960" y="1028700"/>
            <a:ext cx="6397238" cy="8229600"/>
          </a:xfrm>
          <a:custGeom>
            <a:avLst/>
            <a:gdLst/>
            <a:ahLst/>
            <a:cxnLst/>
            <a:rect r="r" b="b" t="t" l="l"/>
            <a:pathLst>
              <a:path h="8229600" w="6397238">
                <a:moveTo>
                  <a:pt x="0" y="0"/>
                </a:moveTo>
                <a:lnTo>
                  <a:pt x="6397238" y="0"/>
                </a:lnTo>
                <a:lnTo>
                  <a:pt x="6397238" y="8229600"/>
                </a:lnTo>
                <a:lnTo>
                  <a:pt x="0" y="8229600"/>
                </a:lnTo>
                <a:lnTo>
                  <a:pt x="0" y="0"/>
                </a:lnTo>
                <a:close/>
              </a:path>
            </a:pathLst>
          </a:custGeom>
          <a:blipFill>
            <a:blip r:embed="rId2"/>
            <a:stretch>
              <a:fillRect l="0" t="-16455" r="-9" b="0"/>
            </a:stretch>
          </a:blipFill>
        </p:spPr>
      </p:sp>
      <p:grpSp>
        <p:nvGrpSpPr>
          <p:cNvPr name="Group 3" id="3"/>
          <p:cNvGrpSpPr/>
          <p:nvPr/>
        </p:nvGrpSpPr>
        <p:grpSpPr>
          <a:xfrm rot="0">
            <a:off x="1028700" y="1953292"/>
            <a:ext cx="1836820" cy="1843735"/>
            <a:chOff x="0" y="0"/>
            <a:chExt cx="2449093" cy="2458314"/>
          </a:xfrm>
        </p:grpSpPr>
        <p:sp>
          <p:nvSpPr>
            <p:cNvPr name="Freeform 4" id="4"/>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3">
                <a:alphaModFix amt="40000"/>
              </a:blip>
              <a:stretch>
                <a:fillRect l="-18" t="0" r="-19" b="1"/>
              </a:stretch>
            </a:blipFill>
          </p:spPr>
        </p:sp>
      </p:grpSp>
      <p:sp>
        <p:nvSpPr>
          <p:cNvPr name="Freeform 5" id="5"/>
          <p:cNvSpPr/>
          <p:nvPr/>
        </p:nvSpPr>
        <p:spPr>
          <a:xfrm flipH="false" flipV="false" rot="0">
            <a:off x="1146942" y="2074993"/>
            <a:ext cx="1600337" cy="1600337"/>
          </a:xfrm>
          <a:custGeom>
            <a:avLst/>
            <a:gdLst/>
            <a:ahLst/>
            <a:cxnLst/>
            <a:rect r="r" b="b" t="t" l="l"/>
            <a:pathLst>
              <a:path h="1600337" w="1600337">
                <a:moveTo>
                  <a:pt x="0" y="0"/>
                </a:moveTo>
                <a:lnTo>
                  <a:pt x="1600337" y="0"/>
                </a:lnTo>
                <a:lnTo>
                  <a:pt x="1600337" y="1600337"/>
                </a:lnTo>
                <a:lnTo>
                  <a:pt x="0" y="1600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18096" y="2146147"/>
            <a:ext cx="1458028" cy="1458028"/>
          </a:xfrm>
          <a:custGeom>
            <a:avLst/>
            <a:gdLst/>
            <a:ahLst/>
            <a:cxnLst/>
            <a:rect r="r" b="b" t="t" l="l"/>
            <a:pathLst>
              <a:path h="1458028" w="1458028">
                <a:moveTo>
                  <a:pt x="0" y="0"/>
                </a:moveTo>
                <a:lnTo>
                  <a:pt x="1458028" y="0"/>
                </a:lnTo>
                <a:lnTo>
                  <a:pt x="1458028" y="1458028"/>
                </a:lnTo>
                <a:lnTo>
                  <a:pt x="0" y="14580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09907" y="2237959"/>
            <a:ext cx="1274405" cy="1274405"/>
          </a:xfrm>
          <a:custGeom>
            <a:avLst/>
            <a:gdLst/>
            <a:ahLst/>
            <a:cxnLst/>
            <a:rect r="r" b="b" t="t" l="l"/>
            <a:pathLst>
              <a:path h="1274405" w="1274405">
                <a:moveTo>
                  <a:pt x="0" y="0"/>
                </a:moveTo>
                <a:lnTo>
                  <a:pt x="1274405" y="0"/>
                </a:lnTo>
                <a:lnTo>
                  <a:pt x="1274405" y="1274405"/>
                </a:lnTo>
                <a:lnTo>
                  <a:pt x="0" y="12744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2700000">
            <a:off x="13140319" y="-1648920"/>
            <a:ext cx="11641931" cy="11641931"/>
            <a:chOff x="0" y="0"/>
            <a:chExt cx="15522575" cy="15522575"/>
          </a:xfrm>
        </p:grpSpPr>
        <p:sp>
          <p:nvSpPr>
            <p:cNvPr name="Freeform 9" id="9"/>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10">
                <a:alphaModFix amt="6999"/>
              </a:blip>
              <a:stretch>
                <a:fillRect l="0" t="0" r="0" b="0"/>
              </a:stretch>
            </a:blipFill>
          </p:spPr>
        </p:sp>
      </p:grpSp>
      <p:sp>
        <p:nvSpPr>
          <p:cNvPr name="Freeform 10" id="10"/>
          <p:cNvSpPr/>
          <p:nvPr/>
        </p:nvSpPr>
        <p:spPr>
          <a:xfrm flipH="false" flipV="false" rot="0">
            <a:off x="11042711" y="-3746529"/>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624146" y="2543489"/>
            <a:ext cx="645938" cy="663350"/>
          </a:xfrm>
          <a:custGeom>
            <a:avLst/>
            <a:gdLst/>
            <a:ahLst/>
            <a:cxnLst/>
            <a:rect r="r" b="b" t="t" l="l"/>
            <a:pathLst>
              <a:path h="663350" w="645938">
                <a:moveTo>
                  <a:pt x="0" y="0"/>
                </a:moveTo>
                <a:lnTo>
                  <a:pt x="645938" y="0"/>
                </a:lnTo>
                <a:lnTo>
                  <a:pt x="645938" y="663350"/>
                </a:lnTo>
                <a:lnTo>
                  <a:pt x="0" y="663350"/>
                </a:lnTo>
                <a:lnTo>
                  <a:pt x="0" y="0"/>
                </a:lnTo>
                <a:close/>
              </a:path>
            </a:pathLst>
          </a:custGeom>
          <a:blipFill>
            <a:blip r:embed="rId13">
              <a:extLst>
                <a:ext uri="{96DAC541-7B7A-43D3-8B79-37D633B846F1}">
                  <asvg:svgBlip xmlns:asvg="http://schemas.microsoft.com/office/drawing/2016/SVG/main" r:embed="rId14"/>
                </a:ext>
              </a:extLst>
            </a:blip>
            <a:stretch>
              <a:fillRect l="0" t="-119" r="0" b="-119"/>
            </a:stretch>
          </a:blipFill>
        </p:spPr>
      </p:sp>
      <p:sp>
        <p:nvSpPr>
          <p:cNvPr name="TextBox 12" id="12"/>
          <p:cNvSpPr txBox="true"/>
          <p:nvPr/>
        </p:nvSpPr>
        <p:spPr>
          <a:xfrm rot="0">
            <a:off x="9605601" y="1081507"/>
            <a:ext cx="6094809"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COMPETITOR ANALYSIS</a:t>
            </a:r>
          </a:p>
        </p:txBody>
      </p:sp>
      <p:sp>
        <p:nvSpPr>
          <p:cNvPr name="TextBox 13" id="13"/>
          <p:cNvSpPr txBox="true"/>
          <p:nvPr/>
        </p:nvSpPr>
        <p:spPr>
          <a:xfrm rot="0">
            <a:off x="9634176" y="2276056"/>
            <a:ext cx="7653699" cy="1999590"/>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CargoWise holds 45% of the global TMS market but is costly and rigid, while Softlink and Magaya offer limited scalability and innovation. Infologia provides a 50–70% cost advantage, 70% faster deployment, and modular flexibility, cutting integration costs by 30%. With enterprise-grade scalability and SME-friendly pricing, we aim to capture 1% of the $30B TMS market, a $300M opportunity.</a:t>
            </a:r>
          </a:p>
        </p:txBody>
      </p:sp>
      <p:sp>
        <p:nvSpPr>
          <p:cNvPr name="Freeform 14" id="14"/>
          <p:cNvSpPr/>
          <p:nvPr/>
        </p:nvSpPr>
        <p:spPr>
          <a:xfrm flipH="false" flipV="false" rot="0">
            <a:off x="6212748" y="6009543"/>
            <a:ext cx="11947822" cy="3248757"/>
          </a:xfrm>
          <a:custGeom>
            <a:avLst/>
            <a:gdLst/>
            <a:ahLst/>
            <a:cxnLst/>
            <a:rect r="r" b="b" t="t" l="l"/>
            <a:pathLst>
              <a:path h="3248757" w="11947822">
                <a:moveTo>
                  <a:pt x="0" y="0"/>
                </a:moveTo>
                <a:lnTo>
                  <a:pt x="11947822" y="0"/>
                </a:lnTo>
                <a:lnTo>
                  <a:pt x="11947822" y="3248757"/>
                </a:lnTo>
                <a:lnTo>
                  <a:pt x="0" y="324875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5" id="15"/>
          <p:cNvSpPr txBox="true"/>
          <p:nvPr/>
        </p:nvSpPr>
        <p:spPr>
          <a:xfrm rot="0">
            <a:off x="6417488" y="6984254"/>
            <a:ext cx="11556044" cy="1999615"/>
          </a:xfrm>
          <a:prstGeom prst="rect">
            <a:avLst/>
          </a:prstGeom>
        </p:spPr>
        <p:txBody>
          <a:bodyPr anchor="t" rtlCol="false" tIns="0" lIns="0" bIns="0" rIns="0">
            <a:spAutoFit/>
          </a:bodyPr>
          <a:lstStyle/>
          <a:p>
            <a:pPr algn="just" marL="434342" indent="-144781" lvl="2">
              <a:lnSpc>
                <a:spcPts val="2660"/>
              </a:lnSpc>
              <a:buFont typeface="Arial"/>
              <a:buChar char="⚬"/>
            </a:pPr>
            <a:r>
              <a:rPr lang="en-US" sz="1900">
                <a:solidFill>
                  <a:srgbClr val="FFFFFF"/>
                </a:solidFill>
                <a:latin typeface="Arimo"/>
                <a:ea typeface="Arimo"/>
                <a:cs typeface="Arimo"/>
                <a:sym typeface="Arimo"/>
              </a:rPr>
              <a:t>Market Entry Strategy: Target 1% of $30B TMS market ($300M / ₹2,400 Cr opportunity).</a:t>
            </a:r>
          </a:p>
          <a:p>
            <a:pPr algn="just" marL="434342" indent="-144781" lvl="2">
              <a:lnSpc>
                <a:spcPts val="2660"/>
              </a:lnSpc>
              <a:buFont typeface="Arial"/>
              <a:buChar char="⚬"/>
            </a:pPr>
            <a:r>
              <a:rPr lang="en-US" sz="1900">
                <a:solidFill>
                  <a:srgbClr val="FFFFFF"/>
                </a:solidFill>
                <a:latin typeface="Arimo"/>
                <a:ea typeface="Arimo"/>
                <a:cs typeface="Arimo"/>
                <a:sym typeface="Arimo"/>
              </a:rPr>
              <a:t>Cost Advantage: 50–70% lower pricing than CargoWise, outpacing Magaya with deeper features.</a:t>
            </a:r>
          </a:p>
          <a:p>
            <a:pPr algn="just" marL="434342" indent="-144781" lvl="2">
              <a:lnSpc>
                <a:spcPts val="2660"/>
              </a:lnSpc>
              <a:buFont typeface="Arial"/>
              <a:buChar char="⚬"/>
            </a:pPr>
            <a:r>
              <a:rPr lang="en-US" sz="1900">
                <a:solidFill>
                  <a:srgbClr val="FFFFFF"/>
                </a:solidFill>
                <a:latin typeface="Arimo"/>
                <a:ea typeface="Arimo"/>
                <a:cs typeface="Arimo"/>
                <a:sym typeface="Arimo"/>
              </a:rPr>
              <a:t>Deployment: 60-day implementation, 70% faster than CargoWise/Magaya.</a:t>
            </a:r>
          </a:p>
          <a:p>
            <a:pPr algn="just" marL="434342" indent="-144781" lvl="2">
              <a:lnSpc>
                <a:spcPts val="2660"/>
              </a:lnSpc>
              <a:buFont typeface="Arial"/>
              <a:buChar char="⚬"/>
            </a:pPr>
            <a:r>
              <a:rPr lang="en-US" sz="1900">
                <a:solidFill>
                  <a:srgbClr val="FFFFFF"/>
                </a:solidFill>
                <a:latin typeface="Arimo"/>
                <a:ea typeface="Arimo"/>
                <a:cs typeface="Arimo"/>
                <a:sym typeface="Arimo"/>
              </a:rPr>
              <a:t>Customization: Fully modular, cutting client integration costs by 50–70%.</a:t>
            </a:r>
          </a:p>
          <a:p>
            <a:pPr algn="just" marL="434342" indent="-144781" lvl="2">
              <a:lnSpc>
                <a:spcPts val="2660"/>
              </a:lnSpc>
              <a:buFont typeface="Arial"/>
              <a:buChar char="⚬"/>
            </a:pPr>
            <a:r>
              <a:rPr lang="en-US" sz="1900">
                <a:solidFill>
                  <a:srgbClr val="FFFFFF"/>
                </a:solidFill>
                <a:latin typeface="Arimo"/>
                <a:ea typeface="Arimo"/>
                <a:cs typeface="Arimo"/>
                <a:sym typeface="Arimo"/>
              </a:rPr>
              <a:t>Support Model: India-based delivery, 50% cheaper than global competitors.</a:t>
            </a:r>
          </a:p>
          <a:p>
            <a:pPr algn="just" marL="434342" indent="-144781" lvl="2">
              <a:lnSpc>
                <a:spcPts val="2660"/>
              </a:lnSpc>
              <a:buFont typeface="Arial"/>
              <a:buChar char="⚬"/>
            </a:pPr>
            <a:r>
              <a:rPr lang="en-US" sz="1900">
                <a:solidFill>
                  <a:srgbClr val="FFFFFF"/>
                </a:solidFill>
                <a:latin typeface="Arimo"/>
                <a:ea typeface="Arimo"/>
                <a:cs typeface="Arimo"/>
                <a:sym typeface="Arimo"/>
              </a:rPr>
              <a:t>Revenue Projection: 25 high-value clients ($180K–$240K / ₹1.5–2 Cr each) yield $2.27M ARR early on.</a:t>
            </a:r>
          </a:p>
        </p:txBody>
      </p:sp>
      <p:sp>
        <p:nvSpPr>
          <p:cNvPr name="TextBox 16" id="16"/>
          <p:cNvSpPr txBox="true"/>
          <p:nvPr/>
        </p:nvSpPr>
        <p:spPr>
          <a:xfrm rot="0">
            <a:off x="6598710" y="6370596"/>
            <a:ext cx="5513156" cy="441325"/>
          </a:xfrm>
          <a:prstGeom prst="rect">
            <a:avLst/>
          </a:prstGeom>
        </p:spPr>
        <p:txBody>
          <a:bodyPr anchor="t" rtlCol="false" tIns="0" lIns="0" bIns="0" rIns="0">
            <a:spAutoFit/>
          </a:bodyPr>
          <a:lstStyle/>
          <a:p>
            <a:pPr algn="just">
              <a:lnSpc>
                <a:spcPts val="3500"/>
              </a:lnSpc>
            </a:pPr>
            <a:r>
              <a:rPr lang="en-US" sz="2499">
                <a:solidFill>
                  <a:srgbClr val="FFFFFF"/>
                </a:solidFill>
                <a:latin typeface="Arimo"/>
                <a:ea typeface="Arimo"/>
                <a:cs typeface="Arimo"/>
                <a:sym typeface="Arimo"/>
              </a:rPr>
              <a:t>HOW DO WE DIFFERENTIATE US!!!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9983886" y="2515467"/>
            <a:ext cx="11641931" cy="11641931"/>
            <a:chOff x="0" y="0"/>
            <a:chExt cx="15522575" cy="15522575"/>
          </a:xfrm>
        </p:grpSpPr>
        <p:sp>
          <p:nvSpPr>
            <p:cNvPr name="Freeform 3" id="3"/>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4" id="4"/>
          <p:cNvSpPr/>
          <p:nvPr/>
        </p:nvSpPr>
        <p:spPr>
          <a:xfrm flipH="false" flipV="false" rot="0">
            <a:off x="7784854" y="340745"/>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2700000">
            <a:off x="-4317044" y="-3837184"/>
            <a:ext cx="11641931" cy="11641931"/>
            <a:chOff x="0" y="0"/>
            <a:chExt cx="15522575" cy="15522575"/>
          </a:xfrm>
        </p:grpSpPr>
        <p:sp>
          <p:nvSpPr>
            <p:cNvPr name="Freeform 6" id="6"/>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7" id="7"/>
          <p:cNvSpPr/>
          <p:nvPr/>
        </p:nvSpPr>
        <p:spPr>
          <a:xfrm flipH="false" flipV="false" rot="0">
            <a:off x="-7136098" y="-5787220"/>
            <a:ext cx="15542004" cy="15542004"/>
          </a:xfrm>
          <a:custGeom>
            <a:avLst/>
            <a:gdLst/>
            <a:ahLst/>
            <a:cxnLst/>
            <a:rect r="r" b="b" t="t" l="l"/>
            <a:pathLst>
              <a:path h="15542004" w="15542004">
                <a:moveTo>
                  <a:pt x="0" y="0"/>
                </a:moveTo>
                <a:lnTo>
                  <a:pt x="15542004" y="0"/>
                </a:lnTo>
                <a:lnTo>
                  <a:pt x="15542004" y="15542003"/>
                </a:lnTo>
                <a:lnTo>
                  <a:pt x="0" y="155420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204665" y="7255624"/>
            <a:ext cx="10419264" cy="2332965"/>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CargoWise, with 35–45% market share, charges $170K–$341K annually (avg 25 users), offers high scalability but limited customization, and takes 12–18 months to deploy, suiting large global enterprises. Magaya, holding 10–12% share in the Americas, provides a budget-friendly $17K–$45K annually with 3–6 month deployment but lacks scalability and global reach, targeting SMEs. Infologia, aiming for 1% market capture ($300M), offers mid-range pricing ($10K–$30K annually), 2-month deployment, high scalability, and customization, positioning it as a competitive option for growing and established logistics players globally.</a:t>
            </a:r>
          </a:p>
        </p:txBody>
      </p:sp>
      <p:grpSp>
        <p:nvGrpSpPr>
          <p:cNvPr name="Group 9" id="9"/>
          <p:cNvGrpSpPr/>
          <p:nvPr/>
        </p:nvGrpSpPr>
        <p:grpSpPr>
          <a:xfrm rot="-10800000">
            <a:off x="16340890" y="8336432"/>
            <a:ext cx="1836820" cy="1843735"/>
            <a:chOff x="0" y="0"/>
            <a:chExt cx="2449093" cy="2458314"/>
          </a:xfrm>
        </p:grpSpPr>
        <p:sp>
          <p:nvSpPr>
            <p:cNvPr name="Freeform 10" id="10"/>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5">
                <a:alphaModFix amt="40000"/>
              </a:blip>
              <a:stretch>
                <a:fillRect l="-18" t="0" r="-19" b="1"/>
              </a:stretch>
            </a:blipFill>
          </p:spPr>
        </p:sp>
      </p:grpSp>
      <p:sp>
        <p:nvSpPr>
          <p:cNvPr name="Freeform 11" id="11"/>
          <p:cNvSpPr/>
          <p:nvPr/>
        </p:nvSpPr>
        <p:spPr>
          <a:xfrm flipH="false" flipV="false" rot="0">
            <a:off x="16459131" y="8458132"/>
            <a:ext cx="1600337" cy="1600336"/>
          </a:xfrm>
          <a:custGeom>
            <a:avLst/>
            <a:gdLst/>
            <a:ahLst/>
            <a:cxnLst/>
            <a:rect r="r" b="b" t="t" l="l"/>
            <a:pathLst>
              <a:path h="1600336" w="1600337">
                <a:moveTo>
                  <a:pt x="0" y="0"/>
                </a:moveTo>
                <a:lnTo>
                  <a:pt x="1600337" y="0"/>
                </a:lnTo>
                <a:lnTo>
                  <a:pt x="1600337" y="1600336"/>
                </a:lnTo>
                <a:lnTo>
                  <a:pt x="0" y="1600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6530286" y="8529286"/>
            <a:ext cx="1458029" cy="1458028"/>
          </a:xfrm>
          <a:custGeom>
            <a:avLst/>
            <a:gdLst/>
            <a:ahLst/>
            <a:cxnLst/>
            <a:rect r="r" b="b" t="t" l="l"/>
            <a:pathLst>
              <a:path h="1458028" w="1458029">
                <a:moveTo>
                  <a:pt x="0" y="0"/>
                </a:moveTo>
                <a:lnTo>
                  <a:pt x="1458029" y="0"/>
                </a:lnTo>
                <a:lnTo>
                  <a:pt x="1458029" y="1458028"/>
                </a:lnTo>
                <a:lnTo>
                  <a:pt x="0" y="14580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6622097" y="8621098"/>
            <a:ext cx="1274405" cy="1274405"/>
          </a:xfrm>
          <a:custGeom>
            <a:avLst/>
            <a:gdLst/>
            <a:ahLst/>
            <a:cxnLst/>
            <a:rect r="r" b="b" t="t" l="l"/>
            <a:pathLst>
              <a:path h="1274405" w="1274405">
                <a:moveTo>
                  <a:pt x="0" y="0"/>
                </a:moveTo>
                <a:lnTo>
                  <a:pt x="1274406" y="0"/>
                </a:lnTo>
                <a:lnTo>
                  <a:pt x="1274406" y="1274405"/>
                </a:lnTo>
                <a:lnTo>
                  <a:pt x="0" y="12744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861965" y="8928011"/>
            <a:ext cx="794680" cy="660578"/>
          </a:xfrm>
          <a:custGeom>
            <a:avLst/>
            <a:gdLst/>
            <a:ahLst/>
            <a:cxnLst/>
            <a:rect r="r" b="b" t="t" l="l"/>
            <a:pathLst>
              <a:path h="660578" w="794680">
                <a:moveTo>
                  <a:pt x="0" y="0"/>
                </a:moveTo>
                <a:lnTo>
                  <a:pt x="794680" y="0"/>
                </a:lnTo>
                <a:lnTo>
                  <a:pt x="794680" y="660578"/>
                </a:lnTo>
                <a:lnTo>
                  <a:pt x="0" y="660578"/>
                </a:lnTo>
                <a:lnTo>
                  <a:pt x="0" y="0"/>
                </a:lnTo>
                <a:close/>
              </a:path>
            </a:pathLst>
          </a:custGeom>
          <a:blipFill>
            <a:blip r:embed="rId12">
              <a:extLst>
                <a:ext uri="{96DAC541-7B7A-43D3-8B79-37D633B846F1}">
                  <asvg:svgBlip xmlns:asvg="http://schemas.microsoft.com/office/drawing/2016/SVG/main" r:embed="rId13"/>
                </a:ext>
              </a:extLst>
            </a:blip>
            <a:stretch>
              <a:fillRect l="0" t="-125" r="0" b="-125"/>
            </a:stretch>
          </a:blipFill>
        </p:spPr>
      </p:sp>
      <p:graphicFrame>
        <p:nvGraphicFramePr>
          <p:cNvPr name="Table 15" id="15"/>
          <p:cNvGraphicFramePr>
            <a:graphicFrameLocks noGrp="true"/>
          </p:cNvGraphicFramePr>
          <p:nvPr/>
        </p:nvGraphicFramePr>
        <p:xfrm>
          <a:off x="1214190" y="3170531"/>
          <a:ext cx="10329232" cy="3742715"/>
        </p:xfrm>
        <a:graphic>
          <a:graphicData uri="http://schemas.openxmlformats.org/drawingml/2006/table">
            <a:tbl>
              <a:tblPr/>
              <a:tblGrid>
                <a:gridCol w="1504309"/>
                <a:gridCol w="1487592"/>
                <a:gridCol w="1317837"/>
                <a:gridCol w="1757448"/>
                <a:gridCol w="1233689"/>
                <a:gridCol w="1512268"/>
                <a:gridCol w="1516090"/>
              </a:tblGrid>
              <a:tr h="1289156">
                <a:tc>
                  <a:txBody>
                    <a:bodyPr anchor="t" rtlCol="false"/>
                    <a:lstStyle/>
                    <a:p>
                      <a:pPr algn="ctr">
                        <a:lnSpc>
                          <a:spcPts val="1819"/>
                        </a:lnSpc>
                        <a:defRPr/>
                      </a:pPr>
                      <a:r>
                        <a:rPr lang="en-US" sz="1299" b="true">
                          <a:solidFill>
                            <a:srgbClr val="000000"/>
                          </a:solidFill>
                          <a:latin typeface="Arimo Bold"/>
                          <a:ea typeface="Arimo Bold"/>
                          <a:cs typeface="Arimo Bold"/>
                          <a:sym typeface="Arimo Bold"/>
                        </a:rPr>
                        <a:t>Players</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Arimo Bold"/>
                          <a:ea typeface="Arimo Bold"/>
                          <a:cs typeface="Arimo Bold"/>
                          <a:sym typeface="Arimo Bold"/>
                        </a:rPr>
                        <a:t>Client Base</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b="true">
                          <a:solidFill>
                            <a:srgbClr val="000000"/>
                          </a:solidFill>
                          <a:latin typeface="Arimo Bold"/>
                          <a:ea typeface="Arimo Bold"/>
                          <a:cs typeface="Arimo Bold"/>
                          <a:sym typeface="Arimo Bold"/>
                        </a:rPr>
                        <a:t>Avg. Annual Cost / per Client(Avg 20 Users)</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Arimo Bold"/>
                          <a:ea typeface="Arimo Bold"/>
                          <a:cs typeface="Arimo Bold"/>
                          <a:sym typeface="Arimo Bold"/>
                        </a:rPr>
                        <a:t>Deployment Speed</a:t>
                      </a:r>
                      <a:endParaRPr lang="en-US" sz="1100"/>
                    </a:p>
                    <a:p>
                      <a:pPr algn="ctr">
                        <a:lnSpc>
                          <a:spcPts val="1819"/>
                        </a:lnSpc>
                      </a:pP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Arimo Bold"/>
                          <a:ea typeface="Arimo Bold"/>
                          <a:cs typeface="Arimo Bold"/>
                          <a:sym typeface="Arimo Bold"/>
                        </a:rPr>
                        <a:t>Scalability</a:t>
                      </a:r>
                      <a:endParaRPr lang="en-US" sz="1100"/>
                    </a:p>
                    <a:p>
                      <a:pPr algn="ctr">
                        <a:lnSpc>
                          <a:spcPts val="1819"/>
                        </a:lnSpc>
                      </a:pP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Arimo Bold"/>
                          <a:ea typeface="Arimo Bold"/>
                          <a:cs typeface="Arimo Bold"/>
                          <a:sym typeface="Arimo Bold"/>
                        </a:rPr>
                        <a:t>Customization</a:t>
                      </a:r>
                      <a:endParaRPr lang="en-US" sz="1100"/>
                    </a:p>
                    <a:p>
                      <a:pPr algn="ctr">
                        <a:lnSpc>
                          <a:spcPts val="1819"/>
                        </a:lnSpc>
                      </a:pP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Arimo Bold"/>
                          <a:ea typeface="Arimo Bold"/>
                          <a:cs typeface="Arimo Bold"/>
                          <a:sym typeface="Arimo Bold"/>
                        </a:rPr>
                        <a:t>Global</a:t>
                      </a:r>
                      <a:endParaRPr lang="en-US" sz="1100"/>
                    </a:p>
                    <a:p>
                      <a:pPr algn="ctr">
                        <a:lnSpc>
                          <a:spcPts val="1819"/>
                        </a:lnSpc>
                      </a:pPr>
                      <a:r>
                        <a:rPr lang="en-US" sz="1299" b="true">
                          <a:solidFill>
                            <a:srgbClr val="000000"/>
                          </a:solidFill>
                          <a:latin typeface="Arimo Bold"/>
                          <a:ea typeface="Arimo Bold"/>
                          <a:cs typeface="Arimo Bold"/>
                          <a:sym typeface="Arimo Bold"/>
                        </a:rPr>
                        <a:t>  Reach</a:t>
                      </a: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45889">
                <a:tc>
                  <a:txBody>
                    <a:bodyPr anchor="t" rtlCol="false"/>
                    <a:lstStyle/>
                    <a:p>
                      <a:pPr algn="ctr">
                        <a:lnSpc>
                          <a:spcPts val="1679"/>
                        </a:lnSpc>
                        <a:defRPr/>
                      </a:pPr>
                      <a:r>
                        <a:rPr lang="en-US" sz="1200">
                          <a:solidFill>
                            <a:srgbClr val="000000"/>
                          </a:solidFill>
                          <a:latin typeface="Arimo"/>
                          <a:ea typeface="Arimo"/>
                          <a:cs typeface="Arimo"/>
                          <a:sym typeface="Arimo"/>
                        </a:rPr>
                        <a:t>CargoWise</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18K</a:t>
                      </a:r>
                      <a:endParaRPr lang="en-US" sz="1100"/>
                    </a:p>
                    <a:p>
                      <a:pPr algn="ctr">
                        <a:lnSpc>
                          <a:spcPts val="1679"/>
                        </a:lnSpc>
                      </a:pPr>
                      <a:r>
                        <a:rPr lang="en-US" sz="1200">
                          <a:solidFill>
                            <a:srgbClr val="000000"/>
                          </a:solidFill>
                          <a:latin typeface="Arimo"/>
                          <a:ea typeface="Arimo"/>
                          <a:cs typeface="Arimo"/>
                          <a:sym typeface="Arimo"/>
                        </a:rPr>
                        <a:t>  Clients</a:t>
                      </a: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$170K – $341K</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12–18 months</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High</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Low</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Global</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15078">
                <a:tc>
                  <a:txBody>
                    <a:bodyPr anchor="t" rtlCol="false"/>
                    <a:lstStyle/>
                    <a:p>
                      <a:pPr algn="ctr">
                        <a:lnSpc>
                          <a:spcPts val="1679"/>
                        </a:lnSpc>
                        <a:defRPr/>
                      </a:pPr>
                      <a:r>
                        <a:rPr lang="en-US" sz="1200">
                          <a:solidFill>
                            <a:srgbClr val="000000"/>
                          </a:solidFill>
                          <a:latin typeface="Arimo"/>
                          <a:ea typeface="Arimo"/>
                          <a:cs typeface="Arimo"/>
                          <a:sym typeface="Arimo"/>
                        </a:rPr>
                        <a:t>Magaya</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6.5K Clients</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$17K – $45K</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3–6</a:t>
                      </a:r>
                      <a:endParaRPr lang="en-US" sz="1100"/>
                    </a:p>
                    <a:p>
                      <a:pPr algn="ctr">
                        <a:lnSpc>
                          <a:spcPts val="1679"/>
                        </a:lnSpc>
                      </a:pPr>
                      <a:r>
                        <a:rPr lang="en-US" sz="1200">
                          <a:solidFill>
                            <a:srgbClr val="000000"/>
                          </a:solidFill>
                          <a:latin typeface="Arimo"/>
                          <a:ea typeface="Arimo"/>
                          <a:cs typeface="Arimo"/>
                          <a:sym typeface="Arimo"/>
                        </a:rPr>
                        <a:t>  months</a:t>
                      </a: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Low</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Low</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Regional</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92592">
                <a:tc>
                  <a:txBody>
                    <a:bodyPr anchor="t" rtlCol="false"/>
                    <a:lstStyle/>
                    <a:p>
                      <a:pPr algn="ctr">
                        <a:lnSpc>
                          <a:spcPts val="1679"/>
                        </a:lnSpc>
                        <a:defRPr/>
                      </a:pPr>
                      <a:r>
                        <a:rPr lang="en-US" sz="1200">
                          <a:solidFill>
                            <a:srgbClr val="000000"/>
                          </a:solidFill>
                          <a:latin typeface="Arimo"/>
                          <a:ea typeface="Arimo"/>
                          <a:cs typeface="Arimo"/>
                          <a:sym typeface="Arimo"/>
                        </a:rPr>
                        <a:t>Infologia</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Target 25 Clients - Per Year</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$10K</a:t>
                      </a:r>
                      <a:endParaRPr lang="en-US" sz="1100"/>
                    </a:p>
                    <a:p>
                      <a:pPr algn="ctr">
                        <a:lnSpc>
                          <a:spcPts val="1679"/>
                        </a:lnSpc>
                      </a:pPr>
                      <a:r>
                        <a:rPr lang="en-US" sz="1200">
                          <a:solidFill>
                            <a:srgbClr val="000000"/>
                          </a:solidFill>
                          <a:latin typeface="Arimo"/>
                          <a:ea typeface="Arimo"/>
                          <a:cs typeface="Arimo"/>
                          <a:sym typeface="Arimo"/>
                        </a:rPr>
                        <a:t>  - $30K</a:t>
                      </a: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2</a:t>
                      </a:r>
                      <a:endParaRPr lang="en-US" sz="1100"/>
                    </a:p>
                    <a:p>
                      <a:pPr algn="ctr">
                        <a:lnSpc>
                          <a:spcPts val="1679"/>
                        </a:lnSpc>
                      </a:pPr>
                      <a:r>
                        <a:rPr lang="en-US" sz="1200">
                          <a:solidFill>
                            <a:srgbClr val="000000"/>
                          </a:solidFill>
                          <a:latin typeface="Arimo"/>
                          <a:ea typeface="Arimo"/>
                          <a:cs typeface="Arimo"/>
                          <a:sym typeface="Arimo"/>
                        </a:rPr>
                        <a:t>  months</a:t>
                      </a:r>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High</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High</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679"/>
                        </a:lnSpc>
                        <a:defRPr/>
                      </a:pPr>
                      <a:r>
                        <a:rPr lang="en-US" sz="1200">
                          <a:solidFill>
                            <a:srgbClr val="000000"/>
                          </a:solidFill>
                          <a:latin typeface="Arimo"/>
                          <a:ea typeface="Arimo"/>
                          <a:cs typeface="Arimo"/>
                          <a:sym typeface="Arimo"/>
                        </a:rPr>
                        <a:t>Expanding Global</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Freeform 16" id="16"/>
          <p:cNvSpPr/>
          <p:nvPr/>
        </p:nvSpPr>
        <p:spPr>
          <a:xfrm flipH="false" flipV="false" rot="0">
            <a:off x="11200181" y="2727065"/>
            <a:ext cx="7685303" cy="5654240"/>
          </a:xfrm>
          <a:custGeom>
            <a:avLst/>
            <a:gdLst/>
            <a:ahLst/>
            <a:cxnLst/>
            <a:rect r="r" b="b" t="t" l="l"/>
            <a:pathLst>
              <a:path h="5654240" w="7685303">
                <a:moveTo>
                  <a:pt x="0" y="0"/>
                </a:moveTo>
                <a:lnTo>
                  <a:pt x="7685303" y="0"/>
                </a:lnTo>
                <a:lnTo>
                  <a:pt x="7685303" y="5654240"/>
                </a:lnTo>
                <a:lnTo>
                  <a:pt x="0" y="5654240"/>
                </a:lnTo>
                <a:lnTo>
                  <a:pt x="0" y="0"/>
                </a:lnTo>
                <a:close/>
              </a:path>
            </a:pathLst>
          </a:custGeom>
          <a:blipFill>
            <a:blip r:embed="rId14"/>
            <a:stretch>
              <a:fillRect l="0" t="-23" r="0" b="-22"/>
            </a:stretch>
          </a:blipFill>
        </p:spPr>
      </p:sp>
      <p:sp>
        <p:nvSpPr>
          <p:cNvPr name="TextBox 17" id="17"/>
          <p:cNvSpPr txBox="true"/>
          <p:nvPr/>
        </p:nvSpPr>
        <p:spPr>
          <a:xfrm rot="0">
            <a:off x="1028700" y="1054989"/>
            <a:ext cx="6685150"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COMPETITOR COMPARISION MATRIX</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9571358" y="1689468"/>
            <a:ext cx="12261742" cy="12261742"/>
            <a:chOff x="0" y="0"/>
            <a:chExt cx="16348989" cy="16348989"/>
          </a:xfrm>
        </p:grpSpPr>
        <p:sp>
          <p:nvSpPr>
            <p:cNvPr name="Freeform 3" id="3"/>
            <p:cNvSpPr/>
            <p:nvPr/>
          </p:nvSpPr>
          <p:spPr>
            <a:xfrm flipH="false" flipV="false" rot="0">
              <a:off x="0" y="0"/>
              <a:ext cx="16348963" cy="16348963"/>
            </a:xfrm>
            <a:custGeom>
              <a:avLst/>
              <a:gdLst/>
              <a:ahLst/>
              <a:cxnLst/>
              <a:rect r="r" b="b" t="t" l="l"/>
              <a:pathLst>
                <a:path h="16348963" w="16348963">
                  <a:moveTo>
                    <a:pt x="0" y="0"/>
                  </a:moveTo>
                  <a:lnTo>
                    <a:pt x="16348963" y="0"/>
                  </a:lnTo>
                  <a:lnTo>
                    <a:pt x="16348963" y="16348963"/>
                  </a:lnTo>
                  <a:lnTo>
                    <a:pt x="0" y="16348963"/>
                  </a:lnTo>
                  <a:lnTo>
                    <a:pt x="0" y="0"/>
                  </a:lnTo>
                  <a:close/>
                </a:path>
              </a:pathLst>
            </a:custGeom>
            <a:blipFill>
              <a:blip r:embed="rId2">
                <a:alphaModFix amt="6999"/>
              </a:blip>
              <a:stretch>
                <a:fillRect l="0" t="0" r="0" b="0"/>
              </a:stretch>
            </a:blipFill>
          </p:spPr>
        </p:sp>
      </p:grpSp>
      <p:sp>
        <p:nvSpPr>
          <p:cNvPr name="Freeform 4" id="4"/>
          <p:cNvSpPr/>
          <p:nvPr/>
        </p:nvSpPr>
        <p:spPr>
          <a:xfrm flipH="false" flipV="false" rot="0">
            <a:off x="8197437" y="-179191"/>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2700000">
            <a:off x="-4317044" y="-3837184"/>
            <a:ext cx="11641931" cy="11641931"/>
            <a:chOff x="0" y="0"/>
            <a:chExt cx="15522575" cy="15522575"/>
          </a:xfrm>
        </p:grpSpPr>
        <p:sp>
          <p:nvSpPr>
            <p:cNvPr name="Freeform 6" id="6"/>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7" id="7"/>
          <p:cNvSpPr/>
          <p:nvPr/>
        </p:nvSpPr>
        <p:spPr>
          <a:xfrm flipH="false" flipV="false" rot="0">
            <a:off x="-6414652" y="-5934787"/>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92535" y="5844705"/>
            <a:ext cx="6964700" cy="3303091"/>
          </a:xfrm>
          <a:custGeom>
            <a:avLst/>
            <a:gdLst/>
            <a:ahLst/>
            <a:cxnLst/>
            <a:rect r="r" b="b" t="t" l="l"/>
            <a:pathLst>
              <a:path h="3303091" w="6964700">
                <a:moveTo>
                  <a:pt x="0" y="0"/>
                </a:moveTo>
                <a:lnTo>
                  <a:pt x="6964700" y="0"/>
                </a:lnTo>
                <a:lnTo>
                  <a:pt x="6964700" y="3303091"/>
                </a:lnTo>
                <a:lnTo>
                  <a:pt x="0" y="33030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62650" y="6363740"/>
            <a:ext cx="2138429" cy="2894560"/>
          </a:xfrm>
          <a:custGeom>
            <a:avLst/>
            <a:gdLst/>
            <a:ahLst/>
            <a:cxnLst/>
            <a:rect r="r" b="b" t="t" l="l"/>
            <a:pathLst>
              <a:path h="2894560" w="2138429">
                <a:moveTo>
                  <a:pt x="0" y="0"/>
                </a:moveTo>
                <a:lnTo>
                  <a:pt x="2138429" y="0"/>
                </a:lnTo>
                <a:lnTo>
                  <a:pt x="2138429" y="2894560"/>
                </a:lnTo>
                <a:lnTo>
                  <a:pt x="0" y="2894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5896855" y="9045836"/>
            <a:ext cx="131590" cy="131590"/>
          </a:xfrm>
          <a:custGeom>
            <a:avLst/>
            <a:gdLst/>
            <a:ahLst/>
            <a:cxnLst/>
            <a:rect r="r" b="b" t="t" l="l"/>
            <a:pathLst>
              <a:path h="131590" w="131590">
                <a:moveTo>
                  <a:pt x="0" y="0"/>
                </a:moveTo>
                <a:lnTo>
                  <a:pt x="131590" y="0"/>
                </a:lnTo>
                <a:lnTo>
                  <a:pt x="131590" y="131590"/>
                </a:lnTo>
                <a:lnTo>
                  <a:pt x="0" y="1315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9302763" y="1051903"/>
            <a:ext cx="8679866" cy="8295570"/>
          </a:xfrm>
          <a:custGeom>
            <a:avLst/>
            <a:gdLst/>
            <a:ahLst/>
            <a:cxnLst/>
            <a:rect r="r" b="b" t="t" l="l"/>
            <a:pathLst>
              <a:path h="8295570" w="8679866">
                <a:moveTo>
                  <a:pt x="0" y="0"/>
                </a:moveTo>
                <a:lnTo>
                  <a:pt x="8679865" y="0"/>
                </a:lnTo>
                <a:lnTo>
                  <a:pt x="8679865" y="8295570"/>
                </a:lnTo>
                <a:lnTo>
                  <a:pt x="0" y="8295570"/>
                </a:lnTo>
                <a:lnTo>
                  <a:pt x="0" y="0"/>
                </a:lnTo>
                <a:close/>
              </a:path>
            </a:pathLst>
          </a:custGeom>
          <a:blipFill>
            <a:blip r:embed="rId11"/>
            <a:stretch>
              <a:fillRect l="0" t="-19" r="0" b="-19"/>
            </a:stretch>
          </a:blipFill>
        </p:spPr>
      </p:sp>
      <p:sp>
        <p:nvSpPr>
          <p:cNvPr name="TextBox 12" id="12"/>
          <p:cNvSpPr txBox="true"/>
          <p:nvPr/>
        </p:nvSpPr>
        <p:spPr>
          <a:xfrm rot="0">
            <a:off x="1445943" y="6348222"/>
            <a:ext cx="5941933" cy="2332990"/>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Such growth is fueled by our product-first approach (TMS + SITS integration), enabling early adoption by mid-to-large forwarders and 3PLs, followed by enterprise-level contracts. The steep upward curve signals that even a small market share in the global logistics technology market converts into high-margin, recurring revenues.</a:t>
            </a:r>
          </a:p>
        </p:txBody>
      </p:sp>
      <p:sp>
        <p:nvSpPr>
          <p:cNvPr name="TextBox 13" id="13"/>
          <p:cNvSpPr txBox="true"/>
          <p:nvPr/>
        </p:nvSpPr>
        <p:spPr>
          <a:xfrm rot="0">
            <a:off x="1028700" y="1054989"/>
            <a:ext cx="8289293"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COMPANY FINANCIAL ANALYSIS &amp; REVENUE POTENTIAL</a:t>
            </a:r>
          </a:p>
        </p:txBody>
      </p:sp>
      <p:sp>
        <p:nvSpPr>
          <p:cNvPr name="TextBox 14" id="14"/>
          <p:cNvSpPr txBox="true"/>
          <p:nvPr/>
        </p:nvSpPr>
        <p:spPr>
          <a:xfrm rot="0">
            <a:off x="1028700" y="2946787"/>
            <a:ext cx="7189051" cy="1666215"/>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Infologia’s revenue trajectory demonstrates a clear path of exponential growth, scaling from ₹97.2 Lakhs in 2023–24 to an estimated ₹13.05 Cr by 2027–28. This reflects a CAGR of ~ 145.1%, supported by strong demand for digital logistics and our TMS deployment strategy.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11368583" y="-668188"/>
            <a:ext cx="12261742" cy="12261742"/>
            <a:chOff x="0" y="0"/>
            <a:chExt cx="16348989" cy="16348989"/>
          </a:xfrm>
        </p:grpSpPr>
        <p:sp>
          <p:nvSpPr>
            <p:cNvPr name="Freeform 3" id="3"/>
            <p:cNvSpPr/>
            <p:nvPr/>
          </p:nvSpPr>
          <p:spPr>
            <a:xfrm flipH="false" flipV="false" rot="0">
              <a:off x="0" y="0"/>
              <a:ext cx="16348963" cy="16348963"/>
            </a:xfrm>
            <a:custGeom>
              <a:avLst/>
              <a:gdLst/>
              <a:ahLst/>
              <a:cxnLst/>
              <a:rect r="r" b="b" t="t" l="l"/>
              <a:pathLst>
                <a:path h="16348963" w="16348963">
                  <a:moveTo>
                    <a:pt x="0" y="0"/>
                  </a:moveTo>
                  <a:lnTo>
                    <a:pt x="16348963" y="0"/>
                  </a:lnTo>
                  <a:lnTo>
                    <a:pt x="16348963" y="16348963"/>
                  </a:lnTo>
                  <a:lnTo>
                    <a:pt x="0" y="16348963"/>
                  </a:lnTo>
                  <a:lnTo>
                    <a:pt x="0" y="0"/>
                  </a:lnTo>
                  <a:close/>
                </a:path>
              </a:pathLst>
            </a:custGeom>
            <a:blipFill>
              <a:blip r:embed="rId2">
                <a:alphaModFix amt="6999"/>
              </a:blip>
              <a:stretch>
                <a:fillRect l="0" t="0" r="0" b="0"/>
              </a:stretch>
            </a:blipFill>
          </p:spPr>
        </p:sp>
      </p:grpSp>
      <p:sp>
        <p:nvSpPr>
          <p:cNvPr name="Freeform 4" id="4"/>
          <p:cNvSpPr/>
          <p:nvPr/>
        </p:nvSpPr>
        <p:spPr>
          <a:xfrm flipH="false" flipV="false" rot="0">
            <a:off x="9994663" y="-2536848"/>
            <a:ext cx="15542003" cy="15542003"/>
          </a:xfrm>
          <a:custGeom>
            <a:avLst/>
            <a:gdLst/>
            <a:ahLst/>
            <a:cxnLst/>
            <a:rect r="r" b="b" t="t" l="l"/>
            <a:pathLst>
              <a:path h="15542003" w="15542003">
                <a:moveTo>
                  <a:pt x="0" y="0"/>
                </a:moveTo>
                <a:lnTo>
                  <a:pt x="15542003" y="0"/>
                </a:lnTo>
                <a:lnTo>
                  <a:pt x="15542003" y="15542002"/>
                </a:lnTo>
                <a:lnTo>
                  <a:pt x="0" y="155420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5" id="5"/>
          <p:cNvGraphicFramePr>
            <a:graphicFrameLocks noGrp="true"/>
          </p:cNvGraphicFramePr>
          <p:nvPr/>
        </p:nvGraphicFramePr>
        <p:xfrm>
          <a:off x="9825312" y="2305165"/>
          <a:ext cx="8077200" cy="7873335"/>
        </p:xfrm>
        <a:graphic>
          <a:graphicData uri="http://schemas.openxmlformats.org/drawingml/2006/table">
            <a:tbl>
              <a:tblPr/>
              <a:tblGrid>
                <a:gridCol w="2692400"/>
                <a:gridCol w="2692400"/>
                <a:gridCol w="2692400"/>
              </a:tblGrid>
              <a:tr h="781996">
                <a:tc>
                  <a:txBody>
                    <a:bodyPr anchor="t" rtlCol="false"/>
                    <a:lstStyle/>
                    <a:p>
                      <a:pPr algn="ctr">
                        <a:lnSpc>
                          <a:spcPts val="2659"/>
                        </a:lnSpc>
                        <a:defRPr/>
                      </a:pPr>
                      <a:r>
                        <a:rPr lang="en-US" sz="1899" b="true">
                          <a:solidFill>
                            <a:srgbClr val="0F4984"/>
                          </a:solidFill>
                          <a:latin typeface="Arimo Bold"/>
                          <a:ea typeface="Arimo Bold"/>
                          <a:cs typeface="Arimo Bold"/>
                          <a:sym typeface="Arimo Bold"/>
                        </a:rPr>
                        <a:t>AREA</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b="true">
                          <a:solidFill>
                            <a:srgbClr val="0F4984"/>
                          </a:solidFill>
                          <a:latin typeface="Arimo Bold"/>
                          <a:ea typeface="Arimo Bold"/>
                          <a:cs typeface="Arimo Bold"/>
                          <a:sym typeface="Arimo Bold"/>
                        </a:rPr>
                        <a:t>ALLOCATION(USD)</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b="true">
                          <a:solidFill>
                            <a:srgbClr val="0F4984"/>
                          </a:solidFill>
                          <a:latin typeface="Arimo Bold"/>
                          <a:ea typeface="Arimo Bold"/>
                          <a:cs typeface="Arimo Bold"/>
                          <a:sym typeface="Arimo Bold"/>
                        </a:rPr>
                        <a:t>RATE(%)</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r h="1064248">
                <a:tc>
                  <a:txBody>
                    <a:bodyPr anchor="t" rtlCol="false"/>
                    <a:lstStyle/>
                    <a:p>
                      <a:pPr algn="ctr">
                        <a:lnSpc>
                          <a:spcPts val="2659"/>
                        </a:lnSpc>
                        <a:defRPr/>
                      </a:pPr>
                      <a:r>
                        <a:rPr lang="en-US" sz="1899">
                          <a:solidFill>
                            <a:srgbClr val="0F4984"/>
                          </a:solidFill>
                          <a:latin typeface="Arimo"/>
                          <a:ea typeface="Arimo"/>
                          <a:cs typeface="Arimo"/>
                          <a:sym typeface="Arimo"/>
                        </a:rPr>
                        <a:t>Discovery &amp; Planning</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F4984"/>
                          </a:solidFill>
                          <a:latin typeface="Arimo"/>
                          <a:ea typeface="Arimo"/>
                          <a:cs typeface="Arimo"/>
                          <a:sym typeface="Arimo"/>
                        </a:rPr>
                        <a:t>$29,762</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F4984"/>
                          </a:solidFill>
                          <a:latin typeface="Arimo"/>
                          <a:ea typeface="Arimo"/>
                          <a:cs typeface="Arimo"/>
                          <a:sym typeface="Arimo"/>
                        </a:rPr>
                        <a:t>5%</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r h="1115775">
                <a:tc>
                  <a:txBody>
                    <a:bodyPr anchor="t" rtlCol="false"/>
                    <a:lstStyle/>
                    <a:p>
                      <a:pPr algn="ctr">
                        <a:lnSpc>
                          <a:spcPts val="2659"/>
                        </a:lnSpc>
                        <a:defRPr/>
                      </a:pPr>
                      <a:r>
                        <a:rPr lang="en-US" sz="1899">
                          <a:solidFill>
                            <a:srgbClr val="003883"/>
                          </a:solidFill>
                          <a:latin typeface="Arimo"/>
                          <a:ea typeface="Arimo"/>
                          <a:cs typeface="Arimo"/>
                          <a:sym typeface="Arimo"/>
                        </a:rPr>
                        <a:t>Product Development</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$3,27,381</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55%</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r h="781996">
                <a:tc>
                  <a:txBody>
                    <a:bodyPr anchor="t" rtlCol="false"/>
                    <a:lstStyle/>
                    <a:p>
                      <a:pPr algn="ctr">
                        <a:lnSpc>
                          <a:spcPts val="2659"/>
                        </a:lnSpc>
                        <a:defRPr/>
                      </a:pPr>
                      <a:r>
                        <a:rPr lang="en-US" sz="1899">
                          <a:solidFill>
                            <a:srgbClr val="003883"/>
                          </a:solidFill>
                          <a:latin typeface="Arimo"/>
                          <a:ea typeface="Arimo"/>
                          <a:cs typeface="Arimo"/>
                          <a:sym typeface="Arimo"/>
                        </a:rPr>
                        <a:t>IT Infrastructure</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$59,524</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10%</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r h="1115775">
                <a:tc>
                  <a:txBody>
                    <a:bodyPr anchor="t" rtlCol="false"/>
                    <a:lstStyle/>
                    <a:p>
                      <a:pPr algn="ctr">
                        <a:lnSpc>
                          <a:spcPts val="2659"/>
                        </a:lnSpc>
                        <a:defRPr/>
                      </a:pPr>
                      <a:r>
                        <a:rPr lang="en-US" sz="1899">
                          <a:solidFill>
                            <a:srgbClr val="003883"/>
                          </a:solidFill>
                          <a:latin typeface="Arimo"/>
                          <a:ea typeface="Arimo"/>
                          <a:cs typeface="Arimo"/>
                          <a:sym typeface="Arimo"/>
                        </a:rPr>
                        <a:t>Marketing &amp; Beta Launch</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$59,524</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10%</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r h="1115775">
                <a:tc>
                  <a:txBody>
                    <a:bodyPr anchor="t" rtlCol="false"/>
                    <a:lstStyle/>
                    <a:p>
                      <a:pPr algn="ctr">
                        <a:lnSpc>
                          <a:spcPts val="2659"/>
                        </a:lnSpc>
                        <a:defRPr/>
                      </a:pPr>
                      <a:r>
                        <a:rPr lang="en-US" sz="1899">
                          <a:solidFill>
                            <a:srgbClr val="0F4984"/>
                          </a:solidFill>
                          <a:latin typeface="Arimo"/>
                          <a:ea typeface="Arimo"/>
                          <a:cs typeface="Arimo"/>
                          <a:sym typeface="Arimo"/>
                        </a:rPr>
                        <a:t>Support &amp; Customer Success</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$47,619</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8%</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r h="1115775">
                <a:tc>
                  <a:txBody>
                    <a:bodyPr anchor="t" rtlCol="false"/>
                    <a:lstStyle/>
                    <a:p>
                      <a:pPr algn="ctr">
                        <a:lnSpc>
                          <a:spcPts val="2659"/>
                        </a:lnSpc>
                        <a:defRPr/>
                      </a:pPr>
                      <a:r>
                        <a:rPr lang="en-US" sz="1899">
                          <a:solidFill>
                            <a:srgbClr val="0F4984"/>
                          </a:solidFill>
                          <a:latin typeface="Arimo"/>
                          <a:ea typeface="Arimo"/>
                          <a:cs typeface="Arimo"/>
                          <a:sym typeface="Arimo"/>
                        </a:rPr>
                        <a:t>Contingency / Reserve</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$71,429</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3883"/>
                          </a:solidFill>
                          <a:latin typeface="Arimo"/>
                          <a:ea typeface="Arimo"/>
                          <a:cs typeface="Arimo"/>
                          <a:sym typeface="Arimo"/>
                        </a:rPr>
                        <a:t>12%</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r h="781996">
                <a:tc>
                  <a:txBody>
                    <a:bodyPr anchor="t" rtlCol="false"/>
                    <a:lstStyle/>
                    <a:p>
                      <a:pPr algn="ctr">
                        <a:lnSpc>
                          <a:spcPts val="2659"/>
                        </a:lnSpc>
                        <a:defRPr/>
                      </a:pPr>
                      <a:r>
                        <a:rPr lang="en-US" sz="1899" b="true">
                          <a:solidFill>
                            <a:srgbClr val="003883"/>
                          </a:solidFill>
                          <a:latin typeface="Arimo Bold"/>
                          <a:ea typeface="Arimo Bold"/>
                          <a:cs typeface="Arimo Bold"/>
                          <a:sym typeface="Arimo Bold"/>
                        </a:rPr>
                        <a:t>TOTAL</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b="true">
                          <a:solidFill>
                            <a:srgbClr val="003883"/>
                          </a:solidFill>
                          <a:latin typeface="Arimo Bold"/>
                          <a:ea typeface="Arimo Bold"/>
                          <a:cs typeface="Arimo Bold"/>
                          <a:sym typeface="Arimo Bold"/>
                        </a:rPr>
                        <a:t>$5,95,238</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b="true">
                          <a:solidFill>
                            <a:srgbClr val="003883"/>
                          </a:solidFill>
                          <a:latin typeface="Arimo Bold"/>
                          <a:ea typeface="Arimo Bold"/>
                          <a:cs typeface="Arimo Bold"/>
                          <a:sym typeface="Arimo Bold"/>
                        </a:rPr>
                        <a:t>100%</a:t>
                      </a:r>
                      <a:endParaRPr lang="en-US" sz="1100"/>
                    </a:p>
                  </a:txBody>
                  <a:tcPr marL="190500" marR="190500" marT="190500" marB="190500" anchor="ctr">
                    <a:lnL cmpd="sng" algn="ctr" cap="flat" w="9525">
                      <a:solidFill>
                        <a:srgbClr val="003883"/>
                      </a:solidFill>
                      <a:prstDash val="solid"/>
                      <a:round/>
                      <a:headEnd type="none" w="med" len="med"/>
                      <a:tailEnd type="none" w="med" len="med"/>
                    </a:lnL>
                    <a:lnR cmpd="sng" algn="ctr" cap="flat" w="9525">
                      <a:solidFill>
                        <a:srgbClr val="003883"/>
                      </a:solidFill>
                      <a:prstDash val="solid"/>
                      <a:round/>
                      <a:headEnd type="none" w="med" len="med"/>
                      <a:tailEnd type="none" w="med" len="med"/>
                    </a:lnR>
                    <a:lnT cmpd="sng" algn="ctr" cap="flat" w="9525">
                      <a:solidFill>
                        <a:srgbClr val="003883"/>
                      </a:solidFill>
                      <a:prstDash val="solid"/>
                      <a:round/>
                      <a:headEnd type="none" w="med" len="med"/>
                      <a:tailEnd type="none" w="med" len="med"/>
                    </a:lnT>
                    <a:lnB cmpd="sng" algn="ctr" cap="flat" w="9525">
                      <a:solidFill>
                        <a:srgbClr val="003883"/>
                      </a:solidFill>
                      <a:prstDash val="solid"/>
                      <a:round/>
                      <a:headEnd type="none" w="med" len="med"/>
                      <a:tailEnd type="none" w="med" len="med"/>
                    </a:lnB>
                    <a:solidFill>
                      <a:srgbClr val="FFFFFF"/>
                    </a:solidFill>
                  </a:tcPr>
                </a:tc>
              </a:tr>
            </a:tbl>
          </a:graphicData>
        </a:graphic>
      </p:graphicFrame>
      <p:sp>
        <p:nvSpPr>
          <p:cNvPr name="TextBox 6" id="6"/>
          <p:cNvSpPr txBox="true"/>
          <p:nvPr/>
        </p:nvSpPr>
        <p:spPr>
          <a:xfrm rot="0">
            <a:off x="1028700" y="946261"/>
            <a:ext cx="7660329" cy="1311250"/>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INVESTMENT UTILIZATION PLAN FOR CARGOSSOFT</a:t>
            </a:r>
          </a:p>
        </p:txBody>
      </p:sp>
      <p:grpSp>
        <p:nvGrpSpPr>
          <p:cNvPr name="Group 7" id="7"/>
          <p:cNvGrpSpPr/>
          <p:nvPr/>
        </p:nvGrpSpPr>
        <p:grpSpPr>
          <a:xfrm rot="-2700000">
            <a:off x="-5820966" y="-2155365"/>
            <a:ext cx="11641931" cy="11641931"/>
            <a:chOff x="0" y="0"/>
            <a:chExt cx="15522575" cy="15522575"/>
          </a:xfrm>
        </p:grpSpPr>
        <p:sp>
          <p:nvSpPr>
            <p:cNvPr name="Freeform 8" id="8"/>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9" id="9"/>
          <p:cNvSpPr/>
          <p:nvPr/>
        </p:nvSpPr>
        <p:spPr>
          <a:xfrm flipH="false" flipV="false" rot="0">
            <a:off x="452885" y="3760041"/>
            <a:ext cx="9108815" cy="6329934"/>
          </a:xfrm>
          <a:custGeom>
            <a:avLst/>
            <a:gdLst/>
            <a:ahLst/>
            <a:cxnLst/>
            <a:rect r="r" b="b" t="t" l="l"/>
            <a:pathLst>
              <a:path h="6329934" w="9108815">
                <a:moveTo>
                  <a:pt x="0" y="0"/>
                </a:moveTo>
                <a:lnTo>
                  <a:pt x="9108815" y="0"/>
                </a:lnTo>
                <a:lnTo>
                  <a:pt x="9108815" y="6329934"/>
                </a:lnTo>
                <a:lnTo>
                  <a:pt x="0" y="6329934"/>
                </a:lnTo>
                <a:lnTo>
                  <a:pt x="0" y="0"/>
                </a:lnTo>
                <a:close/>
              </a:path>
            </a:pathLst>
          </a:custGeom>
          <a:blipFill>
            <a:blip r:embed="rId5"/>
            <a:stretch>
              <a:fillRect l="0" t="-49" r="0" b="-49"/>
            </a:stretch>
          </a:blipFill>
        </p:spPr>
      </p:sp>
      <p:sp>
        <p:nvSpPr>
          <p:cNvPr name="TextBox 10" id="10"/>
          <p:cNvSpPr txBox="true"/>
          <p:nvPr/>
        </p:nvSpPr>
        <p:spPr>
          <a:xfrm rot="0">
            <a:off x="1028700" y="2527678"/>
            <a:ext cx="8446475" cy="1999590"/>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The ₹5Crs ($602K) fund is strategically distributed across manpower, IT infrastructure, salaries, licensing, marketing and product development, ensuring rapid TMS deployment, sustained operations and strong market acquisition while maintaining long-term scalability and repayment capacity for next 6 months.</a:t>
            </a:r>
          </a:p>
          <a:p>
            <a:pPr algn="just">
              <a:lnSpc>
                <a:spcPts val="265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422560" y="-1780266"/>
            <a:ext cx="7897432" cy="7897432"/>
          </a:xfrm>
          <a:custGeom>
            <a:avLst/>
            <a:gdLst/>
            <a:ahLst/>
            <a:cxnLst/>
            <a:rect r="r" b="b" t="t" l="l"/>
            <a:pathLst>
              <a:path h="7897432" w="7897432">
                <a:moveTo>
                  <a:pt x="0" y="0"/>
                </a:moveTo>
                <a:lnTo>
                  <a:pt x="7897432" y="0"/>
                </a:lnTo>
                <a:lnTo>
                  <a:pt x="7897432" y="7897432"/>
                </a:lnTo>
                <a:lnTo>
                  <a:pt x="0" y="78974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700000">
            <a:off x="14205865" y="123945"/>
            <a:ext cx="5636924" cy="605971"/>
            <a:chOff x="0" y="0"/>
            <a:chExt cx="7515898" cy="807961"/>
          </a:xfrm>
        </p:grpSpPr>
        <p:sp>
          <p:nvSpPr>
            <p:cNvPr name="Freeform 4" id="4"/>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4"/>
              <a:stretch>
                <a:fillRect l="-254" t="0" r="-255" b="1"/>
              </a:stretch>
            </a:blipFill>
          </p:spPr>
        </p:sp>
      </p:grpSp>
      <p:sp>
        <p:nvSpPr>
          <p:cNvPr name="Freeform 5" id="5"/>
          <p:cNvSpPr/>
          <p:nvPr/>
        </p:nvSpPr>
        <p:spPr>
          <a:xfrm flipH="false" flipV="false" rot="0">
            <a:off x="15422645" y="-3109698"/>
            <a:ext cx="5278148" cy="5278148"/>
          </a:xfrm>
          <a:custGeom>
            <a:avLst/>
            <a:gdLst/>
            <a:ahLst/>
            <a:cxnLst/>
            <a:rect r="r" b="b" t="t" l="l"/>
            <a:pathLst>
              <a:path h="5278148" w="5278148">
                <a:moveTo>
                  <a:pt x="0" y="0"/>
                </a:moveTo>
                <a:lnTo>
                  <a:pt x="5278148" y="0"/>
                </a:lnTo>
                <a:lnTo>
                  <a:pt x="5278148" y="5278148"/>
                </a:lnTo>
                <a:lnTo>
                  <a:pt x="0" y="52781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07529" y="-2095824"/>
            <a:ext cx="15542004" cy="15542004"/>
          </a:xfrm>
          <a:custGeom>
            <a:avLst/>
            <a:gdLst/>
            <a:ahLst/>
            <a:cxnLst/>
            <a:rect r="r" b="b" t="t" l="l"/>
            <a:pathLst>
              <a:path h="15542004" w="15542004">
                <a:moveTo>
                  <a:pt x="0" y="0"/>
                </a:moveTo>
                <a:lnTo>
                  <a:pt x="15542004" y="0"/>
                </a:lnTo>
                <a:lnTo>
                  <a:pt x="15542004" y="15542003"/>
                </a:lnTo>
                <a:lnTo>
                  <a:pt x="0" y="155420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036491" y="-2095824"/>
            <a:ext cx="15542004" cy="15542004"/>
          </a:xfrm>
          <a:custGeom>
            <a:avLst/>
            <a:gdLst/>
            <a:ahLst/>
            <a:cxnLst/>
            <a:rect r="r" b="b" t="t" l="l"/>
            <a:pathLst>
              <a:path h="15542004" w="15542004">
                <a:moveTo>
                  <a:pt x="0" y="0"/>
                </a:moveTo>
                <a:lnTo>
                  <a:pt x="15542004" y="0"/>
                </a:lnTo>
                <a:lnTo>
                  <a:pt x="15542004" y="15542003"/>
                </a:lnTo>
                <a:lnTo>
                  <a:pt x="0" y="155420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523875" y="1434830"/>
            <a:ext cx="17221200" cy="9223696"/>
            <a:chOff x="0" y="0"/>
            <a:chExt cx="22961600" cy="12298262"/>
          </a:xfrm>
        </p:grpSpPr>
        <p:sp>
          <p:nvSpPr>
            <p:cNvPr name="Freeform 9" id="9"/>
            <p:cNvSpPr/>
            <p:nvPr/>
          </p:nvSpPr>
          <p:spPr>
            <a:xfrm flipH="false" flipV="false" rot="0">
              <a:off x="12700" y="0"/>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5863526" y="192222"/>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1462537" y="204922"/>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7410011" y="206429"/>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952240" y="943640"/>
              <a:ext cx="3881081" cy="3827719"/>
            </a:xfrm>
            <a:custGeom>
              <a:avLst/>
              <a:gdLst/>
              <a:ahLst/>
              <a:cxnLst/>
              <a:rect r="r" b="b" t="t" l="l"/>
              <a:pathLst>
                <a:path h="3827719" w="3881081">
                  <a:moveTo>
                    <a:pt x="0" y="0"/>
                  </a:moveTo>
                  <a:lnTo>
                    <a:pt x="3881081" y="0"/>
                  </a:lnTo>
                  <a:lnTo>
                    <a:pt x="3881081" y="3827720"/>
                  </a:lnTo>
                  <a:lnTo>
                    <a:pt x="0" y="382772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5" id="15"/>
            <p:cNvGrpSpPr/>
            <p:nvPr/>
          </p:nvGrpSpPr>
          <p:grpSpPr>
            <a:xfrm rot="0">
              <a:off x="1337659" y="1752020"/>
              <a:ext cx="2827147" cy="2061083"/>
              <a:chOff x="0" y="0"/>
              <a:chExt cx="2827147" cy="2061083"/>
            </a:xfrm>
          </p:grpSpPr>
          <p:sp>
            <p:nvSpPr>
              <p:cNvPr name="Freeform 16" id="16"/>
              <p:cNvSpPr/>
              <p:nvPr/>
            </p:nvSpPr>
            <p:spPr>
              <a:xfrm flipH="false" flipV="false" rot="0">
                <a:off x="0" y="0"/>
                <a:ext cx="2827150" cy="2061080"/>
              </a:xfrm>
              <a:custGeom>
                <a:avLst/>
                <a:gdLst/>
                <a:ahLst/>
                <a:cxnLst/>
                <a:rect r="r" b="b" t="t" l="l"/>
                <a:pathLst>
                  <a:path h="2061080" w="2827150">
                    <a:moveTo>
                      <a:pt x="0" y="0"/>
                    </a:moveTo>
                    <a:lnTo>
                      <a:pt x="2827150" y="0"/>
                    </a:lnTo>
                    <a:lnTo>
                      <a:pt x="2827150" y="2061080"/>
                    </a:lnTo>
                    <a:lnTo>
                      <a:pt x="0" y="2061080"/>
                    </a:lnTo>
                    <a:close/>
                  </a:path>
                </a:pathLst>
              </a:custGeom>
              <a:solidFill>
                <a:srgbClr val="000000">
                  <a:alpha val="0"/>
                </a:srgbClr>
              </a:solidFill>
              <a:ln w="12700">
                <a:solidFill>
                  <a:srgbClr val="000000"/>
                </a:solidFill>
              </a:ln>
            </p:spPr>
          </p:sp>
          <p:sp>
            <p:nvSpPr>
              <p:cNvPr name="TextBox 17" id="17"/>
              <p:cNvSpPr txBox="true"/>
              <p:nvPr/>
            </p:nvSpPr>
            <p:spPr>
              <a:xfrm>
                <a:off x="0" y="171450"/>
                <a:ext cx="2827147" cy="1889633"/>
              </a:xfrm>
              <a:prstGeom prst="rect">
                <a:avLst/>
              </a:prstGeom>
            </p:spPr>
            <p:txBody>
              <a:bodyPr anchor="ctr" rtlCol="false" tIns="0" lIns="0" bIns="0" rIns="0"/>
              <a:lstStyle/>
              <a:p>
                <a:pPr algn="ctr">
                  <a:lnSpc>
                    <a:spcPts val="8799"/>
                  </a:lnSpc>
                </a:pPr>
                <a:r>
                  <a:rPr lang="en-US" sz="8799" b="true">
                    <a:solidFill>
                      <a:srgbClr val="2C92D5"/>
                    </a:solidFill>
                    <a:latin typeface="Aileron Bold"/>
                    <a:ea typeface="Aileron Bold"/>
                    <a:cs typeface="Aileron Bold"/>
                    <a:sym typeface="Aileron Bold"/>
                  </a:rPr>
                  <a:t>S</a:t>
                </a:r>
              </a:p>
            </p:txBody>
          </p:sp>
        </p:grpSp>
        <p:sp>
          <p:nvSpPr>
            <p:cNvPr name="Freeform 18" id="18"/>
            <p:cNvSpPr/>
            <p:nvPr/>
          </p:nvSpPr>
          <p:spPr>
            <a:xfrm flipH="false" flipV="false" rot="0">
              <a:off x="18384037" y="1123916"/>
              <a:ext cx="3881081" cy="3827719"/>
            </a:xfrm>
            <a:custGeom>
              <a:avLst/>
              <a:gdLst/>
              <a:ahLst/>
              <a:cxnLst/>
              <a:rect r="r" b="b" t="t" l="l"/>
              <a:pathLst>
                <a:path h="3827719" w="3881081">
                  <a:moveTo>
                    <a:pt x="0" y="0"/>
                  </a:moveTo>
                  <a:lnTo>
                    <a:pt x="3881081" y="0"/>
                  </a:lnTo>
                  <a:lnTo>
                    <a:pt x="3881081" y="3827719"/>
                  </a:lnTo>
                  <a:lnTo>
                    <a:pt x="0" y="382771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9" id="19"/>
            <p:cNvGrpSpPr/>
            <p:nvPr/>
          </p:nvGrpSpPr>
          <p:grpSpPr>
            <a:xfrm rot="0">
              <a:off x="18739637" y="1955680"/>
              <a:ext cx="2827147" cy="2061083"/>
              <a:chOff x="0" y="0"/>
              <a:chExt cx="2827147" cy="2061083"/>
            </a:xfrm>
          </p:grpSpPr>
          <p:sp>
            <p:nvSpPr>
              <p:cNvPr name="Freeform 20" id="20"/>
              <p:cNvSpPr/>
              <p:nvPr/>
            </p:nvSpPr>
            <p:spPr>
              <a:xfrm flipH="false" flipV="false" rot="0">
                <a:off x="0" y="0"/>
                <a:ext cx="2827150" cy="2061080"/>
              </a:xfrm>
              <a:custGeom>
                <a:avLst/>
                <a:gdLst/>
                <a:ahLst/>
                <a:cxnLst/>
                <a:rect r="r" b="b" t="t" l="l"/>
                <a:pathLst>
                  <a:path h="2061080" w="2827150">
                    <a:moveTo>
                      <a:pt x="0" y="0"/>
                    </a:moveTo>
                    <a:lnTo>
                      <a:pt x="2827150" y="0"/>
                    </a:lnTo>
                    <a:lnTo>
                      <a:pt x="2827150" y="2061080"/>
                    </a:lnTo>
                    <a:lnTo>
                      <a:pt x="0" y="2061080"/>
                    </a:lnTo>
                    <a:close/>
                  </a:path>
                </a:pathLst>
              </a:custGeom>
              <a:solidFill>
                <a:srgbClr val="000000">
                  <a:alpha val="0"/>
                </a:srgbClr>
              </a:solidFill>
              <a:ln w="12700">
                <a:solidFill>
                  <a:srgbClr val="000000"/>
                </a:solidFill>
              </a:ln>
            </p:spPr>
          </p:sp>
          <p:sp>
            <p:nvSpPr>
              <p:cNvPr name="TextBox 21" id="21"/>
              <p:cNvSpPr txBox="true"/>
              <p:nvPr/>
            </p:nvSpPr>
            <p:spPr>
              <a:xfrm>
                <a:off x="0" y="171450"/>
                <a:ext cx="2827147" cy="1889633"/>
              </a:xfrm>
              <a:prstGeom prst="rect">
                <a:avLst/>
              </a:prstGeom>
            </p:spPr>
            <p:txBody>
              <a:bodyPr anchor="ctr" rtlCol="false" tIns="0" lIns="0" bIns="0" rIns="0"/>
              <a:lstStyle/>
              <a:p>
                <a:pPr algn="ctr">
                  <a:lnSpc>
                    <a:spcPts val="8799"/>
                  </a:lnSpc>
                </a:pPr>
                <a:r>
                  <a:rPr lang="en-US" sz="8799" b="true">
                    <a:solidFill>
                      <a:srgbClr val="37C9EF"/>
                    </a:solidFill>
                    <a:latin typeface="Aileron Bold"/>
                    <a:ea typeface="Aileron Bold"/>
                    <a:cs typeface="Aileron Bold"/>
                    <a:sym typeface="Aileron Bold"/>
                  </a:rPr>
                  <a:t>T</a:t>
                </a:r>
              </a:p>
            </p:txBody>
          </p:sp>
        </p:grpSp>
        <p:sp>
          <p:nvSpPr>
            <p:cNvPr name="Freeform 22" id="22"/>
            <p:cNvSpPr/>
            <p:nvPr/>
          </p:nvSpPr>
          <p:spPr>
            <a:xfrm flipH="false" flipV="false" rot="0">
              <a:off x="6812319" y="1167164"/>
              <a:ext cx="3881081" cy="3827719"/>
            </a:xfrm>
            <a:custGeom>
              <a:avLst/>
              <a:gdLst/>
              <a:ahLst/>
              <a:cxnLst/>
              <a:rect r="r" b="b" t="t" l="l"/>
              <a:pathLst>
                <a:path h="3827719" w="3881081">
                  <a:moveTo>
                    <a:pt x="0" y="0"/>
                  </a:moveTo>
                  <a:lnTo>
                    <a:pt x="3881081" y="0"/>
                  </a:lnTo>
                  <a:lnTo>
                    <a:pt x="3881081" y="3827719"/>
                  </a:lnTo>
                  <a:lnTo>
                    <a:pt x="0" y="382771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3" id="23"/>
            <p:cNvGrpSpPr/>
            <p:nvPr/>
          </p:nvGrpSpPr>
          <p:grpSpPr>
            <a:xfrm rot="0">
              <a:off x="7218553" y="2050482"/>
              <a:ext cx="2827147" cy="2061083"/>
              <a:chOff x="0" y="0"/>
              <a:chExt cx="2827147" cy="2061083"/>
            </a:xfrm>
          </p:grpSpPr>
          <p:sp>
            <p:nvSpPr>
              <p:cNvPr name="Freeform 24" id="24"/>
              <p:cNvSpPr/>
              <p:nvPr/>
            </p:nvSpPr>
            <p:spPr>
              <a:xfrm flipH="false" flipV="false" rot="0">
                <a:off x="0" y="0"/>
                <a:ext cx="2827150" cy="2061080"/>
              </a:xfrm>
              <a:custGeom>
                <a:avLst/>
                <a:gdLst/>
                <a:ahLst/>
                <a:cxnLst/>
                <a:rect r="r" b="b" t="t" l="l"/>
                <a:pathLst>
                  <a:path h="2061080" w="2827150">
                    <a:moveTo>
                      <a:pt x="0" y="0"/>
                    </a:moveTo>
                    <a:lnTo>
                      <a:pt x="2827150" y="0"/>
                    </a:lnTo>
                    <a:lnTo>
                      <a:pt x="2827150" y="2061080"/>
                    </a:lnTo>
                    <a:lnTo>
                      <a:pt x="0" y="2061080"/>
                    </a:lnTo>
                    <a:close/>
                  </a:path>
                </a:pathLst>
              </a:custGeom>
              <a:solidFill>
                <a:srgbClr val="000000">
                  <a:alpha val="0"/>
                </a:srgbClr>
              </a:solidFill>
              <a:ln w="12700">
                <a:solidFill>
                  <a:srgbClr val="000000"/>
                </a:solidFill>
              </a:ln>
            </p:spPr>
          </p:sp>
          <p:sp>
            <p:nvSpPr>
              <p:cNvPr name="TextBox 25" id="25"/>
              <p:cNvSpPr txBox="true"/>
              <p:nvPr/>
            </p:nvSpPr>
            <p:spPr>
              <a:xfrm>
                <a:off x="0" y="171450"/>
                <a:ext cx="2827147" cy="1889633"/>
              </a:xfrm>
              <a:prstGeom prst="rect">
                <a:avLst/>
              </a:prstGeom>
            </p:spPr>
            <p:txBody>
              <a:bodyPr anchor="ctr" rtlCol="false" tIns="0" lIns="0" bIns="0" rIns="0"/>
              <a:lstStyle/>
              <a:p>
                <a:pPr algn="ctr">
                  <a:lnSpc>
                    <a:spcPts val="8799"/>
                  </a:lnSpc>
                </a:pPr>
                <a:r>
                  <a:rPr lang="en-US" sz="8799" b="true">
                    <a:solidFill>
                      <a:srgbClr val="37C9EF"/>
                    </a:solidFill>
                    <a:latin typeface="Aileron Bold"/>
                    <a:ea typeface="Aileron Bold"/>
                    <a:cs typeface="Aileron Bold"/>
                    <a:sym typeface="Aileron Bold"/>
                  </a:rPr>
                  <a:t>W</a:t>
                </a:r>
              </a:p>
            </p:txBody>
          </p:sp>
        </p:grpSp>
        <p:sp>
          <p:nvSpPr>
            <p:cNvPr name="Freeform 26" id="26"/>
            <p:cNvSpPr/>
            <p:nvPr/>
          </p:nvSpPr>
          <p:spPr>
            <a:xfrm flipH="false" flipV="false" rot="0">
              <a:off x="12429008" y="1148562"/>
              <a:ext cx="3881081" cy="3827719"/>
            </a:xfrm>
            <a:custGeom>
              <a:avLst/>
              <a:gdLst/>
              <a:ahLst/>
              <a:cxnLst/>
              <a:rect r="r" b="b" t="t" l="l"/>
              <a:pathLst>
                <a:path h="3827719" w="3881081">
                  <a:moveTo>
                    <a:pt x="0" y="0"/>
                  </a:moveTo>
                  <a:lnTo>
                    <a:pt x="3881081" y="0"/>
                  </a:lnTo>
                  <a:lnTo>
                    <a:pt x="3881081" y="3827719"/>
                  </a:lnTo>
                  <a:lnTo>
                    <a:pt x="0" y="382771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7" id="27"/>
            <p:cNvGrpSpPr/>
            <p:nvPr/>
          </p:nvGrpSpPr>
          <p:grpSpPr>
            <a:xfrm rot="0">
              <a:off x="12813106" y="1955680"/>
              <a:ext cx="2827147" cy="2061083"/>
              <a:chOff x="0" y="0"/>
              <a:chExt cx="2827147" cy="2061083"/>
            </a:xfrm>
          </p:grpSpPr>
          <p:sp>
            <p:nvSpPr>
              <p:cNvPr name="Freeform 28" id="28"/>
              <p:cNvSpPr/>
              <p:nvPr/>
            </p:nvSpPr>
            <p:spPr>
              <a:xfrm flipH="false" flipV="false" rot="0">
                <a:off x="0" y="0"/>
                <a:ext cx="2827150" cy="2061080"/>
              </a:xfrm>
              <a:custGeom>
                <a:avLst/>
                <a:gdLst/>
                <a:ahLst/>
                <a:cxnLst/>
                <a:rect r="r" b="b" t="t" l="l"/>
                <a:pathLst>
                  <a:path h="2061080" w="2827150">
                    <a:moveTo>
                      <a:pt x="0" y="0"/>
                    </a:moveTo>
                    <a:lnTo>
                      <a:pt x="2827150" y="0"/>
                    </a:lnTo>
                    <a:lnTo>
                      <a:pt x="2827150" y="2061080"/>
                    </a:lnTo>
                    <a:lnTo>
                      <a:pt x="0" y="2061080"/>
                    </a:lnTo>
                    <a:close/>
                  </a:path>
                </a:pathLst>
              </a:custGeom>
              <a:solidFill>
                <a:srgbClr val="000000">
                  <a:alpha val="0"/>
                </a:srgbClr>
              </a:solidFill>
              <a:ln w="12700">
                <a:solidFill>
                  <a:srgbClr val="000000"/>
                </a:solidFill>
              </a:ln>
            </p:spPr>
          </p:sp>
          <p:sp>
            <p:nvSpPr>
              <p:cNvPr name="TextBox 29" id="29"/>
              <p:cNvSpPr txBox="true"/>
              <p:nvPr/>
            </p:nvSpPr>
            <p:spPr>
              <a:xfrm>
                <a:off x="0" y="171450"/>
                <a:ext cx="2827147" cy="1889633"/>
              </a:xfrm>
              <a:prstGeom prst="rect">
                <a:avLst/>
              </a:prstGeom>
            </p:spPr>
            <p:txBody>
              <a:bodyPr anchor="ctr" rtlCol="false" tIns="0" lIns="0" bIns="0" rIns="0"/>
              <a:lstStyle/>
              <a:p>
                <a:pPr algn="ctr">
                  <a:lnSpc>
                    <a:spcPts val="8799"/>
                  </a:lnSpc>
                </a:pPr>
                <a:r>
                  <a:rPr lang="en-US" sz="8799" b="true">
                    <a:solidFill>
                      <a:srgbClr val="2C92D5"/>
                    </a:solidFill>
                    <a:latin typeface="Aileron Bold"/>
                    <a:ea typeface="Aileron Bold"/>
                    <a:cs typeface="Aileron Bold"/>
                    <a:sym typeface="Aileron Bold"/>
                  </a:rPr>
                  <a:t>O</a:t>
                </a:r>
              </a:p>
            </p:txBody>
          </p:sp>
        </p:grpSp>
      </p:grpSp>
      <p:graphicFrame>
        <p:nvGraphicFramePr>
          <p:cNvPr name="Table 13" id="13"/>
          <p:cNvGraphicFramePr>
            <a:graphicFrameLocks noGrp="true"/>
          </p:cNvGraphicFramePr>
          <p:nvPr/>
        </p:nvGraphicFramePr>
        <p:xfrm>
          <a:off x="0" y="2310768"/>
          <a:ext cx="17221200" cy="6912929"/>
        </p:xfrm>
        <a:graphic>
          <a:graphicData uri="http://schemas.openxmlformats.org/drawingml/2006/table">
            <a:tbl>
              <a:tblPr/>
              <a:tblGrid>
                <a:gridCol w="4259207"/>
                <a:gridCol w="4403840"/>
                <a:gridCol w="4298946"/>
                <a:gridCol w="4259207"/>
              </a:tblGrid>
              <a:tr h="2760029">
                <a:tc>
                  <a:txBody>
                    <a:bodyPr anchor="t" rtlCol="false"/>
                    <a:lstStyle/>
                    <a:p>
                      <a:pPr algn="ctr">
                        <a:lnSpc>
                          <a:spcPts val="4198"/>
                        </a:lnSpc>
                        <a:defRPr/>
                      </a:pPr>
                      <a:r>
                        <a:rPr lang="en-US" b="true" sz="2999" spc="88">
                          <a:solidFill>
                            <a:srgbClr val="2C92D5"/>
                          </a:solidFill>
                          <a:latin typeface="Aileron Bold"/>
                          <a:ea typeface="Aileron Bold"/>
                          <a:cs typeface="Aileron Bold"/>
                          <a:sym typeface="Aileron Bold"/>
                        </a:rPr>
                        <a:t>STRENGTHS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95250">
                      <a:solidFill>
                        <a:srgbClr val="13538A"/>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AE4FC"/>
                    </a:solidFill>
                  </a:tcPr>
                </a:tc>
                <a:tc>
                  <a:txBody>
                    <a:bodyPr anchor="t" rtlCol="false"/>
                    <a:lstStyle/>
                    <a:p>
                      <a:pPr algn="ctr">
                        <a:lnSpc>
                          <a:spcPts val="4198"/>
                        </a:lnSpc>
                        <a:defRPr/>
                      </a:pPr>
                      <a:r>
                        <a:rPr lang="en-US" b="true" sz="2999" spc="88">
                          <a:solidFill>
                            <a:srgbClr val="37C9EF"/>
                          </a:solidFill>
                          <a:latin typeface="Aileron Bold"/>
                          <a:ea typeface="Aileron Bold"/>
                          <a:cs typeface="Aileron Bold"/>
                          <a:sym typeface="Aileron Bold"/>
                        </a:rPr>
                        <a:t>WEAKNESSES</a:t>
                      </a:r>
                      <a:endParaRPr lang="en-US" sz="1100"/>
                    </a:p>
                  </a:txBody>
                  <a:tcPr marL="190500" marR="190500" marT="190500" marB="190500" anchor="ctr">
                    <a:lnL cmpd="sng" algn="ctr" cap="flat" w="95250">
                      <a:solidFill>
                        <a:srgbClr val="13538A"/>
                      </a:solidFill>
                      <a:prstDash val="solid"/>
                      <a:round/>
                      <a:headEnd type="none" w="med" len="med"/>
                      <a:tailEnd type="none" w="med" len="med"/>
                    </a:lnL>
                    <a:lnR cmpd="sng" algn="ctr" cap="flat" w="95250">
                      <a:solidFill>
                        <a:srgbClr val="13538A"/>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AE4FC"/>
                    </a:solidFill>
                  </a:tcPr>
                </a:tc>
                <a:tc>
                  <a:txBody>
                    <a:bodyPr anchor="t" rtlCol="false"/>
                    <a:lstStyle/>
                    <a:p>
                      <a:pPr algn="ctr">
                        <a:lnSpc>
                          <a:spcPts val="4198"/>
                        </a:lnSpc>
                        <a:defRPr/>
                      </a:pPr>
                      <a:r>
                        <a:rPr lang="en-US" b="true" sz="2999" spc="88">
                          <a:solidFill>
                            <a:srgbClr val="2C92D5"/>
                          </a:solidFill>
                          <a:latin typeface="Aileron Bold"/>
                          <a:ea typeface="Aileron Bold"/>
                          <a:cs typeface="Aileron Bold"/>
                          <a:sym typeface="Aileron Bold"/>
                        </a:rPr>
                        <a:t>OPPORTUNITIES</a:t>
                      </a:r>
                      <a:endParaRPr lang="en-US" sz="1100"/>
                    </a:p>
                  </a:txBody>
                  <a:tcPr marL="190500" marR="190500" marT="190500" marB="190500" anchor="ctr">
                    <a:lnL cmpd="sng" algn="ctr" cap="flat" w="95250">
                      <a:solidFill>
                        <a:srgbClr val="13538A"/>
                      </a:solidFill>
                      <a:prstDash val="solid"/>
                      <a:round/>
                      <a:headEnd type="none" w="med" len="med"/>
                      <a:tailEnd type="none" w="med" len="med"/>
                    </a:lnL>
                    <a:lnR cmpd="sng" algn="ctr" cap="flat" w="95250">
                      <a:solidFill>
                        <a:srgbClr val="13538A"/>
                      </a:solidFill>
                      <a:prstDash val="solid"/>
                      <a:round/>
                      <a:headEnd type="none" w="med" len="med"/>
                      <a:tailEnd type="none" w="med" len="med"/>
                    </a:lnR>
                    <a:lnT cmpd="sng" algn="ctr" cap="flat" w="0">
                      <a:solidFill>
                        <a:srgbClr val="13538A"/>
                      </a:solidFill>
                      <a:prstDash val="solid"/>
                      <a:round/>
                      <a:headEnd type="none" w="med" len="med"/>
                      <a:tailEnd type="none" w="med" len="med"/>
                    </a:lnT>
                    <a:lnB cmpd="sng" algn="ctr" cap="flat" w="0">
                      <a:solidFill>
                        <a:srgbClr val="13538A"/>
                      </a:solidFill>
                      <a:prstDash val="solid"/>
                      <a:round/>
                      <a:headEnd type="none" w="med" len="med"/>
                      <a:tailEnd type="none" w="med" len="med"/>
                    </a:lnB>
                    <a:solidFill>
                      <a:srgbClr val="CAE4FC"/>
                    </a:solidFill>
                  </a:tcPr>
                </a:tc>
                <a:tc>
                  <a:txBody>
                    <a:bodyPr anchor="t" rtlCol="false"/>
                    <a:lstStyle/>
                    <a:p>
                      <a:pPr algn="ctr">
                        <a:lnSpc>
                          <a:spcPts val="4198"/>
                        </a:lnSpc>
                        <a:defRPr/>
                      </a:pPr>
                      <a:r>
                        <a:rPr lang="en-US" b="true" sz="2999" spc="88">
                          <a:solidFill>
                            <a:srgbClr val="37C9EF"/>
                          </a:solidFill>
                          <a:latin typeface="Aileron Bold"/>
                          <a:ea typeface="Aileron Bold"/>
                          <a:cs typeface="Aileron Bold"/>
                          <a:sym typeface="Aileron Bold"/>
                        </a:rPr>
                        <a:t>THREATS</a:t>
                      </a:r>
                      <a:endParaRPr lang="en-US" sz="1100"/>
                    </a:p>
                  </a:txBody>
                  <a:tcPr marL="190500" marR="190500" marT="190500" marB="190500" anchor="ctr">
                    <a:lnL cmpd="sng" algn="ctr" cap="flat" w="95250">
                      <a:solidFill>
                        <a:srgbClr val="13538A"/>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AE4FC"/>
                    </a:solidFill>
                  </a:tcPr>
                </a:tc>
              </a:tr>
              <a:tr h="4152900">
                <a:tc>
                  <a:txBody>
                    <a:bodyPr anchor="t" rtlCol="false"/>
                    <a:lstStyle/>
                    <a:p>
                      <a:pPr algn="l" marL="411359" indent="-137120" lvl="2">
                        <a:lnSpc>
                          <a:spcPts val="2519"/>
                        </a:lnSpc>
                        <a:buFont typeface="Arial"/>
                        <a:buChar char="⚬"/>
                        <a:defRPr/>
                      </a:pPr>
                      <a:r>
                        <a:rPr lang="en-US" sz="1799" spc="26">
                          <a:solidFill>
                            <a:srgbClr val="191919"/>
                          </a:solidFill>
                          <a:latin typeface="Aileron"/>
                          <a:ea typeface="Aileron"/>
                          <a:cs typeface="Aileron"/>
                          <a:sym typeface="Aileron"/>
                        </a:rPr>
                        <a:t>CargoWise Platinum expertise drives 70% faster TMS deployments.</a:t>
                      </a:r>
                      <a:endParaRPr lang="en-US" sz="1100"/>
                    </a:p>
                    <a:p>
                      <a:pPr algn="l" marL="411359" indent="-137120" lvl="2">
                        <a:lnSpc>
                          <a:spcPts val="2519"/>
                        </a:lnSpc>
                        <a:buFont typeface="Arial"/>
                        <a:buChar char="⚬"/>
                      </a:pPr>
                      <a:r>
                        <a:rPr lang="en-US" sz="1799" spc="26">
                          <a:solidFill>
                            <a:srgbClr val="191919"/>
                          </a:solidFill>
                          <a:latin typeface="Aileron"/>
                          <a:ea typeface="Aileron"/>
                          <a:cs typeface="Aileron"/>
                          <a:sym typeface="Aileron"/>
                        </a:rPr>
                        <a:t>SITS/CargosSoft deliver AI-powered, affordable-cost ($10K–$30K) logistics solutions.</a:t>
                      </a:r>
                    </a:p>
                    <a:p>
                      <a:pPr algn="l" marL="411359" indent="-137120" lvl="2">
                        <a:lnSpc>
                          <a:spcPts val="2519"/>
                        </a:lnSpc>
                        <a:buFont typeface="Arial"/>
                        <a:buChar char="⚬"/>
                      </a:pPr>
                      <a:r>
                        <a:rPr lang="en-US" sz="1799" spc="26">
                          <a:solidFill>
                            <a:srgbClr val="191919"/>
                          </a:solidFill>
                          <a:latin typeface="Aileron"/>
                          <a:ea typeface="Aileron"/>
                          <a:cs typeface="Aileron"/>
                          <a:sym typeface="Aileron"/>
                        </a:rPr>
                        <a:t>Agile operations cut integration costs by 30% for clients.</a:t>
                      </a:r>
                    </a:p>
                    <a:p>
                      <a:pPr algn="l" marL="411359" indent="-137120" lvl="2">
                        <a:lnSpc>
                          <a:spcPts val="2519"/>
                        </a:lnSpc>
                        <a:buFont typeface="Arial"/>
                        <a:buChar char="⚬"/>
                      </a:pPr>
                      <a:r>
                        <a:rPr lang="en-US" sz="1799" spc="26">
                          <a:solidFill>
                            <a:srgbClr val="191919"/>
                          </a:solidFill>
                          <a:latin typeface="Aileron"/>
                          <a:ea typeface="Aileron"/>
                          <a:cs typeface="Aileron"/>
                          <a:sym typeface="Aileron"/>
                        </a:rPr>
                        <a:t>Diverse IT portfolio (300+ clients) ensures revenue stability.</a:t>
                      </a:r>
                    </a:p>
                    <a:p>
                      <a:pPr algn="l" marL="411359" indent="-137120" lvl="2">
                        <a:lnSpc>
                          <a:spcPts val="2519"/>
                        </a:lnSpc>
                      </a:pPr>
                    </a:p>
                  </a:txBody>
                  <a:tcPr marL="190500" marR="190500" marT="190500" marB="190500" anchor="ctr">
                    <a:lnL cmpd="sng" algn="ctr" cap="flat" w="0">
                      <a:solidFill>
                        <a:srgbClr val="000000"/>
                      </a:solidFill>
                      <a:prstDash val="solid"/>
                      <a:round/>
                      <a:headEnd type="none" w="med" len="med"/>
                      <a:tailEnd type="none" w="med" len="med"/>
                    </a:lnL>
                    <a:lnR cmpd="sng" algn="ctr" cap="flat" w="95250">
                      <a:solidFill>
                        <a:srgbClr val="13538A"/>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AE4FC"/>
                    </a:solidFill>
                  </a:tcPr>
                </a:tc>
                <a:tc>
                  <a:txBody>
                    <a:bodyPr anchor="t" rtlCol="false"/>
                    <a:lstStyle/>
                    <a:p>
                      <a:pPr algn="l" marL="411481" indent="-137160" lvl="2">
                        <a:lnSpc>
                          <a:spcPts val="2520"/>
                        </a:lnSpc>
                        <a:buFont typeface="Arial"/>
                        <a:buChar char="⚬"/>
                        <a:defRPr/>
                      </a:pPr>
                      <a:r>
                        <a:rPr lang="en-US" sz="1800" spc="26">
                          <a:solidFill>
                            <a:srgbClr val="191919"/>
                          </a:solidFill>
                          <a:latin typeface="Aileron"/>
                          <a:ea typeface="Aileron"/>
                          <a:cs typeface="Aileron"/>
                          <a:sym typeface="Aileron"/>
                        </a:rPr>
                        <a:t>Small team limits large-scale project capacity.</a:t>
                      </a:r>
                      <a:endParaRPr lang="en-US" sz="1100"/>
                    </a:p>
                    <a:p>
                      <a:pPr algn="l" marL="411481" indent="-137160" lvl="2">
                        <a:lnSpc>
                          <a:spcPts val="2520"/>
                        </a:lnSpc>
                        <a:buFont typeface="Arial"/>
                        <a:buChar char="⚬"/>
                      </a:pPr>
                      <a:r>
                        <a:rPr lang="en-US" sz="1800" spc="26">
                          <a:solidFill>
                            <a:srgbClr val="191919"/>
                          </a:solidFill>
                          <a:latin typeface="Aileron"/>
                          <a:ea typeface="Aileron"/>
                          <a:cs typeface="Aileron"/>
                          <a:sym typeface="Aileron"/>
                        </a:rPr>
                        <a:t>CargoWise dependency risks operational constraints.</a:t>
                      </a:r>
                    </a:p>
                    <a:p>
                      <a:pPr algn="l" marL="411481" indent="-137160" lvl="2">
                        <a:lnSpc>
                          <a:spcPts val="2520"/>
                        </a:lnSpc>
                        <a:buFont typeface="Arial"/>
                        <a:buChar char="⚬"/>
                      </a:pPr>
                      <a:r>
                        <a:rPr lang="en-US" sz="1800" spc="26">
                          <a:solidFill>
                            <a:srgbClr val="191919"/>
                          </a:solidFill>
                          <a:latin typeface="Aileron"/>
                          <a:ea typeface="Aileron"/>
                          <a:cs typeface="Aileron"/>
                          <a:sym typeface="Aileron"/>
                        </a:rPr>
                        <a:t>Weak brand visibility lacks client trust signals.</a:t>
                      </a:r>
                    </a:p>
                    <a:p>
                      <a:pPr algn="l" marL="411481" indent="-137160" lvl="2">
                        <a:lnSpc>
                          <a:spcPts val="2520"/>
                        </a:lnSpc>
                        <a:buFont typeface="Arial"/>
                        <a:buChar char="⚬"/>
                      </a:pPr>
                      <a:r>
                        <a:rPr lang="en-US" sz="1800" spc="26">
                          <a:solidFill>
                            <a:srgbClr val="191919"/>
                          </a:solidFill>
                          <a:latin typeface="Aileron"/>
                          <a:ea typeface="Aileron"/>
                          <a:cs typeface="Aileron"/>
                          <a:sym typeface="Aileron"/>
                        </a:rPr>
                        <a:t>Early CargosSoft may face initial scalability issues.</a:t>
                      </a:r>
                    </a:p>
                    <a:p>
                      <a:pPr algn="l" marL="411481" indent="-137160" lvl="2">
                        <a:lnSpc>
                          <a:spcPts val="2520"/>
                        </a:lnSpc>
                      </a:pPr>
                    </a:p>
                  </a:txBody>
                  <a:tcPr marL="190500" marR="190500" marT="190500" marB="190500" anchor="ctr">
                    <a:lnL cmpd="sng" algn="ctr" cap="flat" w="95250">
                      <a:solidFill>
                        <a:srgbClr val="13538A"/>
                      </a:solidFill>
                      <a:prstDash val="solid"/>
                      <a:round/>
                      <a:headEnd type="none" w="med" len="med"/>
                      <a:tailEnd type="none" w="med" len="med"/>
                    </a:lnL>
                    <a:lnR cmpd="sng" algn="ctr" cap="flat" w="95250">
                      <a:solidFill>
                        <a:srgbClr val="13538A"/>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AE4FC"/>
                    </a:solidFill>
                  </a:tcPr>
                </a:tc>
                <a:tc>
                  <a:txBody>
                    <a:bodyPr anchor="t" rtlCol="false"/>
                    <a:lstStyle/>
                    <a:p>
                      <a:pPr algn="l" marL="411481" indent="-137160" lvl="2">
                        <a:lnSpc>
                          <a:spcPts val="2520"/>
                        </a:lnSpc>
                        <a:buFont typeface="Arial"/>
                        <a:buChar char="⚬"/>
                        <a:defRPr/>
                      </a:pPr>
                      <a:r>
                        <a:rPr lang="en-US" sz="1800" spc="26">
                          <a:solidFill>
                            <a:srgbClr val="191919"/>
                          </a:solidFill>
                          <a:latin typeface="Aileron"/>
                          <a:ea typeface="Aileron"/>
                          <a:cs typeface="Aileron"/>
                          <a:sym typeface="Aileron"/>
                        </a:rPr>
                        <a:t>Capture $300M in $30B TMS market for mid-sized firms.</a:t>
                      </a:r>
                      <a:endParaRPr lang="en-US" sz="1100"/>
                    </a:p>
                    <a:p>
                      <a:pPr algn="l" marL="411481" indent="-137160" lvl="2">
                        <a:lnSpc>
                          <a:spcPts val="2520"/>
                        </a:lnSpc>
                        <a:buFont typeface="Arial"/>
                        <a:buChar char="⚬"/>
                      </a:pPr>
                      <a:r>
                        <a:rPr lang="en-US" sz="1800" spc="26">
                          <a:solidFill>
                            <a:srgbClr val="191919"/>
                          </a:solidFill>
                          <a:latin typeface="Aileron"/>
                          <a:ea typeface="Aileron"/>
                          <a:cs typeface="Aileron"/>
                          <a:sym typeface="Aileron"/>
                        </a:rPr>
                        <a:t>AI/SLM features align with 25% smart TMS growth.</a:t>
                      </a:r>
                    </a:p>
                    <a:p>
                      <a:pPr algn="l" marL="411481" indent="-137160" lvl="2">
                        <a:lnSpc>
                          <a:spcPts val="2520"/>
                        </a:lnSpc>
                        <a:buFont typeface="Arial"/>
                        <a:buChar char="⚬"/>
                      </a:pPr>
                      <a:r>
                        <a:rPr lang="en-US" sz="1800" spc="26">
                          <a:solidFill>
                            <a:srgbClr val="191919"/>
                          </a:solidFill>
                          <a:latin typeface="Aileron"/>
                          <a:ea typeface="Aileron"/>
                          <a:cs typeface="Aileron"/>
                          <a:sym typeface="Aileron"/>
                        </a:rPr>
                        <a:t>Leverage e-commerce boom for 20% YoY expansion.</a:t>
                      </a:r>
                    </a:p>
                    <a:p>
                      <a:pPr algn="l" marL="411481" indent="-137160" lvl="2">
                        <a:lnSpc>
                          <a:spcPts val="2520"/>
                        </a:lnSpc>
                        <a:buFont typeface="Arial"/>
                        <a:buChar char="⚬"/>
                      </a:pPr>
                      <a:r>
                        <a:rPr lang="en-US" sz="1800" spc="26">
                          <a:solidFill>
                            <a:srgbClr val="191919"/>
                          </a:solidFill>
                          <a:latin typeface="Aileron"/>
                          <a:ea typeface="Aileron"/>
                          <a:cs typeface="Aileron"/>
                          <a:sym typeface="Aileron"/>
                        </a:rPr>
                        <a:t>Meet compliance needs, saving 15% client costs.</a:t>
                      </a:r>
                    </a:p>
                    <a:p>
                      <a:pPr algn="l" marL="411481" indent="-137160" lvl="2">
                        <a:lnSpc>
                          <a:spcPts val="1960"/>
                        </a:lnSpc>
                      </a:pPr>
                    </a:p>
                  </a:txBody>
                  <a:tcPr marL="190500" marR="190500" marT="190500" marB="190500" anchor="ctr">
                    <a:lnL cmpd="sng" algn="ctr" cap="flat" w="95250">
                      <a:solidFill>
                        <a:srgbClr val="13538A"/>
                      </a:solidFill>
                      <a:prstDash val="solid"/>
                      <a:round/>
                      <a:headEnd type="none" w="med" len="med"/>
                      <a:tailEnd type="none" w="med" len="med"/>
                    </a:lnL>
                    <a:lnR cmpd="sng" algn="ctr" cap="flat" w="95250">
                      <a:solidFill>
                        <a:srgbClr val="13538A"/>
                      </a:solidFill>
                      <a:prstDash val="solid"/>
                      <a:round/>
                      <a:headEnd type="none" w="med" len="med"/>
                      <a:tailEnd type="none" w="med" len="med"/>
                    </a:lnR>
                    <a:lnT cmpd="sng" algn="ctr" cap="flat" w="0">
                      <a:solidFill>
                        <a:srgbClr val="13538A"/>
                      </a:solidFill>
                      <a:prstDash val="solid"/>
                      <a:round/>
                      <a:headEnd type="none" w="med" len="med"/>
                      <a:tailEnd type="none" w="med" len="med"/>
                    </a:lnT>
                    <a:lnB cmpd="sng" algn="ctr" cap="flat" w="0">
                      <a:solidFill>
                        <a:srgbClr val="13538A"/>
                      </a:solidFill>
                      <a:prstDash val="solid"/>
                      <a:round/>
                      <a:headEnd type="none" w="med" len="med"/>
                      <a:tailEnd type="none" w="med" len="med"/>
                    </a:lnB>
                    <a:solidFill>
                      <a:srgbClr val="CAE4FC"/>
                    </a:solidFill>
                  </a:tcPr>
                </a:tc>
                <a:tc>
                  <a:txBody>
                    <a:bodyPr anchor="t" rtlCol="false"/>
                    <a:lstStyle/>
                    <a:p>
                      <a:pPr algn="l" marL="411481" indent="-137160" lvl="2">
                        <a:lnSpc>
                          <a:spcPts val="2520"/>
                        </a:lnSpc>
                        <a:buFont typeface="Arial"/>
                        <a:buChar char="⚬"/>
                        <a:defRPr/>
                      </a:pPr>
                      <a:r>
                        <a:rPr lang="en-US" sz="1800" spc="26">
                          <a:solidFill>
                            <a:srgbClr val="191919"/>
                          </a:solidFill>
                          <a:latin typeface="Aileron"/>
                          <a:ea typeface="Aileron"/>
                          <a:cs typeface="Aileron"/>
                          <a:sym typeface="Aileron"/>
                        </a:rPr>
                        <a:t>CargoWise/Magaya competition pressures pricing edge.</a:t>
                      </a:r>
                      <a:endParaRPr lang="en-US" sz="1100"/>
                    </a:p>
                    <a:p>
                      <a:pPr algn="l" marL="411481" indent="-137160" lvl="2">
                        <a:lnSpc>
                          <a:spcPts val="2520"/>
                        </a:lnSpc>
                        <a:buFont typeface="Arial"/>
                        <a:buChar char="⚬"/>
                      </a:pPr>
                      <a:r>
                        <a:rPr lang="en-US" sz="1800" spc="26">
                          <a:solidFill>
                            <a:srgbClr val="191919"/>
                          </a:solidFill>
                          <a:latin typeface="Aileron"/>
                          <a:ea typeface="Aileron"/>
                          <a:cs typeface="Aileron"/>
                          <a:sym typeface="Aileron"/>
                        </a:rPr>
                        <a:t>Economic volatility threatens logistics IT budgets.</a:t>
                      </a:r>
                    </a:p>
                    <a:p>
                      <a:pPr algn="l" marL="411481" indent="-137160" lvl="2">
                        <a:lnSpc>
                          <a:spcPts val="2520"/>
                        </a:lnSpc>
                        <a:buFont typeface="Arial"/>
                        <a:buChar char="⚬"/>
                      </a:pPr>
                      <a:r>
                        <a:rPr lang="en-US" sz="1800" spc="26">
                          <a:solidFill>
                            <a:srgbClr val="191919"/>
                          </a:solidFill>
                          <a:latin typeface="Aileron"/>
                          <a:ea typeface="Aileron"/>
                          <a:cs typeface="Aileron"/>
                          <a:sym typeface="Aileron"/>
                        </a:rPr>
                        <a:t>Cybersecurity risks (30% hack rise) endanger data.</a:t>
                      </a:r>
                    </a:p>
                    <a:p>
                      <a:pPr algn="l" marL="411481" indent="-137160" lvl="2">
                        <a:lnSpc>
                          <a:spcPts val="2520"/>
                        </a:lnSpc>
                        <a:buFont typeface="Arial"/>
                        <a:buChar char="⚬"/>
                      </a:pPr>
                      <a:r>
                        <a:rPr lang="en-US" sz="1800" spc="26">
                          <a:solidFill>
                            <a:srgbClr val="191919"/>
                          </a:solidFill>
                          <a:latin typeface="Aileron"/>
                          <a:ea typeface="Aileron"/>
                          <a:cs typeface="Aileron"/>
                          <a:sym typeface="Aileron"/>
                        </a:rPr>
                        <a:t>Talent shortages and AI advancements challenge innovation.</a:t>
                      </a:r>
                    </a:p>
                    <a:p>
                      <a:pPr algn="l" marL="411481" indent="-137160" lvl="2">
                        <a:lnSpc>
                          <a:spcPts val="1960"/>
                        </a:lnSpc>
                      </a:pPr>
                    </a:p>
                  </a:txBody>
                  <a:tcPr marL="190500" marR="190500" marT="190500" marB="190500" anchor="ctr">
                    <a:lnL cmpd="sng" algn="ctr" cap="flat" w="95250">
                      <a:solidFill>
                        <a:srgbClr val="13538A"/>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AE4FC"/>
                    </a:solidFill>
                  </a:tcPr>
                </a:tc>
              </a:tr>
            </a:tbl>
          </a:graphicData>
        </a:graphic>
      </p:graphicFrame>
      <p:sp>
        <p:nvSpPr>
          <p:cNvPr name="TextBox 30" id="30"/>
          <p:cNvSpPr txBox="true"/>
          <p:nvPr/>
        </p:nvSpPr>
        <p:spPr>
          <a:xfrm rot="0">
            <a:off x="1028700" y="360256"/>
            <a:ext cx="4232374"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SWOT ANALYSIS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9759410" y="789680"/>
            <a:ext cx="5636924" cy="605971"/>
            <a:chOff x="0" y="0"/>
            <a:chExt cx="7515898" cy="807961"/>
          </a:xfrm>
        </p:grpSpPr>
        <p:sp>
          <p:nvSpPr>
            <p:cNvPr name="Freeform 3" id="3"/>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2"/>
              <a:stretch>
                <a:fillRect l="-254" t="0" r="-255" b="1"/>
              </a:stretch>
            </a:blipFill>
          </p:spPr>
        </p:sp>
      </p:grpSp>
      <p:sp>
        <p:nvSpPr>
          <p:cNvPr name="Freeform 4" id="4"/>
          <p:cNvSpPr/>
          <p:nvPr/>
        </p:nvSpPr>
        <p:spPr>
          <a:xfrm flipH="false" flipV="false" rot="0">
            <a:off x="11056683" y="-2418351"/>
            <a:ext cx="5678789" cy="5678789"/>
          </a:xfrm>
          <a:custGeom>
            <a:avLst/>
            <a:gdLst/>
            <a:ahLst/>
            <a:cxnLst/>
            <a:rect r="r" b="b" t="t" l="l"/>
            <a:pathLst>
              <a:path h="5678789" w="5678789">
                <a:moveTo>
                  <a:pt x="0" y="0"/>
                </a:moveTo>
                <a:lnTo>
                  <a:pt x="5678789" y="0"/>
                </a:lnTo>
                <a:lnTo>
                  <a:pt x="5678789" y="5678788"/>
                </a:lnTo>
                <a:lnTo>
                  <a:pt x="0" y="5678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2700000">
            <a:off x="12685900" y="472916"/>
            <a:ext cx="5636924" cy="605971"/>
            <a:chOff x="0" y="0"/>
            <a:chExt cx="7515898" cy="807961"/>
          </a:xfrm>
        </p:grpSpPr>
        <p:sp>
          <p:nvSpPr>
            <p:cNvPr name="Freeform 6" id="6"/>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2"/>
              <a:stretch>
                <a:fillRect l="-254" t="0" r="-255" b="1"/>
              </a:stretch>
            </a:blipFill>
          </p:spPr>
        </p:sp>
      </p:grpSp>
      <p:grpSp>
        <p:nvGrpSpPr>
          <p:cNvPr name="Group 7" id="7"/>
          <p:cNvGrpSpPr/>
          <p:nvPr/>
        </p:nvGrpSpPr>
        <p:grpSpPr>
          <a:xfrm rot="-2700000">
            <a:off x="12547959" y="1919935"/>
            <a:ext cx="10898705" cy="10898705"/>
            <a:chOff x="0" y="0"/>
            <a:chExt cx="14531607" cy="14531607"/>
          </a:xfrm>
        </p:grpSpPr>
        <p:sp>
          <p:nvSpPr>
            <p:cNvPr name="Freeform 8" id="8"/>
            <p:cNvSpPr/>
            <p:nvPr/>
          </p:nvSpPr>
          <p:spPr>
            <a:xfrm flipH="false" flipV="false" rot="0">
              <a:off x="0" y="0"/>
              <a:ext cx="14531594" cy="14531594"/>
            </a:xfrm>
            <a:custGeom>
              <a:avLst/>
              <a:gdLst/>
              <a:ahLst/>
              <a:cxnLst/>
              <a:rect r="r" b="b" t="t" l="l"/>
              <a:pathLst>
                <a:path h="14531594" w="14531594">
                  <a:moveTo>
                    <a:pt x="0" y="0"/>
                  </a:moveTo>
                  <a:lnTo>
                    <a:pt x="14531594" y="0"/>
                  </a:lnTo>
                  <a:lnTo>
                    <a:pt x="14531594" y="14531594"/>
                  </a:lnTo>
                  <a:lnTo>
                    <a:pt x="0" y="14531594"/>
                  </a:lnTo>
                  <a:lnTo>
                    <a:pt x="0" y="0"/>
                  </a:lnTo>
                  <a:close/>
                </a:path>
              </a:pathLst>
            </a:custGeom>
            <a:blipFill>
              <a:blip r:embed="rId5">
                <a:alphaModFix amt="57999"/>
              </a:blip>
              <a:stretch>
                <a:fillRect l="0" t="0" r="0" b="0"/>
              </a:stretch>
            </a:blipFill>
          </p:spPr>
        </p:sp>
      </p:grpSp>
      <p:sp>
        <p:nvSpPr>
          <p:cNvPr name="Freeform 9" id="9"/>
          <p:cNvSpPr/>
          <p:nvPr/>
        </p:nvSpPr>
        <p:spPr>
          <a:xfrm flipH="false" flipV="false" rot="0">
            <a:off x="10584265" y="-43763"/>
            <a:ext cx="14549803" cy="14549803"/>
          </a:xfrm>
          <a:custGeom>
            <a:avLst/>
            <a:gdLst/>
            <a:ahLst/>
            <a:cxnLst/>
            <a:rect r="r" b="b" t="t" l="l"/>
            <a:pathLst>
              <a:path h="14549803" w="14549803">
                <a:moveTo>
                  <a:pt x="0" y="0"/>
                </a:moveTo>
                <a:lnTo>
                  <a:pt x="14549804" y="0"/>
                </a:lnTo>
                <a:lnTo>
                  <a:pt x="14549804" y="14549803"/>
                </a:lnTo>
                <a:lnTo>
                  <a:pt x="0" y="14549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11856196" y="1228173"/>
            <a:ext cx="12173702" cy="12173702"/>
            <a:chOff x="0" y="0"/>
            <a:chExt cx="16231603" cy="16231603"/>
          </a:xfrm>
        </p:grpSpPr>
        <p:sp>
          <p:nvSpPr>
            <p:cNvPr name="Freeform 11" id="11"/>
            <p:cNvSpPr/>
            <p:nvPr/>
          </p:nvSpPr>
          <p:spPr>
            <a:xfrm flipH="false" flipV="false" rot="0">
              <a:off x="76867" y="76867"/>
              <a:ext cx="16077882" cy="16077882"/>
            </a:xfrm>
            <a:custGeom>
              <a:avLst/>
              <a:gdLst/>
              <a:ahLst/>
              <a:cxnLst/>
              <a:rect r="r" b="b" t="t" l="l"/>
              <a:pathLst>
                <a:path h="16077882" w="16077882">
                  <a:moveTo>
                    <a:pt x="8595709" y="230600"/>
                  </a:moveTo>
                  <a:lnTo>
                    <a:pt x="15847282" y="7482173"/>
                  </a:lnTo>
                  <a:cubicBezTo>
                    <a:pt x="16154748" y="7789640"/>
                    <a:pt x="16154748" y="8288243"/>
                    <a:pt x="15847282" y="8595709"/>
                  </a:cubicBezTo>
                  <a:lnTo>
                    <a:pt x="8595709" y="15847282"/>
                  </a:lnTo>
                  <a:cubicBezTo>
                    <a:pt x="8288242" y="16154748"/>
                    <a:pt x="7789640" y="16154748"/>
                    <a:pt x="7482173" y="15847282"/>
                  </a:cubicBezTo>
                  <a:lnTo>
                    <a:pt x="230600" y="8595709"/>
                  </a:lnTo>
                  <a:cubicBezTo>
                    <a:pt x="-76867" y="8288242"/>
                    <a:pt x="-76867" y="7789640"/>
                    <a:pt x="230600" y="7482173"/>
                  </a:cubicBezTo>
                  <a:lnTo>
                    <a:pt x="7482173" y="230600"/>
                  </a:lnTo>
                  <a:cubicBezTo>
                    <a:pt x="7789640" y="-76867"/>
                    <a:pt x="8288242" y="-76867"/>
                    <a:pt x="8595709" y="230600"/>
                  </a:cubicBezTo>
                  <a:close/>
                </a:path>
              </a:pathLst>
            </a:custGeom>
            <a:blipFill>
              <a:blip r:embed="rId8"/>
              <a:stretch>
                <a:fillRect l="-25701" t="-478" r="-25701" b="-478"/>
              </a:stretch>
            </a:blipFill>
          </p:spPr>
        </p:sp>
      </p:grpSp>
      <p:sp>
        <p:nvSpPr>
          <p:cNvPr name="Freeform 12" id="12"/>
          <p:cNvSpPr/>
          <p:nvPr/>
        </p:nvSpPr>
        <p:spPr>
          <a:xfrm flipH="false" flipV="false" rot="0">
            <a:off x="13983173" y="-2588663"/>
            <a:ext cx="8906950" cy="8906950"/>
          </a:xfrm>
          <a:custGeom>
            <a:avLst/>
            <a:gdLst/>
            <a:ahLst/>
            <a:cxnLst/>
            <a:rect r="r" b="b" t="t" l="l"/>
            <a:pathLst>
              <a:path h="8906950" w="8906950">
                <a:moveTo>
                  <a:pt x="0" y="0"/>
                </a:moveTo>
                <a:lnTo>
                  <a:pt x="8906950" y="0"/>
                </a:lnTo>
                <a:lnTo>
                  <a:pt x="8906950" y="8906950"/>
                </a:lnTo>
                <a:lnTo>
                  <a:pt x="0" y="89069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2700000">
            <a:off x="16314706" y="943013"/>
            <a:ext cx="5636924" cy="605971"/>
            <a:chOff x="0" y="0"/>
            <a:chExt cx="7515898" cy="807961"/>
          </a:xfrm>
        </p:grpSpPr>
        <p:sp>
          <p:nvSpPr>
            <p:cNvPr name="Freeform 14" id="14"/>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2"/>
              <a:stretch>
                <a:fillRect l="-254" t="0" r="-255" b="1"/>
              </a:stretch>
            </a:blipFill>
          </p:spPr>
        </p:sp>
      </p:grpSp>
      <p:sp>
        <p:nvSpPr>
          <p:cNvPr name="Freeform 15" id="15"/>
          <p:cNvSpPr/>
          <p:nvPr/>
        </p:nvSpPr>
        <p:spPr>
          <a:xfrm flipH="false" flipV="false" rot="0">
            <a:off x="17611976" y="-2118565"/>
            <a:ext cx="5278148" cy="5278148"/>
          </a:xfrm>
          <a:custGeom>
            <a:avLst/>
            <a:gdLst/>
            <a:ahLst/>
            <a:cxnLst/>
            <a:rect r="r" b="b" t="t" l="l"/>
            <a:pathLst>
              <a:path h="5278148" w="5278148">
                <a:moveTo>
                  <a:pt x="0" y="0"/>
                </a:moveTo>
                <a:lnTo>
                  <a:pt x="5278148" y="0"/>
                </a:lnTo>
                <a:lnTo>
                  <a:pt x="5278148" y="5278149"/>
                </a:lnTo>
                <a:lnTo>
                  <a:pt x="0" y="527814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6" id="16"/>
          <p:cNvGrpSpPr/>
          <p:nvPr/>
        </p:nvGrpSpPr>
        <p:grpSpPr>
          <a:xfrm rot="-2700000">
            <a:off x="-13433927" y="-2256634"/>
            <a:ext cx="11641931" cy="11641931"/>
            <a:chOff x="0" y="0"/>
            <a:chExt cx="15522575" cy="15522575"/>
          </a:xfrm>
        </p:grpSpPr>
        <p:sp>
          <p:nvSpPr>
            <p:cNvPr name="Freeform 17" id="17"/>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5">
                <a:alphaModFix amt="6999"/>
              </a:blip>
              <a:stretch>
                <a:fillRect l="0" t="0" r="0" b="0"/>
              </a:stretch>
            </a:blipFill>
          </p:spPr>
        </p:sp>
      </p:grpSp>
      <p:sp>
        <p:nvSpPr>
          <p:cNvPr name="Freeform 18" id="18"/>
          <p:cNvSpPr/>
          <p:nvPr/>
        </p:nvSpPr>
        <p:spPr>
          <a:xfrm flipH="false" flipV="false" rot="0">
            <a:off x="-6414652" y="-5934787"/>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9" id="19"/>
          <p:cNvSpPr/>
          <p:nvPr/>
        </p:nvSpPr>
        <p:spPr>
          <a:xfrm flipH="false" flipV="false" rot="0">
            <a:off x="-14722853" y="-3745581"/>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0" id="20"/>
          <p:cNvGrpSpPr/>
          <p:nvPr/>
        </p:nvGrpSpPr>
        <p:grpSpPr>
          <a:xfrm rot="0">
            <a:off x="1028700" y="3009710"/>
            <a:ext cx="2938986" cy="1259567"/>
            <a:chOff x="0" y="0"/>
            <a:chExt cx="3918648" cy="1679423"/>
          </a:xfrm>
        </p:grpSpPr>
        <p:sp>
          <p:nvSpPr>
            <p:cNvPr name="Freeform 21" id="21"/>
            <p:cNvSpPr/>
            <p:nvPr/>
          </p:nvSpPr>
          <p:spPr>
            <a:xfrm flipH="false" flipV="false" rot="0">
              <a:off x="0" y="0"/>
              <a:ext cx="3918712" cy="1679448"/>
            </a:xfrm>
            <a:custGeom>
              <a:avLst/>
              <a:gdLst/>
              <a:ahLst/>
              <a:cxnLst/>
              <a:rect r="r" b="b" t="t" l="l"/>
              <a:pathLst>
                <a:path h="1679448" w="3918712">
                  <a:moveTo>
                    <a:pt x="0" y="0"/>
                  </a:moveTo>
                  <a:lnTo>
                    <a:pt x="3918712" y="0"/>
                  </a:lnTo>
                  <a:lnTo>
                    <a:pt x="3918712" y="1679448"/>
                  </a:lnTo>
                  <a:lnTo>
                    <a:pt x="0" y="1679448"/>
                  </a:lnTo>
                  <a:lnTo>
                    <a:pt x="0" y="0"/>
                  </a:lnTo>
                  <a:close/>
                </a:path>
              </a:pathLst>
            </a:custGeom>
            <a:blipFill>
              <a:blip r:embed="rId15"/>
              <a:stretch>
                <a:fillRect l="0" t="0" r="1" b="1"/>
              </a:stretch>
            </a:blipFill>
          </p:spPr>
        </p:sp>
      </p:grpSp>
      <p:grpSp>
        <p:nvGrpSpPr>
          <p:cNvPr name="Group 22" id="22"/>
          <p:cNvGrpSpPr/>
          <p:nvPr/>
        </p:nvGrpSpPr>
        <p:grpSpPr>
          <a:xfrm rot="0">
            <a:off x="4947847" y="3009710"/>
            <a:ext cx="2938986" cy="1259567"/>
            <a:chOff x="0" y="0"/>
            <a:chExt cx="3918648" cy="1679423"/>
          </a:xfrm>
        </p:grpSpPr>
        <p:sp>
          <p:nvSpPr>
            <p:cNvPr name="Freeform 23" id="23"/>
            <p:cNvSpPr/>
            <p:nvPr/>
          </p:nvSpPr>
          <p:spPr>
            <a:xfrm flipH="false" flipV="false" rot="0">
              <a:off x="0" y="0"/>
              <a:ext cx="3918712" cy="1679448"/>
            </a:xfrm>
            <a:custGeom>
              <a:avLst/>
              <a:gdLst/>
              <a:ahLst/>
              <a:cxnLst/>
              <a:rect r="r" b="b" t="t" l="l"/>
              <a:pathLst>
                <a:path h="1679448" w="3918712">
                  <a:moveTo>
                    <a:pt x="0" y="0"/>
                  </a:moveTo>
                  <a:lnTo>
                    <a:pt x="3918712" y="0"/>
                  </a:lnTo>
                  <a:lnTo>
                    <a:pt x="3918712" y="1679448"/>
                  </a:lnTo>
                  <a:lnTo>
                    <a:pt x="0" y="1679448"/>
                  </a:lnTo>
                  <a:lnTo>
                    <a:pt x="0" y="0"/>
                  </a:lnTo>
                  <a:close/>
                </a:path>
              </a:pathLst>
            </a:custGeom>
            <a:blipFill>
              <a:blip r:embed="rId16"/>
              <a:stretch>
                <a:fillRect l="0" t="0" r="1" b="1"/>
              </a:stretch>
            </a:blipFill>
          </p:spPr>
        </p:sp>
      </p:grpSp>
      <p:grpSp>
        <p:nvGrpSpPr>
          <p:cNvPr name="Group 24" id="24"/>
          <p:cNvGrpSpPr/>
          <p:nvPr/>
        </p:nvGrpSpPr>
        <p:grpSpPr>
          <a:xfrm rot="0">
            <a:off x="8863898" y="3288592"/>
            <a:ext cx="4773768" cy="701783"/>
            <a:chOff x="0" y="0"/>
            <a:chExt cx="6365024" cy="935711"/>
          </a:xfrm>
        </p:grpSpPr>
        <p:sp>
          <p:nvSpPr>
            <p:cNvPr name="Freeform 25" id="25"/>
            <p:cNvSpPr/>
            <p:nvPr/>
          </p:nvSpPr>
          <p:spPr>
            <a:xfrm flipH="false" flipV="false" rot="0">
              <a:off x="0" y="0"/>
              <a:ext cx="6364986" cy="935736"/>
            </a:xfrm>
            <a:custGeom>
              <a:avLst/>
              <a:gdLst/>
              <a:ahLst/>
              <a:cxnLst/>
              <a:rect r="r" b="b" t="t" l="l"/>
              <a:pathLst>
                <a:path h="935736" w="6364986">
                  <a:moveTo>
                    <a:pt x="0" y="0"/>
                  </a:moveTo>
                  <a:lnTo>
                    <a:pt x="6364986" y="0"/>
                  </a:lnTo>
                  <a:lnTo>
                    <a:pt x="6364986" y="935736"/>
                  </a:lnTo>
                  <a:lnTo>
                    <a:pt x="0" y="935736"/>
                  </a:lnTo>
                  <a:lnTo>
                    <a:pt x="0" y="0"/>
                  </a:lnTo>
                  <a:close/>
                </a:path>
              </a:pathLst>
            </a:custGeom>
            <a:blipFill>
              <a:blip r:embed="rId17"/>
              <a:stretch>
                <a:fillRect l="0" t="0" r="0" b="2"/>
              </a:stretch>
            </a:blipFill>
          </p:spPr>
        </p:sp>
      </p:grpSp>
      <p:grpSp>
        <p:nvGrpSpPr>
          <p:cNvPr name="Group 26" id="26"/>
          <p:cNvGrpSpPr/>
          <p:nvPr/>
        </p:nvGrpSpPr>
        <p:grpSpPr>
          <a:xfrm rot="0">
            <a:off x="9146648" y="5122212"/>
            <a:ext cx="2530183" cy="1084364"/>
            <a:chOff x="0" y="0"/>
            <a:chExt cx="3373577" cy="1445819"/>
          </a:xfrm>
        </p:grpSpPr>
        <p:sp>
          <p:nvSpPr>
            <p:cNvPr name="Freeform 27" id="27"/>
            <p:cNvSpPr/>
            <p:nvPr/>
          </p:nvSpPr>
          <p:spPr>
            <a:xfrm flipH="false" flipV="false" rot="0">
              <a:off x="0" y="0"/>
              <a:ext cx="3373628" cy="1445768"/>
            </a:xfrm>
            <a:custGeom>
              <a:avLst/>
              <a:gdLst/>
              <a:ahLst/>
              <a:cxnLst/>
              <a:rect r="r" b="b" t="t" l="l"/>
              <a:pathLst>
                <a:path h="1445768" w="3373628">
                  <a:moveTo>
                    <a:pt x="0" y="0"/>
                  </a:moveTo>
                  <a:lnTo>
                    <a:pt x="3373628" y="0"/>
                  </a:lnTo>
                  <a:lnTo>
                    <a:pt x="3373628" y="1445768"/>
                  </a:lnTo>
                  <a:lnTo>
                    <a:pt x="0" y="1445768"/>
                  </a:lnTo>
                  <a:lnTo>
                    <a:pt x="0" y="0"/>
                  </a:lnTo>
                  <a:close/>
                </a:path>
              </a:pathLst>
            </a:custGeom>
            <a:blipFill>
              <a:blip r:embed="rId18"/>
              <a:stretch>
                <a:fillRect l="0" t="0" r="1" b="-3"/>
              </a:stretch>
            </a:blipFill>
          </p:spPr>
        </p:sp>
      </p:grpSp>
      <p:grpSp>
        <p:nvGrpSpPr>
          <p:cNvPr name="Group 28" id="28"/>
          <p:cNvGrpSpPr/>
          <p:nvPr/>
        </p:nvGrpSpPr>
        <p:grpSpPr>
          <a:xfrm rot="0">
            <a:off x="1028700" y="6968433"/>
            <a:ext cx="3688242" cy="1580674"/>
            <a:chOff x="0" y="0"/>
            <a:chExt cx="4917656" cy="2107565"/>
          </a:xfrm>
        </p:grpSpPr>
        <p:sp>
          <p:nvSpPr>
            <p:cNvPr name="Freeform 29" id="29"/>
            <p:cNvSpPr/>
            <p:nvPr/>
          </p:nvSpPr>
          <p:spPr>
            <a:xfrm flipH="false" flipV="false" rot="0">
              <a:off x="0" y="0"/>
              <a:ext cx="4917694" cy="2107565"/>
            </a:xfrm>
            <a:custGeom>
              <a:avLst/>
              <a:gdLst/>
              <a:ahLst/>
              <a:cxnLst/>
              <a:rect r="r" b="b" t="t" l="l"/>
              <a:pathLst>
                <a:path h="2107565" w="4917694">
                  <a:moveTo>
                    <a:pt x="0" y="0"/>
                  </a:moveTo>
                  <a:lnTo>
                    <a:pt x="4917694" y="0"/>
                  </a:lnTo>
                  <a:lnTo>
                    <a:pt x="4917694" y="2107565"/>
                  </a:lnTo>
                  <a:lnTo>
                    <a:pt x="0" y="2107565"/>
                  </a:lnTo>
                  <a:lnTo>
                    <a:pt x="0" y="0"/>
                  </a:lnTo>
                  <a:close/>
                </a:path>
              </a:pathLst>
            </a:custGeom>
            <a:blipFill>
              <a:blip r:embed="rId19"/>
              <a:stretch>
                <a:fillRect l="0" t="0" r="0" b="0"/>
              </a:stretch>
            </a:blipFill>
          </p:spPr>
        </p:sp>
      </p:grpSp>
      <p:grpSp>
        <p:nvGrpSpPr>
          <p:cNvPr name="Group 30" id="30"/>
          <p:cNvGrpSpPr/>
          <p:nvPr/>
        </p:nvGrpSpPr>
        <p:grpSpPr>
          <a:xfrm rot="0">
            <a:off x="4947847" y="4810906"/>
            <a:ext cx="3051810" cy="1307916"/>
            <a:chOff x="0" y="0"/>
            <a:chExt cx="4069080" cy="1743888"/>
          </a:xfrm>
        </p:grpSpPr>
        <p:sp>
          <p:nvSpPr>
            <p:cNvPr name="Freeform 31" id="31"/>
            <p:cNvSpPr/>
            <p:nvPr/>
          </p:nvSpPr>
          <p:spPr>
            <a:xfrm flipH="false" flipV="false" rot="0">
              <a:off x="0" y="0"/>
              <a:ext cx="4069080" cy="1743837"/>
            </a:xfrm>
            <a:custGeom>
              <a:avLst/>
              <a:gdLst/>
              <a:ahLst/>
              <a:cxnLst/>
              <a:rect r="r" b="b" t="t" l="l"/>
              <a:pathLst>
                <a:path h="1743837" w="4069080">
                  <a:moveTo>
                    <a:pt x="0" y="0"/>
                  </a:moveTo>
                  <a:lnTo>
                    <a:pt x="4069080" y="0"/>
                  </a:lnTo>
                  <a:lnTo>
                    <a:pt x="4069080" y="1743837"/>
                  </a:lnTo>
                  <a:lnTo>
                    <a:pt x="0" y="1743837"/>
                  </a:lnTo>
                  <a:lnTo>
                    <a:pt x="0" y="0"/>
                  </a:lnTo>
                  <a:close/>
                </a:path>
              </a:pathLst>
            </a:custGeom>
            <a:blipFill>
              <a:blip r:embed="rId20"/>
              <a:stretch>
                <a:fillRect l="0" t="0" r="0" b="-2"/>
              </a:stretch>
            </a:blipFill>
          </p:spPr>
        </p:sp>
      </p:grpSp>
      <p:grpSp>
        <p:nvGrpSpPr>
          <p:cNvPr name="Group 32" id="32"/>
          <p:cNvGrpSpPr/>
          <p:nvPr/>
        </p:nvGrpSpPr>
        <p:grpSpPr>
          <a:xfrm rot="0">
            <a:off x="1028700" y="5122212"/>
            <a:ext cx="3688242" cy="868270"/>
            <a:chOff x="0" y="0"/>
            <a:chExt cx="4917656" cy="1157694"/>
          </a:xfrm>
        </p:grpSpPr>
        <p:sp>
          <p:nvSpPr>
            <p:cNvPr name="Freeform 33" id="33"/>
            <p:cNvSpPr/>
            <p:nvPr/>
          </p:nvSpPr>
          <p:spPr>
            <a:xfrm flipH="false" flipV="false" rot="0">
              <a:off x="0" y="0"/>
              <a:ext cx="4917694" cy="1157732"/>
            </a:xfrm>
            <a:custGeom>
              <a:avLst/>
              <a:gdLst/>
              <a:ahLst/>
              <a:cxnLst/>
              <a:rect r="r" b="b" t="t" l="l"/>
              <a:pathLst>
                <a:path h="1157732" w="4917694">
                  <a:moveTo>
                    <a:pt x="0" y="0"/>
                  </a:moveTo>
                  <a:lnTo>
                    <a:pt x="4917694" y="0"/>
                  </a:lnTo>
                  <a:lnTo>
                    <a:pt x="4917694" y="1157732"/>
                  </a:lnTo>
                  <a:lnTo>
                    <a:pt x="0" y="1157732"/>
                  </a:lnTo>
                  <a:lnTo>
                    <a:pt x="0" y="0"/>
                  </a:lnTo>
                  <a:close/>
                </a:path>
              </a:pathLst>
            </a:custGeom>
            <a:blipFill>
              <a:blip r:embed="rId21"/>
              <a:stretch>
                <a:fillRect l="0" t="-137" r="0" b="-133"/>
              </a:stretch>
            </a:blipFill>
          </p:spPr>
        </p:sp>
      </p:grpSp>
      <p:grpSp>
        <p:nvGrpSpPr>
          <p:cNvPr name="Group 34" id="34"/>
          <p:cNvGrpSpPr/>
          <p:nvPr/>
        </p:nvGrpSpPr>
        <p:grpSpPr>
          <a:xfrm rot="0">
            <a:off x="5688930" y="6977424"/>
            <a:ext cx="3457718" cy="1571692"/>
            <a:chOff x="0" y="0"/>
            <a:chExt cx="4610290" cy="2095589"/>
          </a:xfrm>
        </p:grpSpPr>
        <p:sp>
          <p:nvSpPr>
            <p:cNvPr name="Freeform 35" id="35"/>
            <p:cNvSpPr/>
            <p:nvPr/>
          </p:nvSpPr>
          <p:spPr>
            <a:xfrm flipH="false" flipV="false" rot="0">
              <a:off x="0" y="0"/>
              <a:ext cx="4610227" cy="2095627"/>
            </a:xfrm>
            <a:custGeom>
              <a:avLst/>
              <a:gdLst/>
              <a:ahLst/>
              <a:cxnLst/>
              <a:rect r="r" b="b" t="t" l="l"/>
              <a:pathLst>
                <a:path h="2095627" w="4610227">
                  <a:moveTo>
                    <a:pt x="0" y="0"/>
                  </a:moveTo>
                  <a:lnTo>
                    <a:pt x="4610227" y="0"/>
                  </a:lnTo>
                  <a:lnTo>
                    <a:pt x="4610227" y="2095627"/>
                  </a:lnTo>
                  <a:lnTo>
                    <a:pt x="0" y="2095627"/>
                  </a:lnTo>
                  <a:lnTo>
                    <a:pt x="0" y="0"/>
                  </a:lnTo>
                  <a:close/>
                </a:path>
              </a:pathLst>
            </a:custGeom>
            <a:blipFill>
              <a:blip r:embed="rId22"/>
              <a:stretch>
                <a:fillRect l="0" t="0" r="-1" b="1"/>
              </a:stretch>
            </a:blipFill>
          </p:spPr>
        </p:sp>
      </p:grpSp>
      <p:sp>
        <p:nvSpPr>
          <p:cNvPr name="TextBox 36" id="36"/>
          <p:cNvSpPr txBox="true"/>
          <p:nvPr/>
        </p:nvSpPr>
        <p:spPr>
          <a:xfrm rot="0">
            <a:off x="1028700" y="1085850"/>
            <a:ext cx="3442395" cy="574650"/>
          </a:xfrm>
          <a:prstGeom prst="rect">
            <a:avLst/>
          </a:prstGeom>
        </p:spPr>
        <p:txBody>
          <a:bodyPr anchor="t" rtlCol="false" tIns="0" lIns="0" bIns="0" rIns="0">
            <a:spAutoFit/>
          </a:bodyPr>
          <a:lstStyle/>
          <a:p>
            <a:pPr algn="l">
              <a:lnSpc>
                <a:spcPts val="4399"/>
              </a:lnSpc>
            </a:pPr>
            <a:r>
              <a:rPr lang="en-US" sz="3999" b="true">
                <a:solidFill>
                  <a:srgbClr val="16599D"/>
                </a:solidFill>
                <a:latin typeface="Arimo Bold"/>
                <a:ea typeface="Arimo Bold"/>
                <a:cs typeface="Arimo Bold"/>
                <a:sym typeface="Arimo Bold"/>
              </a:rPr>
              <a:t>OUR CLIENTS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4039436" y="-3335476"/>
            <a:ext cx="12230290" cy="12230290"/>
          </a:xfrm>
          <a:custGeom>
            <a:avLst/>
            <a:gdLst/>
            <a:ahLst/>
            <a:cxnLst/>
            <a:rect r="r" b="b" t="t" l="l"/>
            <a:pathLst>
              <a:path h="12230290" w="12230290">
                <a:moveTo>
                  <a:pt x="0" y="0"/>
                </a:moveTo>
                <a:lnTo>
                  <a:pt x="12230291" y="0"/>
                </a:lnTo>
                <a:lnTo>
                  <a:pt x="12230291" y="12230290"/>
                </a:lnTo>
                <a:lnTo>
                  <a:pt x="0" y="122302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0827" y="-539153"/>
            <a:ext cx="6397238" cy="10159403"/>
          </a:xfrm>
          <a:custGeom>
            <a:avLst/>
            <a:gdLst/>
            <a:ahLst/>
            <a:cxnLst/>
            <a:rect r="r" b="b" t="t" l="l"/>
            <a:pathLst>
              <a:path h="10159403" w="6397238">
                <a:moveTo>
                  <a:pt x="0" y="0"/>
                </a:moveTo>
                <a:lnTo>
                  <a:pt x="6397238" y="0"/>
                </a:lnTo>
                <a:lnTo>
                  <a:pt x="6397238" y="10159403"/>
                </a:lnTo>
                <a:lnTo>
                  <a:pt x="0" y="10159403"/>
                </a:lnTo>
                <a:lnTo>
                  <a:pt x="0" y="0"/>
                </a:lnTo>
                <a:close/>
              </a:path>
            </a:pathLst>
          </a:custGeom>
          <a:blipFill>
            <a:blip r:embed="rId4"/>
            <a:stretch>
              <a:fillRect l="-69178" t="0" r="-69178" b="-78"/>
            </a:stretch>
          </a:blipFill>
        </p:spPr>
      </p:sp>
      <p:grpSp>
        <p:nvGrpSpPr>
          <p:cNvPr name="Group 4" id="4"/>
          <p:cNvGrpSpPr/>
          <p:nvPr/>
        </p:nvGrpSpPr>
        <p:grpSpPr>
          <a:xfrm rot="0">
            <a:off x="16956745" y="-499567"/>
            <a:ext cx="1836820" cy="1843735"/>
            <a:chOff x="0" y="0"/>
            <a:chExt cx="2449093" cy="2458314"/>
          </a:xfrm>
        </p:grpSpPr>
        <p:grpSp>
          <p:nvGrpSpPr>
            <p:cNvPr name="Group 5" id="5"/>
            <p:cNvGrpSpPr/>
            <p:nvPr/>
          </p:nvGrpSpPr>
          <p:grpSpPr>
            <a:xfrm rot="-10800000">
              <a:off x="0" y="0"/>
              <a:ext cx="2449093" cy="2458314"/>
              <a:chOff x="0" y="0"/>
              <a:chExt cx="2449093" cy="2458314"/>
            </a:xfrm>
          </p:grpSpPr>
          <p:sp>
            <p:nvSpPr>
              <p:cNvPr name="Freeform 6" id="6"/>
              <p:cNvSpPr/>
              <p:nvPr/>
            </p:nvSpPr>
            <p:spPr>
              <a:xfrm flipH="false" flipV="false" rot="0">
                <a:off x="0" y="0"/>
                <a:ext cx="2449068" cy="2458339"/>
              </a:xfrm>
              <a:custGeom>
                <a:avLst/>
                <a:gdLst/>
                <a:ahLst/>
                <a:cxnLst/>
                <a:rect r="r" b="b" t="t" l="l"/>
                <a:pathLst>
                  <a:path h="2458339" w="2449068">
                    <a:moveTo>
                      <a:pt x="0" y="0"/>
                    </a:moveTo>
                    <a:lnTo>
                      <a:pt x="2449068" y="0"/>
                    </a:lnTo>
                    <a:lnTo>
                      <a:pt x="2449068" y="2458339"/>
                    </a:lnTo>
                    <a:lnTo>
                      <a:pt x="0" y="2458339"/>
                    </a:lnTo>
                    <a:lnTo>
                      <a:pt x="0" y="0"/>
                    </a:lnTo>
                    <a:close/>
                  </a:path>
                </a:pathLst>
              </a:custGeom>
              <a:blipFill>
                <a:blip r:embed="rId5">
                  <a:alphaModFix amt="40000"/>
                </a:blip>
                <a:stretch>
                  <a:fillRect l="-18" t="0" r="-19" b="1"/>
                </a:stretch>
              </a:blipFill>
            </p:spPr>
          </p:sp>
        </p:grpSp>
        <p:sp>
          <p:nvSpPr>
            <p:cNvPr name="Freeform 7" id="7"/>
            <p:cNvSpPr/>
            <p:nvPr/>
          </p:nvSpPr>
          <p:spPr>
            <a:xfrm flipH="false" flipV="false" rot="0">
              <a:off x="157655" y="162265"/>
              <a:ext cx="2133782" cy="2133782"/>
            </a:xfrm>
            <a:custGeom>
              <a:avLst/>
              <a:gdLst/>
              <a:ahLst/>
              <a:cxnLst/>
              <a:rect r="r" b="b" t="t" l="l"/>
              <a:pathLst>
                <a:path h="2133782" w="2133782">
                  <a:moveTo>
                    <a:pt x="0" y="0"/>
                  </a:moveTo>
                  <a:lnTo>
                    <a:pt x="2133782" y="0"/>
                  </a:lnTo>
                  <a:lnTo>
                    <a:pt x="2133782" y="2133782"/>
                  </a:lnTo>
                  <a:lnTo>
                    <a:pt x="0" y="2133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52528" y="257137"/>
              <a:ext cx="1944038" cy="1944038"/>
            </a:xfrm>
            <a:custGeom>
              <a:avLst/>
              <a:gdLst/>
              <a:ahLst/>
              <a:cxnLst/>
              <a:rect r="r" b="b" t="t" l="l"/>
              <a:pathLst>
                <a:path h="1944038" w="1944038">
                  <a:moveTo>
                    <a:pt x="0" y="0"/>
                  </a:moveTo>
                  <a:lnTo>
                    <a:pt x="1944038" y="0"/>
                  </a:lnTo>
                  <a:lnTo>
                    <a:pt x="1944038" y="1944038"/>
                  </a:lnTo>
                  <a:lnTo>
                    <a:pt x="0" y="19440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74943" y="379553"/>
              <a:ext cx="1699207" cy="1699207"/>
            </a:xfrm>
            <a:custGeom>
              <a:avLst/>
              <a:gdLst/>
              <a:ahLst/>
              <a:cxnLst/>
              <a:rect r="r" b="b" t="t" l="l"/>
              <a:pathLst>
                <a:path h="1699207" w="1699207">
                  <a:moveTo>
                    <a:pt x="0" y="0"/>
                  </a:moveTo>
                  <a:lnTo>
                    <a:pt x="1699207" y="0"/>
                  </a:lnTo>
                  <a:lnTo>
                    <a:pt x="1699207" y="1699207"/>
                  </a:lnTo>
                  <a:lnTo>
                    <a:pt x="0" y="16992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838733" y="698348"/>
              <a:ext cx="949439" cy="1036218"/>
            </a:xfrm>
            <a:custGeom>
              <a:avLst/>
              <a:gdLst/>
              <a:ahLst/>
              <a:cxnLst/>
              <a:rect r="r" b="b" t="t" l="l"/>
              <a:pathLst>
                <a:path h="1036218" w="949439">
                  <a:moveTo>
                    <a:pt x="0" y="0"/>
                  </a:moveTo>
                  <a:lnTo>
                    <a:pt x="949440" y="0"/>
                  </a:lnTo>
                  <a:lnTo>
                    <a:pt x="949440" y="1036218"/>
                  </a:lnTo>
                  <a:lnTo>
                    <a:pt x="0" y="1036218"/>
                  </a:lnTo>
                  <a:lnTo>
                    <a:pt x="0" y="0"/>
                  </a:lnTo>
                  <a:close/>
                </a:path>
              </a:pathLst>
            </a:custGeom>
            <a:blipFill>
              <a:blip r:embed="rId12">
                <a:extLst>
                  <a:ext uri="{96DAC541-7B7A-43D3-8B79-37D633B846F1}">
                    <asvg:svgBlip xmlns:asvg="http://schemas.microsoft.com/office/drawing/2016/SVG/main" r:embed="rId13"/>
                  </a:ext>
                </a:extLst>
              </a:blip>
              <a:stretch>
                <a:fillRect l="0" t="-88" r="0" b="-88"/>
              </a:stretch>
            </a:blipFill>
          </p:spPr>
        </p:sp>
      </p:grpSp>
      <p:graphicFrame>
        <p:nvGraphicFramePr>
          <p:cNvPr name="Table 11" id="11"/>
          <p:cNvGraphicFramePr>
            <a:graphicFrameLocks noGrp="true"/>
          </p:cNvGraphicFramePr>
          <p:nvPr/>
        </p:nvGraphicFramePr>
        <p:xfrm>
          <a:off x="649281" y="1028700"/>
          <a:ext cx="11991941" cy="8410575"/>
        </p:xfrm>
        <a:graphic>
          <a:graphicData uri="http://schemas.openxmlformats.org/drawingml/2006/table">
            <a:tbl>
              <a:tblPr/>
              <a:tblGrid>
                <a:gridCol w="3496845"/>
                <a:gridCol w="8495096"/>
              </a:tblGrid>
              <a:tr h="820079">
                <a:tc>
                  <a:txBody>
                    <a:bodyPr anchor="t" rtlCol="false"/>
                    <a:lstStyle/>
                    <a:p>
                      <a:pPr algn="ctr">
                        <a:lnSpc>
                          <a:spcPts val="2940"/>
                        </a:lnSpc>
                        <a:defRPr/>
                      </a:pPr>
                      <a:r>
                        <a:rPr lang="en-US" sz="2100" b="true">
                          <a:solidFill>
                            <a:srgbClr val="000000"/>
                          </a:solidFill>
                          <a:latin typeface="Arimo Bold"/>
                          <a:ea typeface="Arimo Bold"/>
                          <a:cs typeface="Arimo Bold"/>
                          <a:sym typeface="Arimo Bold"/>
                        </a:rPr>
                        <a:t>Term</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Arimo Bold"/>
                          <a:ea typeface="Arimo Bold"/>
                          <a:cs typeface="Arimo Bold"/>
                          <a:sym typeface="Arimo Bold"/>
                        </a:rPr>
                        <a:t>Details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72652">
                <a:tc>
                  <a:txBody>
                    <a:bodyPr anchor="t" rtlCol="false"/>
                    <a:lstStyle/>
                    <a:p>
                      <a:pPr algn="ctr">
                        <a:lnSpc>
                          <a:spcPts val="2100"/>
                        </a:lnSpc>
                        <a:defRPr/>
                      </a:pPr>
                      <a:r>
                        <a:rPr lang="en-US" sz="1500">
                          <a:solidFill>
                            <a:srgbClr val="000000"/>
                          </a:solidFill>
                          <a:latin typeface="Arimo"/>
                          <a:ea typeface="Arimo"/>
                          <a:cs typeface="Arimo"/>
                          <a:sym typeface="Arimo"/>
                        </a:rPr>
                        <a:t>Principal</a:t>
                      </a:r>
                      <a:endParaRPr lang="en-US" sz="1100"/>
                    </a:p>
                    <a:p>
                      <a:pPr algn="ctr">
                        <a:lnSpc>
                          <a:spcPts val="2100"/>
                        </a:lnSpc>
                      </a:pPr>
                      <a:r>
                        <a:rPr lang="en-US" sz="1500">
                          <a:solidFill>
                            <a:srgbClr val="000000"/>
                          </a:solidFill>
                          <a:latin typeface="Arimo"/>
                          <a:ea typeface="Arimo"/>
                          <a:cs typeface="Arimo"/>
                          <a:sym typeface="Arimo"/>
                        </a:rPr>
                        <a:t>  Amount</a:t>
                      </a:r>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₹5 Crores  (approx. USD 600K) – exclusively for IT &amp; logistics product deployment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Instrument Type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Non-Convertible Debenture (NCD)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Interest Rate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10–14%  p.a. (fixed)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Tenure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3–5  years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Repayment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Bullet repayment at maturity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Security/Collateral</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Unsecured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Covenants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Maintain minimum debt-to-equity ratio; restrict diversion of funds; mandatory quarterly reporting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72652">
                <a:tc>
                  <a:txBody>
                    <a:bodyPr anchor="t" rtlCol="false"/>
                    <a:lstStyle/>
                    <a:p>
                      <a:pPr algn="ctr">
                        <a:lnSpc>
                          <a:spcPts val="2100"/>
                        </a:lnSpc>
                        <a:defRPr/>
                      </a:pPr>
                      <a:r>
                        <a:rPr lang="en-US" sz="1500">
                          <a:solidFill>
                            <a:srgbClr val="000000"/>
                          </a:solidFill>
                          <a:latin typeface="Arimo"/>
                          <a:ea typeface="Arimo"/>
                          <a:cs typeface="Arimo"/>
                          <a:sym typeface="Arimo"/>
                        </a:rPr>
                        <a:t>Exit / Prepayment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Option  for company to prepay after lock-in (with/without small penalty); investor   can call back debt upon default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Conversion Option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Not  applicable (no equity dilution)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05649">
                <a:tc>
                  <a:txBody>
                    <a:bodyPr anchor="t" rtlCol="false"/>
                    <a:lstStyle/>
                    <a:p>
                      <a:pPr algn="ctr">
                        <a:lnSpc>
                          <a:spcPts val="2100"/>
                        </a:lnSpc>
                        <a:defRPr/>
                      </a:pPr>
                      <a:r>
                        <a:rPr lang="en-US" sz="1500">
                          <a:solidFill>
                            <a:srgbClr val="000000"/>
                          </a:solidFill>
                          <a:latin typeface="Arimo"/>
                          <a:ea typeface="Arimo"/>
                          <a:cs typeface="Arimo"/>
                          <a:sym typeface="Arimo"/>
                        </a:rPr>
                        <a:t>Governing Law</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mo"/>
                          <a:ea typeface="Arimo"/>
                          <a:cs typeface="Arimo"/>
                          <a:sym typeface="Arimo"/>
                        </a:rPr>
                        <a:t>Indian  Contract Act, Arbitration for dispute resolution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12" id="12"/>
          <p:cNvSpPr txBox="true"/>
          <p:nvPr/>
        </p:nvSpPr>
        <p:spPr>
          <a:xfrm rot="0">
            <a:off x="1028700" y="374675"/>
            <a:ext cx="5614988" cy="654025"/>
          </a:xfrm>
          <a:prstGeom prst="rect">
            <a:avLst/>
          </a:prstGeom>
        </p:spPr>
        <p:txBody>
          <a:bodyPr anchor="t" rtlCol="false" tIns="0" lIns="0" bIns="0" rIns="0">
            <a:spAutoFit/>
          </a:bodyPr>
          <a:lstStyle/>
          <a:p>
            <a:pPr algn="l">
              <a:lnSpc>
                <a:spcPts val="5199"/>
              </a:lnSpc>
            </a:pPr>
            <a:r>
              <a:rPr lang="en-US" sz="3999" b="true">
                <a:solidFill>
                  <a:srgbClr val="16599D"/>
                </a:solidFill>
                <a:latin typeface="Arimo Bold"/>
                <a:ea typeface="Arimo Bold"/>
                <a:cs typeface="Arimo Bold"/>
                <a:sym typeface="Arimo Bold"/>
              </a:rPr>
              <a:t>TERMS &amp; CONDITIONS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4317044" y="-3837184"/>
            <a:ext cx="11641931" cy="11641931"/>
            <a:chOff x="0" y="0"/>
            <a:chExt cx="15522575" cy="15522575"/>
          </a:xfrm>
        </p:grpSpPr>
        <p:sp>
          <p:nvSpPr>
            <p:cNvPr name="Freeform 3" id="3"/>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4" id="4"/>
          <p:cNvSpPr/>
          <p:nvPr/>
        </p:nvSpPr>
        <p:spPr>
          <a:xfrm flipH="false" flipV="false" rot="0">
            <a:off x="-6414652" y="-5934787"/>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2700000">
            <a:off x="7001770" y="1126950"/>
            <a:ext cx="5636924" cy="605971"/>
            <a:chOff x="0" y="0"/>
            <a:chExt cx="7515898" cy="807961"/>
          </a:xfrm>
        </p:grpSpPr>
        <p:sp>
          <p:nvSpPr>
            <p:cNvPr name="Freeform 6" id="6"/>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7" id="7"/>
          <p:cNvSpPr/>
          <p:nvPr/>
        </p:nvSpPr>
        <p:spPr>
          <a:xfrm flipH="false" flipV="false" rot="0">
            <a:off x="8299037" y="-2081086"/>
            <a:ext cx="5678789" cy="5678789"/>
          </a:xfrm>
          <a:custGeom>
            <a:avLst/>
            <a:gdLst/>
            <a:ahLst/>
            <a:cxnLst/>
            <a:rect r="r" b="b" t="t" l="l"/>
            <a:pathLst>
              <a:path h="5678789" w="5678789">
                <a:moveTo>
                  <a:pt x="0" y="0"/>
                </a:moveTo>
                <a:lnTo>
                  <a:pt x="5678789" y="0"/>
                </a:lnTo>
                <a:lnTo>
                  <a:pt x="5678789" y="5678789"/>
                </a:lnTo>
                <a:lnTo>
                  <a:pt x="0" y="56787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2700000">
            <a:off x="9928260" y="810177"/>
            <a:ext cx="5636924" cy="605971"/>
            <a:chOff x="0" y="0"/>
            <a:chExt cx="7515898" cy="807961"/>
          </a:xfrm>
        </p:grpSpPr>
        <p:sp>
          <p:nvSpPr>
            <p:cNvPr name="Freeform 9" id="9"/>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grpSp>
        <p:nvGrpSpPr>
          <p:cNvPr name="Group 10" id="10"/>
          <p:cNvGrpSpPr/>
          <p:nvPr/>
        </p:nvGrpSpPr>
        <p:grpSpPr>
          <a:xfrm rot="-2700000">
            <a:off x="9790309" y="2257196"/>
            <a:ext cx="10898705" cy="10898705"/>
            <a:chOff x="0" y="0"/>
            <a:chExt cx="14531607" cy="14531607"/>
          </a:xfrm>
        </p:grpSpPr>
        <p:sp>
          <p:nvSpPr>
            <p:cNvPr name="Freeform 11" id="11"/>
            <p:cNvSpPr/>
            <p:nvPr/>
          </p:nvSpPr>
          <p:spPr>
            <a:xfrm flipH="false" flipV="false" rot="0">
              <a:off x="0" y="0"/>
              <a:ext cx="14531594" cy="14531594"/>
            </a:xfrm>
            <a:custGeom>
              <a:avLst/>
              <a:gdLst/>
              <a:ahLst/>
              <a:cxnLst/>
              <a:rect r="r" b="b" t="t" l="l"/>
              <a:pathLst>
                <a:path h="14531594" w="14531594">
                  <a:moveTo>
                    <a:pt x="0" y="0"/>
                  </a:moveTo>
                  <a:lnTo>
                    <a:pt x="14531594" y="0"/>
                  </a:lnTo>
                  <a:lnTo>
                    <a:pt x="14531594" y="14531594"/>
                  </a:lnTo>
                  <a:lnTo>
                    <a:pt x="0" y="14531594"/>
                  </a:lnTo>
                  <a:lnTo>
                    <a:pt x="0" y="0"/>
                  </a:lnTo>
                  <a:close/>
                </a:path>
              </a:pathLst>
            </a:custGeom>
            <a:blipFill>
              <a:blip r:embed="rId2">
                <a:alphaModFix amt="57999"/>
              </a:blip>
              <a:stretch>
                <a:fillRect l="0" t="0" r="0" b="0"/>
              </a:stretch>
            </a:blipFill>
          </p:spPr>
        </p:sp>
      </p:grpSp>
      <p:sp>
        <p:nvSpPr>
          <p:cNvPr name="Freeform 12" id="12"/>
          <p:cNvSpPr/>
          <p:nvPr/>
        </p:nvSpPr>
        <p:spPr>
          <a:xfrm flipH="false" flipV="false" rot="0">
            <a:off x="7826620" y="293502"/>
            <a:ext cx="14549803" cy="14549803"/>
          </a:xfrm>
          <a:custGeom>
            <a:avLst/>
            <a:gdLst/>
            <a:ahLst/>
            <a:cxnLst/>
            <a:rect r="r" b="b" t="t" l="l"/>
            <a:pathLst>
              <a:path h="14549803" w="14549803">
                <a:moveTo>
                  <a:pt x="0" y="0"/>
                </a:moveTo>
                <a:lnTo>
                  <a:pt x="14549803" y="0"/>
                </a:lnTo>
                <a:lnTo>
                  <a:pt x="14549803" y="14549803"/>
                </a:lnTo>
                <a:lnTo>
                  <a:pt x="0" y="145498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9098556" y="1565434"/>
            <a:ext cx="12173702" cy="12173702"/>
            <a:chOff x="0" y="0"/>
            <a:chExt cx="16231603" cy="16231603"/>
          </a:xfrm>
        </p:grpSpPr>
        <p:sp>
          <p:nvSpPr>
            <p:cNvPr name="Freeform 14" id="14"/>
            <p:cNvSpPr/>
            <p:nvPr/>
          </p:nvSpPr>
          <p:spPr>
            <a:xfrm flipH="false" flipV="false" rot="0">
              <a:off x="76867" y="76867"/>
              <a:ext cx="16077882" cy="16077882"/>
            </a:xfrm>
            <a:custGeom>
              <a:avLst/>
              <a:gdLst/>
              <a:ahLst/>
              <a:cxnLst/>
              <a:rect r="r" b="b" t="t" l="l"/>
              <a:pathLst>
                <a:path h="16077882" w="16077882">
                  <a:moveTo>
                    <a:pt x="8595709" y="230600"/>
                  </a:moveTo>
                  <a:lnTo>
                    <a:pt x="15847282" y="7482173"/>
                  </a:lnTo>
                  <a:cubicBezTo>
                    <a:pt x="16154748" y="7789640"/>
                    <a:pt x="16154748" y="8288243"/>
                    <a:pt x="15847282" y="8595709"/>
                  </a:cubicBezTo>
                  <a:lnTo>
                    <a:pt x="8595709" y="15847282"/>
                  </a:lnTo>
                  <a:cubicBezTo>
                    <a:pt x="8288242" y="16154748"/>
                    <a:pt x="7789640" y="16154748"/>
                    <a:pt x="7482173" y="15847282"/>
                  </a:cubicBezTo>
                  <a:lnTo>
                    <a:pt x="230600" y="8595709"/>
                  </a:lnTo>
                  <a:cubicBezTo>
                    <a:pt x="-76867" y="8288242"/>
                    <a:pt x="-76867" y="7789640"/>
                    <a:pt x="230600" y="7482173"/>
                  </a:cubicBezTo>
                  <a:lnTo>
                    <a:pt x="7482173" y="230600"/>
                  </a:lnTo>
                  <a:cubicBezTo>
                    <a:pt x="7789640" y="-76867"/>
                    <a:pt x="8288242" y="-76867"/>
                    <a:pt x="8595709" y="230600"/>
                  </a:cubicBezTo>
                  <a:close/>
                </a:path>
              </a:pathLst>
            </a:custGeom>
            <a:blipFill>
              <a:blip r:embed="rId10"/>
              <a:stretch>
                <a:fillRect l="-25622" t="-478" r="-25622" b="-478"/>
              </a:stretch>
            </a:blipFill>
          </p:spPr>
        </p:sp>
      </p:grpSp>
      <p:sp>
        <p:nvSpPr>
          <p:cNvPr name="Freeform 15" id="15"/>
          <p:cNvSpPr/>
          <p:nvPr/>
        </p:nvSpPr>
        <p:spPr>
          <a:xfrm flipH="false" flipV="false" rot="0">
            <a:off x="11225528" y="-2251397"/>
            <a:ext cx="8906950" cy="8906950"/>
          </a:xfrm>
          <a:custGeom>
            <a:avLst/>
            <a:gdLst/>
            <a:ahLst/>
            <a:cxnLst/>
            <a:rect r="r" b="b" t="t" l="l"/>
            <a:pathLst>
              <a:path h="8906950" w="8906950">
                <a:moveTo>
                  <a:pt x="0" y="0"/>
                </a:moveTo>
                <a:lnTo>
                  <a:pt x="8906950" y="0"/>
                </a:lnTo>
                <a:lnTo>
                  <a:pt x="8906950" y="8906950"/>
                </a:lnTo>
                <a:lnTo>
                  <a:pt x="0" y="89069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6" id="16"/>
          <p:cNvGrpSpPr/>
          <p:nvPr/>
        </p:nvGrpSpPr>
        <p:grpSpPr>
          <a:xfrm rot="2700000">
            <a:off x="13557056" y="1280274"/>
            <a:ext cx="5636924" cy="605971"/>
            <a:chOff x="0" y="0"/>
            <a:chExt cx="7515898" cy="807961"/>
          </a:xfrm>
        </p:grpSpPr>
        <p:sp>
          <p:nvSpPr>
            <p:cNvPr name="Freeform 17" id="17"/>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18" id="18"/>
          <p:cNvSpPr/>
          <p:nvPr/>
        </p:nvSpPr>
        <p:spPr>
          <a:xfrm flipH="false" flipV="false" rot="0">
            <a:off x="14854330" y="-1781299"/>
            <a:ext cx="5278148" cy="5278148"/>
          </a:xfrm>
          <a:custGeom>
            <a:avLst/>
            <a:gdLst/>
            <a:ahLst/>
            <a:cxnLst/>
            <a:rect r="r" b="b" t="t" l="l"/>
            <a:pathLst>
              <a:path h="5278148" w="5278148">
                <a:moveTo>
                  <a:pt x="0" y="0"/>
                </a:moveTo>
                <a:lnTo>
                  <a:pt x="5278148" y="0"/>
                </a:lnTo>
                <a:lnTo>
                  <a:pt x="5278148" y="5278148"/>
                </a:lnTo>
                <a:lnTo>
                  <a:pt x="0" y="52781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9" id="19"/>
          <p:cNvSpPr txBox="true"/>
          <p:nvPr/>
        </p:nvSpPr>
        <p:spPr>
          <a:xfrm rot="0">
            <a:off x="1028700" y="1287828"/>
            <a:ext cx="3414117" cy="574650"/>
          </a:xfrm>
          <a:prstGeom prst="rect">
            <a:avLst/>
          </a:prstGeom>
        </p:spPr>
        <p:txBody>
          <a:bodyPr anchor="t" rtlCol="false" tIns="0" lIns="0" bIns="0" rIns="0">
            <a:spAutoFit/>
          </a:bodyPr>
          <a:lstStyle/>
          <a:p>
            <a:pPr algn="l">
              <a:lnSpc>
                <a:spcPts val="4399"/>
              </a:lnSpc>
            </a:pPr>
            <a:r>
              <a:rPr lang="en-US" sz="3999" b="true">
                <a:solidFill>
                  <a:srgbClr val="16599D"/>
                </a:solidFill>
                <a:latin typeface="Arimo Bold"/>
                <a:ea typeface="Arimo Bold"/>
                <a:cs typeface="Arimo Bold"/>
                <a:sym typeface="Arimo Bold"/>
              </a:rPr>
              <a:t>CONCLUSION</a:t>
            </a:r>
          </a:p>
        </p:txBody>
      </p:sp>
      <p:sp>
        <p:nvSpPr>
          <p:cNvPr name="TextBox 20" id="20"/>
          <p:cNvSpPr txBox="true"/>
          <p:nvPr/>
        </p:nvSpPr>
        <p:spPr>
          <a:xfrm rot="0">
            <a:off x="1028700" y="1957807"/>
            <a:ext cx="7249849" cy="615925"/>
          </a:xfrm>
          <a:prstGeom prst="rect">
            <a:avLst/>
          </a:prstGeom>
        </p:spPr>
        <p:txBody>
          <a:bodyPr anchor="t" rtlCol="false" tIns="0" lIns="0" bIns="0" rIns="0">
            <a:spAutoFit/>
          </a:bodyPr>
          <a:lstStyle/>
          <a:p>
            <a:pPr algn="l">
              <a:lnSpc>
                <a:spcPts val="4898"/>
              </a:lnSpc>
            </a:pPr>
            <a:r>
              <a:rPr lang="en-US" sz="3499">
                <a:solidFill>
                  <a:srgbClr val="292A2B"/>
                </a:solidFill>
                <a:latin typeface="Arimo"/>
                <a:ea typeface="Arimo"/>
                <a:cs typeface="Arimo"/>
                <a:sym typeface="Arimo"/>
              </a:rPr>
              <a:t>AND RECOMMENDATIONS</a:t>
            </a:r>
          </a:p>
        </p:txBody>
      </p:sp>
      <p:sp>
        <p:nvSpPr>
          <p:cNvPr name="Freeform 21" id="21"/>
          <p:cNvSpPr/>
          <p:nvPr/>
        </p:nvSpPr>
        <p:spPr>
          <a:xfrm flipH="false" flipV="false" rot="0">
            <a:off x="994414" y="3083787"/>
            <a:ext cx="7963784" cy="1976469"/>
          </a:xfrm>
          <a:custGeom>
            <a:avLst/>
            <a:gdLst/>
            <a:ahLst/>
            <a:cxnLst/>
            <a:rect r="r" b="b" t="t" l="l"/>
            <a:pathLst>
              <a:path h="1976469" w="7963784">
                <a:moveTo>
                  <a:pt x="0" y="0"/>
                </a:moveTo>
                <a:lnTo>
                  <a:pt x="7963784" y="0"/>
                </a:lnTo>
                <a:lnTo>
                  <a:pt x="7963784" y="1976469"/>
                </a:lnTo>
                <a:lnTo>
                  <a:pt x="0" y="197646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2" id="22"/>
          <p:cNvSpPr/>
          <p:nvPr/>
        </p:nvSpPr>
        <p:spPr>
          <a:xfrm flipH="false" flipV="false" rot="0">
            <a:off x="6713117" y="3943329"/>
            <a:ext cx="2704875" cy="1448891"/>
          </a:xfrm>
          <a:custGeom>
            <a:avLst/>
            <a:gdLst/>
            <a:ahLst/>
            <a:cxnLst/>
            <a:rect r="r" b="b" t="t" l="l"/>
            <a:pathLst>
              <a:path h="1448891" w="2704875">
                <a:moveTo>
                  <a:pt x="0" y="0"/>
                </a:moveTo>
                <a:lnTo>
                  <a:pt x="2704875" y="0"/>
                </a:lnTo>
                <a:lnTo>
                  <a:pt x="2704875" y="1448891"/>
                </a:lnTo>
                <a:lnTo>
                  <a:pt x="0" y="144889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3" id="23"/>
          <p:cNvSpPr/>
          <p:nvPr/>
        </p:nvSpPr>
        <p:spPr>
          <a:xfrm flipH="false" flipV="false" rot="0">
            <a:off x="6616939" y="4961626"/>
            <a:ext cx="124753" cy="108094"/>
          </a:xfrm>
          <a:custGeom>
            <a:avLst/>
            <a:gdLst/>
            <a:ahLst/>
            <a:cxnLst/>
            <a:rect r="r" b="b" t="t" l="l"/>
            <a:pathLst>
              <a:path h="108094" w="124753">
                <a:moveTo>
                  <a:pt x="0" y="0"/>
                </a:moveTo>
                <a:lnTo>
                  <a:pt x="124753" y="0"/>
                </a:lnTo>
                <a:lnTo>
                  <a:pt x="124753" y="108094"/>
                </a:lnTo>
                <a:lnTo>
                  <a:pt x="0" y="10809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4" id="24"/>
          <p:cNvSpPr txBox="true"/>
          <p:nvPr/>
        </p:nvSpPr>
        <p:spPr>
          <a:xfrm rot="0">
            <a:off x="1178843" y="3597754"/>
            <a:ext cx="7525407" cy="1332840"/>
          </a:xfrm>
          <a:prstGeom prst="rect">
            <a:avLst/>
          </a:prstGeom>
        </p:spPr>
        <p:txBody>
          <a:bodyPr anchor="t" rtlCol="false" tIns="0" lIns="0" bIns="0" rIns="0">
            <a:spAutoFit/>
          </a:bodyPr>
          <a:lstStyle/>
          <a:p>
            <a:pPr algn="just">
              <a:lnSpc>
                <a:spcPts val="2659"/>
              </a:lnSpc>
            </a:pPr>
            <a:r>
              <a:rPr lang="en-US" sz="1899">
                <a:solidFill>
                  <a:srgbClr val="000000"/>
                </a:solidFill>
                <a:latin typeface="Arimo"/>
                <a:ea typeface="Arimo"/>
                <a:cs typeface="Arimo"/>
                <a:sym typeface="Arimo"/>
              </a:rPr>
              <a:t>Partner with Infologia to capture 1% of this multi-billion-dollar opportunity, generating predictable SaaS revenues and delivering sustainable, recurring returns for investors.</a:t>
            </a:r>
          </a:p>
          <a:p>
            <a:pPr algn="just">
              <a:lnSpc>
                <a:spcPts val="2659"/>
              </a:lnSpc>
            </a:pPr>
          </a:p>
        </p:txBody>
      </p:sp>
      <p:sp>
        <p:nvSpPr>
          <p:cNvPr name="TextBox 25" id="25"/>
          <p:cNvSpPr txBox="true"/>
          <p:nvPr/>
        </p:nvSpPr>
        <p:spPr>
          <a:xfrm rot="0">
            <a:off x="1028700" y="6227855"/>
            <a:ext cx="6148702" cy="2999740"/>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The $39.6B logistics software market is growing fast, yet SMEs remain underserved by rigid, costly platforms. Infologia’s Cargossoft + SITS delivers a flexible, affordable alternative, backed by proven expertise and leadership commitment. With a ₹5Crs investment focused on IT and logistics deployment, we target profitability by 3 Years and sustainable margins of 20–25%. The opportunity is clear—partner with us to capture market share and drive lasting value.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700000">
            <a:off x="-6708429" y="1007040"/>
            <a:ext cx="11641931" cy="11641931"/>
            <a:chOff x="0" y="0"/>
            <a:chExt cx="15522575" cy="15522575"/>
          </a:xfrm>
        </p:grpSpPr>
        <p:sp>
          <p:nvSpPr>
            <p:cNvPr name="Freeform 3" id="3"/>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6999"/>
              </a:blip>
              <a:stretch>
                <a:fillRect l="0" t="0" r="0" b="0"/>
              </a:stretch>
            </a:blipFill>
          </p:spPr>
        </p:sp>
      </p:grpSp>
      <p:sp>
        <p:nvSpPr>
          <p:cNvPr name="Freeform 4" id="4"/>
          <p:cNvSpPr/>
          <p:nvPr/>
        </p:nvSpPr>
        <p:spPr>
          <a:xfrm flipH="false" flipV="false" rot="0">
            <a:off x="-8806032" y="-1090566"/>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2700000">
            <a:off x="3826821" y="519179"/>
            <a:ext cx="5636924" cy="605971"/>
            <a:chOff x="0" y="0"/>
            <a:chExt cx="7515898" cy="807961"/>
          </a:xfrm>
        </p:grpSpPr>
        <p:sp>
          <p:nvSpPr>
            <p:cNvPr name="Freeform 6" id="6"/>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7" id="7"/>
          <p:cNvSpPr/>
          <p:nvPr/>
        </p:nvSpPr>
        <p:spPr>
          <a:xfrm flipH="false" flipV="false" rot="0">
            <a:off x="5890838" y="-1143472"/>
            <a:ext cx="4133405" cy="4133405"/>
          </a:xfrm>
          <a:custGeom>
            <a:avLst/>
            <a:gdLst/>
            <a:ahLst/>
            <a:cxnLst/>
            <a:rect r="r" b="b" t="t" l="l"/>
            <a:pathLst>
              <a:path h="4133405" w="4133405">
                <a:moveTo>
                  <a:pt x="0" y="0"/>
                </a:moveTo>
                <a:lnTo>
                  <a:pt x="4133405" y="0"/>
                </a:lnTo>
                <a:lnTo>
                  <a:pt x="4133405" y="4133405"/>
                </a:lnTo>
                <a:lnTo>
                  <a:pt x="0" y="41334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2700000">
            <a:off x="4743050" y="-287988"/>
            <a:ext cx="5636924" cy="605971"/>
            <a:chOff x="0" y="0"/>
            <a:chExt cx="7515898" cy="807961"/>
          </a:xfrm>
        </p:grpSpPr>
        <p:sp>
          <p:nvSpPr>
            <p:cNvPr name="Freeform 9" id="9"/>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10" id="10"/>
          <p:cNvSpPr/>
          <p:nvPr/>
        </p:nvSpPr>
        <p:spPr>
          <a:xfrm flipH="false" flipV="false" rot="0">
            <a:off x="6807074" y="-1922105"/>
            <a:ext cx="4104869" cy="4104869"/>
          </a:xfrm>
          <a:custGeom>
            <a:avLst/>
            <a:gdLst/>
            <a:ahLst/>
            <a:cxnLst/>
            <a:rect r="r" b="b" t="t" l="l"/>
            <a:pathLst>
              <a:path h="4104869" w="4104869">
                <a:moveTo>
                  <a:pt x="0" y="0"/>
                </a:moveTo>
                <a:lnTo>
                  <a:pt x="4104869" y="0"/>
                </a:lnTo>
                <a:lnTo>
                  <a:pt x="4104869" y="4104869"/>
                </a:lnTo>
                <a:lnTo>
                  <a:pt x="0" y="41048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2700000">
            <a:off x="9562900" y="-1975037"/>
            <a:ext cx="11641931" cy="11641931"/>
            <a:chOff x="0" y="0"/>
            <a:chExt cx="15522575" cy="15522575"/>
          </a:xfrm>
        </p:grpSpPr>
        <p:sp>
          <p:nvSpPr>
            <p:cNvPr name="Freeform 12" id="12"/>
            <p:cNvSpPr/>
            <p:nvPr/>
          </p:nvSpPr>
          <p:spPr>
            <a:xfrm flipH="false" flipV="false" rot="0">
              <a:off x="0" y="0"/>
              <a:ext cx="15522575" cy="15522575"/>
            </a:xfrm>
            <a:custGeom>
              <a:avLst/>
              <a:gdLst/>
              <a:ahLst/>
              <a:cxnLst/>
              <a:rect r="r" b="b" t="t" l="l"/>
              <a:pathLst>
                <a:path h="15522575" w="15522575">
                  <a:moveTo>
                    <a:pt x="0" y="0"/>
                  </a:moveTo>
                  <a:lnTo>
                    <a:pt x="15522575" y="0"/>
                  </a:lnTo>
                  <a:lnTo>
                    <a:pt x="15522575" y="15522575"/>
                  </a:lnTo>
                  <a:lnTo>
                    <a:pt x="0" y="15522575"/>
                  </a:lnTo>
                  <a:lnTo>
                    <a:pt x="0" y="0"/>
                  </a:lnTo>
                  <a:close/>
                </a:path>
              </a:pathLst>
            </a:custGeom>
            <a:blipFill>
              <a:blip r:embed="rId2">
                <a:alphaModFix amt="57999"/>
              </a:blip>
              <a:stretch>
                <a:fillRect l="0" t="0" r="0" b="0"/>
              </a:stretch>
            </a:blipFill>
          </p:spPr>
        </p:sp>
      </p:grpSp>
      <p:sp>
        <p:nvSpPr>
          <p:cNvPr name="Freeform 13" id="13"/>
          <p:cNvSpPr/>
          <p:nvPr/>
        </p:nvSpPr>
        <p:spPr>
          <a:xfrm flipH="false" flipV="false" rot="0">
            <a:off x="7465298" y="-4072642"/>
            <a:ext cx="15542004" cy="15542004"/>
          </a:xfrm>
          <a:custGeom>
            <a:avLst/>
            <a:gdLst/>
            <a:ahLst/>
            <a:cxnLst/>
            <a:rect r="r" b="b" t="t" l="l"/>
            <a:pathLst>
              <a:path h="15542004" w="15542004">
                <a:moveTo>
                  <a:pt x="0" y="0"/>
                </a:moveTo>
                <a:lnTo>
                  <a:pt x="15542004" y="0"/>
                </a:lnTo>
                <a:lnTo>
                  <a:pt x="15542004" y="15542004"/>
                </a:lnTo>
                <a:lnTo>
                  <a:pt x="0" y="15542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8868870" y="-2669067"/>
            <a:ext cx="12914052" cy="12914052"/>
            <a:chOff x="0" y="0"/>
            <a:chExt cx="17218736" cy="17218736"/>
          </a:xfrm>
        </p:grpSpPr>
        <p:sp>
          <p:nvSpPr>
            <p:cNvPr name="Freeform 15" id="15"/>
            <p:cNvSpPr/>
            <p:nvPr/>
          </p:nvSpPr>
          <p:spPr>
            <a:xfrm flipH="false" flipV="false" rot="0">
              <a:off x="0" y="0"/>
              <a:ext cx="17218661" cy="17218661"/>
            </a:xfrm>
            <a:custGeom>
              <a:avLst/>
              <a:gdLst/>
              <a:ahLst/>
              <a:cxnLst/>
              <a:rect r="r" b="b" t="t" l="l"/>
              <a:pathLst>
                <a:path h="17218661" w="17218661">
                  <a:moveTo>
                    <a:pt x="9166098" y="230632"/>
                  </a:moveTo>
                  <a:lnTo>
                    <a:pt x="16988028" y="8052562"/>
                  </a:lnTo>
                  <a:cubicBezTo>
                    <a:pt x="17135729" y="8200263"/>
                    <a:pt x="17218661" y="8400542"/>
                    <a:pt x="17218661" y="8609330"/>
                  </a:cubicBezTo>
                  <a:cubicBezTo>
                    <a:pt x="17218661" y="8818118"/>
                    <a:pt x="17135729" y="9018398"/>
                    <a:pt x="16988028" y="9166099"/>
                  </a:cubicBezTo>
                  <a:lnTo>
                    <a:pt x="9166098" y="16988028"/>
                  </a:lnTo>
                  <a:cubicBezTo>
                    <a:pt x="9018397" y="17135729"/>
                    <a:pt x="8818118" y="17218661"/>
                    <a:pt x="8609330" y="17218661"/>
                  </a:cubicBezTo>
                  <a:cubicBezTo>
                    <a:pt x="8400542" y="17218661"/>
                    <a:pt x="8200263" y="17135729"/>
                    <a:pt x="8052562" y="16988028"/>
                  </a:cubicBezTo>
                  <a:lnTo>
                    <a:pt x="230632" y="9166098"/>
                  </a:lnTo>
                  <a:cubicBezTo>
                    <a:pt x="82931" y="9018524"/>
                    <a:pt x="0" y="8818245"/>
                    <a:pt x="0" y="8609330"/>
                  </a:cubicBezTo>
                  <a:cubicBezTo>
                    <a:pt x="0" y="8400416"/>
                    <a:pt x="82931" y="8200263"/>
                    <a:pt x="230632" y="8052562"/>
                  </a:cubicBezTo>
                  <a:lnTo>
                    <a:pt x="8052562" y="230632"/>
                  </a:lnTo>
                  <a:cubicBezTo>
                    <a:pt x="8200263" y="82931"/>
                    <a:pt x="8400542" y="0"/>
                    <a:pt x="8609330" y="0"/>
                  </a:cubicBezTo>
                  <a:cubicBezTo>
                    <a:pt x="8818118" y="0"/>
                    <a:pt x="9018398" y="82931"/>
                    <a:pt x="9166099" y="230632"/>
                  </a:cubicBezTo>
                  <a:close/>
                </a:path>
              </a:pathLst>
            </a:custGeom>
            <a:blipFill>
              <a:blip r:embed="rId10"/>
              <a:stretch>
                <a:fillRect l="-25000" t="0" r="-25000" b="0"/>
              </a:stretch>
            </a:blipFill>
          </p:spPr>
        </p:sp>
      </p:grpSp>
      <p:grpSp>
        <p:nvGrpSpPr>
          <p:cNvPr name="Group 16" id="16"/>
          <p:cNvGrpSpPr/>
          <p:nvPr/>
        </p:nvGrpSpPr>
        <p:grpSpPr>
          <a:xfrm rot="8100000">
            <a:off x="7965357" y="10637768"/>
            <a:ext cx="5636924" cy="605971"/>
            <a:chOff x="0" y="0"/>
            <a:chExt cx="7515898" cy="807961"/>
          </a:xfrm>
        </p:grpSpPr>
        <p:sp>
          <p:nvSpPr>
            <p:cNvPr name="Freeform 17" id="17"/>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18" id="18"/>
          <p:cNvSpPr/>
          <p:nvPr/>
        </p:nvSpPr>
        <p:spPr>
          <a:xfrm flipH="false" flipV="false" rot="0">
            <a:off x="11239090" y="3249949"/>
            <a:ext cx="9059804" cy="9059804"/>
          </a:xfrm>
          <a:custGeom>
            <a:avLst/>
            <a:gdLst/>
            <a:ahLst/>
            <a:cxnLst/>
            <a:rect r="r" b="b" t="t" l="l"/>
            <a:pathLst>
              <a:path h="9059804" w="9059804">
                <a:moveTo>
                  <a:pt x="0" y="0"/>
                </a:moveTo>
                <a:lnTo>
                  <a:pt x="9059805" y="0"/>
                </a:lnTo>
                <a:lnTo>
                  <a:pt x="9059805" y="9059804"/>
                </a:lnTo>
                <a:lnTo>
                  <a:pt x="0" y="905980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9" id="19"/>
          <p:cNvGrpSpPr/>
          <p:nvPr/>
        </p:nvGrpSpPr>
        <p:grpSpPr>
          <a:xfrm rot="8100000">
            <a:off x="13721105" y="8138017"/>
            <a:ext cx="5636924" cy="605971"/>
            <a:chOff x="0" y="0"/>
            <a:chExt cx="7515898" cy="807961"/>
          </a:xfrm>
        </p:grpSpPr>
        <p:sp>
          <p:nvSpPr>
            <p:cNvPr name="Freeform 20" id="20"/>
            <p:cNvSpPr/>
            <p:nvPr/>
          </p:nvSpPr>
          <p:spPr>
            <a:xfrm flipH="false" flipV="false" rot="0">
              <a:off x="0" y="0"/>
              <a:ext cx="7515860" cy="807974"/>
            </a:xfrm>
            <a:custGeom>
              <a:avLst/>
              <a:gdLst/>
              <a:ahLst/>
              <a:cxnLst/>
              <a:rect r="r" b="b" t="t" l="l"/>
              <a:pathLst>
                <a:path h="807974" w="7515860">
                  <a:moveTo>
                    <a:pt x="0" y="0"/>
                  </a:moveTo>
                  <a:lnTo>
                    <a:pt x="7515860" y="0"/>
                  </a:lnTo>
                  <a:lnTo>
                    <a:pt x="7515860" y="807974"/>
                  </a:lnTo>
                  <a:lnTo>
                    <a:pt x="0" y="807974"/>
                  </a:lnTo>
                  <a:lnTo>
                    <a:pt x="0" y="0"/>
                  </a:lnTo>
                  <a:close/>
                </a:path>
              </a:pathLst>
            </a:custGeom>
            <a:blipFill>
              <a:blip r:embed="rId5"/>
              <a:stretch>
                <a:fillRect l="-255" t="0" r="-255" b="1"/>
              </a:stretch>
            </a:blipFill>
          </p:spPr>
        </p:sp>
      </p:grpSp>
      <p:sp>
        <p:nvSpPr>
          <p:cNvPr name="Freeform 21" id="21"/>
          <p:cNvSpPr/>
          <p:nvPr/>
        </p:nvSpPr>
        <p:spPr>
          <a:xfrm flipH="false" flipV="false" rot="0">
            <a:off x="14585052" y="6403817"/>
            <a:ext cx="5905936" cy="5905936"/>
          </a:xfrm>
          <a:custGeom>
            <a:avLst/>
            <a:gdLst/>
            <a:ahLst/>
            <a:cxnLst/>
            <a:rect r="r" b="b" t="t" l="l"/>
            <a:pathLst>
              <a:path h="5905936" w="5905936">
                <a:moveTo>
                  <a:pt x="0" y="0"/>
                </a:moveTo>
                <a:lnTo>
                  <a:pt x="5905936" y="0"/>
                </a:lnTo>
                <a:lnTo>
                  <a:pt x="5905936" y="5905936"/>
                </a:lnTo>
                <a:lnTo>
                  <a:pt x="0" y="59059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1028700" y="5772330"/>
            <a:ext cx="934250" cy="266001"/>
          </a:xfrm>
          <a:custGeom>
            <a:avLst/>
            <a:gdLst/>
            <a:ahLst/>
            <a:cxnLst/>
            <a:rect r="r" b="b" t="t" l="l"/>
            <a:pathLst>
              <a:path h="266001" w="934250">
                <a:moveTo>
                  <a:pt x="0" y="0"/>
                </a:moveTo>
                <a:lnTo>
                  <a:pt x="934250" y="0"/>
                </a:lnTo>
                <a:lnTo>
                  <a:pt x="934250" y="266001"/>
                </a:lnTo>
                <a:lnTo>
                  <a:pt x="0" y="26600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3" id="23"/>
          <p:cNvSpPr/>
          <p:nvPr/>
        </p:nvSpPr>
        <p:spPr>
          <a:xfrm flipH="false" flipV="false" rot="0">
            <a:off x="2058200" y="5772330"/>
            <a:ext cx="312889" cy="266001"/>
          </a:xfrm>
          <a:custGeom>
            <a:avLst/>
            <a:gdLst/>
            <a:ahLst/>
            <a:cxnLst/>
            <a:rect r="r" b="b" t="t" l="l"/>
            <a:pathLst>
              <a:path h="266001" w="312889">
                <a:moveTo>
                  <a:pt x="0" y="0"/>
                </a:moveTo>
                <a:lnTo>
                  <a:pt x="312889" y="0"/>
                </a:lnTo>
                <a:lnTo>
                  <a:pt x="312889" y="266001"/>
                </a:lnTo>
                <a:lnTo>
                  <a:pt x="0" y="26600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028700" y="7535913"/>
            <a:ext cx="603056" cy="603056"/>
          </a:xfrm>
          <a:custGeom>
            <a:avLst/>
            <a:gdLst/>
            <a:ahLst/>
            <a:cxnLst/>
            <a:rect r="r" b="b" t="t" l="l"/>
            <a:pathLst>
              <a:path h="603056" w="603056">
                <a:moveTo>
                  <a:pt x="0" y="0"/>
                </a:moveTo>
                <a:lnTo>
                  <a:pt x="603056" y="0"/>
                </a:lnTo>
                <a:lnTo>
                  <a:pt x="603056" y="603057"/>
                </a:lnTo>
                <a:lnTo>
                  <a:pt x="0" y="60305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5" id="25"/>
          <p:cNvSpPr/>
          <p:nvPr/>
        </p:nvSpPr>
        <p:spPr>
          <a:xfrm flipH="false" flipV="false" rot="0">
            <a:off x="1028700" y="8408641"/>
            <a:ext cx="603056" cy="603056"/>
          </a:xfrm>
          <a:custGeom>
            <a:avLst/>
            <a:gdLst/>
            <a:ahLst/>
            <a:cxnLst/>
            <a:rect r="r" b="b" t="t" l="l"/>
            <a:pathLst>
              <a:path h="603056" w="603056">
                <a:moveTo>
                  <a:pt x="0" y="0"/>
                </a:moveTo>
                <a:lnTo>
                  <a:pt x="603056" y="0"/>
                </a:lnTo>
                <a:lnTo>
                  <a:pt x="603056" y="603057"/>
                </a:lnTo>
                <a:lnTo>
                  <a:pt x="0" y="60305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6" id="26"/>
          <p:cNvSpPr/>
          <p:nvPr/>
        </p:nvSpPr>
        <p:spPr>
          <a:xfrm flipH="false" flipV="false" rot="0">
            <a:off x="5323189" y="7535913"/>
            <a:ext cx="603056" cy="603056"/>
          </a:xfrm>
          <a:custGeom>
            <a:avLst/>
            <a:gdLst/>
            <a:ahLst/>
            <a:cxnLst/>
            <a:rect r="r" b="b" t="t" l="l"/>
            <a:pathLst>
              <a:path h="603056" w="603056">
                <a:moveTo>
                  <a:pt x="0" y="0"/>
                </a:moveTo>
                <a:lnTo>
                  <a:pt x="603056" y="0"/>
                </a:lnTo>
                <a:lnTo>
                  <a:pt x="603056" y="603057"/>
                </a:lnTo>
                <a:lnTo>
                  <a:pt x="0" y="60305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7" id="27"/>
          <p:cNvSpPr/>
          <p:nvPr/>
        </p:nvSpPr>
        <p:spPr>
          <a:xfrm flipH="false" flipV="false" rot="0">
            <a:off x="5323189" y="8408641"/>
            <a:ext cx="603056" cy="603056"/>
          </a:xfrm>
          <a:custGeom>
            <a:avLst/>
            <a:gdLst/>
            <a:ahLst/>
            <a:cxnLst/>
            <a:rect r="r" b="b" t="t" l="l"/>
            <a:pathLst>
              <a:path h="603056" w="603056">
                <a:moveTo>
                  <a:pt x="0" y="0"/>
                </a:moveTo>
                <a:lnTo>
                  <a:pt x="603056" y="0"/>
                </a:lnTo>
                <a:lnTo>
                  <a:pt x="603056" y="603057"/>
                </a:lnTo>
                <a:lnTo>
                  <a:pt x="0" y="60305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28" id="28"/>
          <p:cNvSpPr txBox="true"/>
          <p:nvPr/>
        </p:nvSpPr>
        <p:spPr>
          <a:xfrm rot="0">
            <a:off x="1028700" y="2629186"/>
            <a:ext cx="5812036" cy="1126465"/>
          </a:xfrm>
          <a:prstGeom prst="rect">
            <a:avLst/>
          </a:prstGeom>
        </p:spPr>
        <p:txBody>
          <a:bodyPr anchor="t" rtlCol="false" tIns="0" lIns="0" bIns="0" rIns="0">
            <a:spAutoFit/>
          </a:bodyPr>
          <a:lstStyle/>
          <a:p>
            <a:pPr algn="l">
              <a:lnSpc>
                <a:spcPts val="8469"/>
              </a:lnSpc>
            </a:pPr>
            <a:r>
              <a:rPr lang="en-US" sz="7698" b="true">
                <a:solidFill>
                  <a:srgbClr val="16599D"/>
                </a:solidFill>
                <a:latin typeface="Arimo Bold"/>
                <a:ea typeface="Arimo Bold"/>
                <a:cs typeface="Arimo Bold"/>
                <a:sym typeface="Arimo Bold"/>
              </a:rPr>
              <a:t>THANK YOU</a:t>
            </a:r>
          </a:p>
        </p:txBody>
      </p:sp>
      <p:sp>
        <p:nvSpPr>
          <p:cNvPr name="TextBox 29" id="29"/>
          <p:cNvSpPr txBox="true"/>
          <p:nvPr/>
        </p:nvSpPr>
        <p:spPr>
          <a:xfrm rot="0">
            <a:off x="1028700" y="3620529"/>
            <a:ext cx="6192831" cy="1421257"/>
          </a:xfrm>
          <a:prstGeom prst="rect">
            <a:avLst/>
          </a:prstGeom>
        </p:spPr>
        <p:txBody>
          <a:bodyPr anchor="t" rtlCol="false" tIns="0" lIns="0" bIns="0" rIns="0">
            <a:spAutoFit/>
          </a:bodyPr>
          <a:lstStyle/>
          <a:p>
            <a:pPr algn="l">
              <a:lnSpc>
                <a:spcPts val="5662"/>
              </a:lnSpc>
            </a:pPr>
            <a:r>
              <a:rPr lang="en-US" sz="4045">
                <a:solidFill>
                  <a:srgbClr val="292A2B"/>
                </a:solidFill>
                <a:latin typeface="Arimo"/>
                <a:ea typeface="Arimo"/>
                <a:cs typeface="Arimo"/>
                <a:sym typeface="Arimo"/>
              </a:rPr>
              <a:t>FOR YOUR ATTENTION AND PARTICIPATION</a:t>
            </a:r>
          </a:p>
        </p:txBody>
      </p:sp>
      <p:sp>
        <p:nvSpPr>
          <p:cNvPr name="TextBox 30" id="30"/>
          <p:cNvSpPr txBox="true"/>
          <p:nvPr/>
        </p:nvSpPr>
        <p:spPr>
          <a:xfrm rot="0">
            <a:off x="1028700" y="6307131"/>
            <a:ext cx="5271821" cy="533400"/>
          </a:xfrm>
          <a:prstGeom prst="rect">
            <a:avLst/>
          </a:prstGeom>
        </p:spPr>
        <p:txBody>
          <a:bodyPr anchor="t" rtlCol="false" tIns="0" lIns="0" bIns="0" rIns="0">
            <a:spAutoFit/>
          </a:bodyPr>
          <a:lstStyle/>
          <a:p>
            <a:pPr algn="l">
              <a:lnSpc>
                <a:spcPts val="4200"/>
              </a:lnSpc>
            </a:pPr>
            <a:r>
              <a:rPr lang="en-US" sz="3000">
                <a:solidFill>
                  <a:srgbClr val="292A2B"/>
                </a:solidFill>
                <a:latin typeface="Arimo"/>
                <a:ea typeface="Arimo"/>
                <a:cs typeface="Arimo"/>
                <a:sym typeface="Arimo"/>
              </a:rPr>
              <a:t>CONTACT INFORMATION:</a:t>
            </a:r>
          </a:p>
        </p:txBody>
      </p:sp>
      <p:sp>
        <p:nvSpPr>
          <p:cNvPr name="TextBox 31" id="31"/>
          <p:cNvSpPr txBox="true"/>
          <p:nvPr/>
        </p:nvSpPr>
        <p:spPr>
          <a:xfrm rot="0">
            <a:off x="1773593" y="7527607"/>
            <a:ext cx="2536708" cy="457327"/>
          </a:xfrm>
          <a:prstGeom prst="rect">
            <a:avLst/>
          </a:prstGeom>
        </p:spPr>
        <p:txBody>
          <a:bodyPr anchor="t" rtlCol="false" tIns="0" lIns="0" bIns="0" rIns="0">
            <a:spAutoFit/>
          </a:bodyPr>
          <a:lstStyle/>
          <a:p>
            <a:pPr algn="l">
              <a:lnSpc>
                <a:spcPts val="3667"/>
              </a:lnSpc>
            </a:pPr>
            <a:r>
              <a:rPr lang="en-US" sz="2619">
                <a:solidFill>
                  <a:srgbClr val="000000"/>
                </a:solidFill>
                <a:latin typeface="Arimo"/>
                <a:ea typeface="Arimo"/>
                <a:cs typeface="Arimo"/>
                <a:sym typeface="Arimo"/>
              </a:rPr>
              <a:t>044-3555 8065</a:t>
            </a:r>
          </a:p>
        </p:txBody>
      </p:sp>
      <p:sp>
        <p:nvSpPr>
          <p:cNvPr name="TextBox 32" id="32"/>
          <p:cNvSpPr txBox="true"/>
          <p:nvPr/>
        </p:nvSpPr>
        <p:spPr>
          <a:xfrm rot="0">
            <a:off x="6071835" y="7527607"/>
            <a:ext cx="4039457" cy="457327"/>
          </a:xfrm>
          <a:prstGeom prst="rect">
            <a:avLst/>
          </a:prstGeom>
        </p:spPr>
        <p:txBody>
          <a:bodyPr anchor="t" rtlCol="false" tIns="0" lIns="0" bIns="0" rIns="0">
            <a:spAutoFit/>
          </a:bodyPr>
          <a:lstStyle/>
          <a:p>
            <a:pPr algn="l">
              <a:lnSpc>
                <a:spcPts val="3667"/>
              </a:lnSpc>
            </a:pPr>
            <a:r>
              <a:rPr lang="en-US" sz="2619">
                <a:solidFill>
                  <a:srgbClr val="000000"/>
                </a:solidFill>
                <a:latin typeface="Arimo"/>
                <a:ea typeface="Arimo"/>
                <a:cs typeface="Arimo"/>
                <a:sym typeface="Arimo"/>
              </a:rPr>
              <a:t>info@infologia.in</a:t>
            </a:r>
          </a:p>
        </p:txBody>
      </p:sp>
      <p:sp>
        <p:nvSpPr>
          <p:cNvPr name="TextBox 33" id="33"/>
          <p:cNvSpPr txBox="true"/>
          <p:nvPr/>
        </p:nvSpPr>
        <p:spPr>
          <a:xfrm rot="0">
            <a:off x="1773593" y="8400336"/>
            <a:ext cx="2567902" cy="457327"/>
          </a:xfrm>
          <a:prstGeom prst="rect">
            <a:avLst/>
          </a:prstGeom>
        </p:spPr>
        <p:txBody>
          <a:bodyPr anchor="t" rtlCol="false" tIns="0" lIns="0" bIns="0" rIns="0">
            <a:spAutoFit/>
          </a:bodyPr>
          <a:lstStyle/>
          <a:p>
            <a:pPr algn="l">
              <a:lnSpc>
                <a:spcPts val="3667"/>
              </a:lnSpc>
            </a:pPr>
            <a:r>
              <a:rPr lang="en-US" sz="2619">
                <a:solidFill>
                  <a:srgbClr val="000000"/>
                </a:solidFill>
                <a:latin typeface="Arimo"/>
                <a:ea typeface="Arimo"/>
                <a:cs typeface="Arimo"/>
                <a:sym typeface="Arimo"/>
              </a:rPr>
              <a:t>www.infologia.in</a:t>
            </a:r>
          </a:p>
        </p:txBody>
      </p:sp>
      <p:sp>
        <p:nvSpPr>
          <p:cNvPr name="TextBox 34" id="34"/>
          <p:cNvSpPr txBox="true"/>
          <p:nvPr/>
        </p:nvSpPr>
        <p:spPr>
          <a:xfrm rot="0">
            <a:off x="6071835" y="8400336"/>
            <a:ext cx="5671928" cy="1371727"/>
          </a:xfrm>
          <a:prstGeom prst="rect">
            <a:avLst/>
          </a:prstGeom>
        </p:spPr>
        <p:txBody>
          <a:bodyPr anchor="t" rtlCol="false" tIns="0" lIns="0" bIns="0" rIns="0">
            <a:spAutoFit/>
          </a:bodyPr>
          <a:lstStyle/>
          <a:p>
            <a:pPr algn="l">
              <a:lnSpc>
                <a:spcPts val="3667"/>
              </a:lnSpc>
            </a:pPr>
            <a:r>
              <a:rPr lang="en-US" sz="2619">
                <a:solidFill>
                  <a:srgbClr val="000000"/>
                </a:solidFill>
                <a:latin typeface="Arimo"/>
                <a:ea typeface="Arimo"/>
                <a:cs typeface="Arimo"/>
                <a:sym typeface="Arimo"/>
              </a:rPr>
              <a:t>No 15, 3rd Floor, Sarayu Park, 2rd </a:t>
            </a:r>
          </a:p>
          <a:p>
            <a:pPr algn="l">
              <a:lnSpc>
                <a:spcPts val="3667"/>
              </a:lnSpc>
            </a:pPr>
            <a:r>
              <a:rPr lang="en-US" sz="2619">
                <a:solidFill>
                  <a:srgbClr val="000000"/>
                </a:solidFill>
                <a:latin typeface="Arimo"/>
                <a:ea typeface="Arimo"/>
                <a:cs typeface="Arimo"/>
                <a:sym typeface="Arimo"/>
              </a:rPr>
              <a:t>Main Road, New Colony, Chromepet     Chennai - 44</a:t>
            </a:r>
          </a:p>
        </p:txBody>
      </p:sp>
      <p:sp>
        <p:nvSpPr>
          <p:cNvPr name="TextBox 35" id="35"/>
          <p:cNvSpPr txBox="true"/>
          <p:nvPr/>
        </p:nvSpPr>
        <p:spPr>
          <a:xfrm rot="0">
            <a:off x="1461373" y="1541755"/>
            <a:ext cx="4607576" cy="349250"/>
          </a:xfrm>
          <a:prstGeom prst="rect">
            <a:avLst/>
          </a:prstGeom>
        </p:spPr>
        <p:txBody>
          <a:bodyPr anchor="t" rtlCol="false" tIns="0" lIns="0" bIns="0" rIns="0">
            <a:spAutoFit/>
          </a:bodyPr>
          <a:lstStyle/>
          <a:p>
            <a:pPr algn="l">
              <a:lnSpc>
                <a:spcPts val="2800"/>
              </a:lnSpc>
            </a:pPr>
            <a:r>
              <a:rPr lang="en-US" sz="2000">
                <a:solidFill>
                  <a:srgbClr val="003883"/>
                </a:solidFill>
                <a:latin typeface="Arimo"/>
                <a:ea typeface="Arimo"/>
                <a:cs typeface="Arimo"/>
                <a:sym typeface="Arimo"/>
              </a:rPr>
              <a:t>INFOLOGIA TECHNOLOGIES PVT LTD  </a:t>
            </a:r>
          </a:p>
        </p:txBody>
      </p:sp>
      <p:grpSp>
        <p:nvGrpSpPr>
          <p:cNvPr name="Group 36" id="36"/>
          <p:cNvGrpSpPr/>
          <p:nvPr/>
        </p:nvGrpSpPr>
        <p:grpSpPr>
          <a:xfrm rot="0">
            <a:off x="1028700" y="1548813"/>
            <a:ext cx="413623" cy="413623"/>
            <a:chOff x="0" y="0"/>
            <a:chExt cx="551498" cy="551498"/>
          </a:xfrm>
        </p:grpSpPr>
        <p:sp>
          <p:nvSpPr>
            <p:cNvPr name="Freeform 37" id="37"/>
            <p:cNvSpPr/>
            <p:nvPr/>
          </p:nvSpPr>
          <p:spPr>
            <a:xfrm flipH="false" flipV="false" rot="0">
              <a:off x="0" y="0"/>
              <a:ext cx="551561" cy="551561"/>
            </a:xfrm>
            <a:custGeom>
              <a:avLst/>
              <a:gdLst/>
              <a:ahLst/>
              <a:cxnLst/>
              <a:rect r="r" b="b" t="t" l="l"/>
              <a:pathLst>
                <a:path h="551561" w="551561">
                  <a:moveTo>
                    <a:pt x="0" y="0"/>
                  </a:moveTo>
                  <a:lnTo>
                    <a:pt x="551561" y="0"/>
                  </a:lnTo>
                  <a:lnTo>
                    <a:pt x="551561" y="551561"/>
                  </a:lnTo>
                  <a:lnTo>
                    <a:pt x="0" y="551561"/>
                  </a:lnTo>
                  <a:lnTo>
                    <a:pt x="0" y="0"/>
                  </a:lnTo>
                  <a:close/>
                </a:path>
              </a:pathLst>
            </a:custGeom>
            <a:blipFill>
              <a:blip r:embed="rId27"/>
              <a:stretch>
                <a:fillRect l="0" t="0" r="11" b="1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DAG8O0D8teY</dc:identifier>
  <dcterms:modified xsi:type="dcterms:W3CDTF">2011-08-01T06:04:30Z</dcterms:modified>
  <cp:revision>1</cp:revision>
  <dc:title>infologia technologies Investor Proposal.pptx</dc:title>
</cp:coreProperties>
</file>