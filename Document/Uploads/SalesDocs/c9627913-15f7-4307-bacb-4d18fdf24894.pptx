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abriel Sans Bold" charset="1" panose="02000000000000000000"/>
      <p:regular r:id="rId19"/>
    </p:embeddedFont>
    <p:embeddedFont>
      <p:font typeface="Open Sauce" charset="1" panose="00000500000000000000"/>
      <p:regular r:id="rId20"/>
    </p:embeddedFont>
    <p:embeddedFont>
      <p:font typeface="Gabriel Sans Condensed" charset="1" panose="02000000000000000000"/>
      <p:regular r:id="rId21"/>
    </p:embeddedFont>
    <p:embeddedFont>
      <p:font typeface="Open Sauce Bold" charset="1" panose="00000800000000000000"/>
      <p:regular r:id="rId22"/>
    </p:embeddedFont>
    <p:embeddedFont>
      <p:font typeface="Gabriel Sans" charset="1" panose="02000000000000000000"/>
      <p:regular r:id="rId23"/>
    </p:embeddedFont>
    <p:embeddedFont>
      <p:font typeface="Open Sauce Bold Italics" charset="1" panose="00000800000000000000"/>
      <p:regular r:id="rId24"/>
    </p:embeddedFont>
    <p:embeddedFont>
      <p:font typeface="Now Bold" charset="1" panose="00000800000000000000"/>
      <p:regular r:id="rId25"/>
    </p:embeddedFont>
    <p:embeddedFont>
      <p:font typeface="Gabriel Sans Condensed Bold" charset="1" panose="02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17" Target="../media/image32.png" Type="http://schemas.openxmlformats.org/officeDocument/2006/relationships/image"/><Relationship Id="rId18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11" Target="../media/image65.png" Type="http://schemas.openxmlformats.org/officeDocument/2006/relationships/image"/><Relationship Id="rId12" Target="../media/image66.svg" Type="http://schemas.openxmlformats.org/officeDocument/2006/relationships/image"/><Relationship Id="rId13" Target="../media/image67.png" Type="http://schemas.openxmlformats.org/officeDocument/2006/relationships/image"/><Relationship Id="rId14" Target="../media/image68.svg" Type="http://schemas.openxmlformats.org/officeDocument/2006/relationships/image"/><Relationship Id="rId15" Target="../media/image69.png" Type="http://schemas.openxmlformats.org/officeDocument/2006/relationships/image"/><Relationship Id="rId16" Target="../media/image70.svg" Type="http://schemas.openxmlformats.org/officeDocument/2006/relationships/image"/><Relationship Id="rId17" Target="../media/image1.png" Type="http://schemas.openxmlformats.org/officeDocument/2006/relationships/image"/><Relationship Id="rId18" Target="../media/image2.svg" Type="http://schemas.openxmlformats.org/officeDocument/2006/relationships/imag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svg" Type="http://schemas.openxmlformats.org/officeDocument/2006/relationships/image"/><Relationship Id="rId11" Target="../media/image76.png" Type="http://schemas.openxmlformats.org/officeDocument/2006/relationships/image"/><Relationship Id="rId12" Target="../media/image77.svg" Type="http://schemas.openxmlformats.org/officeDocument/2006/relationships/image"/><Relationship Id="rId13" Target="../media/image78.png" Type="http://schemas.openxmlformats.org/officeDocument/2006/relationships/image"/><Relationship Id="rId14" Target="../media/image79.svg" Type="http://schemas.openxmlformats.org/officeDocument/2006/relationships/image"/><Relationship Id="rId15" Target="../media/image80.png" Type="http://schemas.openxmlformats.org/officeDocument/2006/relationships/image"/><Relationship Id="rId16" Target="../media/image8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svg" Type="http://schemas.openxmlformats.org/officeDocument/2006/relationships/image"/><Relationship Id="rId12" Target="../media/image90.png" Type="http://schemas.openxmlformats.org/officeDocument/2006/relationships/image"/><Relationship Id="rId13" Target="../media/image91.svg" Type="http://schemas.openxmlformats.org/officeDocument/2006/relationships/image"/><Relationship Id="rId14" Target="../media/image92.png" Type="http://schemas.openxmlformats.org/officeDocument/2006/relationships/image"/><Relationship Id="rId15" Target="../media/image93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media/image86.png" Type="http://schemas.openxmlformats.org/officeDocument/2006/relationships/image"/><Relationship Id="rId9" Target="../media/image8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96.png" Type="http://schemas.openxmlformats.org/officeDocument/2006/relationships/image"/><Relationship Id="rId13" Target="../media/image97.svg" Type="http://schemas.openxmlformats.org/officeDocument/2006/relationships/image"/><Relationship Id="rId14" Target="../media/image98.png" Type="http://schemas.openxmlformats.org/officeDocument/2006/relationships/image"/><Relationship Id="rId15" Target="../media/image99.svg" Type="http://schemas.openxmlformats.org/officeDocument/2006/relationships/image"/><Relationship Id="rId16" Target="../media/image100.png" Type="http://schemas.openxmlformats.org/officeDocument/2006/relationships/image"/><Relationship Id="rId17" Target="../media/image101.svg" Type="http://schemas.openxmlformats.org/officeDocument/2006/relationships/image"/><Relationship Id="rId18" Target="../media/image102.png" Type="http://schemas.openxmlformats.org/officeDocument/2006/relationships/image"/><Relationship Id="rId19" Target="../media/image103.svg" Type="http://schemas.openxmlformats.org/officeDocument/2006/relationships/image"/><Relationship Id="rId2" Target="../media/image1.png" Type="http://schemas.openxmlformats.org/officeDocument/2006/relationships/image"/><Relationship Id="rId20" Target="../media/image104.png" Type="http://schemas.openxmlformats.org/officeDocument/2006/relationships/image"/><Relationship Id="rId21" Target="../media/image105.svg" Type="http://schemas.openxmlformats.org/officeDocument/2006/relationships/image"/><Relationship Id="rId22" Target="../media/image106.png" Type="http://schemas.openxmlformats.org/officeDocument/2006/relationships/image"/><Relationship Id="rId23" Target="../media/image107.svg" Type="http://schemas.openxmlformats.org/officeDocument/2006/relationships/image"/><Relationship Id="rId24" Target="../media/image108.png" Type="http://schemas.openxmlformats.org/officeDocument/2006/relationships/image"/><Relationship Id="rId25" Target="../media/image109.sv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94.png" Type="http://schemas.openxmlformats.org/officeDocument/2006/relationships/image"/><Relationship Id="rId7" Target="../media/image9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png" Type="http://schemas.openxmlformats.org/officeDocument/2006/relationships/image"/><Relationship Id="rId11" Target="../media/image113.svg" Type="http://schemas.openxmlformats.org/officeDocument/2006/relationships/image"/><Relationship Id="rId12" Target="../media/image114.png" Type="http://schemas.openxmlformats.org/officeDocument/2006/relationships/image"/><Relationship Id="rId13" Target="../media/image115.svg" Type="http://schemas.openxmlformats.org/officeDocument/2006/relationships/image"/><Relationship Id="rId14" Target="../media/image116.png" Type="http://schemas.openxmlformats.org/officeDocument/2006/relationships/image"/><Relationship Id="rId15" Target="../media/image117.svg" Type="http://schemas.openxmlformats.org/officeDocument/2006/relationships/image"/><Relationship Id="rId16" Target="../media/image118.png" Type="http://schemas.openxmlformats.org/officeDocument/2006/relationships/image"/><Relationship Id="rId17" Target="../media/image119.svg" Type="http://schemas.openxmlformats.org/officeDocument/2006/relationships/image"/><Relationship Id="rId18" Target="../media/image120.png" Type="http://schemas.openxmlformats.org/officeDocument/2006/relationships/image"/><Relationship Id="rId19" Target="../media/image121.svg" Type="http://schemas.openxmlformats.org/officeDocument/2006/relationships/image"/><Relationship Id="rId2" Target="../media/image34.png" Type="http://schemas.openxmlformats.org/officeDocument/2006/relationships/image"/><Relationship Id="rId20" Target="../media/image122.png" Type="http://schemas.openxmlformats.org/officeDocument/2006/relationships/image"/><Relationship Id="rId21" Target="../media/image123.svg" Type="http://schemas.openxmlformats.org/officeDocument/2006/relationships/image"/><Relationship Id="rId22" Target="../media/image124.png" Type="http://schemas.openxmlformats.org/officeDocument/2006/relationships/image"/><Relationship Id="rId23" Target="../media/image125.svg" Type="http://schemas.openxmlformats.org/officeDocument/2006/relationships/image"/><Relationship Id="rId24" Target="../media/image126.png" Type="http://schemas.openxmlformats.org/officeDocument/2006/relationships/image"/><Relationship Id="rId25" Target="../media/image127.svg" Type="http://schemas.openxmlformats.org/officeDocument/2006/relationships/image"/><Relationship Id="rId26" Target="../media/image128.png" Type="http://schemas.openxmlformats.org/officeDocument/2006/relationships/image"/><Relationship Id="rId27" Target="../media/image129.svg" Type="http://schemas.openxmlformats.org/officeDocument/2006/relationships/image"/><Relationship Id="rId3" Target="../media/image3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10.png" Type="http://schemas.openxmlformats.org/officeDocument/2006/relationships/image"/><Relationship Id="rId9" Target="../media/image11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130.png" Type="http://schemas.openxmlformats.org/officeDocument/2006/relationships/image"/><Relationship Id="rId13" Target="../media/image131.png" Type="http://schemas.openxmlformats.org/officeDocument/2006/relationships/image"/><Relationship Id="rId14" Target="../media/image132.svg" Type="http://schemas.openxmlformats.org/officeDocument/2006/relationships/image"/><Relationship Id="rId15" Target="../media/image133.png" Type="http://schemas.openxmlformats.org/officeDocument/2006/relationships/image"/><Relationship Id="rId16" Target="../media/image1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94.png" Type="http://schemas.openxmlformats.org/officeDocument/2006/relationships/image"/><Relationship Id="rId7" Target="../media/image9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2.png" Type="http://schemas.openxmlformats.org/officeDocument/2006/relationships/image"/><Relationship Id="rId11" Target="../media/image143.svg" Type="http://schemas.openxmlformats.org/officeDocument/2006/relationships/image"/><Relationship Id="rId12" Target="../media/image144.png" Type="http://schemas.openxmlformats.org/officeDocument/2006/relationships/image"/><Relationship Id="rId13" Target="../media/image145.svg" Type="http://schemas.openxmlformats.org/officeDocument/2006/relationships/image"/><Relationship Id="rId14" Target="../media/image146.png" Type="http://schemas.openxmlformats.org/officeDocument/2006/relationships/image"/><Relationship Id="rId15" Target="../media/image147.svg" Type="http://schemas.openxmlformats.org/officeDocument/2006/relationships/image"/><Relationship Id="rId2" Target="../media/image135.png" Type="http://schemas.openxmlformats.org/officeDocument/2006/relationships/image"/><Relationship Id="rId3" Target="../media/image136.svg" Type="http://schemas.openxmlformats.org/officeDocument/2006/relationships/image"/><Relationship Id="rId4" Target="../media/image137.png" Type="http://schemas.openxmlformats.org/officeDocument/2006/relationships/image"/><Relationship Id="rId5" Target="../media/image138.svg" Type="http://schemas.openxmlformats.org/officeDocument/2006/relationships/image"/><Relationship Id="rId6" Target="../media/image1.png" Type="http://schemas.openxmlformats.org/officeDocument/2006/relationships/image"/><Relationship Id="rId7" Target="../media/image139.svg" Type="http://schemas.openxmlformats.org/officeDocument/2006/relationships/image"/><Relationship Id="rId8" Target="../media/image140.png" Type="http://schemas.openxmlformats.org/officeDocument/2006/relationships/image"/><Relationship Id="rId9" Target="../media/image14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4.png" Type="http://schemas.openxmlformats.org/officeDocument/2006/relationships/image"/><Relationship Id="rId11" Target="../media/image155.svg" Type="http://schemas.openxmlformats.org/officeDocument/2006/relationships/image"/><Relationship Id="rId12" Target="../media/image156.png" Type="http://schemas.openxmlformats.org/officeDocument/2006/relationships/image"/><Relationship Id="rId13" Target="../media/image157.svg" Type="http://schemas.openxmlformats.org/officeDocument/2006/relationships/image"/><Relationship Id="rId14" Target="../media/image158.png" Type="http://schemas.openxmlformats.org/officeDocument/2006/relationships/image"/><Relationship Id="rId15" Target="../media/image159.svg" Type="http://schemas.openxmlformats.org/officeDocument/2006/relationships/image"/><Relationship Id="rId16" Target="../media/image160.png" Type="http://schemas.openxmlformats.org/officeDocument/2006/relationships/image"/><Relationship Id="rId17" Target="../media/image161.svg" Type="http://schemas.openxmlformats.org/officeDocument/2006/relationships/image"/><Relationship Id="rId2" Target="../media/image1.png" Type="http://schemas.openxmlformats.org/officeDocument/2006/relationships/image"/><Relationship Id="rId3" Target="../media/image139.svg" Type="http://schemas.openxmlformats.org/officeDocument/2006/relationships/image"/><Relationship Id="rId4" Target="../media/image148.png" Type="http://schemas.openxmlformats.org/officeDocument/2006/relationships/image"/><Relationship Id="rId5" Target="../media/image149.svg" Type="http://schemas.openxmlformats.org/officeDocument/2006/relationships/image"/><Relationship Id="rId6" Target="../media/image150.png" Type="http://schemas.openxmlformats.org/officeDocument/2006/relationships/image"/><Relationship Id="rId7" Target="../media/image151.svg" Type="http://schemas.openxmlformats.org/officeDocument/2006/relationships/image"/><Relationship Id="rId8" Target="../media/image152.png" Type="http://schemas.openxmlformats.org/officeDocument/2006/relationships/image"/><Relationship Id="rId9" Target="../media/image15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284908" y="6208943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10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10" y="9878664"/>
                </a:lnTo>
                <a:lnTo>
                  <a:pt x="1015801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4" y="0"/>
                </a:moveTo>
                <a:lnTo>
                  <a:pt x="0" y="0"/>
                </a:lnTo>
                <a:lnTo>
                  <a:pt x="0" y="10287000"/>
                </a:lnTo>
                <a:lnTo>
                  <a:pt x="4179094" y="10287000"/>
                </a:lnTo>
                <a:lnTo>
                  <a:pt x="41790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2" t="0" r="-14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5373" y="1516660"/>
            <a:ext cx="7253681" cy="7253681"/>
          </a:xfrm>
          <a:custGeom>
            <a:avLst/>
            <a:gdLst/>
            <a:ahLst/>
            <a:cxnLst/>
            <a:rect r="r" b="b" t="t" l="l"/>
            <a:pathLst>
              <a:path h="7253681" w="7253681">
                <a:moveTo>
                  <a:pt x="0" y="0"/>
                </a:moveTo>
                <a:lnTo>
                  <a:pt x="7253681" y="0"/>
                </a:lnTo>
                <a:lnTo>
                  <a:pt x="7253681" y="7253681"/>
                </a:lnTo>
                <a:lnTo>
                  <a:pt x="0" y="725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78098" y="1874294"/>
            <a:ext cx="7384006" cy="7384006"/>
            <a:chOff x="0" y="0"/>
            <a:chExt cx="9845341" cy="9845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2550" y="82550"/>
              <a:ext cx="8543798" cy="8543798"/>
            </a:xfrm>
            <a:custGeom>
              <a:avLst/>
              <a:gdLst/>
              <a:ahLst/>
              <a:cxnLst/>
              <a:rect r="r" b="b" t="t" l="l"/>
              <a:pathLst>
                <a:path h="8543798" w="8543798">
                  <a:moveTo>
                    <a:pt x="4271899" y="0"/>
                  </a:moveTo>
                  <a:cubicBezTo>
                    <a:pt x="1912620" y="0"/>
                    <a:pt x="0" y="1912620"/>
                    <a:pt x="0" y="4271899"/>
                  </a:cubicBezTo>
                  <a:cubicBezTo>
                    <a:pt x="0" y="6631178"/>
                    <a:pt x="1912620" y="8543798"/>
                    <a:pt x="4271899" y="8543798"/>
                  </a:cubicBezTo>
                  <a:cubicBezTo>
                    <a:pt x="6631178" y="8543798"/>
                    <a:pt x="8543798" y="6631178"/>
                    <a:pt x="8543798" y="4271899"/>
                  </a:cubicBezTo>
                  <a:cubicBezTo>
                    <a:pt x="8543798" y="1912620"/>
                    <a:pt x="6631178" y="0"/>
                    <a:pt x="4271899" y="0"/>
                  </a:cubicBezTo>
                  <a:close/>
                </a:path>
              </a:pathLst>
            </a:custGeom>
            <a:blipFill>
              <a:blip r:embed="rId8"/>
              <a:stretch>
                <a:fillRect l="-38996" t="0" r="-38996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08898" cy="8708898"/>
            </a:xfrm>
            <a:custGeom>
              <a:avLst/>
              <a:gdLst/>
              <a:ahLst/>
              <a:cxnLst/>
              <a:rect r="r" b="b" t="t" l="l"/>
              <a:pathLst>
                <a:path h="8708898" w="8708898">
                  <a:moveTo>
                    <a:pt x="4354449" y="165100"/>
                  </a:moveTo>
                  <a:cubicBezTo>
                    <a:pt x="2040763" y="165100"/>
                    <a:pt x="165100" y="2040763"/>
                    <a:pt x="165100" y="4354449"/>
                  </a:cubicBezTo>
                  <a:lnTo>
                    <a:pt x="82550" y="4354449"/>
                  </a:lnTo>
                  <a:lnTo>
                    <a:pt x="165100" y="4354449"/>
                  </a:lnTo>
                  <a:cubicBezTo>
                    <a:pt x="165100" y="6668135"/>
                    <a:pt x="2040763" y="8543798"/>
                    <a:pt x="4354449" y="8543798"/>
                  </a:cubicBezTo>
                  <a:lnTo>
                    <a:pt x="4354449" y="8626348"/>
                  </a:lnTo>
                  <a:lnTo>
                    <a:pt x="4354449" y="8543798"/>
                  </a:lnTo>
                  <a:cubicBezTo>
                    <a:pt x="6668135" y="8543798"/>
                    <a:pt x="8543798" y="6668135"/>
                    <a:pt x="8543798" y="4354449"/>
                  </a:cubicBezTo>
                  <a:lnTo>
                    <a:pt x="8626348" y="4354449"/>
                  </a:lnTo>
                  <a:lnTo>
                    <a:pt x="8543798" y="4354449"/>
                  </a:lnTo>
                  <a:cubicBezTo>
                    <a:pt x="8543798" y="2040763"/>
                    <a:pt x="6668135" y="165100"/>
                    <a:pt x="4354449" y="165100"/>
                  </a:cubicBezTo>
                  <a:lnTo>
                    <a:pt x="4354449" y="82550"/>
                  </a:lnTo>
                  <a:lnTo>
                    <a:pt x="4354449" y="165100"/>
                  </a:lnTo>
                  <a:moveTo>
                    <a:pt x="4354449" y="0"/>
                  </a:moveTo>
                  <a:cubicBezTo>
                    <a:pt x="6759321" y="0"/>
                    <a:pt x="8708898" y="1949577"/>
                    <a:pt x="8708898" y="4354449"/>
                  </a:cubicBezTo>
                  <a:cubicBezTo>
                    <a:pt x="8708898" y="6759321"/>
                    <a:pt x="6759321" y="8708898"/>
                    <a:pt x="4354449" y="8708898"/>
                  </a:cubicBezTo>
                  <a:cubicBezTo>
                    <a:pt x="1949577" y="8708898"/>
                    <a:pt x="0" y="6759321"/>
                    <a:pt x="0" y="4354449"/>
                  </a:cubicBezTo>
                  <a:cubicBezTo>
                    <a:pt x="0" y="1949577"/>
                    <a:pt x="1949577" y="0"/>
                    <a:pt x="4354449" y="0"/>
                  </a:cubicBezTo>
                  <a:close/>
                </a:path>
              </a:pathLst>
            </a:custGeom>
            <a:solidFill>
              <a:srgbClr val="FFFFF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057564" y="8056564"/>
            <a:ext cx="4460871" cy="4460871"/>
          </a:xfrm>
          <a:custGeom>
            <a:avLst/>
            <a:gdLst/>
            <a:ahLst/>
            <a:cxnLst/>
            <a:rect r="r" b="b" t="t" l="l"/>
            <a:pathLst>
              <a:path h="4460871" w="4460871">
                <a:moveTo>
                  <a:pt x="0" y="0"/>
                </a:moveTo>
                <a:lnTo>
                  <a:pt x="4460871" y="0"/>
                </a:lnTo>
                <a:lnTo>
                  <a:pt x="4460871" y="4460871"/>
                </a:lnTo>
                <a:lnTo>
                  <a:pt x="0" y="446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5373" y="693224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37057" y="7605564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5373" y="918723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437057" y="7831064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595" r="0" b="-595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691687" y="81"/>
            <a:ext cx="3596313" cy="1028619"/>
            <a:chOff x="0" y="0"/>
            <a:chExt cx="4795084" cy="13714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95139" cy="1371473"/>
            </a:xfrm>
            <a:custGeom>
              <a:avLst/>
              <a:gdLst/>
              <a:ahLst/>
              <a:cxnLst/>
              <a:rect r="r" b="b" t="t" l="l"/>
              <a:pathLst>
                <a:path h="1371473" w="4795139">
                  <a:moveTo>
                    <a:pt x="0" y="0"/>
                  </a:moveTo>
                  <a:lnTo>
                    <a:pt x="4795139" y="0"/>
                  </a:lnTo>
                  <a:lnTo>
                    <a:pt x="4795139" y="1371473"/>
                  </a:lnTo>
                  <a:lnTo>
                    <a:pt x="0" y="1371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749" r="1" b="-175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428435" y="1935092"/>
            <a:ext cx="7830865" cy="163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1"/>
              </a:lnSpc>
            </a:pPr>
            <a:r>
              <a:rPr lang="en-US" b="true" sz="8522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TRUCK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8435" y="3020382"/>
            <a:ext cx="8643454" cy="163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1"/>
              </a:lnSpc>
            </a:pPr>
            <a:r>
              <a:rPr lang="en-US" sz="8522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MANAGEMENT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8435" y="4105672"/>
            <a:ext cx="7830865" cy="163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31"/>
              </a:lnSpc>
            </a:pPr>
            <a:r>
              <a:rPr lang="en-US" b="true" sz="8522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28435" y="6161318"/>
            <a:ext cx="7830865" cy="82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smart system that simplifies and automates truck transportation operations across cities and states.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90817" y="7312050"/>
            <a:ext cx="7314484" cy="418774"/>
            <a:chOff x="0" y="0"/>
            <a:chExt cx="9752646" cy="5583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165234"/>
              <a:ext cx="686692" cy="393131"/>
            </a:xfrm>
            <a:custGeom>
              <a:avLst/>
              <a:gdLst/>
              <a:ahLst/>
              <a:cxnLst/>
              <a:rect r="r" b="b" t="t" l="l"/>
              <a:pathLst>
                <a:path h="393131" w="686692">
                  <a:moveTo>
                    <a:pt x="0" y="0"/>
                  </a:moveTo>
                  <a:lnTo>
                    <a:pt x="686692" y="0"/>
                  </a:lnTo>
                  <a:lnTo>
                    <a:pt x="686692" y="393131"/>
                  </a:lnTo>
                  <a:lnTo>
                    <a:pt x="0" y="39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-813" r="0" b="-813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097350" y="0"/>
              <a:ext cx="558365" cy="558365"/>
            </a:xfrm>
            <a:custGeom>
              <a:avLst/>
              <a:gdLst/>
              <a:ahLst/>
              <a:cxnLst/>
              <a:rect r="r" b="b" t="t" l="l"/>
              <a:pathLst>
                <a:path h="558365" w="558365">
                  <a:moveTo>
                    <a:pt x="0" y="0"/>
                  </a:moveTo>
                  <a:lnTo>
                    <a:pt x="558365" y="0"/>
                  </a:lnTo>
                  <a:lnTo>
                    <a:pt x="558365" y="558365"/>
                  </a:lnTo>
                  <a:lnTo>
                    <a:pt x="0" y="558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-1136" r="0" b="-1136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861285" y="87538"/>
              <a:ext cx="445283" cy="426662"/>
            </a:xfrm>
            <a:custGeom>
              <a:avLst/>
              <a:gdLst/>
              <a:ahLst/>
              <a:cxnLst/>
              <a:rect r="r" b="b" t="t" l="l"/>
              <a:pathLst>
                <a:path h="426662" w="445283">
                  <a:moveTo>
                    <a:pt x="0" y="0"/>
                  </a:moveTo>
                  <a:lnTo>
                    <a:pt x="445283" y="0"/>
                  </a:lnTo>
                  <a:lnTo>
                    <a:pt x="445283" y="426662"/>
                  </a:lnTo>
                  <a:lnTo>
                    <a:pt x="0" y="426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-727" t="0" r="-72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913808" y="152249"/>
              <a:ext cx="1762254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Live Tracking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947815" y="152249"/>
              <a:ext cx="2496478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Real Time Analytics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598667" y="152249"/>
              <a:ext cx="2153979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Global Coverage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5918698" y="-7456106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0" y="9878664"/>
                </a:moveTo>
                <a:lnTo>
                  <a:pt x="10158009" y="9878664"/>
                </a:lnTo>
                <a:lnTo>
                  <a:pt x="10158009" y="0"/>
                </a:lnTo>
                <a:lnTo>
                  <a:pt x="0" y="0"/>
                </a:lnTo>
                <a:lnTo>
                  <a:pt x="0" y="9878664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3802935" y="-134688"/>
            <a:ext cx="4485065" cy="11040158"/>
          </a:xfrm>
          <a:custGeom>
            <a:avLst/>
            <a:gdLst/>
            <a:ahLst/>
            <a:cxnLst/>
            <a:rect r="r" b="b" t="t" l="l"/>
            <a:pathLst>
              <a:path h="11040158" w="4485065">
                <a:moveTo>
                  <a:pt x="0" y="11040158"/>
                </a:moveTo>
                <a:lnTo>
                  <a:pt x="4485065" y="11040158"/>
                </a:lnTo>
                <a:lnTo>
                  <a:pt x="4485065" y="0"/>
                </a:lnTo>
                <a:lnTo>
                  <a:pt x="0" y="0"/>
                </a:lnTo>
                <a:lnTo>
                  <a:pt x="0" y="110401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2" t="0" r="-142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175442" y="4244592"/>
            <a:ext cx="4112558" cy="6042408"/>
            <a:chOff x="0" y="0"/>
            <a:chExt cx="5483411" cy="80565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3352" cy="8056507"/>
            </a:xfrm>
            <a:custGeom>
              <a:avLst/>
              <a:gdLst/>
              <a:ahLst/>
              <a:cxnLst/>
              <a:rect r="r" b="b" t="t" l="l"/>
              <a:pathLst>
                <a:path h="8056507" w="5483352">
                  <a:moveTo>
                    <a:pt x="0" y="0"/>
                  </a:moveTo>
                  <a:lnTo>
                    <a:pt x="5483352" y="0"/>
                  </a:lnTo>
                  <a:lnTo>
                    <a:pt x="5483352" y="8056507"/>
                  </a:lnTo>
                  <a:lnTo>
                    <a:pt x="0" y="8056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0408" t="0" r="-6040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00054" y="83022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00054" y="105572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95" r="0" b="-59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01342" y="4315768"/>
            <a:ext cx="140415" cy="1672799"/>
            <a:chOff x="0" y="0"/>
            <a:chExt cx="28892" cy="3441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343" y="4316625"/>
            <a:ext cx="7350411" cy="1672799"/>
            <a:chOff x="0" y="0"/>
            <a:chExt cx="1512430" cy="344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2430" cy="344197"/>
            </a:xfrm>
            <a:custGeom>
              <a:avLst/>
              <a:gdLst/>
              <a:ahLst/>
              <a:cxnLst/>
              <a:rect r="r" b="b" t="t" l="l"/>
              <a:pathLst>
                <a:path h="344197" w="1512430">
                  <a:moveTo>
                    <a:pt x="20572" y="0"/>
                  </a:moveTo>
                  <a:lnTo>
                    <a:pt x="1491859" y="0"/>
                  </a:lnTo>
                  <a:cubicBezTo>
                    <a:pt x="1497315" y="0"/>
                    <a:pt x="1502547" y="2167"/>
                    <a:pt x="1506405" y="6025"/>
                  </a:cubicBezTo>
                  <a:cubicBezTo>
                    <a:pt x="1510263" y="9883"/>
                    <a:pt x="1512430" y="15116"/>
                    <a:pt x="1512430" y="20572"/>
                  </a:cubicBezTo>
                  <a:lnTo>
                    <a:pt x="1512430" y="323626"/>
                  </a:lnTo>
                  <a:cubicBezTo>
                    <a:pt x="1512430" y="329082"/>
                    <a:pt x="1510263" y="334314"/>
                    <a:pt x="1506405" y="338172"/>
                  </a:cubicBezTo>
                  <a:cubicBezTo>
                    <a:pt x="1502547" y="342030"/>
                    <a:pt x="1497315" y="344197"/>
                    <a:pt x="1491859" y="344197"/>
                  </a:cubicBezTo>
                  <a:lnTo>
                    <a:pt x="20572" y="344197"/>
                  </a:lnTo>
                  <a:cubicBezTo>
                    <a:pt x="15116" y="344197"/>
                    <a:pt x="9883" y="342030"/>
                    <a:pt x="6025" y="338172"/>
                  </a:cubicBezTo>
                  <a:cubicBezTo>
                    <a:pt x="2167" y="334314"/>
                    <a:pt x="0" y="329082"/>
                    <a:pt x="0" y="323626"/>
                  </a:cubicBezTo>
                  <a:lnTo>
                    <a:pt x="0" y="20572"/>
                  </a:lnTo>
                  <a:cubicBezTo>
                    <a:pt x="0" y="15116"/>
                    <a:pt x="2167" y="9883"/>
                    <a:pt x="6025" y="6025"/>
                  </a:cubicBezTo>
                  <a:cubicBezTo>
                    <a:pt x="9883" y="2167"/>
                    <a:pt x="15116" y="0"/>
                    <a:pt x="20572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512430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39440" y="4483133"/>
            <a:ext cx="379616" cy="379616"/>
          </a:xfrm>
          <a:custGeom>
            <a:avLst/>
            <a:gdLst/>
            <a:ahLst/>
            <a:cxnLst/>
            <a:rect r="r" b="b" t="t" l="l"/>
            <a:pathLst>
              <a:path h="379616" w="379616">
                <a:moveTo>
                  <a:pt x="0" y="0"/>
                </a:moveTo>
                <a:lnTo>
                  <a:pt x="379616" y="0"/>
                </a:lnTo>
                <a:lnTo>
                  <a:pt x="379616" y="379616"/>
                </a:lnTo>
                <a:lnTo>
                  <a:pt x="0" y="3796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92939" y="4368833"/>
            <a:ext cx="634203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Centralized Operations 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Unifi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es trip creation, milestone tracking, document management and vendor coordination, replacing fragmented manual processes.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8285" y="8139332"/>
            <a:ext cx="140415" cy="1672799"/>
            <a:chOff x="0" y="0"/>
            <a:chExt cx="28892" cy="3441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01343" y="8140190"/>
            <a:ext cx="7337353" cy="1672799"/>
            <a:chOff x="0" y="0"/>
            <a:chExt cx="1509743" cy="344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09744" cy="344197"/>
            </a:xfrm>
            <a:custGeom>
              <a:avLst/>
              <a:gdLst/>
              <a:ahLst/>
              <a:cxnLst/>
              <a:rect r="r" b="b" t="t" l="l"/>
              <a:pathLst>
                <a:path h="344197" w="1509744">
                  <a:moveTo>
                    <a:pt x="20608" y="0"/>
                  </a:moveTo>
                  <a:lnTo>
                    <a:pt x="1489135" y="0"/>
                  </a:lnTo>
                  <a:cubicBezTo>
                    <a:pt x="1494601" y="0"/>
                    <a:pt x="1499843" y="2171"/>
                    <a:pt x="1503708" y="6036"/>
                  </a:cubicBezTo>
                  <a:cubicBezTo>
                    <a:pt x="1507572" y="9901"/>
                    <a:pt x="1509744" y="15143"/>
                    <a:pt x="1509744" y="20608"/>
                  </a:cubicBezTo>
                  <a:lnTo>
                    <a:pt x="1509744" y="323589"/>
                  </a:lnTo>
                  <a:cubicBezTo>
                    <a:pt x="1509744" y="329055"/>
                    <a:pt x="1507572" y="334297"/>
                    <a:pt x="1503708" y="338161"/>
                  </a:cubicBezTo>
                  <a:cubicBezTo>
                    <a:pt x="1499843" y="342026"/>
                    <a:pt x="1494601" y="344197"/>
                    <a:pt x="1489135" y="344197"/>
                  </a:cubicBezTo>
                  <a:lnTo>
                    <a:pt x="20608" y="344197"/>
                  </a:lnTo>
                  <a:cubicBezTo>
                    <a:pt x="15143" y="344197"/>
                    <a:pt x="9901" y="342026"/>
                    <a:pt x="6036" y="338161"/>
                  </a:cubicBezTo>
                  <a:cubicBezTo>
                    <a:pt x="2171" y="334297"/>
                    <a:pt x="0" y="329055"/>
                    <a:pt x="0" y="323589"/>
                  </a:cubicBezTo>
                  <a:lnTo>
                    <a:pt x="0" y="20608"/>
                  </a:lnTo>
                  <a:cubicBezTo>
                    <a:pt x="0" y="15143"/>
                    <a:pt x="2171" y="9901"/>
                    <a:pt x="6036" y="6036"/>
                  </a:cubicBezTo>
                  <a:cubicBezTo>
                    <a:pt x="9901" y="2171"/>
                    <a:pt x="15143" y="0"/>
                    <a:pt x="20608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509743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79881" y="8192397"/>
            <a:ext cx="634203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I</a:t>
            </a: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ntegrated Finance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S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eamlessly manages Accounts Receivable (AR) &amp; Payable (AP) alongside operational workflows for complete financial control.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97278" y="8339357"/>
            <a:ext cx="330707" cy="220747"/>
          </a:xfrm>
          <a:custGeom>
            <a:avLst/>
            <a:gdLst/>
            <a:ahLst/>
            <a:cxnLst/>
            <a:rect r="r" b="b" t="t" l="l"/>
            <a:pathLst>
              <a:path h="220747" w="330707">
                <a:moveTo>
                  <a:pt x="0" y="0"/>
                </a:moveTo>
                <a:lnTo>
                  <a:pt x="330707" y="0"/>
                </a:lnTo>
                <a:lnTo>
                  <a:pt x="330707" y="220747"/>
                </a:lnTo>
                <a:lnTo>
                  <a:pt x="0" y="2207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01342" y="6227550"/>
            <a:ext cx="140415" cy="1672799"/>
            <a:chOff x="0" y="0"/>
            <a:chExt cx="28892" cy="3441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01343" y="6228407"/>
            <a:ext cx="7350411" cy="1672799"/>
            <a:chOff x="0" y="0"/>
            <a:chExt cx="1512430" cy="3441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12430" cy="344197"/>
            </a:xfrm>
            <a:custGeom>
              <a:avLst/>
              <a:gdLst/>
              <a:ahLst/>
              <a:cxnLst/>
              <a:rect r="r" b="b" t="t" l="l"/>
              <a:pathLst>
                <a:path h="344197" w="1512430">
                  <a:moveTo>
                    <a:pt x="20572" y="0"/>
                  </a:moveTo>
                  <a:lnTo>
                    <a:pt x="1491859" y="0"/>
                  </a:lnTo>
                  <a:cubicBezTo>
                    <a:pt x="1497315" y="0"/>
                    <a:pt x="1502547" y="2167"/>
                    <a:pt x="1506405" y="6025"/>
                  </a:cubicBezTo>
                  <a:cubicBezTo>
                    <a:pt x="1510263" y="9883"/>
                    <a:pt x="1512430" y="15116"/>
                    <a:pt x="1512430" y="20572"/>
                  </a:cubicBezTo>
                  <a:lnTo>
                    <a:pt x="1512430" y="323626"/>
                  </a:lnTo>
                  <a:cubicBezTo>
                    <a:pt x="1512430" y="329082"/>
                    <a:pt x="1510263" y="334314"/>
                    <a:pt x="1506405" y="338172"/>
                  </a:cubicBezTo>
                  <a:cubicBezTo>
                    <a:pt x="1502547" y="342030"/>
                    <a:pt x="1497315" y="344197"/>
                    <a:pt x="1491859" y="344197"/>
                  </a:cubicBezTo>
                  <a:lnTo>
                    <a:pt x="20572" y="344197"/>
                  </a:lnTo>
                  <a:cubicBezTo>
                    <a:pt x="15116" y="344197"/>
                    <a:pt x="9883" y="342030"/>
                    <a:pt x="6025" y="338172"/>
                  </a:cubicBezTo>
                  <a:cubicBezTo>
                    <a:pt x="2167" y="334314"/>
                    <a:pt x="0" y="329082"/>
                    <a:pt x="0" y="323626"/>
                  </a:cubicBezTo>
                  <a:lnTo>
                    <a:pt x="0" y="20572"/>
                  </a:lnTo>
                  <a:cubicBezTo>
                    <a:pt x="0" y="15116"/>
                    <a:pt x="2167" y="9883"/>
                    <a:pt x="6025" y="6025"/>
                  </a:cubicBezTo>
                  <a:cubicBezTo>
                    <a:pt x="9883" y="2167"/>
                    <a:pt x="15116" y="0"/>
                    <a:pt x="20572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512430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206711" y="6451373"/>
            <a:ext cx="321273" cy="226899"/>
          </a:xfrm>
          <a:custGeom>
            <a:avLst/>
            <a:gdLst/>
            <a:ahLst/>
            <a:cxnLst/>
            <a:rect r="r" b="b" t="t" l="l"/>
            <a:pathLst>
              <a:path h="226899" w="321273">
                <a:moveTo>
                  <a:pt x="0" y="0"/>
                </a:moveTo>
                <a:lnTo>
                  <a:pt x="321274" y="0"/>
                </a:lnTo>
                <a:lnTo>
                  <a:pt x="321274" y="226899"/>
                </a:lnTo>
                <a:lnTo>
                  <a:pt x="0" y="2268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692939" y="6356123"/>
            <a:ext cx="6342032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R</a:t>
            </a: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eal-Time Visibility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nsur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es transparency with live updates from booking to delivery, enabling confident scaling for logistics businesses.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8285" y="2774983"/>
            <a:ext cx="12173280" cy="9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Our 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Truck Management System (TMS) is a comprehensive digital platform designed to streamline, automate and enhance truck transportation operations across countries. It centralizes critical operational flows into a single robust solution.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88285" y="747384"/>
            <a:ext cx="12435665" cy="152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2"/>
              </a:lnSpc>
            </a:pP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EXECUTIVE</a:t>
            </a:r>
            <a:r>
              <a:rPr lang="en-US" sz="7945" b="true">
                <a:solidFill>
                  <a:srgbClr val="006E6C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79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SUMMARY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09777" y="4446229"/>
            <a:ext cx="4765665" cy="5235441"/>
            <a:chOff x="0" y="0"/>
            <a:chExt cx="6354220" cy="69805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654429"/>
              <a:ext cx="238050" cy="238050"/>
            </a:xfrm>
            <a:custGeom>
              <a:avLst/>
              <a:gdLst/>
              <a:ahLst/>
              <a:cxnLst/>
              <a:rect r="r" b="b" t="t" l="l"/>
              <a:pathLst>
                <a:path h="238050" w="238050">
                  <a:moveTo>
                    <a:pt x="0" y="0"/>
                  </a:moveTo>
                  <a:lnTo>
                    <a:pt x="238050" y="0"/>
                  </a:lnTo>
                  <a:lnTo>
                    <a:pt x="238050" y="238049"/>
                  </a:lnTo>
                  <a:lnTo>
                    <a:pt x="0" y="238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2213367"/>
              <a:ext cx="238050" cy="238050"/>
            </a:xfrm>
            <a:custGeom>
              <a:avLst/>
              <a:gdLst/>
              <a:ahLst/>
              <a:cxnLst/>
              <a:rect r="r" b="b" t="t" l="l"/>
              <a:pathLst>
                <a:path h="238050" w="238050">
                  <a:moveTo>
                    <a:pt x="0" y="0"/>
                  </a:moveTo>
                  <a:lnTo>
                    <a:pt x="238050" y="0"/>
                  </a:lnTo>
                  <a:lnTo>
                    <a:pt x="238050" y="238050"/>
                  </a:lnTo>
                  <a:lnTo>
                    <a:pt x="0" y="23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3772305"/>
              <a:ext cx="238050" cy="238050"/>
            </a:xfrm>
            <a:custGeom>
              <a:avLst/>
              <a:gdLst/>
              <a:ahLst/>
              <a:cxnLst/>
              <a:rect r="r" b="b" t="t" l="l"/>
              <a:pathLst>
                <a:path h="238050" w="238050">
                  <a:moveTo>
                    <a:pt x="0" y="0"/>
                  </a:moveTo>
                  <a:lnTo>
                    <a:pt x="238050" y="0"/>
                  </a:lnTo>
                  <a:lnTo>
                    <a:pt x="238050" y="238050"/>
                  </a:lnTo>
                  <a:lnTo>
                    <a:pt x="0" y="23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5331244"/>
              <a:ext cx="238050" cy="238050"/>
            </a:xfrm>
            <a:custGeom>
              <a:avLst/>
              <a:gdLst/>
              <a:ahLst/>
              <a:cxnLst/>
              <a:rect r="r" b="b" t="t" l="l"/>
              <a:pathLst>
                <a:path h="238050" w="238050">
                  <a:moveTo>
                    <a:pt x="0" y="0"/>
                  </a:moveTo>
                  <a:lnTo>
                    <a:pt x="238050" y="0"/>
                  </a:lnTo>
                  <a:lnTo>
                    <a:pt x="238050" y="238050"/>
                  </a:lnTo>
                  <a:lnTo>
                    <a:pt x="0" y="238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435981" y="574654"/>
              <a:ext cx="3581117" cy="381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0"/>
                </a:lnSpc>
              </a:pPr>
              <a:r>
                <a:rPr lang="en-US" sz="1838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Reduce Manual Work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0" y="6530456"/>
              <a:ext cx="5488172" cy="450132"/>
              <a:chOff x="0" y="0"/>
              <a:chExt cx="7569857" cy="620869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7569835" cy="620903"/>
              </a:xfrm>
              <a:custGeom>
                <a:avLst/>
                <a:gdLst/>
                <a:ahLst/>
                <a:cxnLst/>
                <a:rect r="r" b="b" t="t" l="l"/>
                <a:pathLst>
                  <a:path h="620903" w="7569835">
                    <a:moveTo>
                      <a:pt x="0" y="0"/>
                    </a:moveTo>
                    <a:lnTo>
                      <a:pt x="7569835" y="0"/>
                    </a:lnTo>
                    <a:lnTo>
                      <a:pt x="7569835" y="620903"/>
                    </a:lnTo>
                    <a:lnTo>
                      <a:pt x="0" y="6209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0" t="-76879" r="0" b="-76873"/>
                </a:stretch>
              </a:blip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119025" y="0"/>
              <a:ext cx="5204112" cy="311454"/>
              <a:chOff x="0" y="0"/>
              <a:chExt cx="7178053" cy="4295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7178040" cy="429641"/>
              </a:xfrm>
              <a:custGeom>
                <a:avLst/>
                <a:gdLst/>
                <a:ahLst/>
                <a:cxnLst/>
                <a:rect r="r" b="b" t="t" l="l"/>
                <a:pathLst>
                  <a:path h="429641" w="7178040">
                    <a:moveTo>
                      <a:pt x="0" y="0"/>
                    </a:moveTo>
                    <a:lnTo>
                      <a:pt x="7178040" y="0"/>
                    </a:lnTo>
                    <a:lnTo>
                      <a:pt x="7178040" y="429641"/>
                    </a:lnTo>
                    <a:lnTo>
                      <a:pt x="0" y="42964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8"/>
                <a:stretch>
                  <a:fillRect l="-7741" t="0" r="-7742" b="11"/>
                </a:stretch>
              </a:blipFill>
            </p:spPr>
          </p:sp>
        </p:grpSp>
        <p:sp>
          <p:nvSpPr>
            <p:cNvPr name="TextBox 44" id="44"/>
            <p:cNvSpPr txBox="true"/>
            <p:nvPr/>
          </p:nvSpPr>
          <p:spPr>
            <a:xfrm rot="0">
              <a:off x="435981" y="2133593"/>
              <a:ext cx="3581117" cy="381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0"/>
                </a:lnSpc>
              </a:pPr>
              <a:r>
                <a:rPr lang="en-US" sz="1838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Enhance Transparency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435981" y="1072347"/>
              <a:ext cx="4887155" cy="97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19"/>
                </a:lnSpc>
              </a:pPr>
              <a:r>
                <a:rPr lang="en-US" sz="147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Automate repetitive tasks and digitize paperwork to free staff for higher-value activities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435981" y="2631285"/>
              <a:ext cx="4887155" cy="97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19"/>
                </a:lnSpc>
              </a:pPr>
              <a:r>
                <a:rPr lang="en-US" sz="147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Gain complete visibility over shipments with real-time tracking and milestone updates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435981" y="3692531"/>
              <a:ext cx="5918238" cy="381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0"/>
                </a:lnSpc>
              </a:pPr>
              <a:r>
                <a:rPr lang="en-US" sz="1838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Optimize Operations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435981" y="4190224"/>
              <a:ext cx="4887155" cy="974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19"/>
                </a:lnSpc>
              </a:pPr>
              <a:r>
                <a:rPr lang="en-US" sz="147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Streamline booking, tracking, and communication with centralized management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435981" y="5251470"/>
              <a:ext cx="4193687" cy="381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0"/>
                </a:lnSpc>
              </a:pPr>
              <a:r>
                <a:rPr lang="en-US" sz="1838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Empower Decision Making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435981" y="5749162"/>
              <a:ext cx="4887155" cy="652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919"/>
                </a:lnSpc>
              </a:pPr>
              <a:r>
                <a:rPr lang="en-US" sz="1476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Access critical data instantly to make informed decisions and respond quickly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04517"/>
            <a:ext cx="8420646" cy="8189078"/>
          </a:xfrm>
          <a:custGeom>
            <a:avLst/>
            <a:gdLst/>
            <a:ahLst/>
            <a:cxnLst/>
            <a:rect r="r" b="b" t="t" l="l"/>
            <a:pathLst>
              <a:path h="8189078" w="8420646">
                <a:moveTo>
                  <a:pt x="0" y="0"/>
                </a:moveTo>
                <a:lnTo>
                  <a:pt x="8420646" y="0"/>
                </a:lnTo>
                <a:lnTo>
                  <a:pt x="8420646" y="8189077"/>
                </a:lnTo>
                <a:lnTo>
                  <a:pt x="0" y="818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79407" y="-3010720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4" y="0"/>
                </a:lnTo>
                <a:lnTo>
                  <a:pt x="5558814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594778"/>
            <a:ext cx="1701887" cy="451000"/>
            <a:chOff x="0" y="0"/>
            <a:chExt cx="2269183" cy="601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7"/>
                  </a:lnTo>
                  <a:lnTo>
                    <a:pt x="0" y="30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595" r="0" b="-595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300667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6"/>
                  </a:lnTo>
                  <a:lnTo>
                    <a:pt x="0" y="30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595" r="0" b="-59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21756" y="3324458"/>
            <a:ext cx="13197671" cy="5440071"/>
            <a:chOff x="0" y="0"/>
            <a:chExt cx="17596895" cy="725342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87220" cy="2230399"/>
              <a:chOff x="0" y="0"/>
              <a:chExt cx="28892" cy="34419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144"/>
              <a:ext cx="11382174" cy="2230399"/>
              <a:chOff x="0" y="0"/>
              <a:chExt cx="1756508" cy="3441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56508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756508">
                    <a:moveTo>
                      <a:pt x="17713" y="0"/>
                    </a:moveTo>
                    <a:lnTo>
                      <a:pt x="1738795" y="0"/>
                    </a:lnTo>
                    <a:cubicBezTo>
                      <a:pt x="1743493" y="0"/>
                      <a:pt x="1747999" y="1866"/>
                      <a:pt x="1751320" y="5188"/>
                    </a:cubicBezTo>
                    <a:cubicBezTo>
                      <a:pt x="1754642" y="8510"/>
                      <a:pt x="1756508" y="13015"/>
                      <a:pt x="1756508" y="17713"/>
                    </a:cubicBezTo>
                    <a:lnTo>
                      <a:pt x="1756508" y="326484"/>
                    </a:lnTo>
                    <a:cubicBezTo>
                      <a:pt x="1756508" y="336267"/>
                      <a:pt x="1748578" y="344197"/>
                      <a:pt x="1738795" y="344197"/>
                    </a:cubicBezTo>
                    <a:lnTo>
                      <a:pt x="17713" y="344197"/>
                    </a:lnTo>
                    <a:cubicBezTo>
                      <a:pt x="7930" y="344197"/>
                      <a:pt x="0" y="336267"/>
                      <a:pt x="0" y="326484"/>
                    </a:cubicBezTo>
                    <a:lnTo>
                      <a:pt x="0" y="17713"/>
                    </a:lnTo>
                    <a:cubicBezTo>
                      <a:pt x="0" y="7930"/>
                      <a:pt x="7930" y="0"/>
                      <a:pt x="17713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1756508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4553078" y="2510943"/>
              <a:ext cx="187220" cy="2230399"/>
              <a:chOff x="0" y="0"/>
              <a:chExt cx="28892" cy="34419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553078" y="2512086"/>
              <a:ext cx="9800548" cy="2230399"/>
              <a:chOff x="0" y="0"/>
              <a:chExt cx="1512430" cy="34419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5608540" y="2610272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Branch-Based Operations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Enabl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es scalable state-wise expansion with dedicated branch creation. Supports accurate GST-based rate calculations and localized operational management.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7796347" y="5021886"/>
              <a:ext cx="187220" cy="2230399"/>
              <a:chOff x="0" y="0"/>
              <a:chExt cx="28892" cy="34419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7796347" y="5023029"/>
              <a:ext cx="9800548" cy="2230399"/>
              <a:chOff x="0" y="0"/>
              <a:chExt cx="1512430" cy="34419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8851808" y="5121215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Milestone Tracking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Provid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es real-time visibility into every trip with departure, arrival and location-based updates. Eliminates manual follow-ups and enhances client trust.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4866694" y="2637943"/>
              <a:ext cx="563906" cy="552628"/>
            </a:xfrm>
            <a:custGeom>
              <a:avLst/>
              <a:gdLst/>
              <a:ahLst/>
              <a:cxnLst/>
              <a:rect r="r" b="b" t="t" l="l"/>
              <a:pathLst>
                <a:path h="552628" w="563906">
                  <a:moveTo>
                    <a:pt x="0" y="0"/>
                  </a:moveTo>
                  <a:lnTo>
                    <a:pt x="563907" y="0"/>
                  </a:lnTo>
                  <a:lnTo>
                    <a:pt x="563907" y="552628"/>
                  </a:lnTo>
                  <a:lnTo>
                    <a:pt x="0" y="552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8035733" y="5250486"/>
              <a:ext cx="607634" cy="723374"/>
            </a:xfrm>
            <a:custGeom>
              <a:avLst/>
              <a:gdLst/>
              <a:ahLst/>
              <a:cxnLst/>
              <a:rect r="r" b="b" t="t" l="l"/>
              <a:pathLst>
                <a:path h="723374" w="607634">
                  <a:moveTo>
                    <a:pt x="0" y="0"/>
                  </a:moveTo>
                  <a:lnTo>
                    <a:pt x="607634" y="0"/>
                  </a:lnTo>
                  <a:lnTo>
                    <a:pt x="607634" y="723373"/>
                  </a:lnTo>
                  <a:lnTo>
                    <a:pt x="0" y="723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055461" y="99329"/>
              <a:ext cx="9965776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Role-Based Login Structure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Secure, hierarchical acc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ess control for all stakeholders including Owner, Company, Branch, Sub Admin, Users and Master Data handlers. Ensures data integrity and operational security.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357027" y="185054"/>
              <a:ext cx="426560" cy="507809"/>
            </a:xfrm>
            <a:custGeom>
              <a:avLst/>
              <a:gdLst/>
              <a:ahLst/>
              <a:cxnLst/>
              <a:rect r="r" b="b" t="t" l="l"/>
              <a:pathLst>
                <a:path h="507809" w="426560">
                  <a:moveTo>
                    <a:pt x="0" y="0"/>
                  </a:moveTo>
                  <a:lnTo>
                    <a:pt x="426560" y="0"/>
                  </a:lnTo>
                  <a:lnTo>
                    <a:pt x="426560" y="507809"/>
                  </a:lnTo>
                  <a:lnTo>
                    <a:pt x="0" y="507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321756" y="328999"/>
            <a:ext cx="8983275" cy="128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5"/>
              </a:lnSpc>
            </a:pPr>
            <a:r>
              <a:rPr lang="en-US" sz="6761" b="true">
                <a:solidFill>
                  <a:srgbClr val="1F2629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KEY</a:t>
            </a:r>
            <a:r>
              <a:rPr lang="en-US" b="true" sz="6761">
                <a:solidFill>
                  <a:srgbClr val="006E6C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6761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FEATURES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21756" y="2510289"/>
            <a:ext cx="4383048" cy="3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6"/>
              </a:lnSpc>
            </a:pPr>
            <a:r>
              <a:rPr lang="en-US" sz="22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Infrastructure &amp; Tracking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21756" y="1567020"/>
            <a:ext cx="1552887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 system offers multi-level role-based access, real-time milestone tracking, vendor mobile integration, digital document management and complete AR/AP financial control to simplify and streamline every stage of truck transport operations.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7309" y="6403623"/>
            <a:ext cx="7477180" cy="7271557"/>
          </a:xfrm>
          <a:custGeom>
            <a:avLst/>
            <a:gdLst/>
            <a:ahLst/>
            <a:cxnLst/>
            <a:rect r="r" b="b" t="t" l="l"/>
            <a:pathLst>
              <a:path h="7271557" w="7477180">
                <a:moveTo>
                  <a:pt x="0" y="0"/>
                </a:moveTo>
                <a:lnTo>
                  <a:pt x="7477180" y="0"/>
                </a:lnTo>
                <a:lnTo>
                  <a:pt x="7477180" y="7271557"/>
                </a:lnTo>
                <a:lnTo>
                  <a:pt x="0" y="7271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3986" y="2700495"/>
            <a:ext cx="15610196" cy="7338906"/>
            <a:chOff x="0" y="0"/>
            <a:chExt cx="20813595" cy="978520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87220" cy="2230399"/>
              <a:chOff x="0" y="0"/>
              <a:chExt cx="28892" cy="34419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144"/>
              <a:ext cx="11382174" cy="2230399"/>
              <a:chOff x="0" y="0"/>
              <a:chExt cx="1756508" cy="34419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56508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756508">
                    <a:moveTo>
                      <a:pt x="17713" y="0"/>
                    </a:moveTo>
                    <a:lnTo>
                      <a:pt x="1738795" y="0"/>
                    </a:lnTo>
                    <a:cubicBezTo>
                      <a:pt x="1743493" y="0"/>
                      <a:pt x="1747999" y="1866"/>
                      <a:pt x="1751320" y="5188"/>
                    </a:cubicBezTo>
                    <a:cubicBezTo>
                      <a:pt x="1754642" y="8510"/>
                      <a:pt x="1756508" y="13015"/>
                      <a:pt x="1756508" y="17713"/>
                    </a:cubicBezTo>
                    <a:lnTo>
                      <a:pt x="1756508" y="326484"/>
                    </a:lnTo>
                    <a:cubicBezTo>
                      <a:pt x="1756508" y="336267"/>
                      <a:pt x="1748578" y="344197"/>
                      <a:pt x="1738795" y="344197"/>
                    </a:cubicBezTo>
                    <a:lnTo>
                      <a:pt x="17713" y="344197"/>
                    </a:lnTo>
                    <a:cubicBezTo>
                      <a:pt x="7930" y="344197"/>
                      <a:pt x="0" y="336267"/>
                      <a:pt x="0" y="326484"/>
                    </a:cubicBezTo>
                    <a:lnTo>
                      <a:pt x="0" y="17713"/>
                    </a:lnTo>
                    <a:cubicBezTo>
                      <a:pt x="0" y="7930"/>
                      <a:pt x="7930" y="0"/>
                      <a:pt x="17713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9050"/>
                <a:ext cx="1756508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055461" y="99329"/>
              <a:ext cx="9965776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Vendor Mobile Application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"/>
                  <a:ea typeface="Gabriel Sans"/>
                  <a:cs typeface="Gabriel Sans"/>
                  <a:sym typeface="Gabriel Sans"/>
                </a:rPr>
                <a:t>Empowers drivers to update trip status, share live tracking details and upload shipment documents directly from the road, enhancing connectivity.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3372665" y="2514065"/>
              <a:ext cx="187220" cy="2230399"/>
              <a:chOff x="0" y="0"/>
              <a:chExt cx="28892" cy="3441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3372665" y="2515208"/>
              <a:ext cx="9800548" cy="2230399"/>
              <a:chOff x="0" y="0"/>
              <a:chExt cx="1512430" cy="34419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428127" y="2613394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Branch-Based Operations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Str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eamlines the booking lifecycle where users create entries and sub-admins validate, approve and manage milestone updates for total control.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7199447" y="5028130"/>
              <a:ext cx="187220" cy="2230399"/>
              <a:chOff x="0" y="0"/>
              <a:chExt cx="28892" cy="34419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199447" y="5029273"/>
              <a:ext cx="9800548" cy="2230399"/>
              <a:chOff x="0" y="0"/>
              <a:chExt cx="1512430" cy="34419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8254908" y="5127459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Master Data Management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Provid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es a centralized and robust setup for managing critical client information, vendor lists and location details to ensure data accuracy.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11013047" y="7553665"/>
              <a:ext cx="187220" cy="2230399"/>
              <a:chOff x="0" y="0"/>
              <a:chExt cx="28892" cy="34419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8892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28892">
                    <a:moveTo>
                      <a:pt x="14446" y="0"/>
                    </a:moveTo>
                    <a:lnTo>
                      <a:pt x="14446" y="0"/>
                    </a:lnTo>
                    <a:cubicBezTo>
                      <a:pt x="22424" y="0"/>
                      <a:pt x="28892" y="6468"/>
                      <a:pt x="28892" y="14446"/>
                    </a:cubicBezTo>
                    <a:lnTo>
                      <a:pt x="28892" y="329751"/>
                    </a:lnTo>
                    <a:cubicBezTo>
                      <a:pt x="28892" y="337730"/>
                      <a:pt x="22424" y="344197"/>
                      <a:pt x="14446" y="344197"/>
                    </a:cubicBezTo>
                    <a:lnTo>
                      <a:pt x="14446" y="344197"/>
                    </a:lnTo>
                    <a:cubicBezTo>
                      <a:pt x="6468" y="344197"/>
                      <a:pt x="0" y="337730"/>
                      <a:pt x="0" y="329751"/>
                    </a:cubicBezTo>
                    <a:lnTo>
                      <a:pt x="0" y="14446"/>
                    </a:lnTo>
                    <a:cubicBezTo>
                      <a:pt x="0" y="6468"/>
                      <a:pt x="6468" y="0"/>
                      <a:pt x="14446" y="0"/>
                    </a:cubicBezTo>
                    <a:close/>
                  </a:path>
                </a:pathLst>
              </a:custGeom>
              <a:solidFill>
                <a:srgbClr val="438ECD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28892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1013047" y="7554809"/>
              <a:ext cx="9800548" cy="2230399"/>
              <a:chOff x="0" y="0"/>
              <a:chExt cx="1512430" cy="34419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512430" cy="344197"/>
              </a:xfrm>
              <a:custGeom>
                <a:avLst/>
                <a:gdLst/>
                <a:ahLst/>
                <a:cxnLst/>
                <a:rect r="r" b="b" t="t" l="l"/>
                <a:pathLst>
                  <a:path h="344197" w="1512430">
                    <a:moveTo>
                      <a:pt x="20572" y="0"/>
                    </a:moveTo>
                    <a:lnTo>
                      <a:pt x="1491859" y="0"/>
                    </a:lnTo>
                    <a:cubicBezTo>
                      <a:pt x="1497315" y="0"/>
                      <a:pt x="1502547" y="2167"/>
                      <a:pt x="1506405" y="6025"/>
                    </a:cubicBezTo>
                    <a:cubicBezTo>
                      <a:pt x="1510263" y="9883"/>
                      <a:pt x="1512430" y="15116"/>
                      <a:pt x="1512430" y="20572"/>
                    </a:cubicBezTo>
                    <a:lnTo>
                      <a:pt x="1512430" y="323626"/>
                    </a:lnTo>
                    <a:cubicBezTo>
                      <a:pt x="1512430" y="329082"/>
                      <a:pt x="1510263" y="334314"/>
                      <a:pt x="1506405" y="338172"/>
                    </a:cubicBezTo>
                    <a:cubicBezTo>
                      <a:pt x="1502547" y="342030"/>
                      <a:pt x="1497315" y="344197"/>
                      <a:pt x="1491859" y="344197"/>
                    </a:cubicBezTo>
                    <a:lnTo>
                      <a:pt x="20572" y="344197"/>
                    </a:lnTo>
                    <a:cubicBezTo>
                      <a:pt x="15116" y="344197"/>
                      <a:pt x="9883" y="342030"/>
                      <a:pt x="6025" y="338172"/>
                    </a:cubicBezTo>
                    <a:cubicBezTo>
                      <a:pt x="2167" y="334314"/>
                      <a:pt x="0" y="329082"/>
                      <a:pt x="0" y="323626"/>
                    </a:cubicBezTo>
                    <a:lnTo>
                      <a:pt x="0" y="20572"/>
                    </a:lnTo>
                    <a:cubicBezTo>
                      <a:pt x="0" y="15116"/>
                      <a:pt x="2167" y="9883"/>
                      <a:pt x="6025" y="6025"/>
                    </a:cubicBezTo>
                    <a:cubicBezTo>
                      <a:pt x="9883" y="2167"/>
                      <a:pt x="15116" y="0"/>
                      <a:pt x="20572" y="0"/>
                    </a:cubicBezTo>
                    <a:close/>
                  </a:path>
                </a:pathLst>
              </a:custGeom>
              <a:solidFill>
                <a:srgbClr val="438ECD">
                  <a:alpha val="28627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9050"/>
                <a:ext cx="1512430" cy="3632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2068509" y="7652994"/>
              <a:ext cx="8456042" cy="189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briel Sans Bold"/>
                  <a:ea typeface="Gabriel Sans Bold"/>
                  <a:cs typeface="Gabriel Sans Bold"/>
                  <a:sym typeface="Gabriel Sans Bold"/>
                </a:rPr>
                <a:t>Document Repository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C</a:t>
              </a:r>
              <a:r>
                <a:rPr lang="en-US" sz="2000">
                  <a:solidFill>
                    <a:srgbClr val="000000"/>
                  </a:solidFill>
                  <a:latin typeface="Gabriel Sans Condensed"/>
                  <a:ea typeface="Gabriel Sans Condensed"/>
                  <a:cs typeface="Gabriel Sans Condensed"/>
                  <a:sym typeface="Gabriel Sans Condensed"/>
                </a:rPr>
                <a:t>entralizes storage for LR copies, shipment-related docs and consigner/consignee files, all easily accessible via unique booking numbers.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342345" y="200463"/>
              <a:ext cx="565805" cy="562719"/>
            </a:xfrm>
            <a:custGeom>
              <a:avLst/>
              <a:gdLst/>
              <a:ahLst/>
              <a:cxnLst/>
              <a:rect r="r" b="b" t="t" l="l"/>
              <a:pathLst>
                <a:path h="562719" w="565805">
                  <a:moveTo>
                    <a:pt x="0" y="0"/>
                  </a:moveTo>
                  <a:lnTo>
                    <a:pt x="565805" y="0"/>
                  </a:lnTo>
                  <a:lnTo>
                    <a:pt x="565805" y="562719"/>
                  </a:lnTo>
                  <a:lnTo>
                    <a:pt x="0" y="5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727517" y="2655809"/>
              <a:ext cx="563906" cy="552628"/>
            </a:xfrm>
            <a:custGeom>
              <a:avLst/>
              <a:gdLst/>
              <a:ahLst/>
              <a:cxnLst/>
              <a:rect r="r" b="b" t="t" l="l"/>
              <a:pathLst>
                <a:path h="552628" w="563906">
                  <a:moveTo>
                    <a:pt x="0" y="0"/>
                  </a:moveTo>
                  <a:lnTo>
                    <a:pt x="563906" y="0"/>
                  </a:lnTo>
                  <a:lnTo>
                    <a:pt x="563906" y="552628"/>
                  </a:lnTo>
                  <a:lnTo>
                    <a:pt x="0" y="552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7533460" y="5188880"/>
              <a:ext cx="513599" cy="537800"/>
            </a:xfrm>
            <a:custGeom>
              <a:avLst/>
              <a:gdLst/>
              <a:ahLst/>
              <a:cxnLst/>
              <a:rect r="r" b="b" t="t" l="l"/>
              <a:pathLst>
                <a:path h="537800" w="513599">
                  <a:moveTo>
                    <a:pt x="0" y="0"/>
                  </a:moveTo>
                  <a:lnTo>
                    <a:pt x="513599" y="0"/>
                  </a:lnTo>
                  <a:lnTo>
                    <a:pt x="513599" y="537801"/>
                  </a:lnTo>
                  <a:lnTo>
                    <a:pt x="0" y="537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382174" y="7757333"/>
              <a:ext cx="507821" cy="493856"/>
            </a:xfrm>
            <a:custGeom>
              <a:avLst/>
              <a:gdLst/>
              <a:ahLst/>
              <a:cxnLst/>
              <a:rect r="r" b="b" t="t" l="l"/>
              <a:pathLst>
                <a:path h="493856" w="507821">
                  <a:moveTo>
                    <a:pt x="0" y="0"/>
                  </a:moveTo>
                  <a:lnTo>
                    <a:pt x="507821" y="0"/>
                  </a:lnTo>
                  <a:lnTo>
                    <a:pt x="507821" y="493856"/>
                  </a:lnTo>
                  <a:lnTo>
                    <a:pt x="0" y="493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-2779407" y="-3010720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4" y="0"/>
                </a:lnTo>
                <a:lnTo>
                  <a:pt x="5558814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053986" y="619435"/>
            <a:ext cx="7299348" cy="128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5"/>
              </a:lnSpc>
            </a:pPr>
            <a:r>
              <a:rPr lang="en-US" sz="6761" b="true">
                <a:solidFill>
                  <a:srgbClr val="1F2629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KEY</a:t>
            </a:r>
            <a:r>
              <a:rPr lang="en-US" b="true" sz="6761">
                <a:solidFill>
                  <a:srgbClr val="006E6C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6761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FEATURES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053986" y="2041695"/>
            <a:ext cx="6204704" cy="3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6"/>
              </a:lnSpc>
            </a:pPr>
            <a:r>
              <a:rPr lang="en-US" sz="22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Management &amp; Documentation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93390" y="6458303"/>
            <a:ext cx="7477180" cy="7271557"/>
          </a:xfrm>
          <a:custGeom>
            <a:avLst/>
            <a:gdLst/>
            <a:ahLst/>
            <a:cxnLst/>
            <a:rect r="r" b="b" t="t" l="l"/>
            <a:pathLst>
              <a:path h="7271557" w="7477180">
                <a:moveTo>
                  <a:pt x="0" y="0"/>
                </a:moveTo>
                <a:lnTo>
                  <a:pt x="7477180" y="0"/>
                </a:lnTo>
                <a:lnTo>
                  <a:pt x="7477180" y="7271557"/>
                </a:lnTo>
                <a:lnTo>
                  <a:pt x="0" y="7271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79407" y="-3010720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4" y="0"/>
                </a:lnTo>
                <a:lnTo>
                  <a:pt x="5558814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0880" y="923925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0880" y="9378406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5" r="0" b="-59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779408" y="3200634"/>
            <a:ext cx="140415" cy="1672799"/>
            <a:chOff x="0" y="0"/>
            <a:chExt cx="28892" cy="3441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2" cy="344197"/>
            </a:xfrm>
            <a:custGeom>
              <a:avLst/>
              <a:gdLst/>
              <a:ahLst/>
              <a:cxnLst/>
              <a:rect r="r" b="b" t="t" l="l"/>
              <a:pathLst>
                <a:path h="344197" w="28892">
                  <a:moveTo>
                    <a:pt x="14446" y="0"/>
                  </a:moveTo>
                  <a:lnTo>
                    <a:pt x="14446" y="0"/>
                  </a:lnTo>
                  <a:cubicBezTo>
                    <a:pt x="22424" y="0"/>
                    <a:pt x="28892" y="6468"/>
                    <a:pt x="28892" y="14446"/>
                  </a:cubicBezTo>
                  <a:lnTo>
                    <a:pt x="28892" y="329751"/>
                  </a:lnTo>
                  <a:cubicBezTo>
                    <a:pt x="28892" y="337730"/>
                    <a:pt x="22424" y="344197"/>
                    <a:pt x="14446" y="344197"/>
                  </a:cubicBezTo>
                  <a:lnTo>
                    <a:pt x="14446" y="344197"/>
                  </a:lnTo>
                  <a:cubicBezTo>
                    <a:pt x="6468" y="344197"/>
                    <a:pt x="0" y="337730"/>
                    <a:pt x="0" y="329751"/>
                  </a:cubicBezTo>
                  <a:lnTo>
                    <a:pt x="0" y="14446"/>
                  </a:lnTo>
                  <a:cubicBezTo>
                    <a:pt x="0" y="6468"/>
                    <a:pt x="6468" y="0"/>
                    <a:pt x="14446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889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79407" y="3201492"/>
            <a:ext cx="9329778" cy="1672799"/>
            <a:chOff x="0" y="0"/>
            <a:chExt cx="1919707" cy="344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9707" cy="344197"/>
            </a:xfrm>
            <a:custGeom>
              <a:avLst/>
              <a:gdLst/>
              <a:ahLst/>
              <a:cxnLst/>
              <a:rect r="r" b="b" t="t" l="l"/>
              <a:pathLst>
                <a:path h="344197" w="1919707">
                  <a:moveTo>
                    <a:pt x="16207" y="0"/>
                  </a:moveTo>
                  <a:lnTo>
                    <a:pt x="1903500" y="0"/>
                  </a:lnTo>
                  <a:cubicBezTo>
                    <a:pt x="1907799" y="0"/>
                    <a:pt x="1911921" y="1708"/>
                    <a:pt x="1914960" y="4747"/>
                  </a:cubicBezTo>
                  <a:cubicBezTo>
                    <a:pt x="1918000" y="7786"/>
                    <a:pt x="1919707" y="11909"/>
                    <a:pt x="1919707" y="16207"/>
                  </a:cubicBezTo>
                  <a:lnTo>
                    <a:pt x="1919707" y="327990"/>
                  </a:lnTo>
                  <a:cubicBezTo>
                    <a:pt x="1919707" y="332289"/>
                    <a:pt x="1918000" y="336411"/>
                    <a:pt x="1914960" y="339450"/>
                  </a:cubicBezTo>
                  <a:cubicBezTo>
                    <a:pt x="1911921" y="342490"/>
                    <a:pt x="1907799" y="344197"/>
                    <a:pt x="1903500" y="344197"/>
                  </a:cubicBezTo>
                  <a:lnTo>
                    <a:pt x="16207" y="344197"/>
                  </a:lnTo>
                  <a:cubicBezTo>
                    <a:pt x="11909" y="344197"/>
                    <a:pt x="7786" y="342490"/>
                    <a:pt x="4747" y="339450"/>
                  </a:cubicBezTo>
                  <a:cubicBezTo>
                    <a:pt x="1708" y="336411"/>
                    <a:pt x="0" y="332289"/>
                    <a:pt x="0" y="327990"/>
                  </a:cubicBezTo>
                  <a:lnTo>
                    <a:pt x="0" y="16207"/>
                  </a:lnTo>
                  <a:cubicBezTo>
                    <a:pt x="0" y="11909"/>
                    <a:pt x="1708" y="7786"/>
                    <a:pt x="4747" y="4747"/>
                  </a:cubicBezTo>
                  <a:cubicBezTo>
                    <a:pt x="7786" y="1708"/>
                    <a:pt x="11909" y="0"/>
                    <a:pt x="16207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919707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08906" y="5086183"/>
            <a:ext cx="158037" cy="1672799"/>
            <a:chOff x="0" y="0"/>
            <a:chExt cx="32518" cy="3441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518" cy="344197"/>
            </a:xfrm>
            <a:custGeom>
              <a:avLst/>
              <a:gdLst/>
              <a:ahLst/>
              <a:cxnLst/>
              <a:rect r="r" b="b" t="t" l="l"/>
              <a:pathLst>
                <a:path h="344197" w="32518">
                  <a:moveTo>
                    <a:pt x="16259" y="0"/>
                  </a:moveTo>
                  <a:lnTo>
                    <a:pt x="16259" y="0"/>
                  </a:lnTo>
                  <a:cubicBezTo>
                    <a:pt x="20571" y="0"/>
                    <a:pt x="24707" y="1713"/>
                    <a:pt x="27756" y="4762"/>
                  </a:cubicBezTo>
                  <a:cubicBezTo>
                    <a:pt x="30805" y="7811"/>
                    <a:pt x="32518" y="11947"/>
                    <a:pt x="32518" y="16259"/>
                  </a:cubicBezTo>
                  <a:lnTo>
                    <a:pt x="32518" y="327939"/>
                  </a:lnTo>
                  <a:cubicBezTo>
                    <a:pt x="32518" y="336918"/>
                    <a:pt x="25238" y="344197"/>
                    <a:pt x="16259" y="344197"/>
                  </a:cubicBezTo>
                  <a:lnTo>
                    <a:pt x="16259" y="344197"/>
                  </a:lnTo>
                  <a:cubicBezTo>
                    <a:pt x="7279" y="344197"/>
                    <a:pt x="0" y="336918"/>
                    <a:pt x="0" y="327939"/>
                  </a:cubicBezTo>
                  <a:lnTo>
                    <a:pt x="0" y="16259"/>
                  </a:lnTo>
                  <a:cubicBezTo>
                    <a:pt x="0" y="7279"/>
                    <a:pt x="7279" y="0"/>
                    <a:pt x="16259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2518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308906" y="5087040"/>
            <a:ext cx="9285272" cy="1672799"/>
            <a:chOff x="0" y="0"/>
            <a:chExt cx="1910550" cy="3441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10550" cy="344197"/>
            </a:xfrm>
            <a:custGeom>
              <a:avLst/>
              <a:gdLst/>
              <a:ahLst/>
              <a:cxnLst/>
              <a:rect r="r" b="b" t="t" l="l"/>
              <a:pathLst>
                <a:path h="344197" w="1910550">
                  <a:moveTo>
                    <a:pt x="16285" y="0"/>
                  </a:moveTo>
                  <a:lnTo>
                    <a:pt x="1894265" y="0"/>
                  </a:lnTo>
                  <a:cubicBezTo>
                    <a:pt x="1898584" y="0"/>
                    <a:pt x="1902726" y="1716"/>
                    <a:pt x="1905780" y="4770"/>
                  </a:cubicBezTo>
                  <a:cubicBezTo>
                    <a:pt x="1908834" y="7824"/>
                    <a:pt x="1910550" y="11966"/>
                    <a:pt x="1910550" y="16285"/>
                  </a:cubicBezTo>
                  <a:lnTo>
                    <a:pt x="1910550" y="327913"/>
                  </a:lnTo>
                  <a:cubicBezTo>
                    <a:pt x="1910550" y="332232"/>
                    <a:pt x="1908834" y="336374"/>
                    <a:pt x="1905780" y="339428"/>
                  </a:cubicBezTo>
                  <a:cubicBezTo>
                    <a:pt x="1902726" y="342482"/>
                    <a:pt x="1898584" y="344197"/>
                    <a:pt x="1894265" y="344197"/>
                  </a:cubicBezTo>
                  <a:lnTo>
                    <a:pt x="16285" y="344197"/>
                  </a:lnTo>
                  <a:cubicBezTo>
                    <a:pt x="11966" y="344197"/>
                    <a:pt x="7824" y="342482"/>
                    <a:pt x="4770" y="339428"/>
                  </a:cubicBezTo>
                  <a:cubicBezTo>
                    <a:pt x="1716" y="336374"/>
                    <a:pt x="0" y="332232"/>
                    <a:pt x="0" y="327913"/>
                  </a:cubicBezTo>
                  <a:lnTo>
                    <a:pt x="0" y="16285"/>
                  </a:lnTo>
                  <a:cubicBezTo>
                    <a:pt x="0" y="11966"/>
                    <a:pt x="1716" y="7824"/>
                    <a:pt x="4770" y="4770"/>
                  </a:cubicBezTo>
                  <a:cubicBezTo>
                    <a:pt x="7824" y="1716"/>
                    <a:pt x="11966" y="0"/>
                    <a:pt x="16285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910550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78993" y="6971731"/>
            <a:ext cx="156209" cy="1672799"/>
            <a:chOff x="0" y="0"/>
            <a:chExt cx="32142" cy="3441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142" cy="344197"/>
            </a:xfrm>
            <a:custGeom>
              <a:avLst/>
              <a:gdLst/>
              <a:ahLst/>
              <a:cxnLst/>
              <a:rect r="r" b="b" t="t" l="l"/>
              <a:pathLst>
                <a:path h="344197" w="32142">
                  <a:moveTo>
                    <a:pt x="16071" y="0"/>
                  </a:moveTo>
                  <a:lnTo>
                    <a:pt x="16071" y="0"/>
                  </a:lnTo>
                  <a:cubicBezTo>
                    <a:pt x="24947" y="0"/>
                    <a:pt x="32142" y="7195"/>
                    <a:pt x="32142" y="16071"/>
                  </a:cubicBezTo>
                  <a:lnTo>
                    <a:pt x="32142" y="328127"/>
                  </a:lnTo>
                  <a:cubicBezTo>
                    <a:pt x="32142" y="337002"/>
                    <a:pt x="24947" y="344197"/>
                    <a:pt x="16071" y="344197"/>
                  </a:cubicBezTo>
                  <a:lnTo>
                    <a:pt x="16071" y="344197"/>
                  </a:lnTo>
                  <a:cubicBezTo>
                    <a:pt x="7195" y="344197"/>
                    <a:pt x="0" y="337002"/>
                    <a:pt x="0" y="328127"/>
                  </a:cubicBezTo>
                  <a:lnTo>
                    <a:pt x="0" y="16071"/>
                  </a:lnTo>
                  <a:cubicBezTo>
                    <a:pt x="0" y="7195"/>
                    <a:pt x="7195" y="0"/>
                    <a:pt x="16071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2142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78993" y="6972589"/>
            <a:ext cx="8941506" cy="1672799"/>
            <a:chOff x="0" y="0"/>
            <a:chExt cx="1839816" cy="3441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39816" cy="344197"/>
            </a:xfrm>
            <a:custGeom>
              <a:avLst/>
              <a:gdLst/>
              <a:ahLst/>
              <a:cxnLst/>
              <a:rect r="r" b="b" t="t" l="l"/>
              <a:pathLst>
                <a:path h="344197" w="1839816">
                  <a:moveTo>
                    <a:pt x="16911" y="0"/>
                  </a:moveTo>
                  <a:lnTo>
                    <a:pt x="1822905" y="0"/>
                  </a:lnTo>
                  <a:cubicBezTo>
                    <a:pt x="1827390" y="0"/>
                    <a:pt x="1831692" y="1782"/>
                    <a:pt x="1834863" y="4953"/>
                  </a:cubicBezTo>
                  <a:cubicBezTo>
                    <a:pt x="1838035" y="8125"/>
                    <a:pt x="1839816" y="12426"/>
                    <a:pt x="1839816" y="16911"/>
                  </a:cubicBezTo>
                  <a:lnTo>
                    <a:pt x="1839816" y="327286"/>
                  </a:lnTo>
                  <a:cubicBezTo>
                    <a:pt x="1839816" y="331772"/>
                    <a:pt x="1838035" y="336073"/>
                    <a:pt x="1834863" y="339244"/>
                  </a:cubicBezTo>
                  <a:cubicBezTo>
                    <a:pt x="1831692" y="342416"/>
                    <a:pt x="1827390" y="344197"/>
                    <a:pt x="1822905" y="344197"/>
                  </a:cubicBezTo>
                  <a:lnTo>
                    <a:pt x="16911" y="344197"/>
                  </a:lnTo>
                  <a:cubicBezTo>
                    <a:pt x="12426" y="344197"/>
                    <a:pt x="8125" y="342416"/>
                    <a:pt x="4953" y="339244"/>
                  </a:cubicBezTo>
                  <a:cubicBezTo>
                    <a:pt x="1782" y="336073"/>
                    <a:pt x="0" y="331772"/>
                    <a:pt x="0" y="327286"/>
                  </a:cubicBezTo>
                  <a:lnTo>
                    <a:pt x="0" y="16911"/>
                  </a:lnTo>
                  <a:cubicBezTo>
                    <a:pt x="0" y="12426"/>
                    <a:pt x="1782" y="8125"/>
                    <a:pt x="4953" y="4953"/>
                  </a:cubicBezTo>
                  <a:cubicBezTo>
                    <a:pt x="8125" y="1782"/>
                    <a:pt x="12426" y="0"/>
                    <a:pt x="16911" y="0"/>
                  </a:cubicBezTo>
                  <a:close/>
                </a:path>
              </a:pathLst>
            </a:custGeom>
            <a:solidFill>
              <a:srgbClr val="438ECD">
                <a:alpha val="28627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839816" cy="36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020671" y="3357584"/>
            <a:ext cx="521010" cy="521010"/>
          </a:xfrm>
          <a:custGeom>
            <a:avLst/>
            <a:gdLst/>
            <a:ahLst/>
            <a:cxnLst/>
            <a:rect r="r" b="b" t="t" l="l"/>
            <a:pathLst>
              <a:path h="521010" w="521010">
                <a:moveTo>
                  <a:pt x="0" y="0"/>
                </a:moveTo>
                <a:lnTo>
                  <a:pt x="521009" y="0"/>
                </a:lnTo>
                <a:lnTo>
                  <a:pt x="521009" y="521010"/>
                </a:lnTo>
                <a:lnTo>
                  <a:pt x="0" y="5210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632443" y="5272565"/>
            <a:ext cx="407379" cy="441060"/>
          </a:xfrm>
          <a:custGeom>
            <a:avLst/>
            <a:gdLst/>
            <a:ahLst/>
            <a:cxnLst/>
            <a:rect r="r" b="b" t="t" l="l"/>
            <a:pathLst>
              <a:path h="441060" w="407379">
                <a:moveTo>
                  <a:pt x="0" y="0"/>
                </a:moveTo>
                <a:lnTo>
                  <a:pt x="407379" y="0"/>
                </a:lnTo>
                <a:lnTo>
                  <a:pt x="407379" y="441060"/>
                </a:lnTo>
                <a:lnTo>
                  <a:pt x="0" y="4410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371796" y="7100997"/>
            <a:ext cx="602260" cy="360261"/>
          </a:xfrm>
          <a:custGeom>
            <a:avLst/>
            <a:gdLst/>
            <a:ahLst/>
            <a:cxnLst/>
            <a:rect r="r" b="b" t="t" l="l"/>
            <a:pathLst>
              <a:path h="360261" w="602260">
                <a:moveTo>
                  <a:pt x="0" y="0"/>
                </a:moveTo>
                <a:lnTo>
                  <a:pt x="602260" y="0"/>
                </a:lnTo>
                <a:lnTo>
                  <a:pt x="602260" y="360261"/>
                </a:lnTo>
                <a:lnTo>
                  <a:pt x="0" y="3602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642529" y="3271859"/>
            <a:ext cx="8022636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Vehicle Management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"/>
                <a:ea typeface="Gabriel Sans"/>
                <a:cs typeface="Gabriel Sans"/>
                <a:sym typeface="Gabriel Sans"/>
              </a:rPr>
              <a:t>Co</a:t>
            </a:r>
            <a:r>
              <a:rPr lang="en-US" sz="2000">
                <a:solidFill>
                  <a:srgbClr val="000000"/>
                </a:solidFill>
                <a:latin typeface="Gabriel Sans"/>
                <a:ea typeface="Gabriel Sans"/>
                <a:cs typeface="Gabriel Sans"/>
                <a:sym typeface="Gabriel Sans"/>
              </a:rPr>
              <a:t>mprehensive registry to register, store and track all vehicle and truck details. Maintains a digital history of fleet assets for better utilization and maintenance planning.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01747" y="5186840"/>
            <a:ext cx="8027996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Accounts Receivable (AR) &amp; Payable (AP)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Integr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ated financial modules to manage client invoicing and payments (AR) alongside vendor and truck owner settlements (AP), ensuring seamless financial reconciliation in one place.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53525" y="7024797"/>
            <a:ext cx="7789032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Subscription Monitoring (Owner View)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Strategic da</a:t>
            </a:r>
            <a:r>
              <a:rPr lang="en-US" sz="2000">
                <a:solidFill>
                  <a:srgbClr val="000000"/>
                </a:solidFill>
                <a:latin typeface="Gabriel Sans Condensed"/>
                <a:ea typeface="Gabriel Sans Condensed"/>
                <a:cs typeface="Gabriel Sans Condensed"/>
                <a:sym typeface="Gabriel Sans Condensed"/>
              </a:rPr>
              <a:t>shboard for product owners providing deep insights on client subscriptions, active platform usage, lost accounts and key performance ratios to drive business decisions.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53986" y="849069"/>
            <a:ext cx="8983275" cy="128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5"/>
              </a:lnSpc>
            </a:pPr>
            <a:r>
              <a:rPr lang="en-US" sz="6761" b="true">
                <a:solidFill>
                  <a:srgbClr val="1F2629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KEY</a:t>
            </a:r>
            <a:r>
              <a:rPr lang="en-US" b="true" sz="6761">
                <a:solidFill>
                  <a:srgbClr val="006E6C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6761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FEATURES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053986" y="2476582"/>
            <a:ext cx="4852831" cy="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0"/>
              </a:lnSpc>
            </a:pPr>
            <a:r>
              <a:rPr lang="en-US" sz="22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Assets, Finance &amp; Admin Control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08593" y="-2779407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4"/>
                </a:lnTo>
                <a:lnTo>
                  <a:pt x="0" y="5558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3064445">
            <a:off x="-315539" y="476300"/>
            <a:ext cx="1136667" cy="905286"/>
          </a:xfrm>
          <a:custGeom>
            <a:avLst/>
            <a:gdLst/>
            <a:ahLst/>
            <a:cxnLst/>
            <a:rect r="r" b="b" t="t" l="l"/>
            <a:pathLst>
              <a:path h="905286" w="1136667">
                <a:moveTo>
                  <a:pt x="1136667" y="0"/>
                </a:moveTo>
                <a:lnTo>
                  <a:pt x="0" y="0"/>
                </a:lnTo>
                <a:lnTo>
                  <a:pt x="0" y="905287"/>
                </a:lnTo>
                <a:lnTo>
                  <a:pt x="1136667" y="905287"/>
                </a:lnTo>
                <a:lnTo>
                  <a:pt x="113666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9741" r="0" b="-9741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86657" y="2769882"/>
            <a:ext cx="9395365" cy="5375409"/>
          </a:xfrm>
          <a:custGeom>
            <a:avLst/>
            <a:gdLst/>
            <a:ahLst/>
            <a:cxnLst/>
            <a:rect r="r" b="b" t="t" l="l"/>
            <a:pathLst>
              <a:path h="5375409" w="9395365">
                <a:moveTo>
                  <a:pt x="0" y="0"/>
                </a:moveTo>
                <a:lnTo>
                  <a:pt x="9395365" y="0"/>
                </a:lnTo>
                <a:lnTo>
                  <a:pt x="9395365" y="5375410"/>
                </a:lnTo>
                <a:lnTo>
                  <a:pt x="0" y="5375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428" t="-5330" r="-6428" b="-4767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1019228" y="2211467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677069" y="1847152"/>
            <a:ext cx="683208" cy="6832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4C7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803305" y="1953248"/>
            <a:ext cx="449231" cy="471016"/>
          </a:xfrm>
          <a:custGeom>
            <a:avLst/>
            <a:gdLst/>
            <a:ahLst/>
            <a:cxnLst/>
            <a:rect r="r" b="b" t="t" l="l"/>
            <a:pathLst>
              <a:path h="471016" w="449231">
                <a:moveTo>
                  <a:pt x="0" y="0"/>
                </a:moveTo>
                <a:lnTo>
                  <a:pt x="449232" y="0"/>
                </a:lnTo>
                <a:lnTo>
                  <a:pt x="449232" y="471016"/>
                </a:lnTo>
                <a:lnTo>
                  <a:pt x="0" y="4710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667822" y="3441630"/>
            <a:ext cx="683208" cy="68320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802188" y="3604686"/>
            <a:ext cx="432970" cy="432970"/>
          </a:xfrm>
          <a:custGeom>
            <a:avLst/>
            <a:gdLst/>
            <a:ahLst/>
            <a:cxnLst/>
            <a:rect r="r" b="b" t="t" l="l"/>
            <a:pathLst>
              <a:path h="432970" w="432970">
                <a:moveTo>
                  <a:pt x="0" y="0"/>
                </a:moveTo>
                <a:lnTo>
                  <a:pt x="432971" y="0"/>
                </a:lnTo>
                <a:lnTo>
                  <a:pt x="432971" y="432971"/>
                </a:lnTo>
                <a:lnTo>
                  <a:pt x="0" y="4329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667822" y="5050800"/>
            <a:ext cx="683208" cy="68320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808362" y="5177784"/>
            <a:ext cx="383633" cy="429240"/>
          </a:xfrm>
          <a:custGeom>
            <a:avLst/>
            <a:gdLst/>
            <a:ahLst/>
            <a:cxnLst/>
            <a:rect r="r" b="b" t="t" l="l"/>
            <a:pathLst>
              <a:path h="429240" w="383633">
                <a:moveTo>
                  <a:pt x="0" y="0"/>
                </a:moveTo>
                <a:lnTo>
                  <a:pt x="383633" y="0"/>
                </a:lnTo>
                <a:lnTo>
                  <a:pt x="383633" y="429240"/>
                </a:lnTo>
                <a:lnTo>
                  <a:pt x="0" y="4292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667822" y="6753183"/>
            <a:ext cx="683208" cy="68320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775285" y="6850794"/>
            <a:ext cx="449786" cy="435730"/>
          </a:xfrm>
          <a:custGeom>
            <a:avLst/>
            <a:gdLst/>
            <a:ahLst/>
            <a:cxnLst/>
            <a:rect r="r" b="b" t="t" l="l"/>
            <a:pathLst>
              <a:path h="435730" w="449786">
                <a:moveTo>
                  <a:pt x="0" y="0"/>
                </a:moveTo>
                <a:lnTo>
                  <a:pt x="449787" y="0"/>
                </a:lnTo>
                <a:lnTo>
                  <a:pt x="449787" y="435730"/>
                </a:lnTo>
                <a:lnTo>
                  <a:pt x="0" y="4357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677069" y="8314729"/>
            <a:ext cx="683208" cy="68320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827113" y="8455567"/>
            <a:ext cx="383121" cy="413068"/>
          </a:xfrm>
          <a:custGeom>
            <a:avLst/>
            <a:gdLst/>
            <a:ahLst/>
            <a:cxnLst/>
            <a:rect r="r" b="b" t="t" l="l"/>
            <a:pathLst>
              <a:path h="413068" w="383121">
                <a:moveTo>
                  <a:pt x="0" y="0"/>
                </a:moveTo>
                <a:lnTo>
                  <a:pt x="383121" y="0"/>
                </a:lnTo>
                <a:lnTo>
                  <a:pt x="383121" y="413068"/>
                </a:lnTo>
                <a:lnTo>
                  <a:pt x="0" y="41306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26708" y="10670"/>
            <a:ext cx="15914901" cy="152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22"/>
              </a:lnSpc>
            </a:pP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HOW </a:t>
            </a:r>
            <a:r>
              <a:rPr lang="en-US" b="true" sz="7945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THE PRODUCT WORKS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77615" y="1776242"/>
            <a:ext cx="3796641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Org</a:t>
            </a: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anization Setup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77615" y="3429003"/>
            <a:ext cx="3796641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</a:t>
            </a: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anch Creation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77615" y="2304461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Own</a:t>
            </a: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 defines the organizational structure, assigns menus and maintains visibility over all subscriptions.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77615" y="3957222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</a:t>
            </a: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any creates state wise Branches to ensure accurate tax compliance and regional rate calculations.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77615" y="5081764"/>
            <a:ext cx="5200332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Operational Management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77615" y="5609983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Sub Admins manage day-to-day operations, validate bookings and oversee master data records.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77615" y="6770359"/>
            <a:ext cx="4446078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Execution &amp; Tracking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77615" y="7262744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</a:t>
            </a: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ers create bookings, drivers use the Vendor App for real-time updates and document uploads.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796665" y="8346920"/>
            <a:ext cx="4446078" cy="40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Finan</a:t>
            </a: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cial Reconciliation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96665" y="8876514"/>
            <a:ext cx="5181282" cy="102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2"/>
              </a:lnSpc>
            </a:pP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Compl</a:t>
            </a:r>
            <a:r>
              <a:rPr lang="en-US" sz="208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eted trips sync to AR/AP for seamless client invoicing and vendor payout processing.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3871" y="8484142"/>
            <a:ext cx="9248151" cy="687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2"/>
              </a:lnSpc>
            </a:pPr>
            <a:r>
              <a:rPr lang="en-US" b="true" sz="2086" i="true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Vis</a:t>
            </a:r>
            <a:r>
              <a:rPr lang="en-US" b="true" sz="2086" i="true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ual representation of the multi-layered organizational and operational flow</a:t>
            </a:r>
          </a:p>
        </p:txBody>
      </p:sp>
      <p:sp>
        <p:nvSpPr>
          <p:cNvPr name="Freeform 38" id="38"/>
          <p:cNvSpPr/>
          <p:nvPr/>
        </p:nvSpPr>
        <p:spPr>
          <a:xfrm flipH="true" flipV="false" rot="0">
            <a:off x="-1125316" y="6781927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10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10" y="9878664"/>
                </a:lnTo>
                <a:lnTo>
                  <a:pt x="10158010" y="0"/>
                </a:lnTo>
                <a:close/>
              </a:path>
            </a:pathLst>
          </a:custGeom>
          <a:blipFill>
            <a:blip r:embed="rId17">
              <a:alphaModFix amt="15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6" r="0" b="-1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88539" y="8639159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0" y="0"/>
                </a:moveTo>
                <a:lnTo>
                  <a:pt x="10158010" y="0"/>
                </a:lnTo>
                <a:lnTo>
                  <a:pt x="10158010" y="9878664"/>
                </a:lnTo>
                <a:lnTo>
                  <a:pt x="0" y="98786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4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4179094" y="0"/>
                </a:lnTo>
                <a:lnTo>
                  <a:pt x="4179094" y="10287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2" t="0" r="-14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53419" y="711256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3419" y="936755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204017">
            <a:off x="1109702" y="2564327"/>
            <a:ext cx="4227905" cy="7216383"/>
          </a:xfrm>
          <a:custGeom>
            <a:avLst/>
            <a:gdLst/>
            <a:ahLst/>
            <a:cxnLst/>
            <a:rect r="r" b="b" t="t" l="l"/>
            <a:pathLst>
              <a:path h="7216383" w="4227905">
                <a:moveTo>
                  <a:pt x="4227905" y="0"/>
                </a:moveTo>
                <a:lnTo>
                  <a:pt x="0" y="0"/>
                </a:lnTo>
                <a:lnTo>
                  <a:pt x="0" y="7216383"/>
                </a:lnTo>
                <a:lnTo>
                  <a:pt x="4227905" y="7216383"/>
                </a:lnTo>
                <a:lnTo>
                  <a:pt x="4227905" y="0"/>
                </a:lnTo>
                <a:close/>
              </a:path>
            </a:pathLst>
          </a:custGeom>
          <a:blipFill>
            <a:blip r:embed="rId8"/>
            <a:stretch>
              <a:fillRect l="0" t="0" r="0" b="-413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054705" y="4260723"/>
            <a:ext cx="629532" cy="629532"/>
            <a:chOff x="0" y="0"/>
            <a:chExt cx="839376" cy="83937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39376" cy="839376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C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86858" y="139700"/>
              <a:ext cx="465659" cy="452959"/>
            </a:xfrm>
            <a:custGeom>
              <a:avLst/>
              <a:gdLst/>
              <a:ahLst/>
              <a:cxnLst/>
              <a:rect r="r" b="b" t="t" l="l"/>
              <a:pathLst>
                <a:path h="452959" w="465659">
                  <a:moveTo>
                    <a:pt x="0" y="0"/>
                  </a:moveTo>
                  <a:lnTo>
                    <a:pt x="465659" y="0"/>
                  </a:lnTo>
                  <a:lnTo>
                    <a:pt x="465659" y="452959"/>
                  </a:lnTo>
                  <a:lnTo>
                    <a:pt x="0" y="452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-12" r="0" b="-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423282" y="-171300"/>
            <a:ext cx="12640023" cy="293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2"/>
              </a:lnSpc>
            </a:pP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VENDOR </a:t>
            </a:r>
            <a:r>
              <a:rPr lang="en-US" sz="79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MOBILE APP</a:t>
            </a: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</a:t>
            </a:r>
            <a:r>
              <a:rPr lang="en-US" sz="79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INTEGRATION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69471" y="3156975"/>
            <a:ext cx="10385346" cy="71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6"/>
              </a:lnSpc>
            </a:pP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Empowe</a:t>
            </a: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 drivers and truck owners with a seamless mobile interface for real-time updates and paperless operations.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89937" y="4239281"/>
            <a:ext cx="9557183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Tracking &amp; GPS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Live location updates, journey progress monitoring and instant ETA sharing with clients and branches.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89937" y="5397983"/>
            <a:ext cx="913246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Digital D</a:t>
            </a: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ocument Upload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Drivers can instantly capture and upload LR, CRO and shipment documents directly from the field.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89937" y="6556858"/>
            <a:ext cx="913246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Smart Milestone Triggers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Automated departure and arrival notifications keep all stakeholders informed without manual calls.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89937" y="7725258"/>
            <a:ext cx="913246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Offl</a:t>
            </a:r>
            <a:r>
              <a:rPr lang="en-US" sz="20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ine Sync &amp; Security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Works in low-network areas with auto-sync capabilities, ensuring data integrity and complete audit logs.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054705" y="5293131"/>
            <a:ext cx="629532" cy="629532"/>
            <a:chOff x="0" y="0"/>
            <a:chExt cx="839376" cy="83937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39376" cy="83937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191601" y="244269"/>
              <a:ext cx="456173" cy="350839"/>
            </a:xfrm>
            <a:custGeom>
              <a:avLst/>
              <a:gdLst/>
              <a:ahLst/>
              <a:cxnLst/>
              <a:rect r="r" b="b" t="t" l="l"/>
              <a:pathLst>
                <a:path h="350839" w="456173">
                  <a:moveTo>
                    <a:pt x="0" y="0"/>
                  </a:moveTo>
                  <a:lnTo>
                    <a:pt x="456173" y="0"/>
                  </a:lnTo>
                  <a:lnTo>
                    <a:pt x="456173" y="350838"/>
                  </a:lnTo>
                  <a:lnTo>
                    <a:pt x="0" y="350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054705" y="6452006"/>
            <a:ext cx="629532" cy="629532"/>
            <a:chOff x="0" y="0"/>
            <a:chExt cx="839376" cy="83937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39376" cy="839376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C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277969" y="168392"/>
              <a:ext cx="334237" cy="495166"/>
            </a:xfrm>
            <a:custGeom>
              <a:avLst/>
              <a:gdLst/>
              <a:ahLst/>
              <a:cxnLst/>
              <a:rect r="r" b="b" t="t" l="l"/>
              <a:pathLst>
                <a:path h="495166" w="334237">
                  <a:moveTo>
                    <a:pt x="0" y="0"/>
                  </a:moveTo>
                  <a:lnTo>
                    <a:pt x="334237" y="0"/>
                  </a:lnTo>
                  <a:lnTo>
                    <a:pt x="334237" y="495167"/>
                  </a:lnTo>
                  <a:lnTo>
                    <a:pt x="0" y="495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054705" y="7620406"/>
            <a:ext cx="629532" cy="629532"/>
            <a:chOff x="0" y="0"/>
            <a:chExt cx="839376" cy="83937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839376" cy="83937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C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6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66102" y="201000"/>
              <a:ext cx="532572" cy="437375"/>
            </a:xfrm>
            <a:custGeom>
              <a:avLst/>
              <a:gdLst/>
              <a:ahLst/>
              <a:cxnLst/>
              <a:rect r="r" b="b" t="t" l="l"/>
              <a:pathLst>
                <a:path h="437375" w="532572">
                  <a:moveTo>
                    <a:pt x="0" y="0"/>
                  </a:moveTo>
                  <a:lnTo>
                    <a:pt x="532572" y="0"/>
                  </a:lnTo>
                  <a:lnTo>
                    <a:pt x="532572" y="437375"/>
                  </a:lnTo>
                  <a:lnTo>
                    <a:pt x="0" y="437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08593" y="-2779407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13555" y="3138940"/>
            <a:ext cx="4251963" cy="546116"/>
            <a:chOff x="0" y="0"/>
            <a:chExt cx="635000" cy="81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13555" y="3226421"/>
            <a:ext cx="4251963" cy="2806296"/>
            <a:chOff x="0" y="0"/>
            <a:chExt cx="635000" cy="419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13555" y="6525760"/>
            <a:ext cx="4251963" cy="2806296"/>
            <a:chOff x="0" y="0"/>
            <a:chExt cx="635000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018018" y="3226421"/>
            <a:ext cx="4251963" cy="2806296"/>
            <a:chOff x="0" y="0"/>
            <a:chExt cx="635000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18018" y="6525760"/>
            <a:ext cx="4251963" cy="2806296"/>
            <a:chOff x="0" y="0"/>
            <a:chExt cx="635000" cy="419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08896" y="3226421"/>
            <a:ext cx="4251963" cy="2806296"/>
            <a:chOff x="0" y="0"/>
            <a:chExt cx="635000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08896" y="6525760"/>
            <a:ext cx="4251963" cy="2806296"/>
            <a:chOff x="0" y="0"/>
            <a:chExt cx="635000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13555" y="6510554"/>
            <a:ext cx="4251963" cy="546116"/>
            <a:chOff x="0" y="0"/>
            <a:chExt cx="635000" cy="815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13555" y="6598035"/>
            <a:ext cx="4251963" cy="2806296"/>
            <a:chOff x="0" y="0"/>
            <a:chExt cx="635000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011225" y="3138940"/>
            <a:ext cx="4251963" cy="546116"/>
            <a:chOff x="0" y="0"/>
            <a:chExt cx="635000" cy="815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11225" y="3226421"/>
            <a:ext cx="4251963" cy="2806296"/>
            <a:chOff x="0" y="0"/>
            <a:chExt cx="635000" cy="419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222482" y="3138940"/>
            <a:ext cx="4251963" cy="546116"/>
            <a:chOff x="0" y="0"/>
            <a:chExt cx="635000" cy="8155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22482" y="3226421"/>
            <a:ext cx="4251963" cy="2806296"/>
            <a:chOff x="0" y="0"/>
            <a:chExt cx="635000" cy="419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011225" y="6501029"/>
            <a:ext cx="4251963" cy="546116"/>
            <a:chOff x="0" y="0"/>
            <a:chExt cx="635000" cy="8155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011225" y="6588510"/>
            <a:ext cx="4251963" cy="2806296"/>
            <a:chOff x="0" y="0"/>
            <a:chExt cx="635000" cy="419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22482" y="6520079"/>
            <a:ext cx="4251963" cy="546116"/>
            <a:chOff x="0" y="0"/>
            <a:chExt cx="635000" cy="8155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5000" cy="81559"/>
            </a:xfrm>
            <a:custGeom>
              <a:avLst/>
              <a:gdLst/>
              <a:ahLst/>
              <a:cxnLst/>
              <a:rect r="r" b="b" t="t" l="l"/>
              <a:pathLst>
                <a:path h="81559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45996"/>
                  </a:lnTo>
                  <a:cubicBezTo>
                    <a:pt x="635000" y="65637"/>
                    <a:pt x="619078" y="81559"/>
                    <a:pt x="599438" y="81559"/>
                  </a:cubicBezTo>
                  <a:lnTo>
                    <a:pt x="35562" y="81559"/>
                  </a:lnTo>
                  <a:cubicBezTo>
                    <a:pt x="26131" y="81559"/>
                    <a:pt x="17085" y="77812"/>
                    <a:pt x="10416" y="71143"/>
                  </a:cubicBezTo>
                  <a:cubicBezTo>
                    <a:pt x="3747" y="64473"/>
                    <a:pt x="0" y="55428"/>
                    <a:pt x="0" y="45996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35000" cy="10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222482" y="6607560"/>
            <a:ext cx="4251963" cy="2806296"/>
            <a:chOff x="0" y="0"/>
            <a:chExt cx="635000" cy="4191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5562" y="0"/>
                  </a:moveTo>
                  <a:lnTo>
                    <a:pt x="599438" y="0"/>
                  </a:lnTo>
                  <a:cubicBezTo>
                    <a:pt x="619078" y="0"/>
                    <a:pt x="635000" y="15922"/>
                    <a:pt x="635000" y="35562"/>
                  </a:cubicBezTo>
                  <a:lnTo>
                    <a:pt x="635000" y="383538"/>
                  </a:lnTo>
                  <a:cubicBezTo>
                    <a:pt x="635000" y="403178"/>
                    <a:pt x="619078" y="419100"/>
                    <a:pt x="599438" y="419100"/>
                  </a:cubicBezTo>
                  <a:lnTo>
                    <a:pt x="35562" y="419100"/>
                  </a:lnTo>
                  <a:cubicBezTo>
                    <a:pt x="15922" y="419100"/>
                    <a:pt x="0" y="403178"/>
                    <a:pt x="0" y="383538"/>
                  </a:cubicBezTo>
                  <a:lnTo>
                    <a:pt x="0" y="35562"/>
                  </a:lnTo>
                  <a:cubicBezTo>
                    <a:pt x="0" y="15922"/>
                    <a:pt x="15922" y="0"/>
                    <a:pt x="35562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37822" y="3367360"/>
            <a:ext cx="866234" cy="760894"/>
            <a:chOff x="0" y="0"/>
            <a:chExt cx="477121" cy="4191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132416" y="3367360"/>
            <a:ext cx="866234" cy="760894"/>
            <a:chOff x="0" y="0"/>
            <a:chExt cx="477121" cy="4191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46749" y="3367360"/>
            <a:ext cx="866234" cy="760894"/>
            <a:chOff x="0" y="0"/>
            <a:chExt cx="477121" cy="4191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327699" y="6732928"/>
            <a:ext cx="866234" cy="760894"/>
            <a:chOff x="0" y="0"/>
            <a:chExt cx="477121" cy="4191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132416" y="6732928"/>
            <a:ext cx="866234" cy="760894"/>
            <a:chOff x="0" y="0"/>
            <a:chExt cx="477121" cy="4191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20237" y="6732928"/>
            <a:ext cx="866234" cy="760894"/>
            <a:chOff x="0" y="0"/>
            <a:chExt cx="477121" cy="4191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77121" cy="419100"/>
            </a:xfrm>
            <a:custGeom>
              <a:avLst/>
              <a:gdLst/>
              <a:ahLst/>
              <a:cxnLst/>
              <a:rect r="r" b="b" t="t" l="l"/>
              <a:pathLst>
                <a:path h="419100" w="477121">
                  <a:moveTo>
                    <a:pt x="174559" y="0"/>
                  </a:moveTo>
                  <a:lnTo>
                    <a:pt x="302562" y="0"/>
                  </a:lnTo>
                  <a:cubicBezTo>
                    <a:pt x="398969" y="0"/>
                    <a:pt x="477121" y="78153"/>
                    <a:pt x="477121" y="174559"/>
                  </a:cubicBezTo>
                  <a:lnTo>
                    <a:pt x="477121" y="244541"/>
                  </a:lnTo>
                  <a:cubicBezTo>
                    <a:pt x="477121" y="290837"/>
                    <a:pt x="458730" y="335236"/>
                    <a:pt x="425994" y="367973"/>
                  </a:cubicBezTo>
                  <a:cubicBezTo>
                    <a:pt x="393258" y="400709"/>
                    <a:pt x="348858" y="419100"/>
                    <a:pt x="302562" y="419100"/>
                  </a:cubicBezTo>
                  <a:lnTo>
                    <a:pt x="174559" y="419100"/>
                  </a:lnTo>
                  <a:cubicBezTo>
                    <a:pt x="128263" y="419100"/>
                    <a:pt x="83864" y="400709"/>
                    <a:pt x="51127" y="367973"/>
                  </a:cubicBezTo>
                  <a:cubicBezTo>
                    <a:pt x="18391" y="335236"/>
                    <a:pt x="0" y="290837"/>
                    <a:pt x="0" y="244541"/>
                  </a:cubicBezTo>
                  <a:lnTo>
                    <a:pt x="0" y="174559"/>
                  </a:lnTo>
                  <a:cubicBezTo>
                    <a:pt x="0" y="128263"/>
                    <a:pt x="18391" y="83864"/>
                    <a:pt x="51127" y="51127"/>
                  </a:cubicBezTo>
                  <a:cubicBezTo>
                    <a:pt x="83864" y="18391"/>
                    <a:pt x="128263" y="0"/>
                    <a:pt x="174559" y="0"/>
                  </a:cubicBezTo>
                  <a:close/>
                </a:path>
              </a:pathLst>
            </a:custGeom>
            <a:solidFill>
              <a:srgbClr val="2FB6ED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47712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2082416" y="3413356"/>
            <a:ext cx="577047" cy="619648"/>
          </a:xfrm>
          <a:custGeom>
            <a:avLst/>
            <a:gdLst/>
            <a:ahLst/>
            <a:cxnLst/>
            <a:rect r="r" b="b" t="t" l="l"/>
            <a:pathLst>
              <a:path h="619648" w="577047">
                <a:moveTo>
                  <a:pt x="0" y="0"/>
                </a:moveTo>
                <a:lnTo>
                  <a:pt x="577047" y="0"/>
                </a:lnTo>
                <a:lnTo>
                  <a:pt x="577047" y="619647"/>
                </a:lnTo>
                <a:lnTo>
                  <a:pt x="0" y="619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7255710" y="3413356"/>
            <a:ext cx="619648" cy="619648"/>
          </a:xfrm>
          <a:custGeom>
            <a:avLst/>
            <a:gdLst/>
            <a:ahLst/>
            <a:cxnLst/>
            <a:rect r="r" b="b" t="t" l="l"/>
            <a:pathLst>
              <a:path h="619648" w="619648">
                <a:moveTo>
                  <a:pt x="0" y="0"/>
                </a:moveTo>
                <a:lnTo>
                  <a:pt x="619647" y="0"/>
                </a:lnTo>
                <a:lnTo>
                  <a:pt x="619647" y="619647"/>
                </a:lnTo>
                <a:lnTo>
                  <a:pt x="0" y="619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2461826" y="3533129"/>
            <a:ext cx="636082" cy="429355"/>
          </a:xfrm>
          <a:custGeom>
            <a:avLst/>
            <a:gdLst/>
            <a:ahLst/>
            <a:cxnLst/>
            <a:rect r="r" b="b" t="t" l="l"/>
            <a:pathLst>
              <a:path h="429355" w="636082">
                <a:moveTo>
                  <a:pt x="0" y="0"/>
                </a:moveTo>
                <a:lnTo>
                  <a:pt x="636081" y="0"/>
                </a:lnTo>
                <a:lnTo>
                  <a:pt x="636081" y="429355"/>
                </a:lnTo>
                <a:lnTo>
                  <a:pt x="0" y="4293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2050414" y="6951682"/>
            <a:ext cx="605879" cy="323388"/>
          </a:xfrm>
          <a:custGeom>
            <a:avLst/>
            <a:gdLst/>
            <a:ahLst/>
            <a:cxnLst/>
            <a:rect r="r" b="b" t="t" l="l"/>
            <a:pathLst>
              <a:path h="323388" w="605879">
                <a:moveTo>
                  <a:pt x="0" y="0"/>
                </a:moveTo>
                <a:lnTo>
                  <a:pt x="605879" y="0"/>
                </a:lnTo>
                <a:lnTo>
                  <a:pt x="605879" y="323387"/>
                </a:lnTo>
                <a:lnTo>
                  <a:pt x="0" y="3233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7236660" y="6865718"/>
            <a:ext cx="605423" cy="495314"/>
          </a:xfrm>
          <a:custGeom>
            <a:avLst/>
            <a:gdLst/>
            <a:ahLst/>
            <a:cxnLst/>
            <a:rect r="r" b="b" t="t" l="l"/>
            <a:pathLst>
              <a:path h="495314" w="605423">
                <a:moveTo>
                  <a:pt x="0" y="0"/>
                </a:moveTo>
                <a:lnTo>
                  <a:pt x="605423" y="0"/>
                </a:lnTo>
                <a:lnTo>
                  <a:pt x="605423" y="495314"/>
                </a:lnTo>
                <a:lnTo>
                  <a:pt x="0" y="4953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2466021" y="6780787"/>
            <a:ext cx="589591" cy="646127"/>
          </a:xfrm>
          <a:custGeom>
            <a:avLst/>
            <a:gdLst/>
            <a:ahLst/>
            <a:cxnLst/>
            <a:rect r="r" b="b" t="t" l="l"/>
            <a:pathLst>
              <a:path h="646127" w="589591">
                <a:moveTo>
                  <a:pt x="0" y="0"/>
                </a:moveTo>
                <a:lnTo>
                  <a:pt x="589591" y="0"/>
                </a:lnTo>
                <a:lnTo>
                  <a:pt x="589591" y="646127"/>
                </a:lnTo>
                <a:lnTo>
                  <a:pt x="0" y="6461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1937822" y="4213978"/>
            <a:ext cx="3965328" cy="26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ogistics Companies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937822" y="4641067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Gain centralized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operational control across all states and branches, ensuring consistent standards and scalability.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384407" y="4213978"/>
            <a:ext cx="3965328" cy="26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8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tional Staff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365799" y="4631542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Create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and manage b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ookings easily through a digital interface, eliminating manual paperwork and reducing data errors.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170861" y="4213978"/>
            <a:ext cx="3965328" cy="2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Bran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 Managers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937822" y="7616615"/>
            <a:ext cx="3965328" cy="2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Vend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ors &amp; Truck Owners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419331" y="7616615"/>
            <a:ext cx="3965328" cy="2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</a:t>
            </a: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oduct Owners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154543" y="7616615"/>
            <a:ext cx="3965328" cy="26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7"/>
              </a:lnSpc>
              <a:spcBef>
                <a:spcPct val="0"/>
              </a:spcBef>
            </a:pPr>
            <a:r>
              <a:rPr lang="en-US" b="true" sz="165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154543" y="4631542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Effortlessly m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anage daily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operations, validate bookings and oversee milestone updates with role-specific tools.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154543" y="8052692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Exper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ience improved s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ervice reliability with real-time milestone alerts and direct visibility into shipment documents.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375324" y="8052692"/>
            <a:ext cx="3965328" cy="1064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aintain c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omplete strategic oversight on system subscriptions, user activity levels and overall platform engagement.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960047" y="8052692"/>
            <a:ext cx="3965328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cess transparent tri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 details, upload documents instantly and track payouts via the dedicated mobile application.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3373988" y="389509"/>
            <a:ext cx="11540024" cy="10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2"/>
              </a:lnSpc>
            </a:pPr>
            <a:r>
              <a:rPr lang="en-US" sz="55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WHO</a:t>
            </a:r>
            <a:r>
              <a:rPr lang="en-US" sz="55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 IT BENEFITS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321926" y="1947685"/>
            <a:ext cx="11644149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Truck Management System is built to support every major participant within the trucking and logistics ecosystem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437418" y="8103450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09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09" y="9878664"/>
                </a:lnTo>
                <a:lnTo>
                  <a:pt x="10158009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08593" y="-2779407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2578" y="1982708"/>
            <a:ext cx="589717" cy="469674"/>
          </a:xfrm>
          <a:custGeom>
            <a:avLst/>
            <a:gdLst/>
            <a:ahLst/>
            <a:cxnLst/>
            <a:rect r="r" b="b" t="t" l="l"/>
            <a:pathLst>
              <a:path h="469674" w="589717">
                <a:moveTo>
                  <a:pt x="0" y="0"/>
                </a:moveTo>
                <a:lnTo>
                  <a:pt x="589717" y="0"/>
                </a:lnTo>
                <a:lnTo>
                  <a:pt x="589717" y="469674"/>
                </a:lnTo>
                <a:lnTo>
                  <a:pt x="0" y="469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9741" r="0" b="-974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50310" y="9671725"/>
            <a:ext cx="1701887" cy="451000"/>
            <a:chOff x="0" y="0"/>
            <a:chExt cx="2269183" cy="601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7"/>
                  </a:lnTo>
                  <a:lnTo>
                    <a:pt x="0" y="30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595" r="0" b="-59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300667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6"/>
                  </a:lnTo>
                  <a:lnTo>
                    <a:pt x="0" y="30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595" r="0" b="-59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720591" y="1714145"/>
            <a:ext cx="14429719" cy="76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</a:t>
            </a:r>
            <a:r>
              <a:rPr lang="en-US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Truck Management System solves several longstanding operational challenges in the trucking and logistics industry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-922110" y="1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3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4179093" y="0"/>
                </a:lnTo>
                <a:lnTo>
                  <a:pt x="4179093" y="1028699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42" t="0" r="-142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44216" y="3108520"/>
            <a:ext cx="3683523" cy="570731"/>
            <a:chOff x="0" y="0"/>
            <a:chExt cx="635000" cy="983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4216" y="3241870"/>
            <a:ext cx="3683523" cy="2431125"/>
            <a:chOff x="0" y="0"/>
            <a:chExt cx="635000" cy="419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44511" y="3108520"/>
            <a:ext cx="3683523" cy="570731"/>
            <a:chOff x="0" y="0"/>
            <a:chExt cx="635000" cy="983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44511" y="3241870"/>
            <a:ext cx="3683523" cy="2431125"/>
            <a:chOff x="0" y="0"/>
            <a:chExt cx="635000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40201" y="3108520"/>
            <a:ext cx="3683523" cy="570731"/>
            <a:chOff x="0" y="0"/>
            <a:chExt cx="635000" cy="983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40201" y="3241870"/>
            <a:ext cx="3683523" cy="2431125"/>
            <a:chOff x="0" y="0"/>
            <a:chExt cx="635000" cy="419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142849" y="3108520"/>
            <a:ext cx="3683523" cy="570731"/>
            <a:chOff x="0" y="0"/>
            <a:chExt cx="635000" cy="983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142849" y="3241870"/>
            <a:ext cx="3683523" cy="2431125"/>
            <a:chOff x="0" y="0"/>
            <a:chExt cx="635000" cy="419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256984" y="6308920"/>
            <a:ext cx="3683523" cy="570731"/>
            <a:chOff x="0" y="0"/>
            <a:chExt cx="635000" cy="983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256984" y="6442270"/>
            <a:ext cx="3683523" cy="2431125"/>
            <a:chOff x="0" y="0"/>
            <a:chExt cx="635000" cy="419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90884" y="6308920"/>
            <a:ext cx="3683523" cy="570731"/>
            <a:chOff x="0" y="0"/>
            <a:chExt cx="635000" cy="983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790884" y="6442270"/>
            <a:ext cx="3683523" cy="2431125"/>
            <a:chOff x="0" y="0"/>
            <a:chExt cx="635000" cy="419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322131" y="6301645"/>
            <a:ext cx="3683523" cy="570731"/>
            <a:chOff x="0" y="0"/>
            <a:chExt cx="635000" cy="983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5000" cy="98388"/>
            </a:xfrm>
            <a:custGeom>
              <a:avLst/>
              <a:gdLst/>
              <a:ahLst/>
              <a:cxnLst/>
              <a:rect r="r" b="b" t="t" l="l"/>
              <a:pathLst>
                <a:path h="98388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57338"/>
                  </a:lnTo>
                  <a:cubicBezTo>
                    <a:pt x="635000" y="80009"/>
                    <a:pt x="616621" y="98388"/>
                    <a:pt x="593950" y="98388"/>
                  </a:cubicBezTo>
                  <a:lnTo>
                    <a:pt x="41050" y="98388"/>
                  </a:lnTo>
                  <a:cubicBezTo>
                    <a:pt x="18379" y="98388"/>
                    <a:pt x="0" y="80009"/>
                    <a:pt x="0" y="57338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35000" cy="117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22131" y="6434995"/>
            <a:ext cx="3683523" cy="2431125"/>
            <a:chOff x="0" y="0"/>
            <a:chExt cx="635000" cy="4191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1050" y="0"/>
                  </a:moveTo>
                  <a:lnTo>
                    <a:pt x="593950" y="0"/>
                  </a:lnTo>
                  <a:cubicBezTo>
                    <a:pt x="616621" y="0"/>
                    <a:pt x="635000" y="18379"/>
                    <a:pt x="635000" y="41050"/>
                  </a:cubicBezTo>
                  <a:lnTo>
                    <a:pt x="635000" y="378050"/>
                  </a:lnTo>
                  <a:cubicBezTo>
                    <a:pt x="635000" y="400721"/>
                    <a:pt x="616621" y="419100"/>
                    <a:pt x="593950" y="419100"/>
                  </a:cubicBezTo>
                  <a:lnTo>
                    <a:pt x="41050" y="419100"/>
                  </a:lnTo>
                  <a:cubicBezTo>
                    <a:pt x="18379" y="419100"/>
                    <a:pt x="0" y="400721"/>
                    <a:pt x="0" y="378050"/>
                  </a:cubicBezTo>
                  <a:lnTo>
                    <a:pt x="0" y="41050"/>
                  </a:lnTo>
                  <a:cubicBezTo>
                    <a:pt x="0" y="18379"/>
                    <a:pt x="18379" y="0"/>
                    <a:pt x="41050" y="0"/>
                  </a:cubicBezTo>
                  <a:close/>
                </a:path>
              </a:pathLst>
            </a:custGeom>
            <a:solidFill>
              <a:srgbClr val="004E7A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350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701976" y="3406056"/>
            <a:ext cx="889379" cy="778980"/>
            <a:chOff x="0" y="0"/>
            <a:chExt cx="478496" cy="4191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970984" y="3406056"/>
            <a:ext cx="889379" cy="778980"/>
            <a:chOff x="0" y="0"/>
            <a:chExt cx="478496" cy="419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276199" y="3406056"/>
            <a:ext cx="889379" cy="778980"/>
            <a:chOff x="0" y="0"/>
            <a:chExt cx="478496" cy="4191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949324" y="6599723"/>
            <a:ext cx="889379" cy="778980"/>
            <a:chOff x="0" y="0"/>
            <a:chExt cx="478496" cy="4191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503106" y="6599723"/>
            <a:ext cx="889379" cy="778980"/>
            <a:chOff x="0" y="0"/>
            <a:chExt cx="478496" cy="4191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62295" y="3406056"/>
            <a:ext cx="889379" cy="778980"/>
            <a:chOff x="0" y="0"/>
            <a:chExt cx="478496" cy="4191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389563" y="6599723"/>
            <a:ext cx="889379" cy="778980"/>
            <a:chOff x="0" y="0"/>
            <a:chExt cx="478496" cy="4191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617023" y="3608514"/>
            <a:ext cx="555638" cy="393114"/>
          </a:xfrm>
          <a:custGeom>
            <a:avLst/>
            <a:gdLst/>
            <a:ahLst/>
            <a:cxnLst/>
            <a:rect r="r" b="b" t="t" l="l"/>
            <a:pathLst>
              <a:path h="393114" w="555638">
                <a:moveTo>
                  <a:pt x="0" y="0"/>
                </a:moveTo>
                <a:lnTo>
                  <a:pt x="555638" y="0"/>
                </a:lnTo>
                <a:lnTo>
                  <a:pt x="555638" y="393114"/>
                </a:lnTo>
                <a:lnTo>
                  <a:pt x="0" y="3931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5896886" y="3572439"/>
            <a:ext cx="499559" cy="522414"/>
          </a:xfrm>
          <a:custGeom>
            <a:avLst/>
            <a:gdLst/>
            <a:ahLst/>
            <a:cxnLst/>
            <a:rect r="r" b="b" t="t" l="l"/>
            <a:pathLst>
              <a:path h="522414" w="499559">
                <a:moveTo>
                  <a:pt x="0" y="0"/>
                </a:moveTo>
                <a:lnTo>
                  <a:pt x="499559" y="0"/>
                </a:lnTo>
                <a:lnTo>
                  <a:pt x="499559" y="522415"/>
                </a:lnTo>
                <a:lnTo>
                  <a:pt x="0" y="5224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0199584" y="3550092"/>
            <a:ext cx="414610" cy="529008"/>
          </a:xfrm>
          <a:custGeom>
            <a:avLst/>
            <a:gdLst/>
            <a:ahLst/>
            <a:cxnLst/>
            <a:rect r="r" b="b" t="t" l="l"/>
            <a:pathLst>
              <a:path h="529008" w="414610">
                <a:moveTo>
                  <a:pt x="0" y="0"/>
                </a:moveTo>
                <a:lnTo>
                  <a:pt x="414610" y="0"/>
                </a:lnTo>
                <a:lnTo>
                  <a:pt x="414610" y="529008"/>
                </a:lnTo>
                <a:lnTo>
                  <a:pt x="0" y="5290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4427099" y="3548980"/>
            <a:ext cx="536013" cy="493132"/>
          </a:xfrm>
          <a:custGeom>
            <a:avLst/>
            <a:gdLst/>
            <a:ahLst/>
            <a:cxnLst/>
            <a:rect r="r" b="b" t="t" l="l"/>
            <a:pathLst>
              <a:path h="493132" w="536013">
                <a:moveTo>
                  <a:pt x="0" y="0"/>
                </a:moveTo>
                <a:lnTo>
                  <a:pt x="536013" y="0"/>
                </a:lnTo>
                <a:lnTo>
                  <a:pt x="536013" y="493132"/>
                </a:lnTo>
                <a:lnTo>
                  <a:pt x="0" y="4931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8090707" y="6676381"/>
            <a:ext cx="606615" cy="606615"/>
          </a:xfrm>
          <a:custGeom>
            <a:avLst/>
            <a:gdLst/>
            <a:ahLst/>
            <a:cxnLst/>
            <a:rect r="r" b="b" t="t" l="l"/>
            <a:pathLst>
              <a:path h="606615" w="606615">
                <a:moveTo>
                  <a:pt x="0" y="0"/>
                </a:moveTo>
                <a:lnTo>
                  <a:pt x="606614" y="0"/>
                </a:lnTo>
                <a:lnTo>
                  <a:pt x="606614" y="606614"/>
                </a:lnTo>
                <a:lnTo>
                  <a:pt x="0" y="60661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2724222" y="6717835"/>
            <a:ext cx="428099" cy="542756"/>
          </a:xfrm>
          <a:custGeom>
            <a:avLst/>
            <a:gdLst/>
            <a:ahLst/>
            <a:cxnLst/>
            <a:rect r="r" b="b" t="t" l="l"/>
            <a:pathLst>
              <a:path h="542756" w="428099">
                <a:moveTo>
                  <a:pt x="0" y="0"/>
                </a:moveTo>
                <a:lnTo>
                  <a:pt x="428098" y="0"/>
                </a:lnTo>
                <a:lnTo>
                  <a:pt x="428098" y="542756"/>
                </a:lnTo>
                <a:lnTo>
                  <a:pt x="0" y="54275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3548615" y="6730216"/>
            <a:ext cx="517993" cy="517993"/>
          </a:xfrm>
          <a:custGeom>
            <a:avLst/>
            <a:gdLst/>
            <a:ahLst/>
            <a:cxnLst/>
            <a:rect r="r" b="b" t="t" l="l"/>
            <a:pathLst>
              <a:path h="517993" w="517993">
                <a:moveTo>
                  <a:pt x="0" y="0"/>
                </a:moveTo>
                <a:lnTo>
                  <a:pt x="517993" y="0"/>
                </a:lnTo>
                <a:lnTo>
                  <a:pt x="517993" y="517994"/>
                </a:lnTo>
                <a:lnTo>
                  <a:pt x="0" y="51799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5701976" y="442727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anual document handling l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eading to processing delays and operational errors.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009084" y="442727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nconsistent state-wise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rate calculations due to complex GST variations.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3427663" y="759115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Poor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visibility 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of financial transactions (Client AR &amp; Vendor AP).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949324" y="757210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ifficul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ty in monitoring system usage patterns and client subscriptions.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503106" y="7572107"/>
            <a:ext cx="3363989" cy="53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Fr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agmented st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orage of vehicle records and vendor master data.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314299" y="442727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nefficient c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ommunication silos between companies, branches and vendors.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140690" y="473959"/>
            <a:ext cx="10736200" cy="10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sz="555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PROBLEM </a:t>
            </a:r>
            <a:r>
              <a:rPr lang="en-US" sz="5550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ADDRESSED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94459" y="4427277"/>
            <a:ext cx="3363989" cy="79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ack of trans</a:t>
            </a:r>
            <a:r>
              <a:rPr lang="en-US" sz="165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parency in trip progress and real-time milestone tracking.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9091" y="-2939642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38434" y="954386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38434" y="976936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95" r="0" b="-595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5748" y="9412382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10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10" y="9878664"/>
                </a:lnTo>
                <a:lnTo>
                  <a:pt x="1015801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6" r="0" b="-1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67875" y="3362935"/>
            <a:ext cx="1120848" cy="1120847"/>
            <a:chOff x="0" y="0"/>
            <a:chExt cx="1494463" cy="14944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4463" cy="1494463"/>
            </a:xfrm>
            <a:custGeom>
              <a:avLst/>
              <a:gdLst/>
              <a:ahLst/>
              <a:cxnLst/>
              <a:rect r="r" b="b" t="t" l="l"/>
              <a:pathLst>
                <a:path h="1494463" w="1494463">
                  <a:moveTo>
                    <a:pt x="0" y="0"/>
                  </a:moveTo>
                  <a:lnTo>
                    <a:pt x="1494463" y="0"/>
                  </a:lnTo>
                  <a:lnTo>
                    <a:pt x="1494463" y="1494463"/>
                  </a:lnTo>
                  <a:lnTo>
                    <a:pt x="0" y="1494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75191" y="398887"/>
              <a:ext cx="852512" cy="832265"/>
            </a:xfrm>
            <a:custGeom>
              <a:avLst/>
              <a:gdLst/>
              <a:ahLst/>
              <a:cxnLst/>
              <a:rect r="r" b="b" t="t" l="l"/>
              <a:pathLst>
                <a:path h="832265" w="852512">
                  <a:moveTo>
                    <a:pt x="0" y="0"/>
                  </a:moveTo>
                  <a:lnTo>
                    <a:pt x="852511" y="0"/>
                  </a:lnTo>
                  <a:lnTo>
                    <a:pt x="852511" y="832265"/>
                  </a:lnTo>
                  <a:lnTo>
                    <a:pt x="0" y="83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-416" r="0" b="-41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65117" y="3343885"/>
            <a:ext cx="3237828" cy="2297485"/>
            <a:chOff x="0" y="0"/>
            <a:chExt cx="4317104" cy="30633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3442" y="0"/>
              <a:ext cx="1428665" cy="1428665"/>
            </a:xfrm>
            <a:custGeom>
              <a:avLst/>
              <a:gdLst/>
              <a:ahLst/>
              <a:cxnLst/>
              <a:rect r="r" b="b" t="t" l="l"/>
              <a:pathLst>
                <a:path h="1428665" w="1428665">
                  <a:moveTo>
                    <a:pt x="0" y="0"/>
                  </a:moveTo>
                  <a:lnTo>
                    <a:pt x="1428665" y="0"/>
                  </a:lnTo>
                  <a:lnTo>
                    <a:pt x="1428665" y="1428665"/>
                  </a:lnTo>
                  <a:lnTo>
                    <a:pt x="0" y="142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2005606"/>
              <a:ext cx="4317104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Acc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elerate operations via live tracking and centralized coordination.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88780" y="1503990"/>
              <a:ext cx="3083719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Miles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tone Tracking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1676400" y="368377"/>
              <a:ext cx="676244" cy="805052"/>
            </a:xfrm>
            <a:custGeom>
              <a:avLst/>
              <a:gdLst/>
              <a:ahLst/>
              <a:cxnLst/>
              <a:rect r="r" b="b" t="t" l="l"/>
              <a:pathLst>
                <a:path h="805052" w="676244">
                  <a:moveTo>
                    <a:pt x="0" y="0"/>
                  </a:moveTo>
                  <a:lnTo>
                    <a:pt x="676244" y="0"/>
                  </a:lnTo>
                  <a:lnTo>
                    <a:pt x="676244" y="805053"/>
                  </a:lnTo>
                  <a:lnTo>
                    <a:pt x="0" y="805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95207" y="3268450"/>
            <a:ext cx="3631883" cy="2319862"/>
            <a:chOff x="0" y="0"/>
            <a:chExt cx="4842511" cy="30931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352148" y="0"/>
              <a:ext cx="1428665" cy="1428665"/>
            </a:xfrm>
            <a:custGeom>
              <a:avLst/>
              <a:gdLst/>
              <a:ahLst/>
              <a:cxnLst/>
              <a:rect r="r" b="b" t="t" l="l"/>
              <a:pathLst>
                <a:path h="1428665" w="1428665">
                  <a:moveTo>
                    <a:pt x="0" y="0"/>
                  </a:moveTo>
                  <a:lnTo>
                    <a:pt x="1428665" y="0"/>
                  </a:lnTo>
                  <a:lnTo>
                    <a:pt x="1428665" y="1428665"/>
                  </a:lnTo>
                  <a:lnTo>
                    <a:pt x="0" y="142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813172" y="1546526"/>
              <a:ext cx="2827669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educed  Errors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035442"/>
              <a:ext cx="4842511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inimize manual mistakes through digital document uploads and master data.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1743203" y="386560"/>
              <a:ext cx="766953" cy="675877"/>
            </a:xfrm>
            <a:custGeom>
              <a:avLst/>
              <a:gdLst/>
              <a:ahLst/>
              <a:cxnLst/>
              <a:rect r="r" b="b" t="t" l="l"/>
              <a:pathLst>
                <a:path h="675877" w="766953">
                  <a:moveTo>
                    <a:pt x="0" y="0"/>
                  </a:moveTo>
                  <a:lnTo>
                    <a:pt x="766952" y="0"/>
                  </a:lnTo>
                  <a:lnTo>
                    <a:pt x="766952" y="675877"/>
                  </a:lnTo>
                  <a:lnTo>
                    <a:pt x="0" y="675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88181" y="6788093"/>
            <a:ext cx="3337396" cy="2452839"/>
            <a:chOff x="0" y="0"/>
            <a:chExt cx="4449861" cy="32704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331659" y="0"/>
              <a:ext cx="1419253" cy="1419253"/>
            </a:xfrm>
            <a:custGeom>
              <a:avLst/>
              <a:gdLst/>
              <a:ahLst/>
              <a:cxnLst/>
              <a:rect r="r" b="b" t="t" l="l"/>
              <a:pathLst>
                <a:path h="1419253" w="1419253">
                  <a:moveTo>
                    <a:pt x="0" y="0"/>
                  </a:moveTo>
                  <a:lnTo>
                    <a:pt x="1419253" y="0"/>
                  </a:lnTo>
                  <a:lnTo>
                    <a:pt x="1419253" y="1419253"/>
                  </a:lnTo>
                  <a:lnTo>
                    <a:pt x="0" y="1419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685791" y="338973"/>
              <a:ext cx="735398" cy="738166"/>
            </a:xfrm>
            <a:custGeom>
              <a:avLst/>
              <a:gdLst/>
              <a:ahLst/>
              <a:cxnLst/>
              <a:rect r="r" b="b" t="t" l="l"/>
              <a:pathLst>
                <a:path h="738166" w="735398">
                  <a:moveTo>
                    <a:pt x="0" y="0"/>
                  </a:moveTo>
                  <a:lnTo>
                    <a:pt x="735398" y="0"/>
                  </a:lnTo>
                  <a:lnTo>
                    <a:pt x="735398" y="738166"/>
                  </a:lnTo>
                  <a:lnTo>
                    <a:pt x="0" y="738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-671" r="0" b="-67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0" y="2212481"/>
              <a:ext cx="4449861" cy="105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60"/>
                </a:lnSpc>
              </a:pPr>
              <a:r>
                <a:rPr lang="en-US" sz="166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Manag</a:t>
              </a:r>
              <a:r>
                <a:rPr lang="en-US" sz="1662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 cash flow effectively with fully integrated AR and AP modules.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56908" y="1622453"/>
              <a:ext cx="3868435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Better F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inancial Control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213828" y="6827497"/>
            <a:ext cx="3084539" cy="2137011"/>
            <a:chOff x="0" y="0"/>
            <a:chExt cx="4112719" cy="28493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132407" y="0"/>
              <a:ext cx="1419253" cy="1419253"/>
            </a:xfrm>
            <a:custGeom>
              <a:avLst/>
              <a:gdLst/>
              <a:ahLst/>
              <a:cxnLst/>
              <a:rect r="r" b="b" t="t" l="l"/>
              <a:pathLst>
                <a:path h="1419253" w="1419253">
                  <a:moveTo>
                    <a:pt x="0" y="0"/>
                  </a:moveTo>
                  <a:lnTo>
                    <a:pt x="1419253" y="0"/>
                  </a:lnTo>
                  <a:lnTo>
                    <a:pt x="1419253" y="1419253"/>
                  </a:lnTo>
                  <a:lnTo>
                    <a:pt x="0" y="1419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0" y="2147242"/>
              <a:ext cx="4112719" cy="702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Centralizes client, vendor and location data for accuracy.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30531" y="1569914"/>
              <a:ext cx="3229405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Higher  Produc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tivity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35942" y="6788093"/>
            <a:ext cx="3237828" cy="2394578"/>
            <a:chOff x="0" y="0"/>
            <a:chExt cx="4317104" cy="31927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121801" y="0"/>
              <a:ext cx="1428665" cy="1428665"/>
            </a:xfrm>
            <a:custGeom>
              <a:avLst/>
              <a:gdLst/>
              <a:ahLst/>
              <a:cxnLst/>
              <a:rect r="r" b="b" t="t" l="l"/>
              <a:pathLst>
                <a:path h="1428665" w="1428665">
                  <a:moveTo>
                    <a:pt x="0" y="0"/>
                  </a:moveTo>
                  <a:lnTo>
                    <a:pt x="1428665" y="0"/>
                  </a:lnTo>
                  <a:lnTo>
                    <a:pt x="1428665" y="1428665"/>
                  </a:lnTo>
                  <a:lnTo>
                    <a:pt x="0" y="142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0" y="2135064"/>
              <a:ext cx="4317104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Emp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ower drivers with the mobile app for verification and seamless comms.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714830" y="1569914"/>
              <a:ext cx="3006902" cy="381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8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endor Reliability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873845" y="6788093"/>
            <a:ext cx="3453246" cy="2345649"/>
            <a:chOff x="0" y="0"/>
            <a:chExt cx="4604327" cy="31275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02865" y="0"/>
              <a:ext cx="1428665" cy="1428665"/>
            </a:xfrm>
            <a:custGeom>
              <a:avLst/>
              <a:gdLst/>
              <a:ahLst/>
              <a:cxnLst/>
              <a:rect r="r" b="b" t="t" l="l"/>
              <a:pathLst>
                <a:path h="1428665" w="1428665">
                  <a:moveTo>
                    <a:pt x="0" y="0"/>
                  </a:moveTo>
                  <a:lnTo>
                    <a:pt x="1428665" y="0"/>
                  </a:lnTo>
                  <a:lnTo>
                    <a:pt x="1428665" y="1428665"/>
                  </a:lnTo>
                  <a:lnTo>
                    <a:pt x="0" y="1428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689289" y="1543846"/>
              <a:ext cx="2908506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Strat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egic Insights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2069825"/>
              <a:ext cx="4604327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Prod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uct owners gain oversight through deep subscription and usage analytics.</a:t>
              </a:r>
            </a:p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1573311" y="394843"/>
              <a:ext cx="706805" cy="690902"/>
            </a:xfrm>
            <a:custGeom>
              <a:avLst/>
              <a:gdLst/>
              <a:ahLst/>
              <a:cxnLst/>
              <a:rect r="r" b="b" t="t" l="l"/>
              <a:pathLst>
                <a:path h="690902" w="706805">
                  <a:moveTo>
                    <a:pt x="0" y="0"/>
                  </a:moveTo>
                  <a:lnTo>
                    <a:pt x="706805" y="0"/>
                  </a:lnTo>
                  <a:lnTo>
                    <a:pt x="706805" y="690901"/>
                  </a:lnTo>
                  <a:lnTo>
                    <a:pt x="0" y="690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213828" y="3402686"/>
            <a:ext cx="3084539" cy="2351381"/>
            <a:chOff x="0" y="0"/>
            <a:chExt cx="4112719" cy="3135174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2077467"/>
              <a:ext cx="4112719" cy="10577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57"/>
                </a:lnSpc>
              </a:pP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Clients gain full visibility </a:t>
              </a:r>
              <a:r>
                <a:rPr lang="en-US" sz="1658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with milestone alerts and instant document access.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17095" y="1563151"/>
              <a:ext cx="3878530" cy="380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Improved </a:t>
              </a:r>
              <a:r>
                <a:rPr lang="en-US" sz="18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Transparency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1246510" y="0"/>
              <a:ext cx="1487826" cy="1487826"/>
            </a:xfrm>
            <a:custGeom>
              <a:avLst/>
              <a:gdLst/>
              <a:ahLst/>
              <a:cxnLst/>
              <a:rect r="r" b="b" t="t" l="l"/>
              <a:pathLst>
                <a:path h="1487826" w="1487826">
                  <a:moveTo>
                    <a:pt x="0" y="0"/>
                  </a:moveTo>
                  <a:lnTo>
                    <a:pt x="1487826" y="0"/>
                  </a:lnTo>
                  <a:lnTo>
                    <a:pt x="1487826" y="1487826"/>
                  </a:lnTo>
                  <a:lnTo>
                    <a:pt x="0" y="1487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480494" y="429095"/>
              <a:ext cx="1001414" cy="708501"/>
            </a:xfrm>
            <a:custGeom>
              <a:avLst/>
              <a:gdLst/>
              <a:ahLst/>
              <a:cxnLst/>
              <a:rect r="r" b="b" t="t" l="l"/>
              <a:pathLst>
                <a:path h="708501" w="1001414">
                  <a:moveTo>
                    <a:pt x="0" y="0"/>
                  </a:moveTo>
                  <a:lnTo>
                    <a:pt x="1001414" y="0"/>
                  </a:lnTo>
                  <a:lnTo>
                    <a:pt x="1001414" y="708501"/>
                  </a:lnTo>
                  <a:lnTo>
                    <a:pt x="0" y="708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6272542" y="7071844"/>
            <a:ext cx="629968" cy="629968"/>
          </a:xfrm>
          <a:custGeom>
            <a:avLst/>
            <a:gdLst/>
            <a:ahLst/>
            <a:cxnLst/>
            <a:rect r="r" b="b" t="t" l="l"/>
            <a:pathLst>
              <a:path h="629968" w="629968">
                <a:moveTo>
                  <a:pt x="0" y="0"/>
                </a:moveTo>
                <a:lnTo>
                  <a:pt x="629968" y="0"/>
                </a:lnTo>
                <a:lnTo>
                  <a:pt x="629968" y="629968"/>
                </a:lnTo>
                <a:lnTo>
                  <a:pt x="0" y="62996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087867" y="7027522"/>
            <a:ext cx="603633" cy="660610"/>
          </a:xfrm>
          <a:custGeom>
            <a:avLst/>
            <a:gdLst/>
            <a:ahLst/>
            <a:cxnLst/>
            <a:rect r="r" b="b" t="t" l="l"/>
            <a:pathLst>
              <a:path h="660610" w="603633">
                <a:moveTo>
                  <a:pt x="0" y="0"/>
                </a:moveTo>
                <a:lnTo>
                  <a:pt x="603633" y="0"/>
                </a:lnTo>
                <a:lnTo>
                  <a:pt x="603633" y="660610"/>
                </a:lnTo>
                <a:lnTo>
                  <a:pt x="0" y="66061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172352" y="4949826"/>
            <a:ext cx="3337396" cy="7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1"/>
              </a:lnSpc>
            </a:pPr>
            <a:r>
              <a:rPr lang="en-US" sz="16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16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hieve precision through automated booking validation and real-time updates.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55071" y="4578376"/>
            <a:ext cx="2752908" cy="28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8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</a:t>
            </a:r>
            <a:r>
              <a:rPr lang="en-US" sz="18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erational Accuracy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603597"/>
            <a:ext cx="15752459" cy="1522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2"/>
              </a:lnSpc>
            </a:pPr>
            <a:r>
              <a:rPr lang="en-US" sz="7945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EXPECTED </a:t>
            </a:r>
            <a:r>
              <a:rPr lang="en-US" sz="7945" b="true">
                <a:solidFill>
                  <a:srgbClr val="438ECD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USER OUTCOMES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2392519"/>
            <a:ext cx="16109734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Users gai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faster, more accurate and fully transparent transport operations, with real-time updates, reduced manual effort and improved financial clarity for smoother end-to-end workflow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7437418" y="8103450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09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09" y="9878664"/>
                </a:lnTo>
                <a:lnTo>
                  <a:pt x="10158009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6" r="0" b="-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08593" y="-2779407"/>
            <a:ext cx="5558815" cy="5558815"/>
          </a:xfrm>
          <a:custGeom>
            <a:avLst/>
            <a:gdLst/>
            <a:ahLst/>
            <a:cxnLst/>
            <a:rect r="r" b="b" t="t" l="l"/>
            <a:pathLst>
              <a:path h="5558815" w="5558815">
                <a:moveTo>
                  <a:pt x="0" y="0"/>
                </a:moveTo>
                <a:lnTo>
                  <a:pt x="5558815" y="0"/>
                </a:lnTo>
                <a:lnTo>
                  <a:pt x="5558815" y="5558815"/>
                </a:lnTo>
                <a:lnTo>
                  <a:pt x="0" y="555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2578" y="1982708"/>
            <a:ext cx="589717" cy="469674"/>
          </a:xfrm>
          <a:custGeom>
            <a:avLst/>
            <a:gdLst/>
            <a:ahLst/>
            <a:cxnLst/>
            <a:rect r="r" b="b" t="t" l="l"/>
            <a:pathLst>
              <a:path h="469674" w="589717">
                <a:moveTo>
                  <a:pt x="0" y="0"/>
                </a:moveTo>
                <a:lnTo>
                  <a:pt x="589717" y="0"/>
                </a:lnTo>
                <a:lnTo>
                  <a:pt x="589717" y="469674"/>
                </a:lnTo>
                <a:lnTo>
                  <a:pt x="0" y="469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9741" r="0" b="-974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150310" y="9671725"/>
            <a:ext cx="1701887" cy="451000"/>
            <a:chOff x="0" y="0"/>
            <a:chExt cx="2269183" cy="601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7"/>
                  </a:lnTo>
                  <a:lnTo>
                    <a:pt x="0" y="30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595" r="0" b="-59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300667"/>
              <a:ext cx="2269183" cy="300667"/>
            </a:xfrm>
            <a:custGeom>
              <a:avLst/>
              <a:gdLst/>
              <a:ahLst/>
              <a:cxnLst/>
              <a:rect r="r" b="b" t="t" l="l"/>
              <a:pathLst>
                <a:path h="300667" w="2269183">
                  <a:moveTo>
                    <a:pt x="0" y="0"/>
                  </a:moveTo>
                  <a:lnTo>
                    <a:pt x="2269183" y="0"/>
                  </a:lnTo>
                  <a:lnTo>
                    <a:pt x="2269183" y="300666"/>
                  </a:lnTo>
                  <a:lnTo>
                    <a:pt x="0" y="300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595" r="0" b="-595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true" flipV="true" rot="0">
            <a:off x="-922110" y="1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3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4179093" y="0"/>
                </a:lnTo>
                <a:lnTo>
                  <a:pt x="4179093" y="1028699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42" t="0" r="-14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62295" y="3406056"/>
            <a:ext cx="889379" cy="778980"/>
            <a:chOff x="0" y="0"/>
            <a:chExt cx="478496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8496" cy="419100"/>
            </a:xfrm>
            <a:custGeom>
              <a:avLst/>
              <a:gdLst/>
              <a:ahLst/>
              <a:cxnLst/>
              <a:rect r="r" b="b" t="t" l="l"/>
              <a:pathLst>
                <a:path h="419100" w="478496">
                  <a:moveTo>
                    <a:pt x="170017" y="0"/>
                  </a:moveTo>
                  <a:lnTo>
                    <a:pt x="308479" y="0"/>
                  </a:lnTo>
                  <a:cubicBezTo>
                    <a:pt x="353570" y="0"/>
                    <a:pt x="396815" y="17912"/>
                    <a:pt x="428699" y="49797"/>
                  </a:cubicBezTo>
                  <a:cubicBezTo>
                    <a:pt x="460583" y="81681"/>
                    <a:pt x="478496" y="124925"/>
                    <a:pt x="478496" y="170017"/>
                  </a:cubicBezTo>
                  <a:lnTo>
                    <a:pt x="478496" y="249083"/>
                  </a:lnTo>
                  <a:cubicBezTo>
                    <a:pt x="478496" y="342981"/>
                    <a:pt x="402377" y="419100"/>
                    <a:pt x="308479" y="419100"/>
                  </a:cubicBezTo>
                  <a:lnTo>
                    <a:pt x="170017" y="419100"/>
                  </a:lnTo>
                  <a:cubicBezTo>
                    <a:pt x="76119" y="419100"/>
                    <a:pt x="0" y="342981"/>
                    <a:pt x="0" y="249083"/>
                  </a:cubicBezTo>
                  <a:lnTo>
                    <a:pt x="0" y="170017"/>
                  </a:lnTo>
                  <a:cubicBezTo>
                    <a:pt x="0" y="76119"/>
                    <a:pt x="76119" y="0"/>
                    <a:pt x="170017" y="0"/>
                  </a:cubicBezTo>
                  <a:close/>
                </a:path>
              </a:pathLst>
            </a:custGeom>
            <a:solidFill>
              <a:srgbClr val="FFFFF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78496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525988" y="8810692"/>
            <a:ext cx="2823423" cy="317635"/>
          </a:xfrm>
          <a:custGeom>
            <a:avLst/>
            <a:gdLst/>
            <a:ahLst/>
            <a:cxnLst/>
            <a:rect r="r" b="b" t="t" l="l"/>
            <a:pathLst>
              <a:path h="317635" w="2823423">
                <a:moveTo>
                  <a:pt x="0" y="0"/>
                </a:moveTo>
                <a:lnTo>
                  <a:pt x="2823423" y="0"/>
                </a:lnTo>
                <a:lnTo>
                  <a:pt x="2823423" y="317635"/>
                </a:lnTo>
                <a:lnTo>
                  <a:pt x="0" y="3176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082694" y="8810692"/>
            <a:ext cx="2823423" cy="317635"/>
          </a:xfrm>
          <a:custGeom>
            <a:avLst/>
            <a:gdLst/>
            <a:ahLst/>
            <a:cxnLst/>
            <a:rect r="r" b="b" t="t" l="l"/>
            <a:pathLst>
              <a:path h="317635" w="2823423">
                <a:moveTo>
                  <a:pt x="0" y="0"/>
                </a:moveTo>
                <a:lnTo>
                  <a:pt x="2823423" y="0"/>
                </a:lnTo>
                <a:lnTo>
                  <a:pt x="2823423" y="317635"/>
                </a:lnTo>
                <a:lnTo>
                  <a:pt x="0" y="3176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697576" y="8810692"/>
            <a:ext cx="2823423" cy="317635"/>
          </a:xfrm>
          <a:custGeom>
            <a:avLst/>
            <a:gdLst/>
            <a:ahLst/>
            <a:cxnLst/>
            <a:rect r="r" b="b" t="t" l="l"/>
            <a:pathLst>
              <a:path h="317635" w="2823423">
                <a:moveTo>
                  <a:pt x="0" y="0"/>
                </a:moveTo>
                <a:lnTo>
                  <a:pt x="2823422" y="0"/>
                </a:lnTo>
                <a:lnTo>
                  <a:pt x="2823422" y="317635"/>
                </a:lnTo>
                <a:lnTo>
                  <a:pt x="0" y="3176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902010" y="5556495"/>
            <a:ext cx="3032682" cy="3254198"/>
            <a:chOff x="0" y="0"/>
            <a:chExt cx="934257" cy="10024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4257" cy="1002498"/>
            </a:xfrm>
            <a:custGeom>
              <a:avLst/>
              <a:gdLst/>
              <a:ahLst/>
              <a:cxnLst/>
              <a:rect r="r" b="b" t="t" l="l"/>
              <a:pathLst>
                <a:path h="1002498" w="934257">
                  <a:moveTo>
                    <a:pt x="181251" y="0"/>
                  </a:moveTo>
                  <a:lnTo>
                    <a:pt x="753006" y="0"/>
                  </a:lnTo>
                  <a:cubicBezTo>
                    <a:pt x="801077" y="0"/>
                    <a:pt x="847178" y="19096"/>
                    <a:pt x="881170" y="53087"/>
                  </a:cubicBezTo>
                  <a:cubicBezTo>
                    <a:pt x="915161" y="87078"/>
                    <a:pt x="934257" y="133180"/>
                    <a:pt x="934257" y="181251"/>
                  </a:cubicBezTo>
                  <a:lnTo>
                    <a:pt x="934257" y="821247"/>
                  </a:lnTo>
                  <a:cubicBezTo>
                    <a:pt x="934257" y="921349"/>
                    <a:pt x="853108" y="1002498"/>
                    <a:pt x="753006" y="1002498"/>
                  </a:cubicBezTo>
                  <a:lnTo>
                    <a:pt x="181251" y="1002498"/>
                  </a:lnTo>
                  <a:cubicBezTo>
                    <a:pt x="133180" y="1002498"/>
                    <a:pt x="87078" y="983402"/>
                    <a:pt x="53087" y="949410"/>
                  </a:cubicBezTo>
                  <a:cubicBezTo>
                    <a:pt x="19096" y="915419"/>
                    <a:pt x="0" y="869317"/>
                    <a:pt x="0" y="821247"/>
                  </a:cubicBezTo>
                  <a:lnTo>
                    <a:pt x="0" y="181251"/>
                  </a:lnTo>
                  <a:cubicBezTo>
                    <a:pt x="0" y="133180"/>
                    <a:pt x="19096" y="87078"/>
                    <a:pt x="53087" y="53087"/>
                  </a:cubicBezTo>
                  <a:cubicBezTo>
                    <a:pt x="87078" y="19096"/>
                    <a:pt x="133180" y="0"/>
                    <a:pt x="181251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34257" cy="1031072"/>
            </a:xfrm>
            <a:prstGeom prst="rect">
              <a:avLst/>
            </a:prstGeom>
          </p:spPr>
          <p:txBody>
            <a:bodyPr anchor="ctr" rtlCol="false" tIns="52445" lIns="52445" bIns="52445" rIns="5244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370079" y="6823013"/>
            <a:ext cx="1854013" cy="26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All S</a:t>
            </a: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ilver features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70079" y="7112834"/>
            <a:ext cx="2327585" cy="26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Trip history &amp; playback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80947" y="7397948"/>
            <a:ext cx="2011870" cy="5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Dr</a:t>
            </a: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iver performance tracking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09970" y="7910486"/>
            <a:ext cx="2596146" cy="26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Delay &amp;</a:t>
            </a: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 stoppage alerts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85704" y="8156323"/>
            <a:ext cx="2082847" cy="5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Downloadable</a:t>
            </a: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 operational reports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132186" y="6864140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132186" y="7170098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132186" y="7473729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122661" y="7964149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2"/>
                </a:lnTo>
                <a:lnTo>
                  <a:pt x="0" y="170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122661" y="8211606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7902105" y="3680983"/>
            <a:ext cx="3032587" cy="2925034"/>
            <a:chOff x="0" y="0"/>
            <a:chExt cx="923406" cy="8906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23406" cy="890657"/>
            </a:xfrm>
            <a:custGeom>
              <a:avLst/>
              <a:gdLst/>
              <a:ahLst/>
              <a:cxnLst/>
              <a:rect r="r" b="b" t="t" l="l"/>
              <a:pathLst>
                <a:path h="890657" w="923406">
                  <a:moveTo>
                    <a:pt x="181257" y="0"/>
                  </a:moveTo>
                  <a:lnTo>
                    <a:pt x="742149" y="0"/>
                  </a:lnTo>
                  <a:cubicBezTo>
                    <a:pt x="842255" y="0"/>
                    <a:pt x="923406" y="81151"/>
                    <a:pt x="923406" y="181257"/>
                  </a:cubicBezTo>
                  <a:lnTo>
                    <a:pt x="923406" y="709400"/>
                  </a:lnTo>
                  <a:cubicBezTo>
                    <a:pt x="923406" y="809505"/>
                    <a:pt x="842255" y="890657"/>
                    <a:pt x="742149" y="890657"/>
                  </a:cubicBezTo>
                  <a:lnTo>
                    <a:pt x="181257" y="890657"/>
                  </a:lnTo>
                  <a:cubicBezTo>
                    <a:pt x="81151" y="890657"/>
                    <a:pt x="0" y="809505"/>
                    <a:pt x="0" y="709400"/>
                  </a:cubicBezTo>
                  <a:lnTo>
                    <a:pt x="0" y="181257"/>
                  </a:lnTo>
                  <a:cubicBezTo>
                    <a:pt x="0" y="81151"/>
                    <a:pt x="81151" y="0"/>
                    <a:pt x="181257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23406" cy="928757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399201" y="3063693"/>
            <a:ext cx="2055853" cy="1027926"/>
            <a:chOff x="0" y="0"/>
            <a:chExt cx="812800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12800" cy="415925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556"/>
                </a:lnSpc>
              </a:pPr>
              <a:r>
                <a:rPr lang="en-US" b="true" sz="209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Gold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516608" y="5566020"/>
            <a:ext cx="3032682" cy="3254198"/>
            <a:chOff x="0" y="0"/>
            <a:chExt cx="934257" cy="100249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4257" cy="1002498"/>
            </a:xfrm>
            <a:custGeom>
              <a:avLst/>
              <a:gdLst/>
              <a:ahLst/>
              <a:cxnLst/>
              <a:rect r="r" b="b" t="t" l="l"/>
              <a:pathLst>
                <a:path h="1002498" w="934257">
                  <a:moveTo>
                    <a:pt x="181251" y="0"/>
                  </a:moveTo>
                  <a:lnTo>
                    <a:pt x="753006" y="0"/>
                  </a:lnTo>
                  <a:cubicBezTo>
                    <a:pt x="801077" y="0"/>
                    <a:pt x="847178" y="19096"/>
                    <a:pt x="881170" y="53087"/>
                  </a:cubicBezTo>
                  <a:cubicBezTo>
                    <a:pt x="915161" y="87078"/>
                    <a:pt x="934257" y="133180"/>
                    <a:pt x="934257" y="181251"/>
                  </a:cubicBezTo>
                  <a:lnTo>
                    <a:pt x="934257" y="821247"/>
                  </a:lnTo>
                  <a:cubicBezTo>
                    <a:pt x="934257" y="921349"/>
                    <a:pt x="853108" y="1002498"/>
                    <a:pt x="753006" y="1002498"/>
                  </a:cubicBezTo>
                  <a:lnTo>
                    <a:pt x="181251" y="1002498"/>
                  </a:lnTo>
                  <a:cubicBezTo>
                    <a:pt x="133180" y="1002498"/>
                    <a:pt x="87078" y="983402"/>
                    <a:pt x="53087" y="949410"/>
                  </a:cubicBezTo>
                  <a:cubicBezTo>
                    <a:pt x="19096" y="915419"/>
                    <a:pt x="0" y="869317"/>
                    <a:pt x="0" y="821247"/>
                  </a:cubicBezTo>
                  <a:lnTo>
                    <a:pt x="0" y="181251"/>
                  </a:lnTo>
                  <a:cubicBezTo>
                    <a:pt x="0" y="133180"/>
                    <a:pt x="19096" y="87078"/>
                    <a:pt x="53087" y="53087"/>
                  </a:cubicBezTo>
                  <a:cubicBezTo>
                    <a:pt x="87078" y="19096"/>
                    <a:pt x="133180" y="0"/>
                    <a:pt x="181251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934257" cy="1031072"/>
            </a:xfrm>
            <a:prstGeom prst="rect">
              <a:avLst/>
            </a:prstGeom>
          </p:spPr>
          <p:txBody>
            <a:bodyPr anchor="ctr" rtlCol="false" tIns="52445" lIns="52445" bIns="52445" rIns="5244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505048" y="3680983"/>
            <a:ext cx="3068222" cy="3011078"/>
            <a:chOff x="0" y="0"/>
            <a:chExt cx="934257" cy="9168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4257" cy="916857"/>
            </a:xfrm>
            <a:custGeom>
              <a:avLst/>
              <a:gdLst/>
              <a:ahLst/>
              <a:cxnLst/>
              <a:rect r="r" b="b" t="t" l="l"/>
              <a:pathLst>
                <a:path h="916857" w="934257">
                  <a:moveTo>
                    <a:pt x="179151" y="0"/>
                  </a:moveTo>
                  <a:lnTo>
                    <a:pt x="755105" y="0"/>
                  </a:lnTo>
                  <a:cubicBezTo>
                    <a:pt x="802619" y="0"/>
                    <a:pt x="848187" y="18875"/>
                    <a:pt x="881785" y="52472"/>
                  </a:cubicBezTo>
                  <a:cubicBezTo>
                    <a:pt x="915382" y="86070"/>
                    <a:pt x="934257" y="131637"/>
                    <a:pt x="934257" y="179151"/>
                  </a:cubicBezTo>
                  <a:lnTo>
                    <a:pt x="934257" y="737705"/>
                  </a:lnTo>
                  <a:cubicBezTo>
                    <a:pt x="934257" y="836648"/>
                    <a:pt x="854048" y="916857"/>
                    <a:pt x="755105" y="916857"/>
                  </a:cubicBezTo>
                  <a:lnTo>
                    <a:pt x="179151" y="916857"/>
                  </a:lnTo>
                  <a:cubicBezTo>
                    <a:pt x="80209" y="916857"/>
                    <a:pt x="0" y="836648"/>
                    <a:pt x="0" y="737705"/>
                  </a:cubicBezTo>
                  <a:lnTo>
                    <a:pt x="0" y="179151"/>
                  </a:lnTo>
                  <a:cubicBezTo>
                    <a:pt x="0" y="80209"/>
                    <a:pt x="80209" y="0"/>
                    <a:pt x="179151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34257" cy="954957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39807" y="3063693"/>
            <a:ext cx="2055853" cy="1027926"/>
            <a:chOff x="0" y="0"/>
            <a:chExt cx="812800" cy="406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812800" cy="415925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556"/>
                </a:lnSpc>
              </a:pPr>
              <a:r>
                <a:rPr lang="en-US" b="true" sz="209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Platinum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421359" y="5588380"/>
            <a:ext cx="3032682" cy="3254198"/>
            <a:chOff x="0" y="0"/>
            <a:chExt cx="934257" cy="10024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4257" cy="1002498"/>
            </a:xfrm>
            <a:custGeom>
              <a:avLst/>
              <a:gdLst/>
              <a:ahLst/>
              <a:cxnLst/>
              <a:rect r="r" b="b" t="t" l="l"/>
              <a:pathLst>
                <a:path h="1002498" w="934257">
                  <a:moveTo>
                    <a:pt x="181251" y="0"/>
                  </a:moveTo>
                  <a:lnTo>
                    <a:pt x="753006" y="0"/>
                  </a:lnTo>
                  <a:cubicBezTo>
                    <a:pt x="801077" y="0"/>
                    <a:pt x="847178" y="19096"/>
                    <a:pt x="881170" y="53087"/>
                  </a:cubicBezTo>
                  <a:cubicBezTo>
                    <a:pt x="915161" y="87078"/>
                    <a:pt x="934257" y="133180"/>
                    <a:pt x="934257" y="181251"/>
                  </a:cubicBezTo>
                  <a:lnTo>
                    <a:pt x="934257" y="821247"/>
                  </a:lnTo>
                  <a:cubicBezTo>
                    <a:pt x="934257" y="921349"/>
                    <a:pt x="853108" y="1002498"/>
                    <a:pt x="753006" y="1002498"/>
                  </a:cubicBezTo>
                  <a:lnTo>
                    <a:pt x="181251" y="1002498"/>
                  </a:lnTo>
                  <a:cubicBezTo>
                    <a:pt x="133180" y="1002498"/>
                    <a:pt x="87078" y="983402"/>
                    <a:pt x="53087" y="949410"/>
                  </a:cubicBezTo>
                  <a:cubicBezTo>
                    <a:pt x="19096" y="915419"/>
                    <a:pt x="0" y="869317"/>
                    <a:pt x="0" y="821247"/>
                  </a:cubicBezTo>
                  <a:lnTo>
                    <a:pt x="0" y="181251"/>
                  </a:lnTo>
                  <a:cubicBezTo>
                    <a:pt x="0" y="133180"/>
                    <a:pt x="19096" y="87078"/>
                    <a:pt x="53087" y="53087"/>
                  </a:cubicBezTo>
                  <a:cubicBezTo>
                    <a:pt x="87078" y="19096"/>
                    <a:pt x="133180" y="0"/>
                    <a:pt x="181251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934257" cy="1031072"/>
            </a:xfrm>
            <a:prstGeom prst="rect">
              <a:avLst/>
            </a:prstGeom>
          </p:spPr>
          <p:txBody>
            <a:bodyPr anchor="ctr" rtlCol="false" tIns="52445" lIns="52445" bIns="52445" rIns="52445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4898905" y="6840131"/>
            <a:ext cx="2011870" cy="26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Live truck tracking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898905" y="7129952"/>
            <a:ext cx="2327585" cy="26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Trip start &amp; end status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898905" y="7415066"/>
            <a:ext cx="2148680" cy="26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Basic route visibility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898905" y="7695473"/>
            <a:ext cx="2011870" cy="26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 Mobile app access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898905" y="7949849"/>
            <a:ext cx="1854013" cy="26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 Standard support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4661013" y="6881257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2"/>
                </a:lnTo>
                <a:lnTo>
                  <a:pt x="0" y="170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4661013" y="7187215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2"/>
                </a:lnTo>
                <a:lnTo>
                  <a:pt x="0" y="170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4661013" y="7490847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4661013" y="7750183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2"/>
                </a:lnTo>
                <a:lnTo>
                  <a:pt x="0" y="170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4661013" y="8006190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403589" y="3704383"/>
            <a:ext cx="3068222" cy="2964278"/>
            <a:chOff x="0" y="0"/>
            <a:chExt cx="934257" cy="90260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4257" cy="902606"/>
            </a:xfrm>
            <a:custGeom>
              <a:avLst/>
              <a:gdLst/>
              <a:ahLst/>
              <a:cxnLst/>
              <a:rect r="r" b="b" t="t" l="l"/>
              <a:pathLst>
                <a:path h="902606" w="934257">
                  <a:moveTo>
                    <a:pt x="179151" y="0"/>
                  </a:moveTo>
                  <a:lnTo>
                    <a:pt x="755105" y="0"/>
                  </a:lnTo>
                  <a:cubicBezTo>
                    <a:pt x="802619" y="0"/>
                    <a:pt x="848187" y="18875"/>
                    <a:pt x="881785" y="52472"/>
                  </a:cubicBezTo>
                  <a:cubicBezTo>
                    <a:pt x="915382" y="86070"/>
                    <a:pt x="934257" y="131637"/>
                    <a:pt x="934257" y="179151"/>
                  </a:cubicBezTo>
                  <a:lnTo>
                    <a:pt x="934257" y="723455"/>
                  </a:lnTo>
                  <a:cubicBezTo>
                    <a:pt x="934257" y="770969"/>
                    <a:pt x="915382" y="816536"/>
                    <a:pt x="881785" y="850134"/>
                  </a:cubicBezTo>
                  <a:cubicBezTo>
                    <a:pt x="848187" y="883731"/>
                    <a:pt x="802619" y="902606"/>
                    <a:pt x="755105" y="902606"/>
                  </a:cubicBezTo>
                  <a:lnTo>
                    <a:pt x="179151" y="902606"/>
                  </a:lnTo>
                  <a:cubicBezTo>
                    <a:pt x="80209" y="902606"/>
                    <a:pt x="0" y="822397"/>
                    <a:pt x="0" y="723455"/>
                  </a:cubicBezTo>
                  <a:lnTo>
                    <a:pt x="0" y="179151"/>
                  </a:lnTo>
                  <a:cubicBezTo>
                    <a:pt x="0" y="80209"/>
                    <a:pt x="80209" y="0"/>
                    <a:pt x="179151" y="0"/>
                  </a:cubicBezTo>
                  <a:close/>
                </a:path>
              </a:pathLst>
            </a:custGeom>
            <a:solidFill>
              <a:srgbClr val="0C3571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934257" cy="931181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19298" y="3063693"/>
            <a:ext cx="2055853" cy="1027926"/>
            <a:chOff x="0" y="0"/>
            <a:chExt cx="812800" cy="406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1BC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812800" cy="415925"/>
            </a:xfrm>
            <a:prstGeom prst="rect">
              <a:avLst/>
            </a:prstGeom>
          </p:spPr>
          <p:txBody>
            <a:bodyPr anchor="ctr" rtlCol="false" tIns="53059" lIns="53059" bIns="53059" rIns="53059"/>
            <a:lstStyle/>
            <a:p>
              <a:pPr algn="ctr">
                <a:lnSpc>
                  <a:spcPts val="2556"/>
                </a:lnSpc>
              </a:pPr>
              <a:r>
                <a:rPr lang="en-US" b="true" sz="2095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Silver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2105943" y="6841020"/>
            <a:ext cx="1854013" cy="26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All Go</a:t>
            </a: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ld features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105943" y="7130842"/>
            <a:ext cx="2327585" cy="26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Fuel effic</a:t>
            </a: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iency insights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16811" y="7415956"/>
            <a:ext cx="2011870" cy="5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vanced analytics dashboard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045834" y="7928493"/>
            <a:ext cx="1728858" cy="26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Cu</a:t>
            </a: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stom reports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121568" y="8174330"/>
            <a:ext cx="2082847" cy="5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2"/>
              </a:lnSpc>
              <a:spcBef>
                <a:spcPct val="0"/>
              </a:spcBef>
            </a:pP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Multi-branch / multi-fle</a:t>
            </a:r>
            <a:r>
              <a:rPr lang="en-US" sz="1639">
                <a:solidFill>
                  <a:srgbClr val="FFFFFC"/>
                </a:solidFill>
                <a:latin typeface="Open Sauce"/>
                <a:ea typeface="Open Sauce"/>
                <a:cs typeface="Open Sauce"/>
                <a:sym typeface="Open Sauce"/>
              </a:rPr>
              <a:t>et management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11868050" y="6882147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1868050" y="7188105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1868050" y="7491736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1858525" y="7982157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1"/>
                </a:lnTo>
                <a:lnTo>
                  <a:pt x="0" y="17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1858525" y="8229613"/>
            <a:ext cx="187309" cy="170281"/>
          </a:xfrm>
          <a:custGeom>
            <a:avLst/>
            <a:gdLst/>
            <a:ahLst/>
            <a:cxnLst/>
            <a:rect r="r" b="b" t="t" l="l"/>
            <a:pathLst>
              <a:path h="170281" w="187309">
                <a:moveTo>
                  <a:pt x="0" y="0"/>
                </a:moveTo>
                <a:lnTo>
                  <a:pt x="187309" y="0"/>
                </a:lnTo>
                <a:lnTo>
                  <a:pt x="187309" y="170282"/>
                </a:lnTo>
                <a:lnTo>
                  <a:pt x="0" y="1702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4140690" y="473959"/>
            <a:ext cx="10736200" cy="105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sz="5550" b="true">
                <a:solidFill>
                  <a:srgbClr val="000000"/>
                </a:solidFill>
                <a:latin typeface="Gabriel Sans Bold"/>
                <a:ea typeface="Gabriel Sans Bold"/>
                <a:cs typeface="Gabriel Sans Bold"/>
                <a:sym typeface="Gabriel Sans Bold"/>
              </a:rPr>
              <a:t>COMMERCIALS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775853" y="1763819"/>
            <a:ext cx="974026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 TMS, w</a:t>
            </a: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believe in transparent pricing that scales with your business needs. Our pricing is designed to deliver immediate ROI while providing the flexibility to grow with your Inland operations.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426309" y="9175750"/>
            <a:ext cx="81778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Minimum 5 trucks per account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5214399" y="4571278"/>
            <a:ext cx="1446601" cy="1459228"/>
            <a:chOff x="0" y="0"/>
            <a:chExt cx="1928802" cy="194563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393816" y="674420"/>
              <a:ext cx="333866" cy="492791"/>
            </a:xfrm>
            <a:custGeom>
              <a:avLst/>
              <a:gdLst/>
              <a:ahLst/>
              <a:cxnLst/>
              <a:rect r="r" b="b" t="t" l="l"/>
              <a:pathLst>
                <a:path h="492791" w="333866">
                  <a:moveTo>
                    <a:pt x="0" y="0"/>
                  </a:moveTo>
                  <a:lnTo>
                    <a:pt x="333866" y="0"/>
                  </a:lnTo>
                  <a:lnTo>
                    <a:pt x="333866" y="492791"/>
                  </a:lnTo>
                  <a:lnTo>
                    <a:pt x="0" y="492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7" id="77"/>
            <p:cNvGrpSpPr/>
            <p:nvPr/>
          </p:nvGrpSpPr>
          <p:grpSpPr>
            <a:xfrm rot="0">
              <a:off x="0" y="0"/>
              <a:ext cx="1928802" cy="1945637"/>
              <a:chOff x="0" y="0"/>
              <a:chExt cx="812800" cy="819895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819895"/>
              </a:xfrm>
              <a:custGeom>
                <a:avLst/>
                <a:gdLst/>
                <a:ahLst/>
                <a:cxnLst/>
                <a:rect r="r" b="b" t="t" l="l"/>
                <a:pathLst>
                  <a:path h="819895" w="812800">
                    <a:moveTo>
                      <a:pt x="406400" y="0"/>
                    </a:moveTo>
                    <a:cubicBezTo>
                      <a:pt x="181951" y="0"/>
                      <a:pt x="0" y="183540"/>
                      <a:pt x="0" y="409947"/>
                    </a:cubicBezTo>
                    <a:cubicBezTo>
                      <a:pt x="0" y="636355"/>
                      <a:pt x="181951" y="819895"/>
                      <a:pt x="406400" y="819895"/>
                    </a:cubicBezTo>
                    <a:cubicBezTo>
                      <a:pt x="630849" y="819895"/>
                      <a:pt x="812800" y="636355"/>
                      <a:pt x="812800" y="409947"/>
                    </a:cubicBezTo>
                    <a:cubicBezTo>
                      <a:pt x="812800" y="18354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71BC"/>
              </a:solid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76200" y="57815"/>
                <a:ext cx="660400" cy="685214"/>
              </a:xfrm>
              <a:prstGeom prst="rect">
                <a:avLst/>
              </a:prstGeom>
            </p:spPr>
            <p:txBody>
              <a:bodyPr anchor="ctr" rtlCol="false" tIns="53059" lIns="53059" bIns="53059" rIns="53059"/>
              <a:lstStyle/>
              <a:p>
                <a:pPr algn="ctr">
                  <a:lnSpc>
                    <a:spcPts val="3654"/>
                  </a:lnSpc>
                </a:pPr>
                <a:r>
                  <a:rPr lang="en-US" sz="2995" b="true">
                    <a:solidFill>
                      <a:srgbClr val="FFFFFF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200         </a:t>
                </a:r>
              </a:p>
              <a:p>
                <a:pPr algn="ctr">
                  <a:lnSpc>
                    <a:spcPts val="3654"/>
                  </a:lnSpc>
                </a:pPr>
              </a:p>
            </p:txBody>
          </p:sp>
        </p:grpSp>
        <p:sp>
          <p:nvSpPr>
            <p:cNvPr name="TextBox 80" id="80"/>
            <p:cNvSpPr txBox="true"/>
            <p:nvPr/>
          </p:nvSpPr>
          <p:spPr>
            <a:xfrm rot="0">
              <a:off x="168953" y="1130700"/>
              <a:ext cx="1621768" cy="30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35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 Shipment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1285056" y="567713"/>
              <a:ext cx="415431" cy="30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35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703827" y="4571278"/>
            <a:ext cx="1446601" cy="1459228"/>
            <a:chOff x="0" y="0"/>
            <a:chExt cx="1928802" cy="1945637"/>
          </a:xfrm>
        </p:grpSpPr>
        <p:grpSp>
          <p:nvGrpSpPr>
            <p:cNvPr name="Group 83" id="83"/>
            <p:cNvGrpSpPr/>
            <p:nvPr/>
          </p:nvGrpSpPr>
          <p:grpSpPr>
            <a:xfrm rot="0">
              <a:off x="0" y="0"/>
              <a:ext cx="1928802" cy="1945637"/>
              <a:chOff x="0" y="0"/>
              <a:chExt cx="812800" cy="819895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812800" cy="819895"/>
              </a:xfrm>
              <a:custGeom>
                <a:avLst/>
                <a:gdLst/>
                <a:ahLst/>
                <a:cxnLst/>
                <a:rect r="r" b="b" t="t" l="l"/>
                <a:pathLst>
                  <a:path h="819895" w="812800">
                    <a:moveTo>
                      <a:pt x="406400" y="0"/>
                    </a:moveTo>
                    <a:cubicBezTo>
                      <a:pt x="181951" y="0"/>
                      <a:pt x="0" y="183540"/>
                      <a:pt x="0" y="409947"/>
                    </a:cubicBezTo>
                    <a:cubicBezTo>
                      <a:pt x="0" y="636355"/>
                      <a:pt x="181951" y="819895"/>
                      <a:pt x="406400" y="819895"/>
                    </a:cubicBezTo>
                    <a:cubicBezTo>
                      <a:pt x="630849" y="819895"/>
                      <a:pt x="812800" y="636355"/>
                      <a:pt x="812800" y="409947"/>
                    </a:cubicBezTo>
                    <a:cubicBezTo>
                      <a:pt x="812800" y="18354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71BC"/>
              </a:solidFill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76200" y="57815"/>
                <a:ext cx="660400" cy="685214"/>
              </a:xfrm>
              <a:prstGeom prst="rect">
                <a:avLst/>
              </a:prstGeom>
            </p:spPr>
            <p:txBody>
              <a:bodyPr anchor="ctr" rtlCol="false" tIns="53059" lIns="53059" bIns="53059" rIns="53059"/>
              <a:lstStyle/>
              <a:p>
                <a:pPr algn="ctr">
                  <a:lnSpc>
                    <a:spcPts val="3654"/>
                  </a:lnSpc>
                </a:pPr>
                <a:r>
                  <a:rPr lang="en-US" sz="2995" b="true">
                    <a:solidFill>
                      <a:srgbClr val="FFFFFF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300         </a:t>
                </a:r>
              </a:p>
              <a:p>
                <a:pPr algn="ctr">
                  <a:lnSpc>
                    <a:spcPts val="3654"/>
                  </a:lnSpc>
                </a:pPr>
              </a:p>
            </p:txBody>
          </p:sp>
        </p:grpSp>
        <p:sp>
          <p:nvSpPr>
            <p:cNvPr name="TextBox 86" id="86"/>
            <p:cNvSpPr txBox="true"/>
            <p:nvPr/>
          </p:nvSpPr>
          <p:spPr>
            <a:xfrm rot="0">
              <a:off x="166761" y="1147450"/>
              <a:ext cx="1621768" cy="30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35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 Shipment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1256213" y="567713"/>
              <a:ext cx="415431" cy="30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35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402339" y="4456908"/>
            <a:ext cx="1446601" cy="1459228"/>
            <a:chOff x="0" y="0"/>
            <a:chExt cx="1928802" cy="1945637"/>
          </a:xfrm>
        </p:grpSpPr>
        <p:grpSp>
          <p:nvGrpSpPr>
            <p:cNvPr name="Group 89" id="89"/>
            <p:cNvGrpSpPr/>
            <p:nvPr/>
          </p:nvGrpSpPr>
          <p:grpSpPr>
            <a:xfrm rot="0">
              <a:off x="0" y="0"/>
              <a:ext cx="1928802" cy="1945637"/>
              <a:chOff x="0" y="0"/>
              <a:chExt cx="812800" cy="819895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812800" cy="819895"/>
              </a:xfrm>
              <a:custGeom>
                <a:avLst/>
                <a:gdLst/>
                <a:ahLst/>
                <a:cxnLst/>
                <a:rect r="r" b="b" t="t" l="l"/>
                <a:pathLst>
                  <a:path h="819895" w="812800">
                    <a:moveTo>
                      <a:pt x="406400" y="0"/>
                    </a:moveTo>
                    <a:cubicBezTo>
                      <a:pt x="181951" y="0"/>
                      <a:pt x="0" y="183540"/>
                      <a:pt x="0" y="409947"/>
                    </a:cubicBezTo>
                    <a:cubicBezTo>
                      <a:pt x="0" y="636355"/>
                      <a:pt x="181951" y="819895"/>
                      <a:pt x="406400" y="819895"/>
                    </a:cubicBezTo>
                    <a:cubicBezTo>
                      <a:pt x="630849" y="819895"/>
                      <a:pt x="812800" y="636355"/>
                      <a:pt x="812800" y="409947"/>
                    </a:cubicBezTo>
                    <a:cubicBezTo>
                      <a:pt x="812800" y="18354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71BC"/>
              </a:solidFill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76200" y="57815"/>
                <a:ext cx="660400" cy="685214"/>
              </a:xfrm>
              <a:prstGeom prst="rect">
                <a:avLst/>
              </a:prstGeom>
            </p:spPr>
            <p:txBody>
              <a:bodyPr anchor="ctr" rtlCol="false" tIns="53059" lIns="53059" bIns="53059" rIns="53059"/>
              <a:lstStyle/>
              <a:p>
                <a:pPr algn="ctr">
                  <a:lnSpc>
                    <a:spcPts val="3654"/>
                  </a:lnSpc>
                </a:pPr>
                <a:r>
                  <a:rPr lang="en-US" sz="2995" b="true">
                    <a:solidFill>
                      <a:srgbClr val="FFFFFF"/>
                    </a:solidFill>
                    <a:latin typeface="Now Bold"/>
                    <a:ea typeface="Now Bold"/>
                    <a:cs typeface="Now Bold"/>
                    <a:sym typeface="Now Bold"/>
                  </a:rPr>
                  <a:t>400        </a:t>
                </a:r>
              </a:p>
              <a:p>
                <a:pPr algn="ctr">
                  <a:lnSpc>
                    <a:spcPts val="3654"/>
                  </a:lnSpc>
                </a:pPr>
              </a:p>
            </p:txBody>
          </p:sp>
        </p:grpSp>
        <p:sp>
          <p:nvSpPr>
            <p:cNvPr name="TextBox 92" id="92"/>
            <p:cNvSpPr txBox="true"/>
            <p:nvPr/>
          </p:nvSpPr>
          <p:spPr>
            <a:xfrm rot="0">
              <a:off x="153517" y="1130700"/>
              <a:ext cx="1621768" cy="30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35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 Shipment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1263237" y="614570"/>
              <a:ext cx="415431" cy="300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  <a:spcBef>
                  <a:spcPct val="0"/>
                </a:spcBef>
              </a:pPr>
              <a:r>
                <a:rPr lang="en-US" sz="135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144828"/>
            <a:ext cx="277386" cy="277386"/>
          </a:xfrm>
          <a:custGeom>
            <a:avLst/>
            <a:gdLst/>
            <a:ahLst/>
            <a:cxnLst/>
            <a:rect r="r" b="b" t="t" l="l"/>
            <a:pathLst>
              <a:path h="277386" w="277386">
                <a:moveTo>
                  <a:pt x="0" y="0"/>
                </a:moveTo>
                <a:lnTo>
                  <a:pt x="277386" y="0"/>
                </a:lnTo>
                <a:lnTo>
                  <a:pt x="277386" y="277386"/>
                </a:lnTo>
                <a:lnTo>
                  <a:pt x="0" y="277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666299"/>
            <a:ext cx="277386" cy="277386"/>
          </a:xfrm>
          <a:custGeom>
            <a:avLst/>
            <a:gdLst/>
            <a:ahLst/>
            <a:cxnLst/>
            <a:rect r="r" b="b" t="t" l="l"/>
            <a:pathLst>
              <a:path h="277386" w="277386">
                <a:moveTo>
                  <a:pt x="0" y="0"/>
                </a:moveTo>
                <a:lnTo>
                  <a:pt x="277386" y="0"/>
                </a:lnTo>
                <a:lnTo>
                  <a:pt x="277386" y="277386"/>
                </a:lnTo>
                <a:lnTo>
                  <a:pt x="0" y="277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3277" y="2720557"/>
            <a:ext cx="10236585" cy="142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6"/>
              </a:lnSpc>
              <a:spcBef>
                <a:spcPct val="0"/>
              </a:spcBef>
            </a:pPr>
            <a:r>
              <a:rPr lang="en-US" b="true" sz="7490">
                <a:solidFill>
                  <a:srgbClr val="438ECD"/>
                </a:solidFill>
                <a:latin typeface="Gabriel Sans Condensed Bold"/>
                <a:ea typeface="Gabriel Sans Condensed Bold"/>
                <a:cs typeface="Gabriel Sans Condensed Bold"/>
                <a:sym typeface="Gabriel Sans Condensed Bold"/>
              </a:rPr>
              <a:t>LOGISTICS OPERATIONS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827" y="1649052"/>
            <a:ext cx="9088143" cy="152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3"/>
              </a:lnSpc>
              <a:spcBef>
                <a:spcPct val="0"/>
              </a:spcBef>
            </a:pPr>
            <a:r>
              <a:rPr lang="en-US" b="true" sz="7945">
                <a:solidFill>
                  <a:srgbClr val="000000"/>
                </a:solidFill>
                <a:latin typeface="Gabriel Sans Condensed Bold"/>
                <a:ea typeface="Gabriel Sans Condensed Bold"/>
                <a:cs typeface="Gabriel Sans Condensed Bold"/>
                <a:sym typeface="Gabriel Sans Condensed Bold"/>
              </a:rPr>
              <a:t>TRANSFORM YOUR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898772" y="6196635"/>
            <a:ext cx="277386" cy="277386"/>
          </a:xfrm>
          <a:custGeom>
            <a:avLst/>
            <a:gdLst/>
            <a:ahLst/>
            <a:cxnLst/>
            <a:rect r="r" b="b" t="t" l="l"/>
            <a:pathLst>
              <a:path h="277386" w="277386">
                <a:moveTo>
                  <a:pt x="0" y="0"/>
                </a:moveTo>
                <a:lnTo>
                  <a:pt x="277386" y="0"/>
                </a:lnTo>
                <a:lnTo>
                  <a:pt x="277386" y="277386"/>
                </a:lnTo>
                <a:lnTo>
                  <a:pt x="0" y="27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5665844" y="-5733096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0" y="9878664"/>
                </a:moveTo>
                <a:lnTo>
                  <a:pt x="10158010" y="9878664"/>
                </a:lnTo>
                <a:lnTo>
                  <a:pt x="10158010" y="0"/>
                </a:lnTo>
                <a:lnTo>
                  <a:pt x="0" y="0"/>
                </a:lnTo>
                <a:lnTo>
                  <a:pt x="0" y="9878664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4108906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0" y="10287000"/>
                </a:moveTo>
                <a:lnTo>
                  <a:pt x="4179094" y="10287000"/>
                </a:lnTo>
                <a:lnTo>
                  <a:pt x="4179094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00054" y="83022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6" y="0"/>
                </a:lnTo>
                <a:lnTo>
                  <a:pt x="1701886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00054" y="105572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6" y="0"/>
                </a:lnTo>
                <a:lnTo>
                  <a:pt x="1701886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63625" y="9444048"/>
            <a:ext cx="589717" cy="469674"/>
          </a:xfrm>
          <a:custGeom>
            <a:avLst/>
            <a:gdLst/>
            <a:ahLst/>
            <a:cxnLst/>
            <a:rect r="r" b="b" t="t" l="l"/>
            <a:pathLst>
              <a:path h="469674" w="589717">
                <a:moveTo>
                  <a:pt x="0" y="0"/>
                </a:moveTo>
                <a:lnTo>
                  <a:pt x="589717" y="0"/>
                </a:lnTo>
                <a:lnTo>
                  <a:pt x="589717" y="469674"/>
                </a:lnTo>
                <a:lnTo>
                  <a:pt x="0" y="4696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241628" b="-30588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898772" y="6666309"/>
            <a:ext cx="277386" cy="277386"/>
          </a:xfrm>
          <a:custGeom>
            <a:avLst/>
            <a:gdLst/>
            <a:ahLst/>
            <a:cxnLst/>
            <a:rect r="r" b="b" t="t" l="l"/>
            <a:pathLst>
              <a:path h="277386" w="277386">
                <a:moveTo>
                  <a:pt x="0" y="0"/>
                </a:moveTo>
                <a:lnTo>
                  <a:pt x="277386" y="0"/>
                </a:lnTo>
                <a:lnTo>
                  <a:pt x="277386" y="277386"/>
                </a:lnTo>
                <a:lnTo>
                  <a:pt x="0" y="277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64827" y="473469"/>
            <a:ext cx="667891" cy="356433"/>
          </a:xfrm>
          <a:custGeom>
            <a:avLst/>
            <a:gdLst/>
            <a:ahLst/>
            <a:cxnLst/>
            <a:rect r="r" b="b" t="t" l="l"/>
            <a:pathLst>
              <a:path h="356433" w="667891">
                <a:moveTo>
                  <a:pt x="0" y="0"/>
                </a:moveTo>
                <a:lnTo>
                  <a:pt x="667891" y="0"/>
                </a:lnTo>
                <a:lnTo>
                  <a:pt x="667891" y="356433"/>
                </a:lnTo>
                <a:lnTo>
                  <a:pt x="0" y="3564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469936" y="2567602"/>
            <a:ext cx="5504132" cy="5153424"/>
            <a:chOff x="0" y="0"/>
            <a:chExt cx="7338843" cy="687123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338843" cy="6871231"/>
              <a:chOff x="0" y="0"/>
              <a:chExt cx="1208960" cy="113192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208960" cy="1131928"/>
              </a:xfrm>
              <a:custGeom>
                <a:avLst/>
                <a:gdLst/>
                <a:ahLst/>
                <a:cxnLst/>
                <a:rect r="r" b="b" t="t" l="l"/>
                <a:pathLst>
                  <a:path h="1131928" w="1208960">
                    <a:moveTo>
                      <a:pt x="25735" y="0"/>
                    </a:moveTo>
                    <a:lnTo>
                      <a:pt x="1183225" y="0"/>
                    </a:lnTo>
                    <a:cubicBezTo>
                      <a:pt x="1190050" y="0"/>
                      <a:pt x="1196596" y="2711"/>
                      <a:pt x="1201422" y="7538"/>
                    </a:cubicBezTo>
                    <a:cubicBezTo>
                      <a:pt x="1206249" y="12364"/>
                      <a:pt x="1208960" y="18910"/>
                      <a:pt x="1208960" y="25735"/>
                    </a:cubicBezTo>
                    <a:lnTo>
                      <a:pt x="1208960" y="1106193"/>
                    </a:lnTo>
                    <a:cubicBezTo>
                      <a:pt x="1208960" y="1120406"/>
                      <a:pt x="1197438" y="1131928"/>
                      <a:pt x="1183225" y="1131928"/>
                    </a:cubicBezTo>
                    <a:lnTo>
                      <a:pt x="25735" y="1131928"/>
                    </a:lnTo>
                    <a:cubicBezTo>
                      <a:pt x="18910" y="1131928"/>
                      <a:pt x="12364" y="1129217"/>
                      <a:pt x="7538" y="1124391"/>
                    </a:cubicBezTo>
                    <a:cubicBezTo>
                      <a:pt x="2711" y="1119564"/>
                      <a:pt x="0" y="1113018"/>
                      <a:pt x="0" y="1106193"/>
                    </a:cubicBezTo>
                    <a:lnTo>
                      <a:pt x="0" y="25735"/>
                    </a:lnTo>
                    <a:cubicBezTo>
                      <a:pt x="0" y="18910"/>
                      <a:pt x="2711" y="12364"/>
                      <a:pt x="7538" y="7538"/>
                    </a:cubicBezTo>
                    <a:cubicBezTo>
                      <a:pt x="12364" y="2711"/>
                      <a:pt x="18910" y="0"/>
                      <a:pt x="25735" y="0"/>
                    </a:cubicBezTo>
                    <a:close/>
                  </a:path>
                </a:pathLst>
              </a:custGeom>
              <a:solidFill>
                <a:srgbClr val="004E7A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1208960" cy="11509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91251" y="179065"/>
              <a:ext cx="6619030" cy="6197283"/>
              <a:chOff x="0" y="0"/>
              <a:chExt cx="1208960" cy="113192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08960" cy="1131928"/>
              </a:xfrm>
              <a:custGeom>
                <a:avLst/>
                <a:gdLst/>
                <a:ahLst/>
                <a:cxnLst/>
                <a:rect r="r" b="b" t="t" l="l"/>
                <a:pathLst>
                  <a:path h="1131928" w="1208960">
                    <a:moveTo>
                      <a:pt x="28534" y="0"/>
                    </a:moveTo>
                    <a:lnTo>
                      <a:pt x="1180426" y="0"/>
                    </a:lnTo>
                    <a:cubicBezTo>
                      <a:pt x="1187994" y="0"/>
                      <a:pt x="1195251" y="3006"/>
                      <a:pt x="1200603" y="8357"/>
                    </a:cubicBezTo>
                    <a:cubicBezTo>
                      <a:pt x="1205954" y="13709"/>
                      <a:pt x="1208960" y="20966"/>
                      <a:pt x="1208960" y="28534"/>
                    </a:cubicBezTo>
                    <a:lnTo>
                      <a:pt x="1208960" y="1103394"/>
                    </a:lnTo>
                    <a:cubicBezTo>
                      <a:pt x="1208960" y="1119153"/>
                      <a:pt x="1196185" y="1131928"/>
                      <a:pt x="1180426" y="1131928"/>
                    </a:cubicBezTo>
                    <a:lnTo>
                      <a:pt x="28534" y="1131928"/>
                    </a:lnTo>
                    <a:cubicBezTo>
                      <a:pt x="12775" y="1131928"/>
                      <a:pt x="0" y="1119153"/>
                      <a:pt x="0" y="1103394"/>
                    </a:cubicBezTo>
                    <a:lnTo>
                      <a:pt x="0" y="28534"/>
                    </a:lnTo>
                    <a:cubicBezTo>
                      <a:pt x="0" y="12775"/>
                      <a:pt x="12775" y="0"/>
                      <a:pt x="285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208960" cy="11509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57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12367900" y="5782077"/>
            <a:ext cx="3455954" cy="829116"/>
            <a:chOff x="0" y="0"/>
            <a:chExt cx="711102" cy="170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1102" cy="170600"/>
            </a:xfrm>
            <a:custGeom>
              <a:avLst/>
              <a:gdLst/>
              <a:ahLst/>
              <a:cxnLst/>
              <a:rect r="r" b="b" t="t" l="l"/>
              <a:pathLst>
                <a:path h="170600" w="711102">
                  <a:moveTo>
                    <a:pt x="43753" y="0"/>
                  </a:moveTo>
                  <a:lnTo>
                    <a:pt x="667348" y="0"/>
                  </a:lnTo>
                  <a:cubicBezTo>
                    <a:pt x="678952" y="0"/>
                    <a:pt x="690081" y="4610"/>
                    <a:pt x="698286" y="12815"/>
                  </a:cubicBezTo>
                  <a:cubicBezTo>
                    <a:pt x="706492" y="21020"/>
                    <a:pt x="711102" y="32149"/>
                    <a:pt x="711102" y="43753"/>
                  </a:cubicBezTo>
                  <a:lnTo>
                    <a:pt x="711102" y="126847"/>
                  </a:lnTo>
                  <a:cubicBezTo>
                    <a:pt x="711102" y="151011"/>
                    <a:pt x="691513" y="170600"/>
                    <a:pt x="667348" y="170600"/>
                  </a:cubicBezTo>
                  <a:lnTo>
                    <a:pt x="43753" y="170600"/>
                  </a:lnTo>
                  <a:cubicBezTo>
                    <a:pt x="19589" y="170600"/>
                    <a:pt x="0" y="151011"/>
                    <a:pt x="0" y="126847"/>
                  </a:cubicBezTo>
                  <a:lnTo>
                    <a:pt x="0" y="43753"/>
                  </a:lnTo>
                  <a:cubicBezTo>
                    <a:pt x="0" y="19589"/>
                    <a:pt x="19589" y="0"/>
                    <a:pt x="43753" y="0"/>
                  </a:cubicBezTo>
                  <a:close/>
                </a:path>
              </a:pathLst>
            </a:custGeom>
            <a:solidFill>
              <a:srgbClr val="4B6AE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11102" cy="189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7"/>
                </a:lnSpc>
              </a:pPr>
              <a:r>
                <a:rPr lang="en-US" b="true" sz="1858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Schedule A Live Demo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33277" y="4291001"/>
            <a:ext cx="10111572" cy="1076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Truck Management System is a powerful end-to-end solution built to modernize truck transportation with unmatched accuracy, efficiency and visibility.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3610" y="6102546"/>
            <a:ext cx="28572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Structured Roles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3610" y="6624017"/>
            <a:ext cx="28572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Automated Docs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13682" y="6154353"/>
            <a:ext cx="31995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Real-time Tracking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438" y="176820"/>
            <a:ext cx="4110379" cy="78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8"/>
              </a:lnSpc>
              <a:spcBef>
                <a:spcPct val="0"/>
              </a:spcBef>
            </a:pPr>
            <a:r>
              <a:rPr lang="en-US" b="true" sz="4120">
                <a:solidFill>
                  <a:srgbClr val="000000"/>
                </a:solidFill>
                <a:latin typeface="Gabriel Sans Condensed Bold"/>
                <a:ea typeface="Gabriel Sans Condensed Bold"/>
                <a:cs typeface="Gabriel Sans Condensed Bold"/>
                <a:sym typeface="Gabriel Sans Condensed Bold"/>
              </a:rPr>
              <a:t>THE ROAD AHEAD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13682" y="6624027"/>
            <a:ext cx="319958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3"/>
              </a:lnSpc>
            </a:pPr>
            <a:r>
              <a:rPr lang="en-US" sz="2536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Integrated AR/AP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3277" y="7701975"/>
            <a:ext cx="10111572" cy="714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Eq</a:t>
            </a:r>
            <a:r>
              <a:rPr lang="en-US" sz="22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uip your logistics business to operate with reliability and scale without operational bottlenecks.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94026" y="3425306"/>
            <a:ext cx="3455954" cy="796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536" b="true">
                <a:solidFill>
                  <a:srgbClr val="4B6AE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READY FOR DIGITAL TRANSFORMATION?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08548" y="4650526"/>
            <a:ext cx="4800716" cy="53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6"/>
              </a:lnSpc>
              <a:spcBef>
                <a:spcPct val="0"/>
              </a:spcBef>
            </a:pPr>
            <a:r>
              <a:rPr lang="en-US" sz="165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Ensure every movement from booking to delivery is controlled, tracked and optimized.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826132"/>
            <a:ext cx="10158010" cy="9878664"/>
          </a:xfrm>
          <a:custGeom>
            <a:avLst/>
            <a:gdLst/>
            <a:ahLst/>
            <a:cxnLst/>
            <a:rect r="r" b="b" t="t" l="l"/>
            <a:pathLst>
              <a:path h="9878664" w="10158010">
                <a:moveTo>
                  <a:pt x="10158010" y="0"/>
                </a:moveTo>
                <a:lnTo>
                  <a:pt x="0" y="0"/>
                </a:lnTo>
                <a:lnTo>
                  <a:pt x="0" y="9878664"/>
                </a:lnTo>
                <a:lnTo>
                  <a:pt x="10158010" y="9878664"/>
                </a:lnTo>
                <a:lnTo>
                  <a:pt x="1015801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62961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4179093" y="0"/>
                </a:moveTo>
                <a:lnTo>
                  <a:pt x="0" y="0"/>
                </a:lnTo>
                <a:lnTo>
                  <a:pt x="0" y="10287000"/>
                </a:lnTo>
                <a:lnTo>
                  <a:pt x="4179093" y="10287000"/>
                </a:lnTo>
                <a:lnTo>
                  <a:pt x="41790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5171868" y="0"/>
            <a:ext cx="4179094" cy="10287000"/>
          </a:xfrm>
          <a:custGeom>
            <a:avLst/>
            <a:gdLst/>
            <a:ahLst/>
            <a:cxnLst/>
            <a:rect r="r" b="b" t="t" l="l"/>
            <a:pathLst>
              <a:path h="10287000" w="4179094">
                <a:moveTo>
                  <a:pt x="0" y="10287000"/>
                </a:moveTo>
                <a:lnTo>
                  <a:pt x="4179093" y="10287000"/>
                </a:lnTo>
                <a:lnTo>
                  <a:pt x="4179093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557413" y="880730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5420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57413" y="9032800"/>
            <a:ext cx="1701887" cy="225500"/>
          </a:xfrm>
          <a:custGeom>
            <a:avLst/>
            <a:gdLst/>
            <a:ahLst/>
            <a:cxnLst/>
            <a:rect r="r" b="b" t="t" l="l"/>
            <a:pathLst>
              <a:path h="225500" w="1701887">
                <a:moveTo>
                  <a:pt x="0" y="0"/>
                </a:moveTo>
                <a:lnTo>
                  <a:pt x="1701887" y="0"/>
                </a:lnTo>
                <a:lnTo>
                  <a:pt x="1701887" y="225500"/>
                </a:lnTo>
                <a:lnTo>
                  <a:pt x="0" y="22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28568" y="2189645"/>
            <a:ext cx="7830865" cy="163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31"/>
              </a:lnSpc>
              <a:spcBef>
                <a:spcPct val="0"/>
              </a:spcBef>
            </a:pPr>
            <a:r>
              <a:rPr lang="en-US" b="true" sz="8522">
                <a:solidFill>
                  <a:srgbClr val="000000"/>
                </a:solidFill>
                <a:latin typeface="Gabriel Sans Condensed Bold"/>
                <a:ea typeface="Gabriel Sans Condensed Bold"/>
                <a:cs typeface="Gabriel Sans Condensed Bold"/>
                <a:sym typeface="Gabriel Sans Condensed Bold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3986" y="4345134"/>
            <a:ext cx="9680028" cy="926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7"/>
              </a:lnSpc>
            </a:pPr>
            <a:r>
              <a:rPr lang="en-US" sz="283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Ensure every movement from booking to delivery is controlled, tracked and optimized.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78021" y="8901000"/>
            <a:ext cx="2331958" cy="3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6"/>
              </a:lnSpc>
            </a:pPr>
            <a:r>
              <a:rPr lang="en-US" b="true" sz="223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www.infologia.in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514193" y="6071367"/>
            <a:ext cx="9652400" cy="1896052"/>
            <a:chOff x="0" y="0"/>
            <a:chExt cx="12869867" cy="25280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3383299" y="12532"/>
              <a:ext cx="643745" cy="643745"/>
            </a:xfrm>
            <a:custGeom>
              <a:avLst/>
              <a:gdLst/>
              <a:ahLst/>
              <a:cxnLst/>
              <a:rect r="r" b="b" t="t" l="l"/>
              <a:pathLst>
                <a:path h="643745" w="643745">
                  <a:moveTo>
                    <a:pt x="0" y="0"/>
                  </a:moveTo>
                  <a:lnTo>
                    <a:pt x="643745" y="0"/>
                  </a:lnTo>
                  <a:lnTo>
                    <a:pt x="643745" y="643745"/>
                  </a:lnTo>
                  <a:lnTo>
                    <a:pt x="0" y="64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383299" y="930577"/>
              <a:ext cx="643745" cy="643745"/>
            </a:xfrm>
            <a:custGeom>
              <a:avLst/>
              <a:gdLst/>
              <a:ahLst/>
              <a:cxnLst/>
              <a:rect r="r" b="b" t="t" l="l"/>
              <a:pathLst>
                <a:path h="643745" w="643745">
                  <a:moveTo>
                    <a:pt x="0" y="0"/>
                  </a:moveTo>
                  <a:lnTo>
                    <a:pt x="643745" y="0"/>
                  </a:lnTo>
                  <a:lnTo>
                    <a:pt x="643745" y="643745"/>
                  </a:lnTo>
                  <a:lnTo>
                    <a:pt x="0" y="64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390964" y="1853722"/>
              <a:ext cx="636080" cy="636080"/>
            </a:xfrm>
            <a:custGeom>
              <a:avLst/>
              <a:gdLst/>
              <a:ahLst/>
              <a:cxnLst/>
              <a:rect r="r" b="b" t="t" l="l"/>
              <a:pathLst>
                <a:path h="636080" w="636080">
                  <a:moveTo>
                    <a:pt x="0" y="0"/>
                  </a:moveTo>
                  <a:lnTo>
                    <a:pt x="636080" y="0"/>
                  </a:lnTo>
                  <a:lnTo>
                    <a:pt x="636080" y="636080"/>
                  </a:lnTo>
                  <a:lnTo>
                    <a:pt x="0" y="63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4494485" y="0"/>
              <a:ext cx="50800" cy="2528069"/>
              <a:chOff x="0" y="0"/>
              <a:chExt cx="50800" cy="252806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33909"/>
                <a:ext cx="67691" cy="2477262"/>
              </a:xfrm>
              <a:custGeom>
                <a:avLst/>
                <a:gdLst/>
                <a:ahLst/>
                <a:cxnLst/>
                <a:rect r="r" b="b" t="t" l="l"/>
                <a:pathLst>
                  <a:path h="2477262" w="67691">
                    <a:moveTo>
                      <a:pt x="0" y="2477262"/>
                    </a:moveTo>
                    <a:lnTo>
                      <a:pt x="0" y="0"/>
                    </a:lnTo>
                    <a:lnTo>
                      <a:pt x="67691" y="0"/>
                    </a:lnTo>
                    <a:lnTo>
                      <a:pt x="67691" y="2477262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5080892" y="956520"/>
              <a:ext cx="643745" cy="643745"/>
            </a:xfrm>
            <a:custGeom>
              <a:avLst/>
              <a:gdLst/>
              <a:ahLst/>
              <a:cxnLst/>
              <a:rect r="r" b="b" t="t" l="l"/>
              <a:pathLst>
                <a:path h="643745" w="643745">
                  <a:moveTo>
                    <a:pt x="0" y="0"/>
                  </a:moveTo>
                  <a:lnTo>
                    <a:pt x="643745" y="0"/>
                  </a:lnTo>
                  <a:lnTo>
                    <a:pt x="643745" y="643745"/>
                  </a:lnTo>
                  <a:lnTo>
                    <a:pt x="0" y="64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038125" y="12532"/>
              <a:ext cx="686512" cy="686512"/>
            </a:xfrm>
            <a:custGeom>
              <a:avLst/>
              <a:gdLst/>
              <a:ahLst/>
              <a:cxnLst/>
              <a:rect r="r" b="b" t="t" l="l"/>
              <a:pathLst>
                <a:path h="686512" w="686512">
                  <a:moveTo>
                    <a:pt x="0" y="0"/>
                  </a:moveTo>
                  <a:lnTo>
                    <a:pt x="686512" y="0"/>
                  </a:lnTo>
                  <a:lnTo>
                    <a:pt x="686512" y="686512"/>
                  </a:lnTo>
                  <a:lnTo>
                    <a:pt x="0" y="686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088558" y="1866589"/>
              <a:ext cx="636080" cy="636080"/>
            </a:xfrm>
            <a:custGeom>
              <a:avLst/>
              <a:gdLst/>
              <a:ahLst/>
              <a:cxnLst/>
              <a:rect r="r" b="b" t="t" l="l"/>
              <a:pathLst>
                <a:path h="636080" w="636080">
                  <a:moveTo>
                    <a:pt x="0" y="0"/>
                  </a:moveTo>
                  <a:lnTo>
                    <a:pt x="636080" y="0"/>
                  </a:lnTo>
                  <a:lnTo>
                    <a:pt x="636080" y="636080"/>
                  </a:lnTo>
                  <a:lnTo>
                    <a:pt x="0" y="63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-11933"/>
              <a:ext cx="3208292" cy="482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936"/>
                </a:lnSpc>
              </a:pPr>
              <a:r>
                <a:rPr lang="en-US" b="true" sz="2097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www.infologia.in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45903" y="1871749"/>
              <a:ext cx="2862389" cy="421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658"/>
                </a:lnSpc>
              </a:pPr>
              <a:r>
                <a:rPr lang="en-US" b="true" sz="1898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info@infologia.in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905539"/>
              <a:ext cx="320829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+91 4435558065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265820" y="143055"/>
              <a:ext cx="6604047" cy="482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6"/>
                </a:lnSpc>
              </a:pPr>
              <a:r>
                <a:rPr lang="en-US" b="true" sz="2097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Naresh Arumugam, Director of Sales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226691" y="1924914"/>
              <a:ext cx="368369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naresh@infologia.in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226691" y="1066829"/>
              <a:ext cx="368369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+91 9962677728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DAG7LY1oufE</dc:identifier>
  <dcterms:modified xsi:type="dcterms:W3CDTF">2011-08-01T06:04:30Z</dcterms:modified>
  <cp:revision>1</cp:revision>
  <dc:title>Truck Management System.pptx</dc:title>
</cp:coreProperties>
</file>