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3"/>
  </p:notesMasterIdLst>
  <p:handoutMasterIdLst>
    <p:handoutMasterId r:id="rId24"/>
  </p:handoutMasterIdLst>
  <p:sldIdLst>
    <p:sldId id="289" r:id="rId5"/>
    <p:sldId id="293" r:id="rId6"/>
    <p:sldId id="294" r:id="rId7"/>
    <p:sldId id="302" r:id="rId8"/>
    <p:sldId id="324" r:id="rId9"/>
    <p:sldId id="319" r:id="rId10"/>
    <p:sldId id="321" r:id="rId11"/>
    <p:sldId id="299" r:id="rId12"/>
    <p:sldId id="322" r:id="rId13"/>
    <p:sldId id="317" r:id="rId14"/>
    <p:sldId id="311" r:id="rId15"/>
    <p:sldId id="323" r:id="rId16"/>
    <p:sldId id="270" r:id="rId17"/>
    <p:sldId id="286" r:id="rId18"/>
    <p:sldId id="301" r:id="rId19"/>
    <p:sldId id="314" r:id="rId20"/>
    <p:sldId id="316" r:id="rId21"/>
    <p:sldId id="31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5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616D"/>
    <a:srgbClr val="0090A2"/>
    <a:srgbClr val="792C26"/>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5ED4F-3879-4BAE-9FA3-A817144229D3}" v="4" dt="2025-11-14T16:02:13.03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showGuides="1">
      <p:cViewPr varScale="1">
        <p:scale>
          <a:sx n="95" d="100"/>
          <a:sy n="95" d="100"/>
        </p:scale>
        <p:origin x="360" y="72"/>
      </p:cViewPr>
      <p:guideLst>
        <p:guide pos="3840"/>
        <p:guide orient="horz" pos="2153"/>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dhura Baskaran" userId="820844d9b2fc882e" providerId="LiveId" clId="{5AEB6A56-8AE1-4C2B-87A3-1AC11748025C}"/>
    <pc:docChg chg="modSld">
      <pc:chgData name="Vidhura Baskaran" userId="820844d9b2fc882e" providerId="LiveId" clId="{5AEB6A56-8AE1-4C2B-87A3-1AC11748025C}" dt="2025-11-14T16:06:36.915" v="40" actId="20577"/>
      <pc:docMkLst>
        <pc:docMk/>
      </pc:docMkLst>
      <pc:sldChg chg="modSp mod">
        <pc:chgData name="Vidhura Baskaran" userId="820844d9b2fc882e" providerId="LiveId" clId="{5AEB6A56-8AE1-4C2B-87A3-1AC11748025C}" dt="2025-11-14T16:04:38.589" v="14" actId="20577"/>
        <pc:sldMkLst>
          <pc:docMk/>
          <pc:sldMk cId="0" sldId="293"/>
        </pc:sldMkLst>
        <pc:spChg chg="mod">
          <ac:chgData name="Vidhura Baskaran" userId="820844d9b2fc882e" providerId="LiveId" clId="{5AEB6A56-8AE1-4C2B-87A3-1AC11748025C}" dt="2025-11-14T16:04:38.589" v="14" actId="20577"/>
          <ac:spMkLst>
            <pc:docMk/>
            <pc:sldMk cId="0" sldId="293"/>
            <ac:spMk id="29" creationId="{00000000-0000-0000-0000-000000000000}"/>
          </ac:spMkLst>
        </pc:spChg>
      </pc:sldChg>
      <pc:sldChg chg="modSp mod">
        <pc:chgData name="Vidhura Baskaran" userId="820844d9b2fc882e" providerId="LiveId" clId="{5AEB6A56-8AE1-4C2B-87A3-1AC11748025C}" dt="2025-11-14T16:06:36.915" v="40" actId="20577"/>
        <pc:sldMkLst>
          <pc:docMk/>
          <pc:sldMk cId="0" sldId="294"/>
        </pc:sldMkLst>
        <pc:spChg chg="mod">
          <ac:chgData name="Vidhura Baskaran" userId="820844d9b2fc882e" providerId="LiveId" clId="{5AEB6A56-8AE1-4C2B-87A3-1AC11748025C}" dt="2025-11-14T16:04:45.326" v="16" actId="20577"/>
          <ac:spMkLst>
            <pc:docMk/>
            <pc:sldMk cId="0" sldId="294"/>
            <ac:spMk id="3" creationId="{00000000-0000-0000-0000-000000000000}"/>
          </ac:spMkLst>
        </pc:spChg>
        <pc:spChg chg="mod">
          <ac:chgData name="Vidhura Baskaran" userId="820844d9b2fc882e" providerId="LiveId" clId="{5AEB6A56-8AE1-4C2B-87A3-1AC11748025C}" dt="2025-11-14T16:06:36.915" v="40" actId="20577"/>
          <ac:spMkLst>
            <pc:docMk/>
            <pc:sldMk cId="0" sldId="294"/>
            <ac:spMk id="18" creationId="{00000000-0000-0000-0000-000000000000}"/>
          </ac:spMkLst>
        </pc:spChg>
      </pc:sldChg>
      <pc:sldChg chg="modSp mod">
        <pc:chgData name="Vidhura Baskaran" userId="820844d9b2fc882e" providerId="LiveId" clId="{5AEB6A56-8AE1-4C2B-87A3-1AC11748025C}" dt="2025-11-14T16:05:21.153" v="32" actId="20577"/>
        <pc:sldMkLst>
          <pc:docMk/>
          <pc:sldMk cId="0" sldId="302"/>
        </pc:sldMkLst>
        <pc:spChg chg="mod">
          <ac:chgData name="Vidhura Baskaran" userId="820844d9b2fc882e" providerId="LiveId" clId="{5AEB6A56-8AE1-4C2B-87A3-1AC11748025C}" dt="2025-11-14T16:05:21.153" v="32" actId="20577"/>
          <ac:spMkLst>
            <pc:docMk/>
            <pc:sldMk cId="0" sldId="302"/>
            <ac:spMk id="18" creationId="{00000000-0000-0000-0000-000000000000}"/>
          </ac:spMkLst>
        </pc:spChg>
      </pc:sldChg>
      <pc:sldChg chg="modSp mod">
        <pc:chgData name="Vidhura Baskaran" userId="820844d9b2fc882e" providerId="LiveId" clId="{5AEB6A56-8AE1-4C2B-87A3-1AC11748025C}" dt="2025-11-14T16:06:17.280" v="38" actId="20577"/>
        <pc:sldMkLst>
          <pc:docMk/>
          <pc:sldMk cId="0" sldId="321"/>
        </pc:sldMkLst>
        <pc:spChg chg="mod">
          <ac:chgData name="Vidhura Baskaran" userId="820844d9b2fc882e" providerId="LiveId" clId="{5AEB6A56-8AE1-4C2B-87A3-1AC11748025C}" dt="2025-11-14T16:06:17.280" v="38" actId="20577"/>
          <ac:spMkLst>
            <pc:docMk/>
            <pc:sldMk cId="0" sldId="321"/>
            <ac:spMk id="6" creationId="{00000000-0000-0000-0000-000000000000}"/>
          </ac:spMkLst>
        </pc:spChg>
      </pc:sldChg>
      <pc:sldChg chg="modSp mod">
        <pc:chgData name="Vidhura Baskaran" userId="820844d9b2fc882e" providerId="LiveId" clId="{5AEB6A56-8AE1-4C2B-87A3-1AC11748025C}" dt="2025-11-14T16:05:59.053" v="34" actId="20577"/>
        <pc:sldMkLst>
          <pc:docMk/>
          <pc:sldMk cId="1908230283" sldId="324"/>
        </pc:sldMkLst>
        <pc:spChg chg="mod">
          <ac:chgData name="Vidhura Baskaran" userId="820844d9b2fc882e" providerId="LiveId" clId="{5AEB6A56-8AE1-4C2B-87A3-1AC11748025C}" dt="2025-11-14T16:05:59.053" v="34" actId="20577"/>
          <ac:spMkLst>
            <pc:docMk/>
            <pc:sldMk cId="1908230283" sldId="324"/>
            <ac:spMk id="2" creationId="{C051B5B1-31FA-ABCF-9CAA-0D565A0919E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EBDBEE-1FDA-4F57-947F-5759FA6ABC55}" type="datetimeFigureOut">
              <a:rPr lang="en-US" smtClean="0"/>
              <a:t>11/14/2025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A8C659-3DDB-48CB-A056-6A658A161B7C}"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6A9CD-5E57-4C86-B862-09CA519924BA}" type="datetimeFigureOut">
              <a:rPr lang="en-US" smtClean="0"/>
              <a:t>11/14/2025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A004F4-F240-48F9-8AE1-486585C7F00D}" type="slidenum">
              <a:rPr lang="en-US" smtClean="0"/>
              <a:t>‹#›</a:t>
            </a:fld>
            <a:endParaRPr lang="en-US"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8</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D7DCE-5D06-DCCF-7122-13393ECAD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51763-587C-D6F9-6C20-D9D8FEA9C4E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71E5BD5-A20D-1617-39CF-165851E836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CC7D7C-0130-A2DC-8E51-5424414DC060}"/>
              </a:ext>
            </a:extLst>
          </p:cNvPr>
          <p:cNvSpPr>
            <a:spLocks noGrp="1"/>
          </p:cNvSpPr>
          <p:nvPr>
            <p:ph type="sldNum" sz="quarter" idx="5"/>
          </p:nvPr>
        </p:nvSpPr>
        <p:spPr/>
        <p:txBody>
          <a:bodyPr/>
          <a:lstStyle/>
          <a:p>
            <a:fld id="{9CA004F4-F240-48F9-8AE1-486585C7F00D}" type="slidenum">
              <a:rPr lang="en-US" smtClean="0"/>
              <a:t>9</a:t>
            </a:fld>
            <a:endParaRPr lang="en-US" dirty="0"/>
          </a:p>
        </p:txBody>
      </p:sp>
    </p:spTree>
    <p:extLst>
      <p:ext uri="{BB962C8B-B14F-4D97-AF65-F5344CB8AC3E}">
        <p14:creationId xmlns:p14="http://schemas.microsoft.com/office/powerpoint/2010/main" val="4221901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13</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14</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15</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039514"/>
            <a:ext cx="9144000" cy="2128049"/>
          </a:xfrm>
        </p:spPr>
        <p:txBody>
          <a:bodyPr anchor="b"/>
          <a:lstStyle>
            <a:lvl1pPr algn="ctr">
              <a:lnSpc>
                <a:spcPct val="125000"/>
              </a:lnSpc>
              <a:defRPr sz="600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524000" y="4221162"/>
            <a:ext cx="9144000" cy="882001"/>
          </a:xfrm>
          <a:solidFill>
            <a:schemeClr val="accent2">
              <a:alpha val="90000"/>
            </a:schemeClr>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mn-lt"/>
                <a:ea typeface="+mn-ea"/>
                <a:cs typeface="Arial" panose="020B060402020202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p:txBody>
          <a:bodyPr/>
          <a:lstStyle/>
          <a:p>
            <a:fld id="{8DA08ED5-AEFE-4443-9040-726EF6690995}" type="datetime1">
              <a:rPr lang="en-US" noProof="0" smtClean="0"/>
              <a:t>11/14/2025</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a:xfrm>
            <a:off x="11504745" y="6176709"/>
            <a:ext cx="357116" cy="365125"/>
          </a:xfrm>
        </p:spPr>
        <p:txBody>
          <a:bodyPr/>
          <a:lstStyle/>
          <a:p>
            <a:fld id="{82EE24B5-652C-4DB5-B7C3-B5BBEC1280B1}" type="slidenum">
              <a:rPr lang="en-US" noProof="0" smtClean="0"/>
              <a:t>‹#›</a:t>
            </a:fld>
            <a:endParaRPr 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0312561F-7E45-400C-8758-912CDFE9410A}" type="datetime1">
              <a:rPr lang="en-US" noProof="0" smtClean="0"/>
              <a:t>11/14/2025</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82EE24B5-652C-4DB5-B7C3-B5BBEC1280B1}" type="slidenum">
              <a:rPr lang="en-US" noProof="0" smtClean="0"/>
              <a:t>‹#›</a:t>
            </a:fld>
            <a:endParaRPr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noProof="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85E24BC7-4CDB-41D7-81AF-9CE8473FF4B8}" type="datetime1">
              <a:rPr lang="en-US" noProof="0" smtClean="0"/>
              <a:t>11/14/2025</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82EE24B5-652C-4DB5-B7C3-B5BBEC1280B1}" type="slidenum">
              <a:rPr lang="en-US" noProof="0" smtClean="0"/>
              <a:t>‹#›</a:t>
            </a:fld>
            <a:endParaRPr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82EE24B5-652C-4DB5-B7C3-B5BBEC1280B1}" type="slidenum">
              <a:rPr lang="en-US" noProof="0" smtClean="0"/>
              <a:t>‹#›</a:t>
            </a:fld>
            <a:endParaRPr lang="en-US" noProof="0" dirty="0"/>
          </a:p>
        </p:txBody>
      </p:sp>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397CD216-73DE-4B96-8E1B-BB64D86142BB}" type="datetime1">
              <a:rPr lang="en-US" noProof="0" smtClean="0"/>
              <a:t>11/14/2025</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noProof="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C6A5CD8C-7FEF-4E71-8EB9-D3BA6E2E3E9E}" type="datetime1">
              <a:rPr lang="en-US" noProof="0" smtClean="0"/>
              <a:t>11/14/2025</a:t>
            </a:fld>
            <a:endParaRPr lang="en-US" noProof="0" dirty="0"/>
          </a:p>
        </p:txBody>
      </p:sp>
      <p:sp>
        <p:nvSpPr>
          <p:cNvPr id="8" name="Footer Placeholder 7"/>
          <p:cNvSpPr>
            <a:spLocks noGrp="1"/>
          </p:cNvSpPr>
          <p:nvPr>
            <p:ph type="ftr" sz="quarter" idx="11"/>
          </p:nvPr>
        </p:nvSpPr>
        <p:spPr/>
        <p:txBody>
          <a:bodyPr/>
          <a:lstStyle/>
          <a:p>
            <a:endParaRPr lang="en-US" noProof="0" dirty="0"/>
          </a:p>
        </p:txBody>
      </p:sp>
      <p:sp>
        <p:nvSpPr>
          <p:cNvPr id="9" name="Slide Number Placeholder 8"/>
          <p:cNvSpPr>
            <a:spLocks noGrp="1"/>
          </p:cNvSpPr>
          <p:nvPr>
            <p:ph type="sldNum" sz="quarter" idx="12"/>
          </p:nvPr>
        </p:nvSpPr>
        <p:spPr/>
        <p:txBody>
          <a:bodyPr/>
          <a:lstStyle/>
          <a:p>
            <a:fld id="{82EE24B5-652C-4DB5-B7C3-B5BBEC1280B1}" type="slidenum">
              <a:rPr lang="en-US" noProof="0" smtClean="0"/>
              <a:t>‹#›</a:t>
            </a:fld>
            <a:endParaRPr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4BE4379E-9B58-41EA-B928-5B1C8436A60E}" type="datetime1">
              <a:rPr lang="en-US" noProof="0" smtClean="0"/>
              <a:t>11/14/2025</a:t>
            </a:fld>
            <a:endParaRPr lang="en-US" noProof="0" dirty="0"/>
          </a:p>
        </p:txBody>
      </p:sp>
      <p:sp>
        <p:nvSpPr>
          <p:cNvPr id="4" name="Footer Placeholder 3"/>
          <p:cNvSpPr>
            <a:spLocks noGrp="1"/>
          </p:cNvSpPr>
          <p:nvPr>
            <p:ph type="ftr" sz="quarter" idx="11"/>
          </p:nvPr>
        </p:nvSpPr>
        <p:spPr/>
        <p:txBody>
          <a:bodyPr/>
          <a:lstStyle/>
          <a:p>
            <a:endParaRPr lang="en-US" noProof="0" dirty="0"/>
          </a:p>
        </p:txBody>
      </p:sp>
      <p:sp>
        <p:nvSpPr>
          <p:cNvPr id="5" name="Slide Number Placeholder 4"/>
          <p:cNvSpPr>
            <a:spLocks noGrp="1"/>
          </p:cNvSpPr>
          <p:nvPr>
            <p:ph type="sldNum" sz="quarter" idx="12"/>
          </p:nvPr>
        </p:nvSpPr>
        <p:spPr>
          <a:xfrm>
            <a:off x="11502546" y="6169089"/>
            <a:ext cx="357116" cy="365125"/>
          </a:xfrm>
        </p:spPr>
        <p:txBody>
          <a:bodyPr/>
          <a:lstStyle/>
          <a:p>
            <a:fld id="{82EE24B5-652C-4DB5-B7C3-B5BBEC1280B1}" type="slidenum">
              <a:rPr lang="en-US" noProof="0" smtClean="0"/>
              <a:t>‹#›</a:t>
            </a:fld>
            <a:endParaRPr 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B0A371-51FE-4D99-BD87-6A650FCE519D}" type="datetime1">
              <a:rPr lang="en-US" noProof="0" smtClean="0"/>
              <a:t>11/14/2025</a:t>
            </a:fld>
            <a:endParaRPr lang="en-US" noProof="0" dirty="0"/>
          </a:p>
        </p:txBody>
      </p:sp>
      <p:sp>
        <p:nvSpPr>
          <p:cNvPr id="3" name="Footer Placeholder 2"/>
          <p:cNvSpPr>
            <a:spLocks noGrp="1"/>
          </p:cNvSpPr>
          <p:nvPr>
            <p:ph type="ftr" sz="quarter" idx="11"/>
          </p:nvPr>
        </p:nvSpPr>
        <p:spPr/>
        <p:txBody>
          <a:bodyPr/>
          <a:lstStyle/>
          <a:p>
            <a:endParaRPr lang="en-US" noProof="0" dirty="0"/>
          </a:p>
        </p:txBody>
      </p:sp>
      <p:sp>
        <p:nvSpPr>
          <p:cNvPr id="4" name="Slide Number Placeholder 3"/>
          <p:cNvSpPr>
            <a:spLocks noGrp="1"/>
          </p:cNvSpPr>
          <p:nvPr>
            <p:ph type="sldNum" sz="quarter" idx="12"/>
          </p:nvPr>
        </p:nvSpPr>
        <p:spPr/>
        <p:txBody>
          <a:bodyPr/>
          <a:lstStyle/>
          <a:p>
            <a:fld id="{82EE24B5-652C-4DB5-B7C3-B5BBEC1280B1}" type="slidenum">
              <a:rPr lang="en-US" noProof="0" smtClean="0"/>
              <a:t>‹#›</a:t>
            </a:fld>
            <a:endParaRPr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5FCF8CFF-A1C0-4B6C-AA8D-BE72CB14468D}" type="datetime1">
              <a:rPr lang="en-US" noProof="0" smtClean="0"/>
              <a:t>11/14/2025</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fld id="{82EE24B5-652C-4DB5-B7C3-B5BBEC1280B1}" type="slidenum">
              <a:rPr lang="en-US" noProof="0" smtClean="0"/>
              <a:t>‹#›</a:t>
            </a:fld>
            <a:endParaRPr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8C6D634D-0427-413D-A0D0-098959D06FEF}" type="datetime1">
              <a:rPr lang="en-US" noProof="0" smtClean="0"/>
              <a:t>11/14/2025</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fld id="{82EE24B5-652C-4DB5-B7C3-B5BBEC1280B1}" type="slidenum">
              <a:rPr lang="en-US" noProof="0" smtClean="0"/>
              <a:t>‹#›</a:t>
            </a:fld>
            <a:endParaRPr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ix Content">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0" y="0"/>
            <a:ext cx="12192000" cy="6858000"/>
          </a:xfrm>
        </p:spPr>
        <p:txBody>
          <a:bodyPr/>
          <a:lstStyle>
            <a:lvl1pPr marL="0" indent="0" algn="ctr">
              <a:buNone/>
              <a:defRPr/>
            </a:lvl1pPr>
          </a:lstStyle>
          <a:p>
            <a:r>
              <a:rPr lang="en-US" noProof="0" dirty="0"/>
              <a:t>Click icon to add picture</a:t>
            </a:r>
          </a:p>
        </p:txBody>
      </p:sp>
      <p:sp>
        <p:nvSpPr>
          <p:cNvPr id="18" name="Content Placeholder 2"/>
          <p:cNvSpPr>
            <a:spLocks noGrp="1"/>
          </p:cNvSpPr>
          <p:nvPr>
            <p:ph sz="half" idx="15"/>
          </p:nvPr>
        </p:nvSpPr>
        <p:spPr>
          <a:xfrm>
            <a:off x="8530301" y="1690689"/>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p:cNvSpPr>
            <a:spLocks noGrp="1"/>
          </p:cNvSpPr>
          <p:nvPr>
            <p:ph sz="half" idx="14"/>
          </p:nvPr>
        </p:nvSpPr>
        <p:spPr>
          <a:xfrm>
            <a:off x="4888689" y="170282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p:cNvSpPr>
            <a:spLocks noGrp="1"/>
          </p:cNvSpPr>
          <p:nvPr>
            <p:ph type="sldNum" sz="quarter" idx="12"/>
          </p:nvPr>
        </p:nvSpPr>
        <p:spPr/>
        <p:txBody>
          <a:bodyPr/>
          <a:lstStyle/>
          <a:p>
            <a:fld id="{82EE24B5-652C-4DB5-B7C3-B5BBEC1280B1}" type="slidenum">
              <a:rPr lang="en-US" noProof="0" smtClean="0"/>
              <a:t>‹#›</a:t>
            </a:fld>
            <a:endParaRPr lang="en-US" noProof="0" dirty="0"/>
          </a:p>
        </p:txBody>
      </p:sp>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 name="Content Placeholder 2"/>
          <p:cNvSpPr>
            <a:spLocks noGrp="1"/>
          </p:cNvSpPr>
          <p:nvPr>
            <p:ph sz="half" idx="1"/>
          </p:nvPr>
        </p:nvSpPr>
        <p:spPr>
          <a:xfrm>
            <a:off x="1337076" y="170282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397CD216-73DE-4B96-8E1B-BB64D86142BB}" type="datetime1">
              <a:rPr lang="en-US" noProof="0" smtClean="0"/>
              <a:t>11/14/2025</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25" name="Content Placeholder 2"/>
          <p:cNvSpPr>
            <a:spLocks noGrp="1"/>
          </p:cNvSpPr>
          <p:nvPr>
            <p:ph sz="half" idx="16"/>
          </p:nvPr>
        </p:nvSpPr>
        <p:spPr>
          <a:xfrm>
            <a:off x="8530301" y="384945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Content Placeholder 2"/>
          <p:cNvSpPr>
            <a:spLocks noGrp="1"/>
          </p:cNvSpPr>
          <p:nvPr>
            <p:ph sz="half" idx="17"/>
          </p:nvPr>
        </p:nvSpPr>
        <p:spPr>
          <a:xfrm>
            <a:off x="4888689" y="384945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 name="Content Placeholder 2"/>
          <p:cNvSpPr>
            <a:spLocks noGrp="1"/>
          </p:cNvSpPr>
          <p:nvPr>
            <p:ph sz="half" idx="18"/>
          </p:nvPr>
        </p:nvSpPr>
        <p:spPr>
          <a:xfrm>
            <a:off x="1337076" y="384945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Picture Placeholder 28"/>
          <p:cNvSpPr>
            <a:spLocks noGrp="1"/>
          </p:cNvSpPr>
          <p:nvPr>
            <p:ph type="pic" sz="quarter" idx="19"/>
          </p:nvPr>
        </p:nvSpPr>
        <p:spPr>
          <a:xfrm>
            <a:off x="947634" y="1679576"/>
            <a:ext cx="376237" cy="376237"/>
          </a:xfrm>
        </p:spPr>
        <p:txBody>
          <a:bodyPr>
            <a:normAutofit/>
          </a:bodyPr>
          <a:lstStyle>
            <a:lvl1pPr marL="0" indent="0" algn="ctr">
              <a:buNone/>
              <a:defRPr sz="400"/>
            </a:lvl1pPr>
          </a:lstStyle>
          <a:p>
            <a:r>
              <a:rPr lang="en-US" noProof="0" dirty="0"/>
              <a:t>Click icon to add picture</a:t>
            </a:r>
          </a:p>
        </p:txBody>
      </p:sp>
      <p:sp>
        <p:nvSpPr>
          <p:cNvPr id="30" name="Picture Placeholder 28"/>
          <p:cNvSpPr>
            <a:spLocks noGrp="1"/>
          </p:cNvSpPr>
          <p:nvPr>
            <p:ph type="pic" sz="quarter" idx="20"/>
          </p:nvPr>
        </p:nvSpPr>
        <p:spPr>
          <a:xfrm>
            <a:off x="4499246" y="1679576"/>
            <a:ext cx="376237" cy="376237"/>
          </a:xfrm>
        </p:spPr>
        <p:txBody>
          <a:bodyPr>
            <a:normAutofit/>
          </a:bodyPr>
          <a:lstStyle>
            <a:lvl1pPr marL="0" indent="0" algn="ctr">
              <a:buNone/>
              <a:defRPr sz="400"/>
            </a:lvl1pPr>
          </a:lstStyle>
          <a:p>
            <a:r>
              <a:rPr lang="en-US" noProof="0" dirty="0"/>
              <a:t>Click icon to add picture</a:t>
            </a:r>
          </a:p>
        </p:txBody>
      </p:sp>
      <p:sp>
        <p:nvSpPr>
          <p:cNvPr id="31" name="Picture Placeholder 28"/>
          <p:cNvSpPr>
            <a:spLocks noGrp="1"/>
          </p:cNvSpPr>
          <p:nvPr>
            <p:ph type="pic" sz="quarter" idx="21"/>
          </p:nvPr>
        </p:nvSpPr>
        <p:spPr>
          <a:xfrm>
            <a:off x="8126282" y="1679576"/>
            <a:ext cx="376237" cy="376237"/>
          </a:xfrm>
        </p:spPr>
        <p:txBody>
          <a:bodyPr>
            <a:normAutofit/>
          </a:bodyPr>
          <a:lstStyle>
            <a:lvl1pPr marL="0" indent="0" algn="ctr">
              <a:buNone/>
              <a:defRPr sz="400"/>
            </a:lvl1pPr>
          </a:lstStyle>
          <a:p>
            <a:r>
              <a:rPr lang="en-US" noProof="0" dirty="0"/>
              <a:t>Click icon to add picture</a:t>
            </a:r>
          </a:p>
        </p:txBody>
      </p:sp>
      <p:sp>
        <p:nvSpPr>
          <p:cNvPr id="32" name="Picture Placeholder 28"/>
          <p:cNvSpPr>
            <a:spLocks noGrp="1"/>
          </p:cNvSpPr>
          <p:nvPr>
            <p:ph type="pic" sz="quarter" idx="22"/>
          </p:nvPr>
        </p:nvSpPr>
        <p:spPr>
          <a:xfrm>
            <a:off x="947634" y="3792079"/>
            <a:ext cx="376237" cy="376237"/>
          </a:xfrm>
        </p:spPr>
        <p:txBody>
          <a:bodyPr>
            <a:normAutofit/>
          </a:bodyPr>
          <a:lstStyle>
            <a:lvl1pPr marL="0" indent="0" algn="ctr">
              <a:buNone/>
              <a:defRPr sz="400"/>
            </a:lvl1pPr>
          </a:lstStyle>
          <a:p>
            <a:r>
              <a:rPr lang="en-US" noProof="0" dirty="0"/>
              <a:t>Click icon to add picture</a:t>
            </a:r>
          </a:p>
        </p:txBody>
      </p:sp>
      <p:sp>
        <p:nvSpPr>
          <p:cNvPr id="33" name="Picture Placeholder 28"/>
          <p:cNvSpPr>
            <a:spLocks noGrp="1"/>
          </p:cNvSpPr>
          <p:nvPr>
            <p:ph type="pic" sz="quarter" idx="23"/>
          </p:nvPr>
        </p:nvSpPr>
        <p:spPr>
          <a:xfrm>
            <a:off x="4499246" y="3792079"/>
            <a:ext cx="376237" cy="376237"/>
          </a:xfrm>
        </p:spPr>
        <p:txBody>
          <a:bodyPr>
            <a:normAutofit/>
          </a:bodyPr>
          <a:lstStyle>
            <a:lvl1pPr marL="0" indent="0" algn="ctr">
              <a:buNone/>
              <a:defRPr sz="400"/>
            </a:lvl1pPr>
          </a:lstStyle>
          <a:p>
            <a:r>
              <a:rPr lang="en-US" noProof="0" dirty="0"/>
              <a:t>Click icon to add picture</a:t>
            </a:r>
          </a:p>
        </p:txBody>
      </p:sp>
      <p:sp>
        <p:nvSpPr>
          <p:cNvPr id="34" name="Picture Placeholder 28"/>
          <p:cNvSpPr>
            <a:spLocks noGrp="1"/>
          </p:cNvSpPr>
          <p:nvPr>
            <p:ph type="pic" sz="quarter" idx="24"/>
          </p:nvPr>
        </p:nvSpPr>
        <p:spPr>
          <a:xfrm>
            <a:off x="8126282" y="3792079"/>
            <a:ext cx="376237" cy="376237"/>
          </a:xfrm>
        </p:spPr>
        <p:txBody>
          <a:bodyPr>
            <a:normAutofit/>
          </a:bodyPr>
          <a:lstStyle>
            <a:lvl1pPr marL="0" indent="0" algn="ctr">
              <a:buNone/>
              <a:defRPr sz="400"/>
            </a:lvl1pPr>
          </a:lstStyle>
          <a:p>
            <a:r>
              <a:rPr lang="en-US" noProof="0" dirty="0"/>
              <a:t>Click icon to add picture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mparison with picture">
    <p:spTree>
      <p:nvGrpSpPr>
        <p:cNvPr id="1" name=""/>
        <p:cNvGrpSpPr/>
        <p:nvPr/>
      </p:nvGrpSpPr>
      <p:grpSpPr>
        <a:xfrm>
          <a:off x="0" y="0"/>
          <a:ext cx="0" cy="0"/>
          <a:chOff x="0" y="0"/>
          <a:chExt cx="0" cy="0"/>
        </a:xfrm>
      </p:grpSpPr>
      <p:sp>
        <p:nvSpPr>
          <p:cNvPr id="14" name="Picture Placeholder 12"/>
          <p:cNvSpPr>
            <a:spLocks noGrp="1"/>
          </p:cNvSpPr>
          <p:nvPr>
            <p:ph type="pic" sz="quarter" idx="13"/>
          </p:nvPr>
        </p:nvSpPr>
        <p:spPr>
          <a:xfrm>
            <a:off x="0" y="3115389"/>
            <a:ext cx="12188825" cy="3742611"/>
          </a:xfrm>
        </p:spPr>
        <p:txBody>
          <a:bodyPr/>
          <a:lstStyle>
            <a:lvl1pPr marL="0" indent="0" algn="ctr">
              <a:buNone/>
              <a:defRPr/>
            </a:lvl1pPr>
          </a:lstStyle>
          <a:p>
            <a:r>
              <a:rPr lang="en-US" noProof="0" dirty="0"/>
              <a:t>Click icon to add picture</a:t>
            </a:r>
          </a:p>
        </p:txBody>
      </p:sp>
      <p:sp>
        <p:nvSpPr>
          <p:cNvPr id="10" name="object 3"/>
          <p:cNvSpPr/>
          <p:nvPr userDrawn="1"/>
        </p:nvSpPr>
        <p:spPr>
          <a:xfrm>
            <a:off x="2400" y="1999821"/>
            <a:ext cx="12189600" cy="111556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2" name="Title 1"/>
          <p:cNvSpPr>
            <a:spLocks noGrp="1"/>
          </p:cNvSpPr>
          <p:nvPr>
            <p:ph type="title"/>
          </p:nvPr>
        </p:nvSpPr>
        <p:spPr>
          <a:xfrm>
            <a:off x="839788" y="365125"/>
            <a:ext cx="10515600" cy="1325563"/>
          </a:xfrm>
        </p:spPr>
        <p:txBody>
          <a:bodyPr/>
          <a:lstStyle/>
          <a:p>
            <a:r>
              <a:rPr lang="en-US" noProof="0"/>
              <a:t>Click to edit Master title style</a:t>
            </a:r>
          </a:p>
        </p:txBody>
      </p:sp>
      <p:sp>
        <p:nvSpPr>
          <p:cNvPr id="3" name="Text Placeholder 2"/>
          <p:cNvSpPr>
            <a:spLocks noGrp="1"/>
          </p:cNvSpPr>
          <p:nvPr>
            <p:ph type="body" idx="1"/>
          </p:nvPr>
        </p:nvSpPr>
        <p:spPr>
          <a:xfrm>
            <a:off x="839788" y="19859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839788" y="3434047"/>
            <a:ext cx="5157787" cy="27556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172200" y="1985963"/>
            <a:ext cx="5183188"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172200" y="3434047"/>
            <a:ext cx="5183188" cy="27556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C6A5CD8C-7FEF-4E71-8EB9-D3BA6E2E3E9E}" type="datetime1">
              <a:rPr lang="en-US" noProof="0" smtClean="0"/>
              <a:t>11/14/2025</a:t>
            </a:fld>
            <a:endParaRPr lang="en-US" noProof="0" dirty="0"/>
          </a:p>
        </p:txBody>
      </p:sp>
      <p:sp>
        <p:nvSpPr>
          <p:cNvPr id="8" name="Footer Placeholder 7"/>
          <p:cNvSpPr>
            <a:spLocks noGrp="1"/>
          </p:cNvSpPr>
          <p:nvPr>
            <p:ph type="ftr" sz="quarter" idx="11"/>
          </p:nvPr>
        </p:nvSpPr>
        <p:spPr/>
        <p:txBody>
          <a:bodyPr/>
          <a:lstStyle/>
          <a:p>
            <a:endParaRPr lang="en-US" noProof="0" dirty="0"/>
          </a:p>
        </p:txBody>
      </p:sp>
      <p:sp>
        <p:nvSpPr>
          <p:cNvPr id="9" name="Slide Number Placeholder 8"/>
          <p:cNvSpPr>
            <a:spLocks noGrp="1"/>
          </p:cNvSpPr>
          <p:nvPr>
            <p:ph type="sldNum" sz="quarter" idx="12"/>
          </p:nvPr>
        </p:nvSpPr>
        <p:spPr/>
        <p:txBody>
          <a:bodyPr/>
          <a:lstStyle/>
          <a:p>
            <a:fld id="{82EE24B5-652C-4DB5-B7C3-B5BBEC1280B1}" type="slidenum">
              <a:rPr lang="en-US" noProof="0" smtClean="0"/>
              <a:t>‹#›</a:t>
            </a:fld>
            <a:endParaRPr lang="en-US" noProof="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with Caption_2">
    <p:spTree>
      <p:nvGrpSpPr>
        <p:cNvPr id="1" name=""/>
        <p:cNvGrpSpPr/>
        <p:nvPr/>
      </p:nvGrpSpPr>
      <p:grpSpPr>
        <a:xfrm>
          <a:off x="0" y="0"/>
          <a:ext cx="0" cy="0"/>
          <a:chOff x="0" y="0"/>
          <a:chExt cx="0" cy="0"/>
        </a:xfrm>
      </p:grpSpPr>
      <p:sp>
        <p:nvSpPr>
          <p:cNvPr id="8" name="object 3"/>
          <p:cNvSpPr/>
          <p:nvPr userDrawn="1"/>
        </p:nvSpPr>
        <p:spPr>
          <a:xfrm>
            <a:off x="5294630" y="0"/>
            <a:ext cx="6897370" cy="6858000"/>
          </a:xfrm>
          <a:custGeom>
            <a:avLst/>
            <a:gdLst/>
            <a:ahLst/>
            <a:cxnLst/>
            <a:rect l="l" t="t" r="r" b="b"/>
            <a:pathLst>
              <a:path w="6897370" h="6858000">
                <a:moveTo>
                  <a:pt x="0" y="6858000"/>
                </a:moveTo>
                <a:lnTo>
                  <a:pt x="6896900" y="6858000"/>
                </a:lnTo>
                <a:lnTo>
                  <a:pt x="6896900"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11" name="Oval 10"/>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839788" y="417362"/>
            <a:ext cx="3932237" cy="1302111"/>
          </a:xfrm>
        </p:spPr>
        <p:txBody>
          <a:bodyPr anchor="b"/>
          <a:lstStyle>
            <a:lvl1pPr>
              <a:defRPr sz="3200"/>
            </a:lvl1pPr>
          </a:lstStyle>
          <a:p>
            <a:r>
              <a:rPr lang="en-US" noProof="0"/>
              <a:t>Click to edit Master title style</a:t>
            </a:r>
          </a:p>
        </p:txBody>
      </p:sp>
      <p:sp>
        <p:nvSpPr>
          <p:cNvPr id="4" name="Text Placeholder 3"/>
          <p:cNvSpPr>
            <a:spLocks noGrp="1"/>
          </p:cNvSpPr>
          <p:nvPr>
            <p:ph type="body" sz="half" idx="2"/>
          </p:nvPr>
        </p:nvSpPr>
        <p:spPr>
          <a:xfrm>
            <a:off x="7294251" y="119269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8C6D634D-0427-413D-A0D0-098959D06FEF}" type="datetime1">
              <a:rPr lang="en-US" noProof="0" smtClean="0"/>
              <a:t>11/14/2025</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a:xfrm>
            <a:off x="11504745" y="6176709"/>
            <a:ext cx="357116" cy="365125"/>
          </a:xfrm>
        </p:spPr>
        <p:txBody>
          <a:bodyPr/>
          <a:lstStyle/>
          <a:p>
            <a:fld id="{82EE24B5-652C-4DB5-B7C3-B5BBEC1280B1}" type="slidenum">
              <a:rPr lang="en-US" noProof="0" smtClean="0"/>
              <a:t>‹#›</a:t>
            </a:fld>
            <a:endParaRPr lang="en-US" noProof="0" dirty="0"/>
          </a:p>
        </p:txBody>
      </p:sp>
      <p:sp>
        <p:nvSpPr>
          <p:cNvPr id="9" name="object 2"/>
          <p:cNvSpPr/>
          <p:nvPr userDrawn="1"/>
        </p:nvSpPr>
        <p:spPr>
          <a:xfrm>
            <a:off x="0" y="2430411"/>
            <a:ext cx="5294630" cy="3438525"/>
          </a:xfrm>
          <a:custGeom>
            <a:avLst/>
            <a:gdLst/>
            <a:ahLst/>
            <a:cxnLst/>
            <a:rect l="l" t="t" r="r" b="b"/>
            <a:pathLst>
              <a:path w="3625850" h="3438525">
                <a:moveTo>
                  <a:pt x="0" y="3438486"/>
                </a:moveTo>
                <a:lnTo>
                  <a:pt x="3625596" y="3438486"/>
                </a:lnTo>
                <a:lnTo>
                  <a:pt x="3625596" y="0"/>
                </a:lnTo>
                <a:lnTo>
                  <a:pt x="0" y="0"/>
                </a:lnTo>
                <a:lnTo>
                  <a:pt x="0" y="3438486"/>
                </a:lnTo>
                <a:close/>
              </a:path>
            </a:pathLst>
          </a:custGeom>
          <a:solidFill>
            <a:schemeClr val="bg1">
              <a:lumMod val="85000"/>
            </a:schemeClr>
          </a:solidFill>
        </p:spPr>
        <p:txBody>
          <a:bodyPr wrap="square" lIns="0" tIns="0" rIns="0" bIns="0" rtlCol="0"/>
          <a:lstStyle/>
          <a:p>
            <a:endParaRPr lang="en-US" noProof="0" dirty="0"/>
          </a:p>
        </p:txBody>
      </p:sp>
      <p:sp>
        <p:nvSpPr>
          <p:cNvPr id="3" name="Picture Placeholder 2"/>
          <p:cNvSpPr>
            <a:spLocks noGrp="1"/>
          </p:cNvSpPr>
          <p:nvPr>
            <p:ph type="pic" idx="1"/>
          </p:nvPr>
        </p:nvSpPr>
        <p:spPr>
          <a:xfrm>
            <a:off x="0" y="2781223"/>
            <a:ext cx="6040800" cy="2736901"/>
          </a:xfrm>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Click icon to add picture</a:t>
            </a:r>
          </a:p>
        </p:txBody>
      </p:sp>
      <p:sp>
        <p:nvSpPr>
          <p:cNvPr id="12" name="Picture Placeholder 28"/>
          <p:cNvSpPr>
            <a:spLocks noGrp="1"/>
          </p:cNvSpPr>
          <p:nvPr>
            <p:ph type="pic" sz="quarter" idx="19"/>
          </p:nvPr>
        </p:nvSpPr>
        <p:spPr>
          <a:xfrm>
            <a:off x="6586106" y="1188012"/>
            <a:ext cx="376237" cy="376237"/>
          </a:xfrm>
        </p:spPr>
        <p:txBody>
          <a:bodyPr>
            <a:normAutofit/>
          </a:bodyPr>
          <a:lstStyle>
            <a:lvl1pPr marL="0" indent="0" algn="ctr">
              <a:buNone/>
              <a:defRPr sz="400"/>
            </a:lvl1pPr>
          </a:lstStyle>
          <a:p>
            <a:r>
              <a:rPr lang="en-US" noProof="0" dirty="0"/>
              <a:t>Click icon to add picture</a:t>
            </a:r>
          </a:p>
        </p:txBody>
      </p:sp>
      <p:sp>
        <p:nvSpPr>
          <p:cNvPr id="13" name="Picture Placeholder 28"/>
          <p:cNvSpPr>
            <a:spLocks noGrp="1"/>
          </p:cNvSpPr>
          <p:nvPr>
            <p:ph type="pic" sz="quarter" idx="22"/>
          </p:nvPr>
        </p:nvSpPr>
        <p:spPr>
          <a:xfrm>
            <a:off x="6586106" y="2878015"/>
            <a:ext cx="376237" cy="376237"/>
          </a:xfrm>
        </p:spPr>
        <p:txBody>
          <a:bodyPr>
            <a:normAutofit/>
          </a:bodyPr>
          <a:lstStyle>
            <a:lvl1pPr marL="0" indent="0" algn="ctr">
              <a:buNone/>
              <a:defRPr sz="400"/>
            </a:lvl1pPr>
          </a:lstStyle>
          <a:p>
            <a:r>
              <a:rPr lang="en-US" noProof="0" dirty="0"/>
              <a:t>Click icon to add picture</a:t>
            </a:r>
          </a:p>
        </p:txBody>
      </p:sp>
      <p:sp>
        <p:nvSpPr>
          <p:cNvPr id="14" name="Text Placeholder 3"/>
          <p:cNvSpPr>
            <a:spLocks noGrp="1"/>
          </p:cNvSpPr>
          <p:nvPr>
            <p:ph type="body" sz="half" idx="23"/>
          </p:nvPr>
        </p:nvSpPr>
        <p:spPr>
          <a:xfrm>
            <a:off x="7294250" y="288035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5" name="Picture Placeholder 28"/>
          <p:cNvSpPr>
            <a:spLocks noGrp="1"/>
          </p:cNvSpPr>
          <p:nvPr>
            <p:ph type="pic" sz="quarter" idx="24"/>
          </p:nvPr>
        </p:nvSpPr>
        <p:spPr>
          <a:xfrm>
            <a:off x="6586106" y="4568018"/>
            <a:ext cx="376237" cy="376237"/>
          </a:xfrm>
        </p:spPr>
        <p:txBody>
          <a:bodyPr>
            <a:normAutofit/>
          </a:bodyPr>
          <a:lstStyle>
            <a:lvl1pPr marL="0" indent="0" algn="ctr">
              <a:buNone/>
              <a:defRPr sz="400"/>
            </a:lvl1pPr>
          </a:lstStyle>
          <a:p>
            <a:r>
              <a:rPr lang="en-US" noProof="0" dirty="0"/>
              <a:t>Click icon to add picture</a:t>
            </a:r>
          </a:p>
        </p:txBody>
      </p:sp>
      <p:sp>
        <p:nvSpPr>
          <p:cNvPr id="16" name="Text Placeholder 3"/>
          <p:cNvSpPr>
            <a:spLocks noGrp="1"/>
          </p:cNvSpPr>
          <p:nvPr>
            <p:ph type="body" sz="half" idx="25"/>
          </p:nvPr>
        </p:nvSpPr>
        <p:spPr>
          <a:xfrm>
            <a:off x="7294250" y="4568018"/>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2591E0-5367-4F2F-9C30-2087D79A846D}" type="datetime1">
              <a:rPr lang="en-US" noProof="0" smtClean="0"/>
              <a:t>11/14/2025</a:t>
            </a:fld>
            <a:endParaRPr lang="en-US" noProof="0" dirty="0"/>
          </a:p>
        </p:txBody>
      </p:sp>
      <p:sp>
        <p:nvSpPr>
          <p:cNvPr id="5" name="Footer Placeholder 4"/>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10" name="Oval 9"/>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p:cNvSpPr>
            <a:spLocks noGrp="1"/>
          </p:cNvSpPr>
          <p:nvPr>
            <p:ph type="sldNum" sz="quarter" idx="4"/>
          </p:nvPr>
        </p:nvSpPr>
        <p:spPr>
          <a:xfrm>
            <a:off x="11510166" y="6176709"/>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fld id="{82EE24B5-652C-4DB5-B7C3-B5BBEC1280B1}" type="slidenum">
              <a:rPr lang="en-US" noProof="0" smtClean="0"/>
              <a:t>‹#›</a:t>
            </a:fld>
            <a:endParaRPr lang="en-US"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jpe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hyperlink" Target="mailto:ruban@infologia.in" TargetMode="External"/><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Professionals collaborating at a table over a laptop"/>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0" y="26800"/>
            <a:ext cx="12189460" cy="6858000"/>
          </a:xfrm>
          <a:prstGeom prst="rect">
            <a:avLst/>
          </a:prstGeom>
        </p:spPr>
      </p:pic>
      <p:sp>
        <p:nvSpPr>
          <p:cNvPr id="3" name="Subtitle 2"/>
          <p:cNvSpPr>
            <a:spLocks noGrp="1"/>
          </p:cNvSpPr>
          <p:nvPr>
            <p:ph type="subTitle" idx="1"/>
          </p:nvPr>
        </p:nvSpPr>
        <p:spPr bwMode="blackGray">
          <a:xfrm>
            <a:off x="3240000" y="4500000"/>
            <a:ext cx="6092450" cy="1007032"/>
          </a:xfrm>
          <a:solidFill>
            <a:schemeClr val="accent2">
              <a:alpha val="90000"/>
            </a:schemeClr>
          </a:solidFill>
        </p:spPr>
        <p:txBody>
          <a:bodyPr anchor="ctr" anchorCtr="0">
            <a:normAutofit/>
          </a:bodyPr>
          <a:lstStyle/>
          <a:p>
            <a:r>
              <a:rPr lang="en-US" sz="2400" b="1" i="0" spc="65" dirty="0">
                <a:solidFill>
                  <a:schemeClr val="accent1"/>
                </a:solidFill>
                <a:cs typeface="Arial" panose="020B0604020202020204"/>
              </a:rPr>
              <a:t>CARGOSSOFT PRODUCT PROPOSAL</a:t>
            </a: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91513" y="-84478"/>
            <a:ext cx="3217682" cy="11558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948" y="417362"/>
            <a:ext cx="3932237" cy="1302111"/>
          </a:xfrm>
        </p:spPr>
        <p:txBody>
          <a:bodyPr/>
          <a:lstStyle/>
          <a:p>
            <a:r>
              <a:rPr lang="en-US" dirty="0">
                <a:latin typeface="+mn-lt"/>
              </a:rPr>
              <a:t>Agenda</a:t>
            </a:r>
          </a:p>
        </p:txBody>
      </p:sp>
      <p:sp>
        <p:nvSpPr>
          <p:cNvPr id="4" name="Slide Number Placeholder 3"/>
          <p:cNvSpPr>
            <a:spLocks noGrp="1"/>
          </p:cNvSpPr>
          <p:nvPr>
            <p:ph type="sldNum" sz="quarter" idx="12"/>
          </p:nvPr>
        </p:nvSpPr>
        <p:spPr>
          <a:xfrm>
            <a:off x="11508359" y="6176709"/>
            <a:ext cx="357116" cy="365125"/>
          </a:xfrm>
        </p:spPr>
        <p:txBody>
          <a:bodyPr/>
          <a:lstStyle/>
          <a:p>
            <a:pPr algn="ctr"/>
            <a:fld id="{82EE24B5-652C-4DB5-B7C3-B5BBEC1280B1}" type="slidenum">
              <a:rPr lang="en-US" smtClean="0"/>
              <a:t>2</a:t>
            </a:fld>
            <a:endParaRPr lang="en-US" dirty="0"/>
          </a:p>
        </p:txBody>
      </p:sp>
      <p:pic>
        <p:nvPicPr>
          <p:cNvPr id="7" name="Picture Placeholder 6" descr="Two men look at laptop"/>
          <p:cNvPicPr>
            <a:picLocks noGrp="1" noChangeAspect="1"/>
          </p:cNvPicPr>
          <p:nvPr>
            <p:ph type="pic" idx="1"/>
          </p:nvPr>
        </p:nvPicPr>
        <p:blipFill>
          <a:blip r:embed="rId3">
            <a:extLst>
              <a:ext uri="{28A0092B-C50C-407E-A947-70E740481C1C}">
                <a14:useLocalDpi xmlns:a14="http://schemas.microsoft.com/office/drawing/2010/main" val="0"/>
              </a:ext>
            </a:extLst>
          </a:blip>
          <a:stretch>
            <a:fillRect/>
          </a:stretch>
        </p:blipFill>
        <p:spPr>
          <a:xfrm>
            <a:off x="17252" y="2781223"/>
            <a:ext cx="6024983" cy="2736901"/>
          </a:xfrm>
        </p:spPr>
      </p:pic>
      <p:sp>
        <p:nvSpPr>
          <p:cNvPr id="8" name="object 13" descr="Beige rectangle"/>
          <p:cNvSpPr/>
          <p:nvPr/>
        </p:nvSpPr>
        <p:spPr>
          <a:xfrm flipV="1">
            <a:off x="919594" y="1741008"/>
            <a:ext cx="1569606" cy="45719"/>
          </a:xfrm>
          <a:custGeom>
            <a:avLst/>
            <a:gdLst/>
            <a:ahLst/>
            <a:cxnLst/>
            <a:rect l="l" t="t" r="r" b="b"/>
            <a:pathLst>
              <a:path w="2694304">
                <a:moveTo>
                  <a:pt x="0" y="0"/>
                </a:moveTo>
                <a:lnTo>
                  <a:pt x="2694127" y="0"/>
                </a:lnTo>
              </a:path>
            </a:pathLst>
          </a:custGeom>
          <a:ln w="54863">
            <a:solidFill>
              <a:schemeClr val="accent1"/>
            </a:solidFill>
          </a:ln>
        </p:spPr>
        <p:txBody>
          <a:bodyPr wrap="square" lIns="0" tIns="0" rIns="0" bIns="0" rtlCol="0"/>
          <a:lstStyle/>
          <a:p>
            <a:endParaRPr lang="en-US" dirty="0"/>
          </a:p>
        </p:txBody>
      </p:sp>
      <p:sp>
        <p:nvSpPr>
          <p:cNvPr id="29" name="Text Placeholder 2"/>
          <p:cNvSpPr txBox="1"/>
          <p:nvPr/>
        </p:nvSpPr>
        <p:spPr bwMode="ltGray">
          <a:xfrm>
            <a:off x="7055835" y="476990"/>
            <a:ext cx="4046542" cy="70700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bg2">
                    <a:lumMod val="40000"/>
                    <a:lumOff val="6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indent="-285750">
              <a:lnSpc>
                <a:spcPct val="150000"/>
              </a:lnSpc>
              <a:spcBef>
                <a:spcPts val="425"/>
              </a:spcBef>
              <a:buFont typeface="Wingdings" panose="05000000000000000000" pitchFamily="2" charset="2"/>
              <a:buChar char="Ø"/>
            </a:pPr>
            <a:r>
              <a:rPr lang="en-US" b="1" dirty="0">
                <a:solidFill>
                  <a:schemeClr val="bg1"/>
                </a:solidFill>
              </a:rPr>
              <a:t>CargosSoft Overview</a:t>
            </a:r>
          </a:p>
          <a:p>
            <a:pPr marL="285750" indent="-285750">
              <a:lnSpc>
                <a:spcPct val="150000"/>
              </a:lnSpc>
              <a:spcBef>
                <a:spcPts val="425"/>
              </a:spcBef>
              <a:buFont typeface="Wingdings" panose="05000000000000000000" pitchFamily="2" charset="2"/>
              <a:buChar char="Ø"/>
            </a:pPr>
            <a:r>
              <a:rPr lang="en-US" b="1" dirty="0">
                <a:solidFill>
                  <a:schemeClr val="bg1"/>
                </a:solidFill>
              </a:rPr>
              <a:t>Solution approach</a:t>
            </a:r>
          </a:p>
          <a:p>
            <a:pPr marL="285750" indent="-285750">
              <a:lnSpc>
                <a:spcPct val="150000"/>
              </a:lnSpc>
              <a:spcBef>
                <a:spcPts val="425"/>
              </a:spcBef>
              <a:buFont typeface="Wingdings" panose="05000000000000000000" pitchFamily="2" charset="2"/>
              <a:buChar char="Ø"/>
            </a:pPr>
            <a:r>
              <a:rPr lang="en-US" b="1" dirty="0">
                <a:solidFill>
                  <a:schemeClr val="bg1"/>
                </a:solidFill>
              </a:rPr>
              <a:t>Key CargosSoft Modules</a:t>
            </a:r>
          </a:p>
          <a:p>
            <a:pPr marL="285750" indent="-285750">
              <a:lnSpc>
                <a:spcPct val="150000"/>
              </a:lnSpc>
              <a:spcBef>
                <a:spcPts val="425"/>
              </a:spcBef>
              <a:buFont typeface="Wingdings" panose="05000000000000000000" pitchFamily="2" charset="2"/>
              <a:buChar char="Ø"/>
            </a:pPr>
            <a:r>
              <a:rPr lang="en-US" b="1" dirty="0">
                <a:solidFill>
                  <a:schemeClr val="bg1"/>
                </a:solidFill>
              </a:rPr>
              <a:t>Implementation Plan</a:t>
            </a:r>
          </a:p>
          <a:p>
            <a:pPr marL="285750" indent="-285750">
              <a:lnSpc>
                <a:spcPct val="150000"/>
              </a:lnSpc>
              <a:spcBef>
                <a:spcPts val="425"/>
              </a:spcBef>
              <a:buFont typeface="Wingdings" panose="05000000000000000000" pitchFamily="2" charset="2"/>
              <a:buChar char="Ø"/>
            </a:pPr>
            <a:r>
              <a:rPr lang="en-US" b="1" dirty="0">
                <a:solidFill>
                  <a:schemeClr val="bg1"/>
                </a:solidFill>
              </a:rPr>
              <a:t>Pricing &amp; Structure</a:t>
            </a:r>
          </a:p>
          <a:p>
            <a:pPr marL="285750" indent="-285750">
              <a:lnSpc>
                <a:spcPct val="150000"/>
              </a:lnSpc>
              <a:spcBef>
                <a:spcPts val="425"/>
              </a:spcBef>
              <a:buFont typeface="Wingdings" panose="05000000000000000000" pitchFamily="2" charset="2"/>
              <a:buChar char="Ø"/>
            </a:pPr>
            <a:r>
              <a:rPr lang="en-US" b="1" dirty="0">
                <a:solidFill>
                  <a:schemeClr val="bg1"/>
                </a:solidFill>
              </a:rPr>
              <a:t>Time Line &amp; Deliverables</a:t>
            </a:r>
          </a:p>
          <a:p>
            <a:pPr marL="285750" indent="-285750">
              <a:lnSpc>
                <a:spcPct val="150000"/>
              </a:lnSpc>
              <a:spcBef>
                <a:spcPts val="425"/>
              </a:spcBef>
              <a:buFont typeface="Wingdings" panose="05000000000000000000" pitchFamily="2" charset="2"/>
              <a:buChar char="Ø"/>
            </a:pPr>
            <a:r>
              <a:rPr lang="en-US" b="1" dirty="0">
                <a:solidFill>
                  <a:schemeClr val="bg1"/>
                </a:solidFill>
              </a:rPr>
              <a:t>Commercials</a:t>
            </a:r>
          </a:p>
          <a:p>
            <a:pPr marL="285750" indent="-285750">
              <a:lnSpc>
                <a:spcPct val="150000"/>
              </a:lnSpc>
              <a:spcBef>
                <a:spcPts val="425"/>
              </a:spcBef>
              <a:buFont typeface="Wingdings" panose="05000000000000000000" pitchFamily="2" charset="2"/>
              <a:buChar char="Ø"/>
            </a:pPr>
            <a:r>
              <a:rPr lang="en-US" b="1" dirty="0">
                <a:solidFill>
                  <a:schemeClr val="bg1"/>
                </a:solidFill>
              </a:rPr>
              <a:t>Server Specifications</a:t>
            </a:r>
          </a:p>
          <a:p>
            <a:pPr marL="285750" indent="-285750">
              <a:lnSpc>
                <a:spcPct val="150000"/>
              </a:lnSpc>
              <a:spcBef>
                <a:spcPts val="425"/>
              </a:spcBef>
              <a:buFont typeface="Wingdings" panose="05000000000000000000" pitchFamily="2" charset="2"/>
              <a:buChar char="Ø"/>
            </a:pPr>
            <a:r>
              <a:rPr lang="en-US" b="1" dirty="0">
                <a:solidFill>
                  <a:schemeClr val="bg1"/>
                </a:solidFill>
              </a:rPr>
              <a:t>Payment Terms</a:t>
            </a:r>
          </a:p>
          <a:p>
            <a:pPr marL="285750" indent="-285750">
              <a:lnSpc>
                <a:spcPct val="150000"/>
              </a:lnSpc>
              <a:spcBef>
                <a:spcPts val="425"/>
              </a:spcBef>
              <a:buFont typeface="Wingdings" panose="05000000000000000000" pitchFamily="2" charset="2"/>
              <a:buChar char="Ø"/>
            </a:pPr>
            <a:r>
              <a:rPr lang="en-US" b="1" dirty="0">
                <a:solidFill>
                  <a:schemeClr val="bg1"/>
                </a:solidFill>
              </a:rPr>
              <a:t>Terms &amp; Conditions</a:t>
            </a:r>
          </a:p>
          <a:p>
            <a:pPr marL="285750" indent="-285750">
              <a:lnSpc>
                <a:spcPct val="150000"/>
              </a:lnSpc>
              <a:spcBef>
                <a:spcPts val="425"/>
              </a:spcBef>
              <a:buFont typeface="Wingdings" panose="05000000000000000000" pitchFamily="2" charset="2"/>
              <a:buChar char="Ø"/>
            </a:pPr>
            <a:r>
              <a:rPr lang="en-US" b="1" dirty="0">
                <a:solidFill>
                  <a:schemeClr val="bg1"/>
                </a:solidFill>
              </a:rPr>
              <a:t>Support Plan</a:t>
            </a:r>
          </a:p>
          <a:p>
            <a:pPr marL="285750" indent="-285750">
              <a:lnSpc>
                <a:spcPct val="150000"/>
              </a:lnSpc>
              <a:spcBef>
                <a:spcPts val="425"/>
              </a:spcBef>
              <a:buFont typeface="Wingdings" panose="05000000000000000000" pitchFamily="2" charset="2"/>
              <a:buChar char="Ø"/>
            </a:pPr>
            <a:r>
              <a:rPr lang="en-US" b="1" dirty="0">
                <a:solidFill>
                  <a:schemeClr val="bg1"/>
                </a:solidFill>
              </a:rPr>
              <a:t>Subscription Plan</a:t>
            </a:r>
          </a:p>
          <a:p>
            <a:pPr marL="285750" indent="-285750">
              <a:lnSpc>
                <a:spcPct val="150000"/>
              </a:lnSpc>
              <a:spcBef>
                <a:spcPts val="425"/>
              </a:spcBef>
              <a:buFont typeface="Wingdings" panose="05000000000000000000" pitchFamily="2" charset="2"/>
              <a:buChar char="Ø"/>
            </a:pPr>
            <a:r>
              <a:rPr lang="en-US" b="1" dirty="0">
                <a:solidFill>
                  <a:schemeClr val="bg1"/>
                </a:solidFill>
              </a:rPr>
              <a:t>Why Infologia</a:t>
            </a:r>
          </a:p>
          <a:p>
            <a:pPr marL="285750" indent="-285750">
              <a:lnSpc>
                <a:spcPct val="150000"/>
              </a:lnSpc>
              <a:spcBef>
                <a:spcPts val="425"/>
              </a:spcBef>
              <a:buFont typeface="Wingdings" panose="05000000000000000000" pitchFamily="2" charset="2"/>
              <a:buChar char="Ø"/>
            </a:pPr>
            <a:r>
              <a:rPr lang="en-US" b="1" dirty="0">
                <a:solidFill>
                  <a:schemeClr val="bg1"/>
                </a:solidFill>
              </a:rPr>
              <a:t>Conclusion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People discuss something"/>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a:fillRect/>
          </a:stretch>
        </p:blipFill>
        <p:spPr>
          <a:xfrm>
            <a:off x="0" y="3115389"/>
            <a:ext cx="12192000" cy="3742611"/>
          </a:xfrm>
        </p:spPr>
      </p:pic>
      <p:sp>
        <p:nvSpPr>
          <p:cNvPr id="12" name="object 3" descr="Blue rectangle"/>
          <p:cNvSpPr/>
          <p:nvPr/>
        </p:nvSpPr>
        <p:spPr>
          <a:xfrm>
            <a:off x="2400" y="3115389"/>
            <a:ext cx="12189600" cy="3742611"/>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80000"/>
            </a:schemeClr>
          </a:solidFill>
        </p:spPr>
        <p:txBody>
          <a:bodyPr wrap="square" lIns="0" tIns="0" rIns="0" bIns="0" rtlCol="0"/>
          <a:lstStyle/>
          <a:p>
            <a:endParaRPr lang="en-US" dirty="0"/>
          </a:p>
        </p:txBody>
      </p:sp>
      <p:sp>
        <p:nvSpPr>
          <p:cNvPr id="13" name="Oval 12" descr="Beige oval"/>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p:cNvSpPr>
            <a:spLocks noGrp="1"/>
          </p:cNvSpPr>
          <p:nvPr>
            <p:ph type="title"/>
          </p:nvPr>
        </p:nvSpPr>
        <p:spPr>
          <a:xfrm>
            <a:off x="806168" y="365125"/>
            <a:ext cx="10515600" cy="1325563"/>
          </a:xfrm>
        </p:spPr>
        <p:txBody>
          <a:bodyPr>
            <a:normAutofit/>
          </a:bodyPr>
          <a:lstStyle/>
          <a:p>
            <a:r>
              <a:rPr lang="en-US" dirty="0">
                <a:latin typeface="+mn-lt"/>
              </a:rPr>
              <a:t>CargosSoft Overview</a:t>
            </a:r>
          </a:p>
        </p:txBody>
      </p:sp>
      <p:sp>
        <p:nvSpPr>
          <p:cNvPr id="8" name="Slide Number Placeholder 7"/>
          <p:cNvSpPr>
            <a:spLocks noGrp="1"/>
          </p:cNvSpPr>
          <p:nvPr>
            <p:ph type="sldNum" sz="quarter" idx="12"/>
          </p:nvPr>
        </p:nvSpPr>
        <p:spPr/>
        <p:txBody>
          <a:bodyPr/>
          <a:lstStyle/>
          <a:p>
            <a:pPr algn="ctr"/>
            <a:fld id="{82EE24B5-652C-4DB5-B7C3-B5BBEC1280B1}" type="slidenum">
              <a:rPr lang="en-US" smtClean="0"/>
              <a:t>3</a:t>
            </a:fld>
            <a:endParaRPr lang="en-US" dirty="0"/>
          </a:p>
        </p:txBody>
      </p:sp>
      <p:sp>
        <p:nvSpPr>
          <p:cNvPr id="9" name="object 5" descr="Beige rectangle"/>
          <p:cNvSpPr/>
          <p:nvPr/>
        </p:nvSpPr>
        <p:spPr>
          <a:xfrm flipV="1">
            <a:off x="956277" y="1262380"/>
            <a:ext cx="4011963" cy="45719"/>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18" name="Content Placeholder 6"/>
          <p:cNvSpPr txBox="1"/>
          <p:nvPr/>
        </p:nvSpPr>
        <p:spPr bwMode="white">
          <a:xfrm>
            <a:off x="126365" y="3373120"/>
            <a:ext cx="11875770" cy="2854325"/>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R="5080" algn="just">
              <a:lnSpc>
                <a:spcPct val="120000"/>
              </a:lnSpc>
              <a:spcBef>
                <a:spcPts val="0"/>
              </a:spcBef>
            </a:pPr>
            <a:r>
              <a:rPr lang="en-US" altLang="en-US" sz="1800" b="0" spc="-15" dirty="0">
                <a:solidFill>
                  <a:schemeClr val="bg2">
                    <a:lumMod val="20000"/>
                    <a:lumOff val="80000"/>
                  </a:schemeClr>
                </a:solidFill>
                <a:cs typeface="Arial" panose="020B0604020202020204"/>
              </a:rPr>
              <a:t>CargosSoft is an all-in-one logistics management platform that unifies planning, execution, tracking, billing and reporting into a single cloud-based system. By combining automation, analytics and seamless integration capabilities, CargosSoft enhances operational control, accelerates delivery cycles and drives measurable business efficiency. </a:t>
            </a:r>
            <a:br>
              <a:rPr lang="en-US" altLang="en-US" sz="1800" b="0" spc="-15" dirty="0">
                <a:solidFill>
                  <a:schemeClr val="bg2">
                    <a:lumMod val="20000"/>
                    <a:lumOff val="80000"/>
                  </a:schemeClr>
                </a:solidFill>
                <a:cs typeface="Arial" panose="020B0604020202020204"/>
              </a:rPr>
            </a:br>
            <a:endParaRPr lang="en-US" altLang="en-US" sz="1800" b="0" spc="-15" dirty="0">
              <a:solidFill>
                <a:schemeClr val="bg2">
                  <a:lumMod val="20000"/>
                  <a:lumOff val="80000"/>
                </a:schemeClr>
              </a:solidFill>
              <a:cs typeface="Arial" panose="020B0604020202020204"/>
            </a:endParaRPr>
          </a:p>
          <a:p>
            <a:pPr marR="5080" algn="just">
              <a:lnSpc>
                <a:spcPct val="120000"/>
              </a:lnSpc>
              <a:spcBef>
                <a:spcPts val="0"/>
              </a:spcBef>
            </a:pPr>
            <a:r>
              <a:rPr lang="en-US" sz="1800" b="0" dirty="0"/>
              <a:t>The platform eliminates manual dependencies, minimizes operational errors, and provides end-to-end visibility across the supply chain, enabling teams to work with greater accuracy and confidence. Designed with scalability and flexibility in mind, CargosSoft adapts seamlessly to evolving business requirements and diverse logistics workflows. With secure multi-user access, role-based permissions, and modern integration capabilities, the system offers a future-ready, reliable, and intelligently engineered solution for today’s dynamic logistics environment.</a:t>
            </a:r>
            <a:endParaRPr lang="en-US" altLang="en-US" sz="1800" b="0" spc="-15" dirty="0">
              <a:solidFill>
                <a:schemeClr val="bg2">
                  <a:lumMod val="20000"/>
                  <a:lumOff val="80000"/>
                </a:schemeClr>
              </a:solidFill>
              <a:cs typeface="Arial" panose="020B0604020202020204"/>
            </a:endParaRPr>
          </a:p>
        </p:txBody>
      </p:sp>
      <p:pic>
        <p:nvPicPr>
          <p:cNvPr id="20" name="Picture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5172" y="411163"/>
            <a:ext cx="4286250" cy="1228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descr="Beige oval"/>
          <p:cNvSpPr/>
          <p:nvPr/>
        </p:nvSpPr>
        <p:spPr>
          <a:xfrm>
            <a:off x="11585097" y="623505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p:cNvSpPr>
            <a:spLocks noGrp="1"/>
          </p:cNvSpPr>
          <p:nvPr>
            <p:ph type="title"/>
          </p:nvPr>
        </p:nvSpPr>
        <p:spPr>
          <a:xfrm>
            <a:off x="424815" y="291465"/>
            <a:ext cx="10515600" cy="1296703"/>
          </a:xfrm>
        </p:spPr>
        <p:txBody>
          <a:bodyPr>
            <a:normAutofit/>
          </a:bodyPr>
          <a:lstStyle/>
          <a:p>
            <a:r>
              <a:rPr lang="en-US" dirty="0">
                <a:latin typeface="+mn-lt"/>
              </a:rPr>
              <a:t>Solution Approach</a:t>
            </a:r>
          </a:p>
        </p:txBody>
      </p:sp>
      <p:sp>
        <p:nvSpPr>
          <p:cNvPr id="8" name="Slide Number Placeholder 7"/>
          <p:cNvSpPr>
            <a:spLocks noGrp="1"/>
          </p:cNvSpPr>
          <p:nvPr>
            <p:ph type="sldNum" sz="quarter" idx="12"/>
          </p:nvPr>
        </p:nvSpPr>
        <p:spPr>
          <a:xfrm>
            <a:off x="11525406" y="6184329"/>
            <a:ext cx="357116" cy="365125"/>
          </a:xfrm>
        </p:spPr>
        <p:txBody>
          <a:bodyPr/>
          <a:lstStyle/>
          <a:p>
            <a:pPr algn="ctr"/>
            <a:fld id="{82EE24B5-652C-4DB5-B7C3-B5BBEC1280B1}" type="slidenum">
              <a:rPr lang="en-US" smtClean="0"/>
              <a:t>4</a:t>
            </a:fld>
            <a:endParaRPr lang="en-US" dirty="0"/>
          </a:p>
        </p:txBody>
      </p:sp>
      <p:sp>
        <p:nvSpPr>
          <p:cNvPr id="9" name="object 5" descr="Beige rectangle"/>
          <p:cNvSpPr/>
          <p:nvPr/>
        </p:nvSpPr>
        <p:spPr>
          <a:xfrm flipV="1">
            <a:off x="542257" y="1145540"/>
            <a:ext cx="3680262" cy="85474"/>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18" name="Content Placeholder 6"/>
          <p:cNvSpPr txBox="1"/>
          <p:nvPr/>
        </p:nvSpPr>
        <p:spPr bwMode="white">
          <a:xfrm>
            <a:off x="505616" y="1156368"/>
            <a:ext cx="11019790" cy="4806994"/>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End-to-End Transport Lifecycle: </a:t>
            </a:r>
            <a:r>
              <a:rPr lang="en-US" altLang="en-US" sz="1600" b="0" spc="-15" dirty="0">
                <a:solidFill>
                  <a:schemeClr val="accent3"/>
                </a:solidFill>
                <a:cs typeface="Arial" panose="020B0604020202020204"/>
              </a:rPr>
              <a:t>CargosSoft manages the full transport lifecycle from planning to delivery through automated freight booking, smart carrier selection, efficient tender and load optimization, seamless dispatch execution and digital proof of delivery with automated settlement.</a:t>
            </a:r>
          </a:p>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Real-Time Visibility &amp; Tracking:</a:t>
            </a:r>
            <a:r>
              <a:rPr lang="en-US" altLang="en-US" sz="1600" b="0" spc="-15" dirty="0">
                <a:solidFill>
                  <a:schemeClr val="accent3"/>
                </a:solidFill>
                <a:cs typeface="Arial" panose="020B0604020202020204"/>
              </a:rPr>
              <a:t> CargosSoft offers real time shipment visibility, configurable alerts, predictive ETA updates and a customer portal for seamless self-service tracking.</a:t>
            </a:r>
          </a:p>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Automated Documentation &amp; Billing: </a:t>
            </a:r>
            <a:r>
              <a:rPr lang="en-US" altLang="en-US" sz="1600" b="0" spc="-15" dirty="0">
                <a:solidFill>
                  <a:schemeClr val="accent3"/>
                </a:solidFill>
                <a:cs typeface="Arial" panose="020B0604020202020204"/>
              </a:rPr>
              <a:t>CargosSoft automates documentation and billing with instant document generation, ePOD, accurate freight audit and invoice matching and smooth multi currency settlements.</a:t>
            </a:r>
          </a:p>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Advanced Analytics &amp; Reporting:</a:t>
            </a:r>
            <a:r>
              <a:rPr lang="en-US" altLang="en-US" sz="1600" b="0" spc="-15" dirty="0">
                <a:solidFill>
                  <a:schemeClr val="accent3"/>
                </a:solidFill>
                <a:cs typeface="Arial" panose="020B0604020202020204"/>
              </a:rPr>
              <a:t> CargosSoft provides advanced analytics with real-time dashboards, cost to serve insights, carrier performance scorecards and route optimization recommendations to support data driven decision making. We provide Multiple reports based on the customer requirements.</a:t>
            </a:r>
          </a:p>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Seamless Integration Capabilities:</a:t>
            </a:r>
            <a:r>
              <a:rPr lang="en-US" altLang="en-US" sz="1600" b="0" spc="-15" dirty="0">
                <a:solidFill>
                  <a:schemeClr val="accent3"/>
                </a:solidFill>
                <a:cs typeface="Arial" panose="020B0604020202020204"/>
              </a:rPr>
              <a:t> CargosSoft offers seamless integration with ERP, WMS, Tally, CRM and accounting systems, supports carrier EDI/API connections.</a:t>
            </a:r>
          </a:p>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Customer &amp; Vendor Portals:</a:t>
            </a:r>
            <a:r>
              <a:rPr lang="en-US" altLang="en-US" sz="1600" b="0" spc="-15" dirty="0">
                <a:solidFill>
                  <a:schemeClr val="accent3"/>
                </a:solidFill>
                <a:cs typeface="Arial" panose="020B0604020202020204"/>
              </a:rPr>
              <a:t> CargosSoft provides customer portals that enable self-service to know the Shipment and tracking, easy document sharing, performance dashboards and automated notifications for seamless stakeholder collaboration.</a:t>
            </a:r>
            <a:endParaRPr lang="en-US" altLang="en-US" sz="1800" b="0" spc="-15" dirty="0">
              <a:solidFill>
                <a:schemeClr val="accent3"/>
              </a:solidFill>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2938-0436-D822-309D-5E0060AC3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1B5B1-31FA-ABCF-9CAA-0D565A0919E9}"/>
              </a:ext>
            </a:extLst>
          </p:cNvPr>
          <p:cNvSpPr>
            <a:spLocks noGrp="1"/>
          </p:cNvSpPr>
          <p:nvPr>
            <p:ph type="title"/>
          </p:nvPr>
        </p:nvSpPr>
        <p:spPr>
          <a:xfrm>
            <a:off x="838200" y="-137795"/>
            <a:ext cx="10515600" cy="1325563"/>
          </a:xfrm>
        </p:spPr>
        <p:txBody>
          <a:bodyPr/>
          <a:lstStyle/>
          <a:p>
            <a:r>
              <a:rPr lang="en-US" dirty="0">
                <a:latin typeface="+mn-lt"/>
              </a:rPr>
              <a:t>Key CargosSoft Modules</a:t>
            </a:r>
          </a:p>
        </p:txBody>
      </p:sp>
      <p:sp>
        <p:nvSpPr>
          <p:cNvPr id="3" name="Slide Number Placeholder 2">
            <a:extLst>
              <a:ext uri="{FF2B5EF4-FFF2-40B4-BE49-F238E27FC236}">
                <a16:creationId xmlns:a16="http://schemas.microsoft.com/office/drawing/2014/main" id="{85A423E8-FF79-A9A7-A5A1-8F0C118E383F}"/>
              </a:ext>
            </a:extLst>
          </p:cNvPr>
          <p:cNvSpPr>
            <a:spLocks noGrp="1"/>
          </p:cNvSpPr>
          <p:nvPr>
            <p:ph type="sldNum" sz="quarter" idx="12"/>
          </p:nvPr>
        </p:nvSpPr>
        <p:spPr>
          <a:xfrm>
            <a:off x="11472066" y="6176709"/>
            <a:ext cx="357116" cy="365125"/>
          </a:xfrm>
        </p:spPr>
        <p:txBody>
          <a:bodyPr/>
          <a:lstStyle/>
          <a:p>
            <a:fld id="{82EE24B5-652C-4DB5-B7C3-B5BBEC1280B1}" type="slidenum">
              <a:rPr lang="en-US" noProof="0" smtClean="0"/>
              <a:t>5</a:t>
            </a:fld>
            <a:endParaRPr lang="en-US" noProof="0" dirty="0"/>
          </a:p>
        </p:txBody>
      </p:sp>
      <p:sp>
        <p:nvSpPr>
          <p:cNvPr id="6" name="Content Placeholder 6">
            <a:extLst>
              <a:ext uri="{FF2B5EF4-FFF2-40B4-BE49-F238E27FC236}">
                <a16:creationId xmlns:a16="http://schemas.microsoft.com/office/drawing/2014/main" id="{4A11E176-B785-0918-154E-FC31AF161B66}"/>
              </a:ext>
            </a:extLst>
          </p:cNvPr>
          <p:cNvSpPr txBox="1"/>
          <p:nvPr/>
        </p:nvSpPr>
        <p:spPr bwMode="white">
          <a:xfrm>
            <a:off x="1203960" y="3580448"/>
            <a:ext cx="3976370" cy="268224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R="5080">
              <a:lnSpc>
                <a:spcPct val="100000"/>
              </a:lnSpc>
              <a:spcBef>
                <a:spcPts val="0"/>
              </a:spcBef>
              <a:spcAft>
                <a:spcPts val="1200"/>
              </a:spcAft>
            </a:pPr>
            <a:endParaRPr lang="en-US" altLang="en-US" sz="1600" spc="-15" dirty="0">
              <a:solidFill>
                <a:schemeClr val="accent3"/>
              </a:solidFill>
              <a:cs typeface="Arial" panose="020B0604020202020204"/>
            </a:endParaRPr>
          </a:p>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Operations Management : </a:t>
            </a:r>
          </a:p>
          <a:p>
            <a:pPr marL="285750" marR="5080" indent="-2857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Quotation &amp; Shipment Management</a:t>
            </a:r>
          </a:p>
          <a:p>
            <a:pPr marL="285750" marR="5080" indent="-2857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Route &amp; Load Optimization</a:t>
            </a:r>
          </a:p>
          <a:p>
            <a:pPr marL="285750" marR="5080" indent="-2857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Dispatch &amp; Fleet Operations</a:t>
            </a:r>
          </a:p>
          <a:p>
            <a:pPr marR="5080">
              <a:lnSpc>
                <a:spcPct val="100000"/>
              </a:lnSpc>
              <a:spcBef>
                <a:spcPts val="0"/>
              </a:spcBef>
              <a:spcAft>
                <a:spcPts val="1200"/>
              </a:spcAft>
            </a:pPr>
            <a:endParaRPr lang="en-US" altLang="en-US" sz="1600" b="0" spc="-15" dirty="0">
              <a:solidFill>
                <a:schemeClr val="accent3"/>
              </a:solidFill>
              <a:cs typeface="Arial" panose="020B0604020202020204"/>
            </a:endParaRPr>
          </a:p>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Tracking &amp; Visibility: </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Dashboard</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Real-time Shipment Tracking</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Event Milestones &amp; Alerts</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Exception Management</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Predictive ETA (AI-powered)</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Customer &amp; Vendor Portals</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External Milestones</a:t>
            </a:r>
          </a:p>
        </p:txBody>
      </p:sp>
      <p:sp>
        <p:nvSpPr>
          <p:cNvPr id="7" name="Content Placeholder 6">
            <a:extLst>
              <a:ext uri="{FF2B5EF4-FFF2-40B4-BE49-F238E27FC236}">
                <a16:creationId xmlns:a16="http://schemas.microsoft.com/office/drawing/2014/main" id="{37F62FC4-2812-8F43-7F3F-154079F77DBD}"/>
              </a:ext>
            </a:extLst>
          </p:cNvPr>
          <p:cNvSpPr txBox="1"/>
          <p:nvPr/>
        </p:nvSpPr>
        <p:spPr bwMode="white">
          <a:xfrm>
            <a:off x="5640070" y="2109788"/>
            <a:ext cx="3976370" cy="3330575"/>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Analytics &amp; Reporting:</a:t>
            </a:r>
            <a:r>
              <a:rPr lang="en-US" altLang="en-US" sz="1600" b="0" spc="-15" dirty="0">
                <a:solidFill>
                  <a:schemeClr val="accent3"/>
                </a:solidFill>
                <a:cs typeface="Arial" panose="020B0604020202020204"/>
              </a:rPr>
              <a:t> </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Performance KPIs Dashboards</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Cost &amp; Profitability Analysis</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Carrier Performance Scorecards</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Utilization &amp; OTIF Reports</a:t>
            </a:r>
          </a:p>
          <a:p>
            <a:pPr marL="171450" marR="5080" indent="-1714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Customizable Reports</a:t>
            </a:r>
          </a:p>
          <a:p>
            <a:pPr marR="5080">
              <a:lnSpc>
                <a:spcPct val="100000"/>
              </a:lnSpc>
              <a:spcBef>
                <a:spcPts val="0"/>
              </a:spcBef>
              <a:spcAft>
                <a:spcPts val="1200"/>
              </a:spcAft>
            </a:pPr>
            <a:endParaRPr lang="en-US" altLang="en-US" sz="1600" b="0" spc="-15" dirty="0">
              <a:solidFill>
                <a:schemeClr val="accent3"/>
              </a:solidFill>
              <a:cs typeface="Arial" panose="020B0604020202020204"/>
            </a:endParaRPr>
          </a:p>
          <a:p>
            <a:pPr marL="285750" marR="5080" indent="-285750">
              <a:lnSpc>
                <a:spcPct val="100000"/>
              </a:lnSpc>
              <a:spcBef>
                <a:spcPts val="0"/>
              </a:spcBef>
              <a:spcAft>
                <a:spcPts val="1200"/>
              </a:spcAft>
              <a:buFont typeface="Wingdings" panose="05000000000000000000" charset="0"/>
              <a:buChar char="Ø"/>
            </a:pPr>
            <a:r>
              <a:rPr lang="en-US" altLang="en-US" sz="1600" spc="-15" dirty="0">
                <a:solidFill>
                  <a:schemeClr val="accent3"/>
                </a:solidFill>
                <a:cs typeface="Arial" panose="020B0604020202020204"/>
              </a:rPr>
              <a:t>Financial Management:</a:t>
            </a:r>
          </a:p>
          <a:p>
            <a:pPr marL="285750" marR="5080" indent="-2857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Automated Billing &amp; Invoicing</a:t>
            </a:r>
          </a:p>
          <a:p>
            <a:pPr marL="285750" marR="5080" indent="-285750">
              <a:lnSpc>
                <a:spcPct val="100000"/>
              </a:lnSpc>
              <a:spcBef>
                <a:spcPts val="0"/>
              </a:spcBef>
              <a:spcAft>
                <a:spcPts val="1200"/>
              </a:spcAft>
              <a:buFont typeface="Arial" panose="020B0604020202020204" pitchFamily="34" charset="0"/>
              <a:buChar char="•"/>
            </a:pPr>
            <a:r>
              <a:rPr lang="en-US" altLang="en-US" sz="1600" b="0" spc="-15" dirty="0">
                <a:solidFill>
                  <a:schemeClr val="accent3"/>
                </a:solidFill>
                <a:cs typeface="Arial" panose="020B0604020202020204"/>
              </a:rPr>
              <a:t>Revenue Recognition</a:t>
            </a:r>
          </a:p>
          <a:p>
            <a:pPr marR="5080">
              <a:lnSpc>
                <a:spcPct val="100000"/>
              </a:lnSpc>
              <a:spcBef>
                <a:spcPts val="0"/>
              </a:spcBef>
              <a:spcAft>
                <a:spcPts val="1200"/>
              </a:spcAft>
            </a:pPr>
            <a:endParaRPr lang="en-US" altLang="en-US" sz="1600" b="0" spc="-15" dirty="0">
              <a:solidFill>
                <a:schemeClr val="accent3"/>
              </a:solidFill>
              <a:cs typeface="Arial" panose="020B0604020202020204"/>
            </a:endParaRPr>
          </a:p>
        </p:txBody>
      </p:sp>
      <p:sp>
        <p:nvSpPr>
          <p:cNvPr id="10" name="object 18" descr="Beige rectangle">
            <a:extLst>
              <a:ext uri="{FF2B5EF4-FFF2-40B4-BE49-F238E27FC236}">
                <a16:creationId xmlns:a16="http://schemas.microsoft.com/office/drawing/2014/main" id="{3787C05B-B733-D3A1-354F-FFED65D93BAA}"/>
              </a:ext>
            </a:extLst>
          </p:cNvPr>
          <p:cNvSpPr/>
          <p:nvPr/>
        </p:nvSpPr>
        <p:spPr>
          <a:xfrm>
            <a:off x="914400" y="833200"/>
            <a:ext cx="4808220"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1908230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3327"/>
            <a:ext cx="10515600" cy="894796"/>
          </a:xfrm>
        </p:spPr>
        <p:txBody>
          <a:bodyPr/>
          <a:lstStyle/>
          <a:p>
            <a:r>
              <a:rPr lang="en-US" dirty="0">
                <a:latin typeface="+mn-lt"/>
              </a:rPr>
              <a:t>Implementation Plan</a:t>
            </a:r>
          </a:p>
        </p:txBody>
      </p:sp>
      <p:sp>
        <p:nvSpPr>
          <p:cNvPr id="3" name="Slide Number Placeholder 2"/>
          <p:cNvSpPr>
            <a:spLocks noGrp="1"/>
          </p:cNvSpPr>
          <p:nvPr>
            <p:ph type="sldNum" sz="quarter" idx="12"/>
          </p:nvPr>
        </p:nvSpPr>
        <p:spPr>
          <a:xfrm>
            <a:off x="11472066" y="6176709"/>
            <a:ext cx="357116" cy="365125"/>
          </a:xfrm>
        </p:spPr>
        <p:txBody>
          <a:bodyPr/>
          <a:lstStyle/>
          <a:p>
            <a:fld id="{82EE24B5-652C-4DB5-B7C3-B5BBEC1280B1}" type="slidenum">
              <a:rPr lang="en-US" noProof="0" smtClean="0"/>
              <a:t>6</a:t>
            </a:fld>
            <a:endParaRPr lang="en-US" noProof="0" dirty="0"/>
          </a:p>
        </p:txBody>
      </p:sp>
      <p:grpSp>
        <p:nvGrpSpPr>
          <p:cNvPr id="20" name="Group 19">
            <a:extLst>
              <a:ext uri="{FF2B5EF4-FFF2-40B4-BE49-F238E27FC236}">
                <a16:creationId xmlns:a16="http://schemas.microsoft.com/office/drawing/2014/main" id="{3D3F4043-BD98-F7FB-A36F-6543B1557984}"/>
              </a:ext>
            </a:extLst>
          </p:cNvPr>
          <p:cNvGrpSpPr/>
          <p:nvPr/>
        </p:nvGrpSpPr>
        <p:grpSpPr>
          <a:xfrm>
            <a:off x="1211580" y="2119630"/>
            <a:ext cx="9768840" cy="3763010"/>
            <a:chOff x="1144270" y="1601470"/>
            <a:chExt cx="9768840" cy="3763010"/>
          </a:xfrm>
        </p:grpSpPr>
        <p:sp>
          <p:nvSpPr>
            <p:cNvPr id="5" name="Rounded Rectangle 4"/>
            <p:cNvSpPr/>
            <p:nvPr/>
          </p:nvSpPr>
          <p:spPr>
            <a:xfrm>
              <a:off x="1144270" y="1602105"/>
              <a:ext cx="1677670" cy="880745"/>
            </a:xfrm>
            <a:prstGeom prst="roundRect">
              <a:avLst/>
            </a:prstGeom>
            <a:solidFill>
              <a:srgbClr val="0E6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500"/>
                <a:t>Discovery &amp; Requirements</a:t>
              </a:r>
            </a:p>
          </p:txBody>
        </p:sp>
        <p:sp>
          <p:nvSpPr>
            <p:cNvPr id="6" name="Text Box 5"/>
            <p:cNvSpPr txBox="1"/>
            <p:nvPr/>
          </p:nvSpPr>
          <p:spPr>
            <a:xfrm>
              <a:off x="1210945" y="2536190"/>
              <a:ext cx="1610995" cy="737235"/>
            </a:xfrm>
            <a:prstGeom prst="rect">
              <a:avLst/>
            </a:prstGeom>
          </p:spPr>
          <p:txBody>
            <a:bodyPr wrap="square">
              <a:spAutoFit/>
            </a:bodyPr>
            <a:lstStyle/>
            <a:p>
              <a:pPr marL="0" indent="0" algn="ctr"/>
              <a:r>
                <a:rPr sz="1400" b="0" i="0" dirty="0">
                  <a:solidFill>
                    <a:schemeClr val="tx1"/>
                  </a:solidFill>
                  <a:ea typeface="Inter"/>
                  <a:cs typeface="+mn-lt"/>
                </a:rPr>
                <a:t>Process mapping, KPIs, success criteria definition</a:t>
              </a:r>
            </a:p>
          </p:txBody>
        </p:sp>
        <p:sp>
          <p:nvSpPr>
            <p:cNvPr id="7" name="Rounded Rectangle 6"/>
            <p:cNvSpPr/>
            <p:nvPr/>
          </p:nvSpPr>
          <p:spPr>
            <a:xfrm>
              <a:off x="3777615" y="1601470"/>
              <a:ext cx="1680845" cy="872490"/>
            </a:xfrm>
            <a:prstGeom prst="roundRect">
              <a:avLst/>
            </a:prstGeom>
            <a:solidFill>
              <a:srgbClr val="0E6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500"/>
                <a:t>Solution Design</a:t>
              </a:r>
            </a:p>
          </p:txBody>
        </p:sp>
        <p:sp>
          <p:nvSpPr>
            <p:cNvPr id="8" name="Text Box 7"/>
            <p:cNvSpPr txBox="1"/>
            <p:nvPr/>
          </p:nvSpPr>
          <p:spPr>
            <a:xfrm>
              <a:off x="3693160" y="2536190"/>
              <a:ext cx="1727200" cy="737235"/>
            </a:xfrm>
            <a:prstGeom prst="rect">
              <a:avLst/>
            </a:prstGeom>
          </p:spPr>
          <p:txBody>
            <a:bodyPr wrap="square">
              <a:spAutoFit/>
            </a:bodyPr>
            <a:lstStyle/>
            <a:p>
              <a:pPr marL="0" indent="0" algn="ctr"/>
              <a:r>
                <a:rPr lang="en-US" altLang="en-US" sz="1400" b="0" i="0" dirty="0">
                  <a:solidFill>
                    <a:schemeClr val="tx1"/>
                  </a:solidFill>
                  <a:ea typeface="Inter"/>
                  <a:cs typeface="+mn-lt"/>
                </a:rPr>
                <a:t>Configuration, data model, integrations, security setup</a:t>
              </a:r>
            </a:p>
          </p:txBody>
        </p:sp>
        <p:sp>
          <p:nvSpPr>
            <p:cNvPr id="9" name="Rounded Rectangle 8"/>
            <p:cNvSpPr/>
            <p:nvPr/>
          </p:nvSpPr>
          <p:spPr>
            <a:xfrm>
              <a:off x="6352540" y="1602105"/>
              <a:ext cx="1632585" cy="871855"/>
            </a:xfrm>
            <a:prstGeom prst="roundRect">
              <a:avLst/>
            </a:prstGeom>
            <a:solidFill>
              <a:srgbClr val="0E6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500"/>
                <a:t>Configuration &amp; Customization</a:t>
              </a:r>
            </a:p>
          </p:txBody>
        </p:sp>
        <p:sp>
          <p:nvSpPr>
            <p:cNvPr id="10" name="Text Box 9"/>
            <p:cNvSpPr txBox="1"/>
            <p:nvPr/>
          </p:nvSpPr>
          <p:spPr>
            <a:xfrm>
              <a:off x="6374130" y="2536190"/>
              <a:ext cx="1610995" cy="738664"/>
            </a:xfrm>
            <a:prstGeom prst="rect">
              <a:avLst/>
            </a:prstGeom>
          </p:spPr>
          <p:txBody>
            <a:bodyPr wrap="square">
              <a:spAutoFit/>
            </a:bodyPr>
            <a:lstStyle/>
            <a:p>
              <a:pPr algn="ctr"/>
              <a:r>
                <a:rPr lang="en-IN" sz="1400" dirty="0"/>
                <a:t>Workflows, roles, portals, documents setup</a:t>
              </a:r>
              <a:endParaRPr sz="1100" b="0" i="0" dirty="0">
                <a:solidFill>
                  <a:schemeClr val="tx1"/>
                </a:solidFill>
                <a:ea typeface="Inter"/>
                <a:cs typeface="+mn-lt"/>
              </a:endParaRPr>
            </a:p>
          </p:txBody>
        </p:sp>
        <p:sp>
          <p:nvSpPr>
            <p:cNvPr id="11" name="Rounded Rectangle 10"/>
            <p:cNvSpPr/>
            <p:nvPr/>
          </p:nvSpPr>
          <p:spPr>
            <a:xfrm>
              <a:off x="8968105" y="1602105"/>
              <a:ext cx="1717675" cy="871855"/>
            </a:xfrm>
            <a:prstGeom prst="roundRect">
              <a:avLst/>
            </a:prstGeom>
            <a:solidFill>
              <a:srgbClr val="0E6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500"/>
                <a:t>Data Migration</a:t>
              </a:r>
            </a:p>
          </p:txBody>
        </p:sp>
        <p:sp>
          <p:nvSpPr>
            <p:cNvPr id="12" name="Text Box 11"/>
            <p:cNvSpPr txBox="1"/>
            <p:nvPr/>
          </p:nvSpPr>
          <p:spPr>
            <a:xfrm>
              <a:off x="8823325" y="2544445"/>
              <a:ext cx="2089785" cy="737235"/>
            </a:xfrm>
            <a:prstGeom prst="rect">
              <a:avLst/>
            </a:prstGeom>
          </p:spPr>
          <p:txBody>
            <a:bodyPr wrap="square">
              <a:spAutoFit/>
            </a:bodyPr>
            <a:lstStyle/>
            <a:p>
              <a:pPr marL="0" indent="0" algn="ctr"/>
              <a:r>
                <a:rPr lang="en-US" altLang="en-US" sz="1400" b="0" i="0" dirty="0">
                  <a:solidFill>
                    <a:schemeClr val="tx1"/>
                  </a:solidFill>
                  <a:ea typeface="Inter"/>
                  <a:cs typeface="+mn-lt"/>
                </a:rPr>
                <a:t>Masters, rates, carriers, customers, historical shipments</a:t>
              </a:r>
            </a:p>
          </p:txBody>
        </p:sp>
        <p:sp>
          <p:nvSpPr>
            <p:cNvPr id="37" name="Rounded Rectangle 36"/>
            <p:cNvSpPr/>
            <p:nvPr/>
          </p:nvSpPr>
          <p:spPr>
            <a:xfrm>
              <a:off x="1144270" y="3679190"/>
              <a:ext cx="1677670" cy="880745"/>
            </a:xfrm>
            <a:prstGeom prst="roundRect">
              <a:avLst/>
            </a:prstGeom>
            <a:solidFill>
              <a:srgbClr val="0E6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500"/>
                <a:t>Go-Live &amp; Hypercare</a:t>
              </a:r>
            </a:p>
          </p:txBody>
        </p:sp>
        <p:sp>
          <p:nvSpPr>
            <p:cNvPr id="38" name="Text Box 37"/>
            <p:cNvSpPr txBox="1"/>
            <p:nvPr/>
          </p:nvSpPr>
          <p:spPr>
            <a:xfrm>
              <a:off x="1144270" y="4613275"/>
              <a:ext cx="1610995" cy="737235"/>
            </a:xfrm>
            <a:prstGeom prst="rect">
              <a:avLst/>
            </a:prstGeom>
          </p:spPr>
          <p:txBody>
            <a:bodyPr wrap="square">
              <a:spAutoFit/>
            </a:bodyPr>
            <a:lstStyle/>
            <a:p>
              <a:pPr marL="0" indent="0" algn="ctr"/>
              <a:r>
                <a:rPr lang="en-US" altLang="en-US" sz="1400" b="0" i="0">
                  <a:solidFill>
                    <a:schemeClr val="tx1"/>
                  </a:solidFill>
                  <a:ea typeface="Inter"/>
                  <a:cs typeface="+mn-lt"/>
                </a:rPr>
                <a:t>Monitoring, stabilization, handover support</a:t>
              </a:r>
            </a:p>
          </p:txBody>
        </p:sp>
        <p:sp>
          <p:nvSpPr>
            <p:cNvPr id="39" name="Rounded Rectangle 38"/>
            <p:cNvSpPr/>
            <p:nvPr/>
          </p:nvSpPr>
          <p:spPr>
            <a:xfrm>
              <a:off x="3648710" y="3678555"/>
              <a:ext cx="1680845" cy="872490"/>
            </a:xfrm>
            <a:prstGeom prst="roundRect">
              <a:avLst/>
            </a:prstGeom>
            <a:solidFill>
              <a:srgbClr val="0E6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500"/>
                <a:t>Training &amp; Change Management</a:t>
              </a:r>
            </a:p>
          </p:txBody>
        </p:sp>
        <p:sp>
          <p:nvSpPr>
            <p:cNvPr id="40" name="Text Box 39"/>
            <p:cNvSpPr txBox="1"/>
            <p:nvPr/>
          </p:nvSpPr>
          <p:spPr>
            <a:xfrm>
              <a:off x="3693160" y="4613275"/>
              <a:ext cx="1727200" cy="737235"/>
            </a:xfrm>
            <a:prstGeom prst="rect">
              <a:avLst/>
            </a:prstGeom>
          </p:spPr>
          <p:txBody>
            <a:bodyPr wrap="square">
              <a:spAutoFit/>
            </a:bodyPr>
            <a:lstStyle/>
            <a:p>
              <a:pPr marL="0" indent="0" algn="ctr"/>
              <a:r>
                <a:rPr lang="en-US" altLang="en-US" sz="1400" b="0" i="0">
                  <a:solidFill>
                    <a:schemeClr val="tx1"/>
                  </a:solidFill>
                  <a:ea typeface="Inter"/>
                  <a:cs typeface="+mn-lt"/>
                </a:rPr>
                <a:t>Admin, ops, finance, partner training sessions</a:t>
              </a:r>
            </a:p>
          </p:txBody>
        </p:sp>
        <p:sp>
          <p:nvSpPr>
            <p:cNvPr id="41" name="Rounded Rectangle 40"/>
            <p:cNvSpPr/>
            <p:nvPr/>
          </p:nvSpPr>
          <p:spPr>
            <a:xfrm>
              <a:off x="6352540" y="3679190"/>
              <a:ext cx="1632585" cy="871855"/>
            </a:xfrm>
            <a:prstGeom prst="roundRect">
              <a:avLst/>
            </a:prstGeom>
            <a:solidFill>
              <a:srgbClr val="0E6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500">
                  <a:sym typeface="+mn-ea"/>
                </a:rPr>
                <a:t>Testing</a:t>
              </a:r>
              <a:endParaRPr lang="en-US" altLang="en-US" sz="1500"/>
            </a:p>
          </p:txBody>
        </p:sp>
        <p:sp>
          <p:nvSpPr>
            <p:cNvPr id="42" name="Text Box 41"/>
            <p:cNvSpPr txBox="1"/>
            <p:nvPr/>
          </p:nvSpPr>
          <p:spPr>
            <a:xfrm>
              <a:off x="6276340" y="4627245"/>
              <a:ext cx="1801495" cy="737235"/>
            </a:xfrm>
            <a:prstGeom prst="rect">
              <a:avLst/>
            </a:prstGeom>
          </p:spPr>
          <p:txBody>
            <a:bodyPr wrap="square">
              <a:spAutoFit/>
            </a:bodyPr>
            <a:lstStyle/>
            <a:p>
              <a:pPr marL="0" indent="0" algn="ctr"/>
              <a:r>
                <a:rPr lang="en-US" altLang="en-US" sz="1400" dirty="0">
                  <a:ea typeface="Inter"/>
                  <a:cs typeface="+mn-lt"/>
                  <a:sym typeface="+mn-ea"/>
                </a:rPr>
                <a:t>SIT, UAT, performance, security verification</a:t>
              </a:r>
              <a:endParaRPr lang="en-US" altLang="en-US" sz="1400" b="0" i="0" dirty="0">
                <a:solidFill>
                  <a:schemeClr val="tx1"/>
                </a:solidFill>
                <a:ea typeface="Inter"/>
                <a:cs typeface="+mn-lt"/>
              </a:endParaRPr>
            </a:p>
          </p:txBody>
        </p:sp>
        <p:sp>
          <p:nvSpPr>
            <p:cNvPr id="43" name="Rounded Rectangle 42"/>
            <p:cNvSpPr/>
            <p:nvPr/>
          </p:nvSpPr>
          <p:spPr>
            <a:xfrm>
              <a:off x="8968105" y="3679190"/>
              <a:ext cx="1717675" cy="871855"/>
            </a:xfrm>
            <a:prstGeom prst="roundRect">
              <a:avLst/>
            </a:prstGeom>
            <a:solidFill>
              <a:srgbClr val="0E6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500">
                  <a:sym typeface="+mn-ea"/>
                </a:rPr>
                <a:t>Integrations</a:t>
              </a:r>
              <a:endParaRPr lang="en-US" altLang="en-US" sz="1500"/>
            </a:p>
          </p:txBody>
        </p:sp>
        <p:sp>
          <p:nvSpPr>
            <p:cNvPr id="44" name="Text Box 43"/>
            <p:cNvSpPr txBox="1"/>
            <p:nvPr/>
          </p:nvSpPr>
          <p:spPr>
            <a:xfrm>
              <a:off x="8823325" y="4621530"/>
              <a:ext cx="2089785" cy="523220"/>
            </a:xfrm>
            <a:prstGeom prst="rect">
              <a:avLst/>
            </a:prstGeom>
          </p:spPr>
          <p:txBody>
            <a:bodyPr wrap="square">
              <a:spAutoFit/>
            </a:bodyPr>
            <a:lstStyle/>
            <a:p>
              <a:pPr marL="0" indent="0" algn="ctr"/>
              <a:r>
                <a:rPr lang="en-US" altLang="en-US" sz="1400" dirty="0">
                  <a:ea typeface="Inter"/>
                  <a:cs typeface="+mn-lt"/>
                  <a:sym typeface="+mn-ea"/>
                </a:rPr>
                <a:t>ERP/WMS/accounting, carriers, telematics</a:t>
              </a:r>
              <a:endParaRPr lang="en-US" altLang="en-US" sz="1400" b="0" i="0" dirty="0">
                <a:solidFill>
                  <a:schemeClr val="tx1"/>
                </a:solidFill>
                <a:ea typeface="Inter"/>
                <a:cs typeface="+mn-lt"/>
              </a:endParaRPr>
            </a:p>
          </p:txBody>
        </p:sp>
        <p:cxnSp>
          <p:nvCxnSpPr>
            <p:cNvPr id="46" name="Straight Arrow Connector 45"/>
            <p:cNvCxnSpPr/>
            <p:nvPr/>
          </p:nvCxnSpPr>
          <p:spPr>
            <a:xfrm>
              <a:off x="5458460" y="2046605"/>
              <a:ext cx="541020" cy="3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7" name="Straight Arrow Connector 46"/>
            <p:cNvCxnSpPr/>
            <p:nvPr/>
          </p:nvCxnSpPr>
          <p:spPr>
            <a:xfrm>
              <a:off x="8018145" y="2040255"/>
              <a:ext cx="541020" cy="3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8" name="Straight Arrow Connector 47"/>
            <p:cNvCxnSpPr/>
            <p:nvPr/>
          </p:nvCxnSpPr>
          <p:spPr>
            <a:xfrm>
              <a:off x="2821940" y="2035175"/>
              <a:ext cx="541020" cy="3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1" name="Straight Arrow Connector 50"/>
            <p:cNvCxnSpPr>
              <a:cxnSpLocks/>
            </p:cNvCxnSpPr>
            <p:nvPr/>
          </p:nvCxnSpPr>
          <p:spPr>
            <a:xfrm flipH="1">
              <a:off x="8457966" y="4114800"/>
              <a:ext cx="510139"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Straight Arrow Connector 13">
              <a:extLst>
                <a:ext uri="{FF2B5EF4-FFF2-40B4-BE49-F238E27FC236}">
                  <a16:creationId xmlns:a16="http://schemas.microsoft.com/office/drawing/2014/main" id="{2E29EDA3-68E9-8667-F4E6-B99F76BBACD9}"/>
                </a:ext>
              </a:extLst>
            </p:cNvPr>
            <p:cNvCxnSpPr>
              <a:cxnSpLocks/>
            </p:cNvCxnSpPr>
            <p:nvPr/>
          </p:nvCxnSpPr>
          <p:spPr>
            <a:xfrm flipH="1">
              <a:off x="5827058" y="4114801"/>
              <a:ext cx="510139"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5" name="Straight Arrow Connector 14">
              <a:extLst>
                <a:ext uri="{FF2B5EF4-FFF2-40B4-BE49-F238E27FC236}">
                  <a16:creationId xmlns:a16="http://schemas.microsoft.com/office/drawing/2014/main" id="{6522EE66-36B9-BE35-51BA-73383054DBBF}"/>
                </a:ext>
              </a:extLst>
            </p:cNvPr>
            <p:cNvCxnSpPr>
              <a:cxnSpLocks/>
            </p:cNvCxnSpPr>
            <p:nvPr/>
          </p:nvCxnSpPr>
          <p:spPr>
            <a:xfrm flipH="1">
              <a:off x="3156030" y="4114801"/>
              <a:ext cx="510139"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6" name="Straight Arrow Connector 15">
              <a:extLst>
                <a:ext uri="{FF2B5EF4-FFF2-40B4-BE49-F238E27FC236}">
                  <a16:creationId xmlns:a16="http://schemas.microsoft.com/office/drawing/2014/main" id="{1CCDA458-57D6-3E47-186C-25129A9513C4}"/>
                </a:ext>
              </a:extLst>
            </p:cNvPr>
            <p:cNvCxnSpPr>
              <a:cxnSpLocks/>
            </p:cNvCxnSpPr>
            <p:nvPr/>
          </p:nvCxnSpPr>
          <p:spPr>
            <a:xfrm>
              <a:off x="9941860" y="3240506"/>
              <a:ext cx="0" cy="317734"/>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19" name="object 18" descr="Beige rectangle">
            <a:extLst>
              <a:ext uri="{FF2B5EF4-FFF2-40B4-BE49-F238E27FC236}">
                <a16:creationId xmlns:a16="http://schemas.microsoft.com/office/drawing/2014/main" id="{E687C063-4103-227A-7AEA-C33FC8F53BC7}"/>
              </a:ext>
            </a:extLst>
          </p:cNvPr>
          <p:cNvSpPr/>
          <p:nvPr/>
        </p:nvSpPr>
        <p:spPr>
          <a:xfrm>
            <a:off x="969298" y="1358980"/>
            <a:ext cx="3937982"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54075"/>
          </a:xfrm>
        </p:spPr>
        <p:txBody>
          <a:bodyPr/>
          <a:lstStyle/>
          <a:p>
            <a:r>
              <a:rPr lang="en-US" dirty="0">
                <a:latin typeface="+mn-lt"/>
              </a:rPr>
              <a:t>Pricing &amp; Structure</a:t>
            </a:r>
          </a:p>
        </p:txBody>
      </p:sp>
      <p:sp>
        <p:nvSpPr>
          <p:cNvPr id="3" name="Slide Number Placeholder 2"/>
          <p:cNvSpPr>
            <a:spLocks noGrp="1"/>
          </p:cNvSpPr>
          <p:nvPr>
            <p:ph type="sldNum" sz="quarter" idx="12"/>
          </p:nvPr>
        </p:nvSpPr>
        <p:spPr>
          <a:xfrm>
            <a:off x="11472066" y="6176709"/>
            <a:ext cx="357116" cy="365125"/>
          </a:xfrm>
        </p:spPr>
        <p:txBody>
          <a:bodyPr/>
          <a:lstStyle/>
          <a:p>
            <a:fld id="{82EE24B5-652C-4DB5-B7C3-B5BBEC1280B1}" type="slidenum">
              <a:rPr lang="en-US" noProof="0" smtClean="0"/>
              <a:t>7</a:t>
            </a:fld>
            <a:endParaRPr lang="en-US" noProof="0" dirty="0"/>
          </a:p>
        </p:txBody>
      </p:sp>
      <p:sp>
        <p:nvSpPr>
          <p:cNvPr id="4" name="Rounded Rectangle 3"/>
          <p:cNvSpPr/>
          <p:nvPr/>
        </p:nvSpPr>
        <p:spPr>
          <a:xfrm>
            <a:off x="1031240" y="1910080"/>
            <a:ext cx="2468880" cy="3484880"/>
          </a:xfrm>
          <a:prstGeom prst="roundRect">
            <a:avLst/>
          </a:prstGeom>
          <a:solidFill>
            <a:srgbClr val="0E616D"/>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Container Tracking</a:t>
            </a:r>
          </a:p>
          <a:p>
            <a:pPr algn="ctr"/>
            <a:endParaRPr lang="en-US" sz="1400" b="1" dirty="0"/>
          </a:p>
          <a:p>
            <a:pPr algn="ctr"/>
            <a:r>
              <a:rPr lang="en-US" altLang="en-US" sz="1400" b="1" dirty="0"/>
              <a:t>$5/ Per Container</a:t>
            </a:r>
            <a:endParaRPr lang="en-US" sz="1400" dirty="0"/>
          </a:p>
          <a:p>
            <a:pPr algn="ctr"/>
            <a:endParaRPr lang="en-US" sz="1400" dirty="0"/>
          </a:p>
          <a:p>
            <a:pPr marL="171450" indent="-171450" algn="l">
              <a:buFont typeface="Arial" panose="020B0604020202020204" pitchFamily="34" charset="0"/>
              <a:buChar char="•"/>
            </a:pPr>
            <a:r>
              <a:rPr lang="en-US" altLang="en-US" sz="1400" b="1" dirty="0"/>
              <a:t>We follow usage-based model</a:t>
            </a:r>
          </a:p>
          <a:p>
            <a:pPr marL="171450" indent="-171450" algn="l">
              <a:buFont typeface="Arial" panose="020B0604020202020204" pitchFamily="34" charset="0"/>
              <a:buChar char="•"/>
            </a:pPr>
            <a:endParaRPr lang="en-US" altLang="en-US" sz="1400" b="1" dirty="0"/>
          </a:p>
          <a:p>
            <a:pPr marL="171450" indent="-171450" algn="l">
              <a:buFont typeface="Arial" panose="020B0604020202020204" pitchFamily="34" charset="0"/>
              <a:buChar char="•"/>
            </a:pPr>
            <a:r>
              <a:rPr lang="en-US" altLang="en-US" sz="1400" b="1" dirty="0"/>
              <a:t>Charges apply only for containers processed</a:t>
            </a:r>
          </a:p>
          <a:p>
            <a:pPr marL="171450" indent="-171450" algn="l">
              <a:buFont typeface="Arial" panose="020B0604020202020204" pitchFamily="34" charset="0"/>
              <a:buChar char="•"/>
            </a:pPr>
            <a:endParaRPr lang="en-US" altLang="en-US" sz="1400" b="1" dirty="0"/>
          </a:p>
          <a:p>
            <a:pPr marL="171450" indent="-171450">
              <a:buFont typeface="Arial" panose="020B0604020202020204" pitchFamily="34" charset="0"/>
              <a:buChar char="•"/>
            </a:pPr>
            <a:r>
              <a:rPr lang="en-US" sz="1400" b="1" dirty="0"/>
              <a:t>Billing scales with your volume </a:t>
            </a:r>
            <a:endParaRPr lang="en-US" altLang="en-US" sz="1400" b="1" dirty="0"/>
          </a:p>
        </p:txBody>
      </p:sp>
      <p:sp>
        <p:nvSpPr>
          <p:cNvPr id="5" name="Rounded Rectangle 4"/>
          <p:cNvSpPr/>
          <p:nvPr/>
        </p:nvSpPr>
        <p:spPr>
          <a:xfrm>
            <a:off x="8361680" y="1910080"/>
            <a:ext cx="2468880" cy="3484880"/>
          </a:xfrm>
          <a:prstGeom prst="roundRect">
            <a:avLst/>
          </a:prstGeom>
          <a:solidFill>
            <a:srgbClr val="0E616D"/>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Implementation Cost</a:t>
            </a:r>
          </a:p>
          <a:p>
            <a:endParaRPr lang="en-US" altLang="en-US" sz="1400" b="1" dirty="0"/>
          </a:p>
          <a:p>
            <a:pPr algn="ctr"/>
            <a:r>
              <a:rPr lang="en-US" sz="1400" b="1" dirty="0"/>
              <a:t>$1500 </a:t>
            </a:r>
          </a:p>
          <a:p>
            <a:pPr marL="171450" indent="-171450" algn="l">
              <a:buFont typeface="Arial" panose="020B0604020202020204" pitchFamily="34" charset="0"/>
              <a:buChar char="•"/>
            </a:pPr>
            <a:endParaRPr lang="en-US" altLang="en-US" sz="1400" b="1" dirty="0"/>
          </a:p>
          <a:p>
            <a:pPr marL="171450" indent="-171450" algn="l">
              <a:buFont typeface="Arial" panose="020B0604020202020204" pitchFamily="34" charset="0"/>
              <a:buChar char="•"/>
            </a:pPr>
            <a:r>
              <a:rPr lang="en-US" altLang="en-US" sz="1400" b="1" dirty="0"/>
              <a:t>One-time fee for setup, configuration and onboarding</a:t>
            </a:r>
          </a:p>
          <a:p>
            <a:pPr marL="171450" indent="-171450" algn="l">
              <a:buFont typeface="Arial" panose="020B0604020202020204" pitchFamily="34" charset="0"/>
              <a:buChar char="•"/>
            </a:pPr>
            <a:endParaRPr lang="en-US" altLang="en-US" sz="1400" b="1" dirty="0"/>
          </a:p>
          <a:p>
            <a:pPr marL="171450" indent="-171450" algn="l">
              <a:buFont typeface="Arial" panose="020B0604020202020204" pitchFamily="34" charset="0"/>
              <a:buChar char="•"/>
            </a:pPr>
            <a:r>
              <a:rPr lang="en-US" altLang="en-US" sz="1400" b="1" dirty="0"/>
              <a:t>Includes data migration and required integrations</a:t>
            </a:r>
          </a:p>
        </p:txBody>
      </p:sp>
      <p:sp>
        <p:nvSpPr>
          <p:cNvPr id="6" name="Rounded Rectangle 5"/>
          <p:cNvSpPr/>
          <p:nvPr/>
        </p:nvSpPr>
        <p:spPr>
          <a:xfrm>
            <a:off x="4348480" y="1592580"/>
            <a:ext cx="3209925" cy="4396741"/>
          </a:xfrm>
          <a:prstGeom prst="roundRect">
            <a:avLst/>
          </a:prstGeom>
          <a:solidFill>
            <a:srgbClr val="0E616D"/>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CargosSoft</a:t>
            </a:r>
          </a:p>
          <a:p>
            <a:pPr algn="ctr"/>
            <a:endParaRPr lang="en-US" sz="1600" b="1" dirty="0"/>
          </a:p>
          <a:p>
            <a:pPr marL="171450" indent="-171450" algn="l">
              <a:buFont typeface="Arial" panose="020B0604020202020204" pitchFamily="34" charset="0"/>
              <a:buChar char="•"/>
            </a:pPr>
            <a:r>
              <a:rPr lang="en-US" altLang="en-US" sz="1600" b="1" dirty="0"/>
              <a:t>Our CargosSoft currently in the final deployment stage</a:t>
            </a:r>
          </a:p>
          <a:p>
            <a:pPr marL="171450" indent="-171450" algn="l">
              <a:buFont typeface="Arial" panose="020B0604020202020204" pitchFamily="34" charset="0"/>
              <a:buChar char="•"/>
            </a:pPr>
            <a:endParaRPr lang="en-US" altLang="en-US" sz="1600" b="1" dirty="0"/>
          </a:p>
          <a:p>
            <a:pPr marL="171450" indent="-171450" algn="l">
              <a:buFont typeface="Arial" panose="020B0604020202020204" pitchFamily="34" charset="0"/>
              <a:buChar char="•"/>
            </a:pPr>
            <a:r>
              <a:rPr lang="en-US" altLang="en-US" sz="1600" b="1" dirty="0"/>
              <a:t>Free of cost for the first 3 months from agreement signing</a:t>
            </a:r>
          </a:p>
          <a:p>
            <a:pPr marL="171450" indent="-171450" algn="l">
              <a:buFont typeface="Arial" panose="020B0604020202020204" pitchFamily="34" charset="0"/>
              <a:buChar char="•"/>
            </a:pPr>
            <a:endParaRPr lang="en-US" altLang="en-US" sz="1600" b="1" dirty="0"/>
          </a:p>
          <a:p>
            <a:pPr marL="171450" indent="-171450">
              <a:buFont typeface="Arial" panose="020B0604020202020204" pitchFamily="34" charset="0"/>
              <a:buChar char="•"/>
            </a:pPr>
            <a:r>
              <a:rPr lang="en-US" sz="1600" b="1" dirty="0"/>
              <a:t>For the next 3 months, while the CargosSoft pricing is being finalized, only container tracking charges will be applicable</a:t>
            </a:r>
            <a:r>
              <a:rPr lang="en-US" sz="1600" dirty="0"/>
              <a:t>.</a:t>
            </a:r>
            <a:endParaRPr lang="en-US" altLang="en-US" sz="1600" b="1" dirty="0"/>
          </a:p>
        </p:txBody>
      </p:sp>
      <p:sp>
        <p:nvSpPr>
          <p:cNvPr id="7" name="object 18" descr="Beige rectangle">
            <a:extLst>
              <a:ext uri="{FF2B5EF4-FFF2-40B4-BE49-F238E27FC236}">
                <a16:creationId xmlns:a16="http://schemas.microsoft.com/office/drawing/2014/main" id="{32BFC6A8-D3DF-11EC-26E8-110370EB96D0}"/>
              </a:ext>
            </a:extLst>
          </p:cNvPr>
          <p:cNvSpPr/>
          <p:nvPr/>
        </p:nvSpPr>
        <p:spPr>
          <a:xfrm>
            <a:off x="946438" y="868679"/>
            <a:ext cx="3686522"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711"/>
            <a:ext cx="10515600" cy="1166863"/>
          </a:xfrm>
        </p:spPr>
        <p:txBody>
          <a:bodyPr/>
          <a:lstStyle/>
          <a:p>
            <a:r>
              <a:rPr lang="en-US" dirty="0">
                <a:latin typeface="+mn-lt"/>
              </a:rPr>
              <a:t>Timeline &amp; Deliverance </a:t>
            </a:r>
          </a:p>
        </p:txBody>
      </p:sp>
      <p:sp>
        <p:nvSpPr>
          <p:cNvPr id="3" name="Slide Number Placeholder 2"/>
          <p:cNvSpPr>
            <a:spLocks noGrp="1"/>
          </p:cNvSpPr>
          <p:nvPr>
            <p:ph type="sldNum" sz="quarter" idx="12"/>
          </p:nvPr>
        </p:nvSpPr>
        <p:spPr>
          <a:xfrm>
            <a:off x="11517786" y="6176709"/>
            <a:ext cx="357116" cy="365125"/>
          </a:xfrm>
        </p:spPr>
        <p:txBody>
          <a:bodyPr/>
          <a:lstStyle/>
          <a:p>
            <a:pPr algn="ctr"/>
            <a:fld id="{82EE24B5-652C-4DB5-B7C3-B5BBEC1280B1}" type="slidenum">
              <a:rPr lang="en-US" smtClean="0"/>
              <a:t>8</a:t>
            </a:fld>
            <a:endParaRPr lang="en-US" dirty="0"/>
          </a:p>
        </p:txBody>
      </p:sp>
      <p:sp>
        <p:nvSpPr>
          <p:cNvPr id="6" name="object 18" descr="Beige rectangle"/>
          <p:cNvSpPr/>
          <p:nvPr/>
        </p:nvSpPr>
        <p:spPr>
          <a:xfrm>
            <a:off x="976918" y="741760"/>
            <a:ext cx="4283240" cy="74204"/>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512596935"/>
              </p:ext>
            </p:extLst>
          </p:nvPr>
        </p:nvGraphicFramePr>
        <p:xfrm>
          <a:off x="976918" y="1275760"/>
          <a:ext cx="9700182" cy="3141971"/>
        </p:xfrm>
        <a:graphic>
          <a:graphicData uri="http://schemas.openxmlformats.org/drawingml/2006/table">
            <a:tbl>
              <a:tblPr firstRow="1" bandRow="1">
                <a:tableStyleId>{21E4AEA4-8DFA-4A89-87EB-49C32662AFE0}</a:tableStyleId>
              </a:tblPr>
              <a:tblGrid>
                <a:gridCol w="811777">
                  <a:extLst>
                    <a:ext uri="{9D8B030D-6E8A-4147-A177-3AD203B41FA5}">
                      <a16:colId xmlns:a16="http://schemas.microsoft.com/office/drawing/2014/main" val="20000"/>
                    </a:ext>
                  </a:extLst>
                </a:gridCol>
                <a:gridCol w="6305460">
                  <a:extLst>
                    <a:ext uri="{9D8B030D-6E8A-4147-A177-3AD203B41FA5}">
                      <a16:colId xmlns:a16="http://schemas.microsoft.com/office/drawing/2014/main" val="20001"/>
                    </a:ext>
                  </a:extLst>
                </a:gridCol>
                <a:gridCol w="2582945">
                  <a:extLst>
                    <a:ext uri="{9D8B030D-6E8A-4147-A177-3AD203B41FA5}">
                      <a16:colId xmlns:a16="http://schemas.microsoft.com/office/drawing/2014/main" val="20002"/>
                    </a:ext>
                  </a:extLst>
                </a:gridCol>
              </a:tblGrid>
              <a:tr h="443625">
                <a:tc>
                  <a:txBody>
                    <a:bodyPr/>
                    <a:lstStyle/>
                    <a:p>
                      <a:pPr algn="l"/>
                      <a:r>
                        <a:rPr lang="en-IN" sz="1400" dirty="0"/>
                        <a:t>S.No</a:t>
                      </a:r>
                    </a:p>
                  </a:txBody>
                  <a:tcPr/>
                </a:tc>
                <a:tc>
                  <a:txBody>
                    <a:bodyPr/>
                    <a:lstStyle/>
                    <a:p>
                      <a:pPr algn="l"/>
                      <a:r>
                        <a:rPr lang="en-US" sz="1400" b="1" dirty="0">
                          <a:solidFill>
                            <a:schemeClr val="bg1"/>
                          </a:solidFill>
                          <a:latin typeface="+mn-lt"/>
                          <a:cs typeface="Arial" panose="020B0604020202020204"/>
                        </a:rPr>
                        <a:t>Description</a:t>
                      </a:r>
                      <a:endParaRPr lang="en-IN" sz="1400" dirty="0">
                        <a:solidFill>
                          <a:schemeClr val="bg1"/>
                        </a:solidFill>
                      </a:endParaRPr>
                    </a:p>
                  </a:txBody>
                  <a:tcPr/>
                </a:tc>
                <a:tc>
                  <a:txBody>
                    <a:bodyPr/>
                    <a:lstStyle/>
                    <a:p>
                      <a:pPr algn="l"/>
                      <a:r>
                        <a:rPr lang="en-IN" sz="1400" dirty="0"/>
                        <a:t>No of Days</a:t>
                      </a:r>
                    </a:p>
                  </a:txBody>
                  <a:tcPr/>
                </a:tc>
                <a:extLst>
                  <a:ext uri="{0D108BD9-81ED-4DB2-BD59-A6C34878D82A}">
                    <a16:rowId xmlns:a16="http://schemas.microsoft.com/office/drawing/2014/main" val="10000"/>
                  </a:ext>
                </a:extLst>
              </a:tr>
              <a:tr h="385478">
                <a:tc>
                  <a:txBody>
                    <a:bodyPr/>
                    <a:lstStyle/>
                    <a:p>
                      <a:pPr algn="ctr"/>
                      <a:r>
                        <a:rPr lang="en-IN" sz="1400" dirty="0">
                          <a:solidFill>
                            <a:schemeClr val="tx1"/>
                          </a:solidFill>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b="0" dirty="0">
                          <a:solidFill>
                            <a:schemeClr val="tx1"/>
                          </a:solidFill>
                          <a:latin typeface="+mn-lt"/>
                          <a:cs typeface="Arial" panose="020B0604020202020204"/>
                        </a:rPr>
                        <a:t>Implementation</a:t>
                      </a:r>
                    </a:p>
                  </a:txBody>
                  <a:tcPr anchor="ctr"/>
                </a:tc>
                <a:tc>
                  <a:txBody>
                    <a:bodyPr/>
                    <a:lstStyle/>
                    <a:p>
                      <a:pPr algn="l"/>
                      <a:r>
                        <a:rPr lang="en-US" sz="1400" dirty="0">
                          <a:solidFill>
                            <a:schemeClr val="tx1"/>
                          </a:solidFill>
                        </a:rPr>
                        <a:t>05 Days</a:t>
                      </a:r>
                      <a:endParaRPr lang="en-IN" sz="1400" dirty="0">
                        <a:solidFill>
                          <a:schemeClr val="tx1"/>
                        </a:solidFill>
                      </a:endParaRPr>
                    </a:p>
                  </a:txBody>
                  <a:tcPr anchor="ctr"/>
                </a:tc>
                <a:extLst>
                  <a:ext uri="{0D108BD9-81ED-4DB2-BD59-A6C34878D82A}">
                    <a16:rowId xmlns:a16="http://schemas.microsoft.com/office/drawing/2014/main" val="10001"/>
                  </a:ext>
                </a:extLst>
              </a:tr>
              <a:tr h="385478">
                <a:tc>
                  <a:txBody>
                    <a:bodyPr/>
                    <a:lstStyle/>
                    <a:p>
                      <a:pPr algn="ctr"/>
                      <a:r>
                        <a:rPr lang="en-IN" sz="1400" dirty="0">
                          <a:solidFill>
                            <a:schemeClr val="tx1"/>
                          </a:solidFill>
                        </a:rPr>
                        <a:t>2</a:t>
                      </a:r>
                    </a:p>
                  </a:txBody>
                  <a:tcPr anchor="ctr"/>
                </a:tc>
                <a:tc>
                  <a:txBody>
                    <a:bodyPr/>
                    <a:lstStyle/>
                    <a:p>
                      <a:pPr algn="l"/>
                      <a:r>
                        <a:rPr lang="en-IN" sz="1400" b="0" i="0" kern="1200" dirty="0">
                          <a:solidFill>
                            <a:schemeClr val="dk1"/>
                          </a:solidFill>
                          <a:effectLst/>
                          <a:latin typeface="+mn-lt"/>
                          <a:ea typeface="+mn-ea"/>
                          <a:cs typeface="+mn-cs"/>
                        </a:rPr>
                        <a:t>Data Migration &amp; Integration</a:t>
                      </a:r>
                      <a:endParaRPr lang="en-IN" sz="1400" b="0" dirty="0">
                        <a:solidFill>
                          <a:schemeClr val="tx1"/>
                        </a:solidFill>
                        <a:latin typeface="+mn-lt"/>
                      </a:endParaRPr>
                    </a:p>
                  </a:txBody>
                  <a:tcPr anchor="ctr"/>
                </a:tc>
                <a:tc>
                  <a:txBody>
                    <a:bodyPr/>
                    <a:lstStyle/>
                    <a:p>
                      <a:pPr algn="l"/>
                      <a:r>
                        <a:rPr lang="en-US" sz="1400" dirty="0">
                          <a:solidFill>
                            <a:schemeClr val="tx1"/>
                          </a:solidFill>
                        </a:rPr>
                        <a:t>15 Days</a:t>
                      </a:r>
                      <a:endParaRPr lang="en-IN" sz="1400" dirty="0">
                        <a:solidFill>
                          <a:schemeClr val="tx1"/>
                        </a:solidFill>
                      </a:endParaRPr>
                    </a:p>
                  </a:txBody>
                  <a:tcPr anchor="ctr"/>
                </a:tc>
                <a:extLst>
                  <a:ext uri="{0D108BD9-81ED-4DB2-BD59-A6C34878D82A}">
                    <a16:rowId xmlns:a16="http://schemas.microsoft.com/office/drawing/2014/main" val="10002"/>
                  </a:ext>
                </a:extLst>
              </a:tr>
              <a:tr h="385478">
                <a:tc>
                  <a:txBody>
                    <a:bodyPr/>
                    <a:lstStyle/>
                    <a:p>
                      <a:pPr algn="ctr"/>
                      <a:r>
                        <a:rPr lang="en-IN" sz="1400" dirty="0">
                          <a:solidFill>
                            <a:schemeClr val="tx1"/>
                          </a:solidFill>
                        </a:rPr>
                        <a:t>3</a:t>
                      </a:r>
                    </a:p>
                  </a:txBody>
                  <a:tcPr anchor="ctr"/>
                </a:tc>
                <a:tc>
                  <a:txBody>
                    <a:bodyPr/>
                    <a:lstStyle/>
                    <a:p>
                      <a:pPr algn="l"/>
                      <a:r>
                        <a:rPr lang="en-US" sz="1400" b="0" i="0" kern="1200" dirty="0">
                          <a:solidFill>
                            <a:schemeClr val="dk1"/>
                          </a:solidFill>
                          <a:effectLst/>
                          <a:latin typeface="+mn-lt"/>
                          <a:ea typeface="+mn-ea"/>
                          <a:cs typeface="+mn-cs"/>
                        </a:rPr>
                        <a:t>Test plans and UAT sign-off</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mn-lt"/>
                          <a:ea typeface="+mn-ea"/>
                          <a:cs typeface="+mn-cs"/>
                        </a:rPr>
                        <a:t>05 Days</a:t>
                      </a:r>
                    </a:p>
                  </a:txBody>
                  <a:tcPr anchor="ctr"/>
                </a:tc>
                <a:extLst>
                  <a:ext uri="{0D108BD9-81ED-4DB2-BD59-A6C34878D82A}">
                    <a16:rowId xmlns:a16="http://schemas.microsoft.com/office/drawing/2014/main" val="4183784499"/>
                  </a:ext>
                </a:extLst>
              </a:tr>
              <a:tr h="385478">
                <a:tc>
                  <a:txBody>
                    <a:bodyPr/>
                    <a:lstStyle/>
                    <a:p>
                      <a:pPr algn="ctr"/>
                      <a:r>
                        <a:rPr lang="en-IN" sz="1400" dirty="0">
                          <a:solidFill>
                            <a:schemeClr val="tx1"/>
                          </a:solidFill>
                        </a:rPr>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b="0" i="0" kern="1200" dirty="0">
                          <a:solidFill>
                            <a:schemeClr val="dk1"/>
                          </a:solidFill>
                          <a:effectLst/>
                          <a:latin typeface="+mn-lt"/>
                          <a:ea typeface="+mn-ea"/>
                          <a:cs typeface="+mn-cs"/>
                        </a:rPr>
                        <a:t>Testing &amp; Training</a:t>
                      </a:r>
                      <a:endParaRPr lang="en-US" sz="1400" b="0" dirty="0">
                        <a:solidFill>
                          <a:schemeClr val="tx1"/>
                        </a:solidFill>
                        <a:latin typeface="+mn-lt"/>
                        <a:cs typeface="Arial" panose="020B0604020202020204"/>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
                          <a:ea typeface="+mn-ea"/>
                          <a:cs typeface="+mn-cs"/>
                        </a:rPr>
                        <a:t>05 Days</a:t>
                      </a:r>
                    </a:p>
                  </a:txBody>
                  <a:tcPr anchor="ctr"/>
                </a:tc>
                <a:extLst>
                  <a:ext uri="{0D108BD9-81ED-4DB2-BD59-A6C34878D82A}">
                    <a16:rowId xmlns:a16="http://schemas.microsoft.com/office/drawing/2014/main" val="2316738754"/>
                  </a:ext>
                </a:extLst>
              </a:tr>
              <a:tr h="385478">
                <a:tc>
                  <a:txBody>
                    <a:bodyPr/>
                    <a:lstStyle/>
                    <a:p>
                      <a:pPr algn="ctr"/>
                      <a:r>
                        <a:rPr lang="en-IN" sz="1400" dirty="0"/>
                        <a:t>5</a:t>
                      </a:r>
                    </a:p>
                  </a:txBody>
                  <a:tcPr anchor="ctr"/>
                </a:tc>
                <a:tc>
                  <a:txBody>
                    <a:bodyPr/>
                    <a:lstStyle/>
                    <a:p>
                      <a:pPr algn="l"/>
                      <a:r>
                        <a:rPr lang="en-US" sz="1400" b="0" i="0" kern="1200" dirty="0">
                          <a:solidFill>
                            <a:schemeClr val="dk1"/>
                          </a:solidFill>
                          <a:effectLst/>
                          <a:latin typeface="+mn-lt"/>
                          <a:ea typeface="+mn-ea"/>
                          <a:cs typeface="+mn-cs"/>
                        </a:rPr>
                        <a:t>Training materials and user guides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
                          <a:ea typeface="+mn-ea"/>
                          <a:cs typeface="+mn-cs"/>
                        </a:rPr>
                        <a:t>05 Days</a:t>
                      </a:r>
                    </a:p>
                  </a:txBody>
                  <a:tcPr anchor="ctr"/>
                </a:tc>
                <a:extLst>
                  <a:ext uri="{0D108BD9-81ED-4DB2-BD59-A6C34878D82A}">
                    <a16:rowId xmlns:a16="http://schemas.microsoft.com/office/drawing/2014/main" val="10003"/>
                  </a:ext>
                </a:extLst>
              </a:tr>
              <a:tr h="385478">
                <a:tc>
                  <a:txBody>
                    <a:bodyPr/>
                    <a:lstStyle/>
                    <a:p>
                      <a:pPr algn="ctr"/>
                      <a:r>
                        <a:rPr lang="en-IN" sz="1400" dirty="0">
                          <a:solidFill>
                            <a:schemeClr val="tx1"/>
                          </a:solidFill>
                        </a:rPr>
                        <a:t>6</a:t>
                      </a:r>
                    </a:p>
                  </a:txBody>
                  <a:tcPr anchor="ctr"/>
                </a:tc>
                <a:tc>
                  <a:txBody>
                    <a:bodyPr/>
                    <a:lstStyle/>
                    <a:p>
                      <a:pPr algn="l"/>
                      <a:r>
                        <a:rPr lang="en-IN" sz="1400" b="0" i="0" kern="1200" dirty="0">
                          <a:solidFill>
                            <a:schemeClr val="dk1"/>
                          </a:solidFill>
                          <a:effectLst/>
                          <a:latin typeface="+mn-lt"/>
                          <a:ea typeface="+mn-ea"/>
                          <a:cs typeface="+mn-cs"/>
                        </a:rPr>
                        <a:t>Go-Live &amp; Hypercare</a:t>
                      </a:r>
                      <a:endParaRPr lang="en-IN" sz="1400" b="0"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
                          <a:ea typeface="+mn-ea"/>
                          <a:cs typeface="+mn-cs"/>
                        </a:rPr>
                        <a:t>10 Days</a:t>
                      </a:r>
                    </a:p>
                  </a:txBody>
                  <a:tcPr anchor="ctr"/>
                </a:tc>
                <a:extLst>
                  <a:ext uri="{0D108BD9-81ED-4DB2-BD59-A6C34878D82A}">
                    <a16:rowId xmlns:a16="http://schemas.microsoft.com/office/drawing/2014/main" val="10004"/>
                  </a:ext>
                </a:extLst>
              </a:tr>
              <a:tr h="385478">
                <a:tc>
                  <a:txBody>
                    <a:bodyPr/>
                    <a:lstStyle/>
                    <a:p>
                      <a:pPr algn="l"/>
                      <a:endParaRPr lang="en-IN" sz="14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solidFill>
                            <a:schemeClr val="tx1"/>
                          </a:solidFill>
                        </a:rPr>
                        <a:t>Total No of Days</a:t>
                      </a:r>
                    </a:p>
                  </a:txBody>
                  <a:tcPr anchor="ctr"/>
                </a:tc>
                <a:tc>
                  <a:txBody>
                    <a:bodyPr/>
                    <a:lstStyle/>
                    <a:p>
                      <a:pPr algn="l"/>
                      <a:r>
                        <a:rPr lang="en-US" sz="1400" b="1" dirty="0">
                          <a:solidFill>
                            <a:schemeClr val="tx1"/>
                          </a:solidFill>
                        </a:rPr>
                        <a:t>45 Days</a:t>
                      </a:r>
                      <a:endParaRPr lang="en-IN" sz="1400" b="1" dirty="0">
                        <a:solidFill>
                          <a:schemeClr val="tx1"/>
                        </a:solidFill>
                      </a:endParaRPr>
                    </a:p>
                  </a:txBody>
                  <a:tcPr anchor="ctr"/>
                </a:tc>
                <a:extLst>
                  <a:ext uri="{0D108BD9-81ED-4DB2-BD59-A6C34878D82A}">
                    <a16:rowId xmlns:a16="http://schemas.microsoft.com/office/drawing/2014/main" val="10018"/>
                  </a:ext>
                </a:extLst>
              </a:tr>
            </a:tbl>
          </a:graphicData>
        </a:graphic>
      </p:graphicFrame>
      <p:sp>
        <p:nvSpPr>
          <p:cNvPr id="4" name="TextBox 3">
            <a:extLst>
              <a:ext uri="{FF2B5EF4-FFF2-40B4-BE49-F238E27FC236}">
                <a16:creationId xmlns:a16="http://schemas.microsoft.com/office/drawing/2014/main" id="{FCAFC26C-8D7A-8A30-1ED9-950DE0705810}"/>
              </a:ext>
            </a:extLst>
          </p:cNvPr>
          <p:cNvSpPr txBox="1"/>
          <p:nvPr/>
        </p:nvSpPr>
        <p:spPr>
          <a:xfrm>
            <a:off x="920037" y="4573339"/>
            <a:ext cx="5568995" cy="307777"/>
          </a:xfrm>
          <a:prstGeom prst="rect">
            <a:avLst/>
          </a:prstGeom>
          <a:noFill/>
        </p:spPr>
        <p:txBody>
          <a:bodyPr wrap="square" rtlCol="0">
            <a:spAutoFit/>
          </a:bodyPr>
          <a:lstStyle/>
          <a:p>
            <a:r>
              <a:rPr lang="en-IN" sz="1400" b="1" dirty="0"/>
              <a:t>Note : 90 days free support and integration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9F5E8-196C-7DBD-A953-5E46047C5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4A4A2-C3F6-0C61-05DF-968459C9482C}"/>
              </a:ext>
            </a:extLst>
          </p:cNvPr>
          <p:cNvSpPr>
            <a:spLocks noGrp="1"/>
          </p:cNvSpPr>
          <p:nvPr>
            <p:ph type="title"/>
          </p:nvPr>
        </p:nvSpPr>
        <p:spPr>
          <a:xfrm>
            <a:off x="550197" y="0"/>
            <a:ext cx="10515600" cy="1166863"/>
          </a:xfrm>
        </p:spPr>
        <p:txBody>
          <a:bodyPr/>
          <a:lstStyle/>
          <a:p>
            <a:r>
              <a:rPr lang="en-US" dirty="0">
                <a:latin typeface="+mn-lt"/>
              </a:rPr>
              <a:t>Commercials</a:t>
            </a:r>
          </a:p>
        </p:txBody>
      </p:sp>
      <p:sp>
        <p:nvSpPr>
          <p:cNvPr id="3" name="Slide Number Placeholder 2">
            <a:extLst>
              <a:ext uri="{FF2B5EF4-FFF2-40B4-BE49-F238E27FC236}">
                <a16:creationId xmlns:a16="http://schemas.microsoft.com/office/drawing/2014/main" id="{61B613C2-3B01-DB52-4AE2-74B28A9D7E49}"/>
              </a:ext>
            </a:extLst>
          </p:cNvPr>
          <p:cNvSpPr>
            <a:spLocks noGrp="1"/>
          </p:cNvSpPr>
          <p:nvPr>
            <p:ph type="sldNum" sz="quarter" idx="12"/>
          </p:nvPr>
        </p:nvSpPr>
        <p:spPr>
          <a:xfrm>
            <a:off x="11517786" y="6169089"/>
            <a:ext cx="357116" cy="365125"/>
          </a:xfrm>
        </p:spPr>
        <p:txBody>
          <a:bodyPr/>
          <a:lstStyle/>
          <a:p>
            <a:pPr algn="ctr"/>
            <a:fld id="{82EE24B5-652C-4DB5-B7C3-B5BBEC1280B1}" type="slidenum">
              <a:rPr lang="en-US" smtClean="0"/>
              <a:t>9</a:t>
            </a:fld>
            <a:endParaRPr lang="en-US" dirty="0"/>
          </a:p>
        </p:txBody>
      </p:sp>
      <p:sp>
        <p:nvSpPr>
          <p:cNvPr id="6" name="object 18" descr="Beige rectangle">
            <a:extLst>
              <a:ext uri="{FF2B5EF4-FFF2-40B4-BE49-F238E27FC236}">
                <a16:creationId xmlns:a16="http://schemas.microsoft.com/office/drawing/2014/main" id="{79B955F9-5701-AB30-3B15-7C8700767D05}"/>
              </a:ext>
            </a:extLst>
          </p:cNvPr>
          <p:cNvSpPr/>
          <p:nvPr/>
        </p:nvSpPr>
        <p:spPr>
          <a:xfrm>
            <a:off x="702598" y="800100"/>
            <a:ext cx="2480156" cy="53964"/>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graphicFrame>
        <p:nvGraphicFramePr>
          <p:cNvPr id="5" name="Table 4">
            <a:extLst>
              <a:ext uri="{FF2B5EF4-FFF2-40B4-BE49-F238E27FC236}">
                <a16:creationId xmlns:a16="http://schemas.microsoft.com/office/drawing/2014/main" id="{C98359BC-4455-59BF-F0A4-7481BF457237}"/>
              </a:ext>
            </a:extLst>
          </p:cNvPr>
          <p:cNvGraphicFramePr>
            <a:graphicFrameLocks noGrp="1"/>
          </p:cNvGraphicFramePr>
          <p:nvPr>
            <p:extLst>
              <p:ext uri="{D42A27DB-BD31-4B8C-83A1-F6EECF244321}">
                <p14:modId xmlns:p14="http://schemas.microsoft.com/office/powerpoint/2010/main" val="2765151509"/>
              </p:ext>
            </p:extLst>
          </p:nvPr>
        </p:nvGraphicFramePr>
        <p:xfrm>
          <a:off x="550197" y="1275759"/>
          <a:ext cx="10895043" cy="2729018"/>
        </p:xfrm>
        <a:graphic>
          <a:graphicData uri="http://schemas.openxmlformats.org/drawingml/2006/table">
            <a:tbl>
              <a:tblPr firstRow="1" bandRow="1">
                <a:tableStyleId>{21E4AEA4-8DFA-4A89-87EB-49C32662AFE0}</a:tableStyleId>
              </a:tblPr>
              <a:tblGrid>
                <a:gridCol w="861133">
                  <a:extLst>
                    <a:ext uri="{9D8B030D-6E8A-4147-A177-3AD203B41FA5}">
                      <a16:colId xmlns:a16="http://schemas.microsoft.com/office/drawing/2014/main" val="20000"/>
                    </a:ext>
                  </a:extLst>
                </a:gridCol>
                <a:gridCol w="7051512">
                  <a:extLst>
                    <a:ext uri="{9D8B030D-6E8A-4147-A177-3AD203B41FA5}">
                      <a16:colId xmlns:a16="http://schemas.microsoft.com/office/drawing/2014/main" val="20001"/>
                    </a:ext>
                  </a:extLst>
                </a:gridCol>
                <a:gridCol w="1354440">
                  <a:extLst>
                    <a:ext uri="{9D8B030D-6E8A-4147-A177-3AD203B41FA5}">
                      <a16:colId xmlns:a16="http://schemas.microsoft.com/office/drawing/2014/main" val="20002"/>
                    </a:ext>
                  </a:extLst>
                </a:gridCol>
                <a:gridCol w="1627958">
                  <a:extLst>
                    <a:ext uri="{9D8B030D-6E8A-4147-A177-3AD203B41FA5}">
                      <a16:colId xmlns:a16="http://schemas.microsoft.com/office/drawing/2014/main" val="1747682083"/>
                    </a:ext>
                  </a:extLst>
                </a:gridCol>
              </a:tblGrid>
              <a:tr h="384599">
                <a:tc>
                  <a:txBody>
                    <a:bodyPr/>
                    <a:lstStyle/>
                    <a:p>
                      <a:pPr algn="l"/>
                      <a:r>
                        <a:rPr lang="en-IN" sz="1400" dirty="0"/>
                        <a:t>S.No</a:t>
                      </a:r>
                    </a:p>
                  </a:txBody>
                  <a:tcPr/>
                </a:tc>
                <a:tc>
                  <a:txBody>
                    <a:bodyPr/>
                    <a:lstStyle/>
                    <a:p>
                      <a:pPr algn="l"/>
                      <a:r>
                        <a:rPr lang="en-US" sz="1400" b="1" dirty="0">
                          <a:solidFill>
                            <a:schemeClr val="bg1"/>
                          </a:solidFill>
                          <a:latin typeface="+mn-lt"/>
                          <a:cs typeface="Arial" panose="020B0604020202020204"/>
                        </a:rPr>
                        <a:t>Description</a:t>
                      </a:r>
                      <a:endParaRPr lang="en-IN" sz="1400" dirty="0">
                        <a:solidFill>
                          <a:schemeClr val="bg1"/>
                        </a:solidFill>
                      </a:endParaRPr>
                    </a:p>
                  </a:txBody>
                  <a:tcPr/>
                </a:tc>
                <a:tc>
                  <a:txBody>
                    <a:bodyPr/>
                    <a:lstStyle/>
                    <a:p>
                      <a:pPr algn="l"/>
                      <a:r>
                        <a:rPr lang="en-IN" sz="1400" dirty="0"/>
                        <a:t>Monthly Cost</a:t>
                      </a:r>
                    </a:p>
                  </a:txBody>
                  <a:tcPr/>
                </a:tc>
                <a:tc>
                  <a:txBody>
                    <a:bodyPr/>
                    <a:lstStyle/>
                    <a:p>
                      <a:pPr algn="l"/>
                      <a:r>
                        <a:rPr lang="en-US" sz="1400" dirty="0"/>
                        <a:t>One time Cost</a:t>
                      </a:r>
                      <a:endParaRPr lang="en-IN" sz="1400" dirty="0"/>
                    </a:p>
                  </a:txBody>
                  <a:tcPr/>
                </a:tc>
                <a:extLst>
                  <a:ext uri="{0D108BD9-81ED-4DB2-BD59-A6C34878D82A}">
                    <a16:rowId xmlns:a16="http://schemas.microsoft.com/office/drawing/2014/main" val="10000"/>
                  </a:ext>
                </a:extLst>
              </a:tr>
              <a:tr h="576818">
                <a:tc>
                  <a:txBody>
                    <a:bodyPr/>
                    <a:lstStyle/>
                    <a:p>
                      <a:pPr algn="ctr"/>
                      <a:r>
                        <a:rPr lang="en-IN" sz="1400" dirty="0">
                          <a:solidFill>
                            <a:schemeClr val="tx1"/>
                          </a:solidFill>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b="0" dirty="0">
                          <a:solidFill>
                            <a:schemeClr val="tx1"/>
                          </a:solidFill>
                          <a:latin typeface="+mn-lt"/>
                          <a:cs typeface="Arial" panose="020B0604020202020204"/>
                        </a:rPr>
                        <a:t>One Time Implementation Cost</a:t>
                      </a:r>
                    </a:p>
                  </a:txBody>
                  <a:tcPr anchor="ctr"/>
                </a:tc>
                <a:tc>
                  <a:txBody>
                    <a:bodyPr/>
                    <a:lstStyle/>
                    <a:p>
                      <a:pPr algn="ctr"/>
                      <a:r>
                        <a:rPr lang="en-US" sz="1400" dirty="0">
                          <a:solidFill>
                            <a:schemeClr val="tx1"/>
                          </a:solidFill>
                        </a:rPr>
                        <a:t>- </a:t>
                      </a:r>
                      <a:endParaRPr lang="en-IN" sz="1400" dirty="0">
                        <a:solidFill>
                          <a:schemeClr val="tx1"/>
                        </a:solidFill>
                      </a:endParaRPr>
                    </a:p>
                  </a:txBody>
                  <a:tcPr anchor="ctr"/>
                </a:tc>
                <a:tc>
                  <a:txBody>
                    <a:bodyPr/>
                    <a:lstStyle/>
                    <a:p>
                      <a:pPr algn="ctr"/>
                      <a:r>
                        <a:rPr lang="en-US" sz="1400" dirty="0">
                          <a:solidFill>
                            <a:schemeClr val="tx1"/>
                          </a:solidFill>
                        </a:rPr>
                        <a:t>$ 1500</a:t>
                      </a:r>
                      <a:endParaRPr lang="en-IN" sz="1400" dirty="0">
                        <a:solidFill>
                          <a:schemeClr val="tx1"/>
                        </a:solidFill>
                      </a:endParaRPr>
                    </a:p>
                  </a:txBody>
                  <a:tcPr anchor="ctr"/>
                </a:tc>
                <a:extLst>
                  <a:ext uri="{0D108BD9-81ED-4DB2-BD59-A6C34878D82A}">
                    <a16:rowId xmlns:a16="http://schemas.microsoft.com/office/drawing/2014/main" val="10001"/>
                  </a:ext>
                </a:extLst>
              </a:tr>
              <a:tr h="576818">
                <a:tc>
                  <a:txBody>
                    <a:bodyPr/>
                    <a:lstStyle/>
                    <a:p>
                      <a:pPr algn="ctr"/>
                      <a:r>
                        <a:rPr lang="en-IN" sz="1400" dirty="0">
                          <a:solidFill>
                            <a:schemeClr val="tx1"/>
                          </a:solidFill>
                        </a:rPr>
                        <a:t>2</a:t>
                      </a:r>
                    </a:p>
                  </a:txBody>
                  <a:tcPr anchor="ctr"/>
                </a:tc>
                <a:tc>
                  <a:txBody>
                    <a:bodyPr/>
                    <a:lstStyle/>
                    <a:p>
                      <a:pPr algn="l"/>
                      <a:r>
                        <a:rPr lang="en-IN" sz="1400" b="0" i="0" kern="1200" dirty="0">
                          <a:solidFill>
                            <a:schemeClr val="dk1"/>
                          </a:solidFill>
                          <a:effectLst/>
                          <a:latin typeface="+mn-lt"/>
                          <a:ea typeface="+mn-ea"/>
                          <a:cs typeface="+mn-cs"/>
                        </a:rPr>
                        <a:t>Per Container Cost $5 x 300 per container Approx</a:t>
                      </a:r>
                      <a:endParaRPr lang="en-IN" sz="1400" b="0" dirty="0">
                        <a:solidFill>
                          <a:schemeClr val="tx1"/>
                        </a:solidFill>
                        <a:latin typeface="+mn-lt"/>
                      </a:endParaRPr>
                    </a:p>
                  </a:txBody>
                  <a:tcPr anchor="ctr"/>
                </a:tc>
                <a:tc>
                  <a:txBody>
                    <a:bodyPr/>
                    <a:lstStyle/>
                    <a:p>
                      <a:pPr algn="ctr"/>
                      <a:r>
                        <a:rPr lang="en-US" sz="1400" dirty="0">
                          <a:solidFill>
                            <a:schemeClr val="tx1"/>
                          </a:solidFill>
                        </a:rPr>
                        <a:t>$ 1500</a:t>
                      </a:r>
                    </a:p>
                  </a:txBody>
                  <a:tcPr anchor="ctr"/>
                </a:tc>
                <a:tc>
                  <a:txBody>
                    <a:bodyPr/>
                    <a:lstStyle/>
                    <a:p>
                      <a:pPr algn="ctr"/>
                      <a:endParaRPr lang="en-IN" sz="1400" dirty="0">
                        <a:solidFill>
                          <a:schemeClr val="tx1"/>
                        </a:solidFill>
                      </a:endParaRPr>
                    </a:p>
                  </a:txBody>
                  <a:tcPr anchor="ctr"/>
                </a:tc>
                <a:extLst>
                  <a:ext uri="{0D108BD9-81ED-4DB2-BD59-A6C34878D82A}">
                    <a16:rowId xmlns:a16="http://schemas.microsoft.com/office/drawing/2014/main" val="10002"/>
                  </a:ext>
                </a:extLst>
              </a:tr>
              <a:tr h="613965">
                <a:tc>
                  <a:txBody>
                    <a:bodyPr/>
                    <a:lstStyle/>
                    <a:p>
                      <a:pPr algn="ctr"/>
                      <a:r>
                        <a:rPr lang="en-IN" sz="1400" dirty="0">
                          <a:solidFill>
                            <a:schemeClr val="tx1"/>
                          </a:solidFill>
                        </a:rPr>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mn-lt"/>
                          <a:cs typeface="Arial" panose="020B0604020202020204"/>
                        </a:rPr>
                        <a:t>Server Cost </a:t>
                      </a:r>
                    </a:p>
                  </a:txBody>
                  <a:tcPr anchor="ctr"/>
                </a:tc>
                <a:tc>
                  <a:txBody>
                    <a:bodyPr/>
                    <a:lstStyle/>
                    <a:p>
                      <a:pPr algn="ctr"/>
                      <a:r>
                        <a:rPr lang="en-US" sz="1400" dirty="0">
                          <a:solidFill>
                            <a:schemeClr val="tx1"/>
                          </a:solidFill>
                        </a:rPr>
                        <a:t>$ 100</a:t>
                      </a:r>
                      <a:endParaRPr lang="en-IN" sz="1400" dirty="0">
                        <a:solidFill>
                          <a:schemeClr val="tx1"/>
                        </a:solidFill>
                      </a:endParaRPr>
                    </a:p>
                  </a:txBody>
                  <a:tcPr anchor="ctr"/>
                </a:tc>
                <a:tc>
                  <a:txBody>
                    <a:bodyPr/>
                    <a:lstStyle/>
                    <a:p>
                      <a:pPr algn="ctr"/>
                      <a:endParaRPr lang="en-US" sz="1400" dirty="0">
                        <a:solidFill>
                          <a:schemeClr val="tx1"/>
                        </a:solidFill>
                      </a:endParaRPr>
                    </a:p>
                  </a:txBody>
                  <a:tcPr anchor="ctr"/>
                </a:tc>
                <a:extLst>
                  <a:ext uri="{0D108BD9-81ED-4DB2-BD59-A6C34878D82A}">
                    <a16:rowId xmlns:a16="http://schemas.microsoft.com/office/drawing/2014/main" val="10003"/>
                  </a:ext>
                </a:extLst>
              </a:tr>
              <a:tr h="576818">
                <a:tc>
                  <a:txBody>
                    <a:bodyPr/>
                    <a:lstStyle/>
                    <a:p>
                      <a:pPr algn="l"/>
                      <a:endParaRPr lang="en-IN" sz="14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b="1" dirty="0">
                          <a:solidFill>
                            <a:schemeClr val="tx1"/>
                          </a:solidFill>
                        </a:rPr>
                        <a:t>                                                                                                        Total Amount (USD)</a:t>
                      </a:r>
                      <a:endParaRPr lang="en-IN" sz="1400" b="1" dirty="0">
                        <a:solidFill>
                          <a:schemeClr val="tx1"/>
                        </a:solidFill>
                      </a:endParaRPr>
                    </a:p>
                  </a:txBody>
                  <a:tcPr anchor="ctr"/>
                </a:tc>
                <a:tc gridSpan="2">
                  <a:txBody>
                    <a:bodyPr/>
                    <a:lstStyle/>
                    <a:p>
                      <a:pPr algn="ctr"/>
                      <a:r>
                        <a:rPr lang="en-US" sz="1400" b="1" dirty="0">
                          <a:solidFill>
                            <a:schemeClr val="tx1"/>
                          </a:solidFill>
                        </a:rPr>
                        <a:t>$ 3100</a:t>
                      </a:r>
                      <a:endParaRPr lang="en-IN" sz="1400" b="1" dirty="0">
                        <a:solidFill>
                          <a:schemeClr val="tx1"/>
                        </a:solidFill>
                      </a:endParaRPr>
                    </a:p>
                  </a:txBody>
                  <a:tcPr anchor="ctr"/>
                </a:tc>
                <a:tc hMerge="1">
                  <a:txBody>
                    <a:bodyPr/>
                    <a:lstStyle/>
                    <a:p>
                      <a:pPr algn="l"/>
                      <a:endParaRPr lang="en-IN" sz="1400" b="1" dirty="0">
                        <a:solidFill>
                          <a:schemeClr val="tx1"/>
                        </a:solidFill>
                      </a:endParaRPr>
                    </a:p>
                  </a:txBody>
                  <a:tcPr anchor="ctr"/>
                </a:tc>
                <a:extLst>
                  <a:ext uri="{0D108BD9-81ED-4DB2-BD59-A6C34878D82A}">
                    <a16:rowId xmlns:a16="http://schemas.microsoft.com/office/drawing/2014/main" val="10018"/>
                  </a:ext>
                </a:extLst>
              </a:tr>
            </a:tbl>
          </a:graphicData>
        </a:graphic>
      </p:graphicFrame>
      <p:sp>
        <p:nvSpPr>
          <p:cNvPr id="4" name="TextBox 3">
            <a:extLst>
              <a:ext uri="{FF2B5EF4-FFF2-40B4-BE49-F238E27FC236}">
                <a16:creationId xmlns:a16="http://schemas.microsoft.com/office/drawing/2014/main" id="{442B4E89-6816-8364-78F8-4025308A51B0}"/>
              </a:ext>
            </a:extLst>
          </p:cNvPr>
          <p:cNvSpPr txBox="1"/>
          <p:nvPr/>
        </p:nvSpPr>
        <p:spPr>
          <a:xfrm>
            <a:off x="550197" y="4160384"/>
            <a:ext cx="5564583" cy="307777"/>
          </a:xfrm>
          <a:prstGeom prst="rect">
            <a:avLst/>
          </a:prstGeom>
          <a:noFill/>
        </p:spPr>
        <p:txBody>
          <a:bodyPr wrap="square" rtlCol="0">
            <a:spAutoFit/>
          </a:bodyPr>
          <a:lstStyle/>
          <a:p>
            <a:r>
              <a:rPr lang="en-IN" sz="1400" b="1" dirty="0"/>
              <a:t>Note : Commercials will be finalize once client confirmation *</a:t>
            </a:r>
          </a:p>
        </p:txBody>
      </p:sp>
    </p:spTree>
    <p:extLst>
      <p:ext uri="{BB962C8B-B14F-4D97-AF65-F5344CB8AC3E}">
        <p14:creationId xmlns:p14="http://schemas.microsoft.com/office/powerpoint/2010/main" val="2734012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Server Specifications</a:t>
            </a:r>
            <a:br>
              <a:rPr lang="en-US" dirty="0">
                <a:latin typeface="+mn-lt"/>
              </a:rPr>
            </a:br>
            <a:r>
              <a:rPr lang="en-US" dirty="0">
                <a:latin typeface="+mn-lt"/>
              </a:rPr>
              <a:t> </a:t>
            </a:r>
            <a:endParaRPr lang="en-IN" dirty="0">
              <a:latin typeface="+mn-lt"/>
            </a:endParaRPr>
          </a:p>
        </p:txBody>
      </p:sp>
      <p:sp>
        <p:nvSpPr>
          <p:cNvPr id="3" name="Slide Number Placeholder 2"/>
          <p:cNvSpPr>
            <a:spLocks noGrp="1"/>
          </p:cNvSpPr>
          <p:nvPr>
            <p:ph type="sldNum" sz="quarter" idx="12"/>
          </p:nvPr>
        </p:nvSpPr>
        <p:spPr>
          <a:xfrm>
            <a:off x="11487306" y="6176709"/>
            <a:ext cx="357116" cy="365125"/>
          </a:xfrm>
        </p:spPr>
        <p:txBody>
          <a:bodyPr/>
          <a:lstStyle/>
          <a:p>
            <a:fld id="{82EE24B5-652C-4DB5-B7C3-B5BBEC1280B1}" type="slidenum">
              <a:rPr lang="en-US" noProof="0" smtClean="0"/>
              <a:t>10</a:t>
            </a:fld>
            <a:endParaRPr lang="en-US" noProof="0" dirty="0"/>
          </a:p>
        </p:txBody>
      </p:sp>
      <p:sp>
        <p:nvSpPr>
          <p:cNvPr id="4" name="object 18" descr="Beige rectangle"/>
          <p:cNvSpPr/>
          <p:nvPr/>
        </p:nvSpPr>
        <p:spPr>
          <a:xfrm>
            <a:off x="938685" y="1027907"/>
            <a:ext cx="4114082" cy="93884"/>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graphicFrame>
        <p:nvGraphicFramePr>
          <p:cNvPr id="5" name="Content Placeholder 7" descr="Table"/>
          <p:cNvGraphicFramePr/>
          <p:nvPr>
            <p:extLst>
              <p:ext uri="{D42A27DB-BD31-4B8C-83A1-F6EECF244321}">
                <p14:modId xmlns:p14="http://schemas.microsoft.com/office/powerpoint/2010/main" val="2298219962"/>
              </p:ext>
            </p:extLst>
          </p:nvPr>
        </p:nvGraphicFramePr>
        <p:xfrm>
          <a:off x="938685" y="1461156"/>
          <a:ext cx="10324708" cy="3562296"/>
        </p:xfrm>
        <a:graphic>
          <a:graphicData uri="http://schemas.openxmlformats.org/drawingml/2006/table">
            <a:tbl>
              <a:tblPr firstRow="1" bandRow="1">
                <a:tableStyleId>{21E4AEA4-8DFA-4A89-87EB-49C32662AFE0}</a:tableStyleId>
              </a:tblPr>
              <a:tblGrid>
                <a:gridCol w="1329994">
                  <a:extLst>
                    <a:ext uri="{9D8B030D-6E8A-4147-A177-3AD203B41FA5}">
                      <a16:colId xmlns:a16="http://schemas.microsoft.com/office/drawing/2014/main" val="20000"/>
                    </a:ext>
                  </a:extLst>
                </a:gridCol>
                <a:gridCol w="8994714">
                  <a:extLst>
                    <a:ext uri="{9D8B030D-6E8A-4147-A177-3AD203B41FA5}">
                      <a16:colId xmlns:a16="http://schemas.microsoft.com/office/drawing/2014/main" val="20001"/>
                    </a:ext>
                  </a:extLst>
                </a:gridCol>
              </a:tblGrid>
              <a:tr h="339643">
                <a:tc>
                  <a:txBody>
                    <a:bodyPr/>
                    <a:lstStyle/>
                    <a:p>
                      <a:pPr marL="227965" algn="ctr">
                        <a:lnSpc>
                          <a:spcPct val="100000"/>
                        </a:lnSpc>
                        <a:spcBef>
                          <a:spcPts val="785"/>
                        </a:spcBef>
                      </a:pPr>
                      <a:r>
                        <a:rPr lang="en-US" sz="1400" dirty="0"/>
                        <a:t>S.No</a:t>
                      </a:r>
                      <a:endParaRPr sz="1400" dirty="0">
                        <a:solidFill>
                          <a:schemeClr val="bg2">
                            <a:lumMod val="20000"/>
                            <a:lumOff val="80000"/>
                          </a:schemeClr>
                        </a:solidFill>
                        <a:latin typeface="+mn-lt"/>
                        <a:cs typeface="Arial" panose="020B0604020202020204"/>
                      </a:endParaRPr>
                    </a:p>
                  </a:txBody>
                  <a:tcPr marL="0" marR="0" marT="0" marB="0" anchor="ctr"/>
                </a:tc>
                <a:tc>
                  <a:txBody>
                    <a:bodyPr/>
                    <a:lstStyle/>
                    <a:p>
                      <a:pPr marL="350520" algn="ctr">
                        <a:lnSpc>
                          <a:spcPct val="100000"/>
                        </a:lnSpc>
                        <a:spcBef>
                          <a:spcPts val="785"/>
                        </a:spcBef>
                      </a:pPr>
                      <a:r>
                        <a:rPr lang="en-US" sz="1400" dirty="0"/>
                        <a:t>Description</a:t>
                      </a:r>
                      <a:endParaRPr sz="1400" dirty="0">
                        <a:solidFill>
                          <a:schemeClr val="bg2">
                            <a:lumMod val="20000"/>
                            <a:lumOff val="80000"/>
                          </a:schemeClr>
                        </a:solidFill>
                        <a:latin typeface="+mn-lt"/>
                        <a:cs typeface="Arial" panose="020B0604020202020204"/>
                      </a:endParaRPr>
                    </a:p>
                  </a:txBody>
                  <a:tcPr marL="0" marR="0" marT="0" marB="0" anchor="ctr"/>
                </a:tc>
                <a:extLst>
                  <a:ext uri="{0D108BD9-81ED-4DB2-BD59-A6C34878D82A}">
                    <a16:rowId xmlns:a16="http://schemas.microsoft.com/office/drawing/2014/main" val="10000"/>
                  </a:ext>
                </a:extLst>
              </a:tr>
              <a:tr h="851776">
                <a:tc>
                  <a:txBody>
                    <a:bodyPr/>
                    <a:lstStyle/>
                    <a:p>
                      <a:pPr marL="227965" algn="ctr">
                        <a:lnSpc>
                          <a:spcPct val="100000"/>
                        </a:lnSpc>
                        <a:spcBef>
                          <a:spcPts val="415"/>
                        </a:spcBef>
                      </a:pPr>
                      <a:r>
                        <a:rPr lang="en-US" sz="1400" spc="-30" dirty="0">
                          <a:solidFill>
                            <a:schemeClr val="tx2"/>
                          </a:solidFill>
                        </a:rPr>
                        <a:t>1</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415"/>
                        </a:spcBef>
                      </a:pPr>
                      <a:r>
                        <a:rPr lang="en-US" sz="1400" spc="-5" dirty="0">
                          <a:solidFill>
                            <a:schemeClr val="tx2"/>
                          </a:solidFill>
                        </a:rPr>
                        <a:t>CPU Cores : 4,</a:t>
                      </a:r>
                    </a:p>
                    <a:p>
                      <a:pPr marL="350520">
                        <a:lnSpc>
                          <a:spcPct val="100000"/>
                        </a:lnSpc>
                        <a:spcBef>
                          <a:spcPts val="415"/>
                        </a:spcBef>
                      </a:pPr>
                      <a:r>
                        <a:rPr lang="en-US" sz="1400" spc="-5" dirty="0">
                          <a:solidFill>
                            <a:schemeClr val="tx2"/>
                          </a:solidFill>
                        </a:rPr>
                        <a:t>RAM: 8 GB DDR4 RAM , </a:t>
                      </a:r>
                    </a:p>
                    <a:p>
                      <a:pPr marL="350520">
                        <a:lnSpc>
                          <a:spcPct val="100000"/>
                        </a:lnSpc>
                        <a:spcBef>
                          <a:spcPts val="415"/>
                        </a:spcBef>
                      </a:pPr>
                      <a:r>
                        <a:rPr lang="en-US" sz="1400" spc="-5" dirty="0">
                          <a:solidFill>
                            <a:schemeClr val="tx2"/>
                          </a:solidFill>
                        </a:rPr>
                        <a:t>Disk Storage: 500 GB NVMe SSD</a:t>
                      </a:r>
                      <a:endParaRPr sz="1400"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1"/>
                  </a:ext>
                </a:extLst>
              </a:tr>
              <a:tr h="1155149">
                <a:tc>
                  <a:txBody>
                    <a:bodyPr/>
                    <a:lstStyle/>
                    <a:p>
                      <a:pPr marL="227965" algn="ctr">
                        <a:lnSpc>
                          <a:spcPct val="100000"/>
                        </a:lnSpc>
                        <a:spcBef>
                          <a:spcPts val="370"/>
                        </a:spcBef>
                      </a:pPr>
                      <a:r>
                        <a:rPr lang="en-US" sz="1400" spc="-5" dirty="0">
                          <a:solidFill>
                            <a:schemeClr val="tx2"/>
                          </a:solidFill>
                        </a:rPr>
                        <a:t>2</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US" sz="1400" spc="-5" dirty="0">
                          <a:solidFill>
                            <a:schemeClr val="tx2"/>
                          </a:solidFill>
                        </a:rPr>
                        <a:t>Server Speed : 1 GBPS, </a:t>
                      </a:r>
                    </a:p>
                    <a:p>
                      <a:pPr marL="350520">
                        <a:lnSpc>
                          <a:spcPct val="100000"/>
                        </a:lnSpc>
                        <a:spcBef>
                          <a:spcPts val="370"/>
                        </a:spcBef>
                      </a:pPr>
                      <a:r>
                        <a:rPr lang="en-US" sz="1400" spc="-5" dirty="0">
                          <a:solidFill>
                            <a:schemeClr val="tx2"/>
                          </a:solidFill>
                        </a:rPr>
                        <a:t>Bandwidth : Unlimited, </a:t>
                      </a:r>
                    </a:p>
                    <a:p>
                      <a:pPr marL="350520">
                        <a:lnSpc>
                          <a:spcPct val="100000"/>
                        </a:lnSpc>
                        <a:spcBef>
                          <a:spcPts val="370"/>
                        </a:spcBef>
                      </a:pPr>
                      <a:r>
                        <a:rPr lang="en-US" sz="1400" spc="-5" dirty="0">
                          <a:solidFill>
                            <a:schemeClr val="tx2"/>
                          </a:solidFill>
                        </a:rPr>
                        <a:t>Traffic -  unlimited, </a:t>
                      </a:r>
                    </a:p>
                    <a:p>
                      <a:pPr marL="350520">
                        <a:lnSpc>
                          <a:spcPct val="100000"/>
                        </a:lnSpc>
                        <a:spcBef>
                          <a:spcPts val="370"/>
                        </a:spcBef>
                      </a:pPr>
                      <a:r>
                        <a:rPr lang="en-US" sz="1400" spc="-5" dirty="0">
                          <a:solidFill>
                            <a:schemeClr val="tx2"/>
                          </a:solidFill>
                        </a:rPr>
                        <a:t>Data Transfer Speed : 1 GBPS Duplex</a:t>
                      </a:r>
                      <a:endParaRPr sz="1400"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2"/>
                  </a:ext>
                </a:extLst>
              </a:tr>
              <a:tr h="677366">
                <a:tc>
                  <a:txBody>
                    <a:bodyPr/>
                    <a:lstStyle/>
                    <a:p>
                      <a:pPr marL="227965" algn="ctr">
                        <a:lnSpc>
                          <a:spcPct val="100000"/>
                        </a:lnSpc>
                        <a:spcBef>
                          <a:spcPts val="370"/>
                        </a:spcBef>
                      </a:pPr>
                      <a:r>
                        <a:rPr lang="en-IN" sz="1400" dirty="0">
                          <a:solidFill>
                            <a:schemeClr val="tx2"/>
                          </a:solidFill>
                        </a:rPr>
                        <a:t>3</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US" sz="1400" dirty="0">
                          <a:solidFill>
                            <a:schemeClr val="tx2"/>
                          </a:solidFill>
                        </a:rPr>
                        <a:t>Dedicated IP – 1, </a:t>
                      </a:r>
                    </a:p>
                    <a:p>
                      <a:pPr marL="350520">
                        <a:lnSpc>
                          <a:spcPct val="100000"/>
                        </a:lnSpc>
                        <a:spcBef>
                          <a:spcPts val="370"/>
                        </a:spcBef>
                      </a:pPr>
                      <a:r>
                        <a:rPr lang="en-US" sz="1400" dirty="0">
                          <a:solidFill>
                            <a:schemeClr val="tx2"/>
                          </a:solidFill>
                        </a:rPr>
                        <a:t>OS - Windows Server 2019 Premium edition</a:t>
                      </a:r>
                      <a:endParaRPr sz="1400"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3"/>
                  </a:ext>
                </a:extLst>
              </a:tr>
              <a:tr h="538362">
                <a:tc>
                  <a:txBody>
                    <a:bodyPr/>
                    <a:lstStyle/>
                    <a:p>
                      <a:pPr marL="227965" algn="ctr">
                        <a:lnSpc>
                          <a:spcPct val="100000"/>
                        </a:lnSpc>
                        <a:spcBef>
                          <a:spcPts val="370"/>
                        </a:spcBef>
                      </a:pPr>
                      <a:r>
                        <a:rPr lang="en-IN" sz="1400" dirty="0">
                          <a:solidFill>
                            <a:schemeClr val="tx2"/>
                          </a:solidFill>
                        </a:rPr>
                        <a:t>4</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US" sz="1400" dirty="0">
                          <a:solidFill>
                            <a:schemeClr val="tx2"/>
                          </a:solidFill>
                        </a:rPr>
                        <a:t>SQL Standard edition, Security Firewall Pre installed</a:t>
                      </a:r>
                      <a:endParaRPr sz="1400"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11510166" y="6176709"/>
            <a:ext cx="357116" cy="365125"/>
          </a:xfrm>
        </p:spPr>
        <p:txBody>
          <a:bodyPr/>
          <a:lstStyle/>
          <a:p>
            <a:pPr algn="ctr"/>
            <a:fld id="{82EE24B5-652C-4DB5-B7C3-B5BBEC1280B1}" type="slidenum">
              <a:rPr lang="en-US" noProof="0" smtClean="0"/>
              <a:t>11</a:t>
            </a:fld>
            <a:endParaRPr lang="en-US" noProof="0" dirty="0"/>
          </a:p>
        </p:txBody>
      </p:sp>
      <p:sp>
        <p:nvSpPr>
          <p:cNvPr id="10" name="TextBox 9"/>
          <p:cNvSpPr txBox="1"/>
          <p:nvPr/>
        </p:nvSpPr>
        <p:spPr>
          <a:xfrm>
            <a:off x="849158" y="2965296"/>
            <a:ext cx="3062442" cy="367216"/>
          </a:xfrm>
          <a:prstGeom prst="rect">
            <a:avLst/>
          </a:prstGeom>
          <a:noFill/>
        </p:spPr>
        <p:txBody>
          <a:bodyPr wrap="square">
            <a:spAutoFit/>
          </a:bodyPr>
          <a:lstStyle/>
          <a:p>
            <a:pPr marL="0" marR="0">
              <a:lnSpc>
                <a:spcPct val="107000"/>
              </a:lnSpc>
              <a:spcBef>
                <a:spcPts val="0"/>
              </a:spcBef>
              <a:spcAft>
                <a:spcPts val="800"/>
              </a:spcAft>
            </a:pPr>
            <a:r>
              <a:rPr lang="en-US" b="1" dirty="0">
                <a:solidFill>
                  <a:schemeClr val="accent2"/>
                </a:solidFill>
                <a:effectLst/>
                <a:ea typeface="Calibri" panose="020F0502020204030204" charset="0"/>
                <a:cs typeface="Times New Roman" panose="02020603050405020304" pitchFamily="18" charset="0"/>
              </a:rPr>
              <a:t>Terms &amp; </a:t>
            </a:r>
            <a:r>
              <a:rPr lang="en-US" b="1" dirty="0">
                <a:solidFill>
                  <a:schemeClr val="accent2"/>
                </a:solidFill>
                <a:ea typeface="Calibri" panose="020F0502020204030204" charset="0"/>
                <a:cs typeface="Times New Roman" panose="02020603050405020304" pitchFamily="18" charset="0"/>
              </a:rPr>
              <a:t>C</a:t>
            </a:r>
            <a:r>
              <a:rPr lang="en-US" b="1" dirty="0">
                <a:solidFill>
                  <a:schemeClr val="accent2"/>
                </a:solidFill>
                <a:effectLst/>
                <a:ea typeface="Calibri" panose="020F0502020204030204" charset="0"/>
                <a:cs typeface="Times New Roman" panose="02020603050405020304" pitchFamily="18" charset="0"/>
              </a:rPr>
              <a:t>onditions</a:t>
            </a:r>
          </a:p>
        </p:txBody>
      </p:sp>
      <p:sp>
        <p:nvSpPr>
          <p:cNvPr id="11" name="object 18" descr="Beige rectangle"/>
          <p:cNvSpPr/>
          <p:nvPr/>
        </p:nvSpPr>
        <p:spPr>
          <a:xfrm flipV="1">
            <a:off x="950368" y="3289516"/>
            <a:ext cx="2181451"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
        <p:nvSpPr>
          <p:cNvPr id="12" name="TextBox 11"/>
          <p:cNvSpPr txBox="1"/>
          <p:nvPr/>
        </p:nvSpPr>
        <p:spPr>
          <a:xfrm>
            <a:off x="1782884" y="3521689"/>
            <a:ext cx="9456616" cy="1524007"/>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Once the deployment is completed changes will be considered as new request after 3 months of free trail.</a:t>
            </a:r>
          </a:p>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Client should provide one person as point of contact grievance redressal.</a:t>
            </a:r>
          </a:p>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Contract termination requires written notice to </a:t>
            </a:r>
            <a:r>
              <a:rPr lang="en-US" sz="1600" b="1" dirty="0">
                <a:solidFill>
                  <a:schemeClr val="tx1">
                    <a:lumMod val="65000"/>
                    <a:lumOff val="35000"/>
                  </a:schemeClr>
                </a:solidFill>
              </a:rPr>
              <a:t>info@infologia.in</a:t>
            </a:r>
            <a:r>
              <a:rPr lang="en-US" sz="1600" dirty="0">
                <a:solidFill>
                  <a:schemeClr val="tx1">
                    <a:lumMod val="65000"/>
                    <a:lumOff val="35000"/>
                  </a:schemeClr>
                </a:solidFill>
              </a:rPr>
              <a:t> 30 days in advance.</a:t>
            </a:r>
          </a:p>
        </p:txBody>
      </p:sp>
      <p:sp>
        <p:nvSpPr>
          <p:cNvPr id="19" name="TextBox 18"/>
          <p:cNvSpPr txBox="1"/>
          <p:nvPr/>
        </p:nvSpPr>
        <p:spPr>
          <a:xfrm>
            <a:off x="849158" y="706608"/>
            <a:ext cx="3062442" cy="397738"/>
          </a:xfrm>
          <a:prstGeom prst="rect">
            <a:avLst/>
          </a:prstGeom>
          <a:noFill/>
        </p:spPr>
        <p:txBody>
          <a:bodyPr wrap="square">
            <a:spAutoFit/>
          </a:bodyPr>
          <a:lstStyle/>
          <a:p>
            <a:pPr marL="0" marR="0">
              <a:lnSpc>
                <a:spcPct val="107000"/>
              </a:lnSpc>
              <a:spcBef>
                <a:spcPts val="0"/>
              </a:spcBef>
              <a:spcAft>
                <a:spcPts val="800"/>
              </a:spcAft>
            </a:pPr>
            <a:r>
              <a:rPr lang="en-US" sz="2000" b="1" dirty="0">
                <a:solidFill>
                  <a:schemeClr val="accent2"/>
                </a:solidFill>
                <a:effectLst/>
                <a:ea typeface="Calibri" panose="020F0502020204030204" charset="0"/>
                <a:cs typeface="Times New Roman" panose="02020603050405020304" pitchFamily="18" charset="0"/>
              </a:rPr>
              <a:t>Payment Terms</a:t>
            </a:r>
          </a:p>
        </p:txBody>
      </p:sp>
      <p:sp>
        <p:nvSpPr>
          <p:cNvPr id="20" name="TextBox 19"/>
          <p:cNvSpPr txBox="1"/>
          <p:nvPr/>
        </p:nvSpPr>
        <p:spPr>
          <a:xfrm>
            <a:off x="1782884" y="1327415"/>
            <a:ext cx="9456616" cy="1154675"/>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Invoices are billed Monthly with a minimum of 300 containers. Payment is to be released within 15 days from the invoice date.</a:t>
            </a:r>
          </a:p>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All rates are exclusive of taxes; GST @18% applicable for Indian customers</a:t>
            </a:r>
          </a:p>
        </p:txBody>
      </p:sp>
      <p:sp>
        <p:nvSpPr>
          <p:cNvPr id="21" name="object 18" descr="Beige rectangle"/>
          <p:cNvSpPr/>
          <p:nvPr/>
        </p:nvSpPr>
        <p:spPr>
          <a:xfrm>
            <a:off x="942749" y="1104346"/>
            <a:ext cx="1917062"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68AEA-ED5D-FFCF-86B2-6AB5E706693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3F2AB52-9792-FABD-438E-F9162F7C3841}"/>
              </a:ext>
            </a:extLst>
          </p:cNvPr>
          <p:cNvSpPr>
            <a:spLocks noGrp="1"/>
          </p:cNvSpPr>
          <p:nvPr>
            <p:ph type="sldNum" sz="quarter" idx="12"/>
          </p:nvPr>
        </p:nvSpPr>
        <p:spPr>
          <a:xfrm>
            <a:off x="11510166" y="6184329"/>
            <a:ext cx="357116" cy="365125"/>
          </a:xfrm>
        </p:spPr>
        <p:txBody>
          <a:bodyPr/>
          <a:lstStyle/>
          <a:p>
            <a:pPr algn="ctr"/>
            <a:fld id="{82EE24B5-652C-4DB5-B7C3-B5BBEC1280B1}" type="slidenum">
              <a:rPr lang="en-US" noProof="0" smtClean="0"/>
              <a:t>12</a:t>
            </a:fld>
            <a:endParaRPr lang="en-US" noProof="0" dirty="0"/>
          </a:p>
        </p:txBody>
      </p:sp>
      <p:sp>
        <p:nvSpPr>
          <p:cNvPr id="10" name="TextBox 9">
            <a:extLst>
              <a:ext uri="{FF2B5EF4-FFF2-40B4-BE49-F238E27FC236}">
                <a16:creationId xmlns:a16="http://schemas.microsoft.com/office/drawing/2014/main" id="{B964F8D9-5CA9-0265-16E6-3BB2FA162DC6}"/>
              </a:ext>
            </a:extLst>
          </p:cNvPr>
          <p:cNvSpPr txBox="1"/>
          <p:nvPr/>
        </p:nvSpPr>
        <p:spPr>
          <a:xfrm>
            <a:off x="849158" y="3651096"/>
            <a:ext cx="3062442" cy="367216"/>
          </a:xfrm>
          <a:prstGeom prst="rect">
            <a:avLst/>
          </a:prstGeom>
          <a:noFill/>
        </p:spPr>
        <p:txBody>
          <a:bodyPr wrap="square">
            <a:spAutoFit/>
          </a:bodyPr>
          <a:lstStyle/>
          <a:p>
            <a:pPr marR="0">
              <a:lnSpc>
                <a:spcPct val="107000"/>
              </a:lnSpc>
              <a:spcBef>
                <a:spcPts val="0"/>
              </a:spcBef>
              <a:spcAft>
                <a:spcPts val="800"/>
              </a:spcAft>
            </a:pPr>
            <a:r>
              <a:rPr lang="en-US" b="1" dirty="0">
                <a:solidFill>
                  <a:schemeClr val="accent2"/>
                </a:solidFill>
                <a:ea typeface="Calibri" panose="020F0502020204030204" pitchFamily="34" charset="0"/>
                <a:cs typeface="Times New Roman" panose="02020603050405020304" pitchFamily="18" charset="0"/>
              </a:rPr>
              <a:t>Subscription Plan </a:t>
            </a:r>
          </a:p>
        </p:txBody>
      </p:sp>
      <p:sp>
        <p:nvSpPr>
          <p:cNvPr id="11" name="object 18" descr="Beige rectangle">
            <a:extLst>
              <a:ext uri="{FF2B5EF4-FFF2-40B4-BE49-F238E27FC236}">
                <a16:creationId xmlns:a16="http://schemas.microsoft.com/office/drawing/2014/main" id="{7F77DF87-60A5-04BC-E8FF-162D61F96639}"/>
              </a:ext>
            </a:extLst>
          </p:cNvPr>
          <p:cNvSpPr/>
          <p:nvPr/>
        </p:nvSpPr>
        <p:spPr>
          <a:xfrm>
            <a:off x="942749" y="4005795"/>
            <a:ext cx="1975711"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
        <p:nvSpPr>
          <p:cNvPr id="12" name="TextBox 11">
            <a:extLst>
              <a:ext uri="{FF2B5EF4-FFF2-40B4-BE49-F238E27FC236}">
                <a16:creationId xmlns:a16="http://schemas.microsoft.com/office/drawing/2014/main" id="{E8675A4C-88A9-5175-531F-40CA6412CB30}"/>
              </a:ext>
            </a:extLst>
          </p:cNvPr>
          <p:cNvSpPr txBox="1"/>
          <p:nvPr/>
        </p:nvSpPr>
        <p:spPr>
          <a:xfrm>
            <a:off x="1782884" y="4222729"/>
            <a:ext cx="9456616" cy="78534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API Integration</a:t>
            </a:r>
          </a:p>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Portal access to be offered to 10 users only</a:t>
            </a:r>
          </a:p>
        </p:txBody>
      </p:sp>
      <p:sp>
        <p:nvSpPr>
          <p:cNvPr id="19" name="TextBox 18">
            <a:extLst>
              <a:ext uri="{FF2B5EF4-FFF2-40B4-BE49-F238E27FC236}">
                <a16:creationId xmlns:a16="http://schemas.microsoft.com/office/drawing/2014/main" id="{274A2F0D-FA1C-B0F1-117A-833613243493}"/>
              </a:ext>
            </a:extLst>
          </p:cNvPr>
          <p:cNvSpPr txBox="1"/>
          <p:nvPr/>
        </p:nvSpPr>
        <p:spPr>
          <a:xfrm>
            <a:off x="849158" y="704308"/>
            <a:ext cx="2191261" cy="397738"/>
          </a:xfrm>
          <a:prstGeom prst="rect">
            <a:avLst/>
          </a:prstGeom>
          <a:noFill/>
        </p:spPr>
        <p:txBody>
          <a:bodyPr wrap="square">
            <a:spAutoFit/>
          </a:bodyPr>
          <a:lstStyle/>
          <a:p>
            <a:pPr marR="0">
              <a:lnSpc>
                <a:spcPct val="107000"/>
              </a:lnSpc>
              <a:spcBef>
                <a:spcPts val="0"/>
              </a:spcBef>
              <a:spcAft>
                <a:spcPts val="800"/>
              </a:spcAft>
            </a:pPr>
            <a:r>
              <a:rPr lang="en-US" sz="2000" b="1" dirty="0">
                <a:solidFill>
                  <a:schemeClr val="accent2"/>
                </a:solidFill>
                <a:ea typeface="Calibri" panose="020F0502020204030204" pitchFamily="34" charset="0"/>
                <a:cs typeface="Times New Roman" panose="02020603050405020304" pitchFamily="18" charset="0"/>
              </a:rPr>
              <a:t>Support Plan</a:t>
            </a:r>
          </a:p>
        </p:txBody>
      </p:sp>
      <p:sp>
        <p:nvSpPr>
          <p:cNvPr id="20" name="TextBox 19">
            <a:extLst>
              <a:ext uri="{FF2B5EF4-FFF2-40B4-BE49-F238E27FC236}">
                <a16:creationId xmlns:a16="http://schemas.microsoft.com/office/drawing/2014/main" id="{224A8BEC-14C7-921D-EE66-0FD44E97A172}"/>
              </a:ext>
            </a:extLst>
          </p:cNvPr>
          <p:cNvSpPr txBox="1"/>
          <p:nvPr/>
        </p:nvSpPr>
        <p:spPr>
          <a:xfrm>
            <a:off x="1782884" y="1434095"/>
            <a:ext cx="9456616" cy="1893339"/>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High priority issues completed within 4 hours.</a:t>
            </a:r>
          </a:p>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Medium priority issues completed within 8 hours.</a:t>
            </a:r>
          </a:p>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Low or minor issues resolved within 24 hours.</a:t>
            </a:r>
          </a:p>
          <a:p>
            <a:pPr marL="285750" indent="-285750">
              <a:lnSpc>
                <a:spcPct val="150000"/>
              </a:lnSpc>
              <a:buFont typeface="Wingdings" panose="05000000000000000000" pitchFamily="2" charset="2"/>
              <a:buChar char="Ø"/>
            </a:pPr>
            <a:r>
              <a:rPr lang="en-US" sz="1600" dirty="0">
                <a:solidFill>
                  <a:schemeClr val="tx1">
                    <a:lumMod val="65000"/>
                    <a:lumOff val="35000"/>
                  </a:schemeClr>
                </a:solidFill>
              </a:rPr>
              <a:t>Support available from 09:00 AM to 11:00 PM, Monday to Friday. (24*5 support available with additional cost).</a:t>
            </a:r>
          </a:p>
        </p:txBody>
      </p:sp>
      <p:sp>
        <p:nvSpPr>
          <p:cNvPr id="21" name="object 18" descr="Beige rectangle">
            <a:extLst>
              <a:ext uri="{FF2B5EF4-FFF2-40B4-BE49-F238E27FC236}">
                <a16:creationId xmlns:a16="http://schemas.microsoft.com/office/drawing/2014/main" id="{2FC599C9-2C64-4BFA-3358-DF7C2A93FE20}"/>
              </a:ext>
            </a:extLst>
          </p:cNvPr>
          <p:cNvSpPr/>
          <p:nvPr/>
        </p:nvSpPr>
        <p:spPr>
          <a:xfrm>
            <a:off x="957989" y="1082527"/>
            <a:ext cx="1579471"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2995362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20" descr="Two person handshake"/>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2" name="object 3" descr="Blue rectangle"/>
          <p:cNvSpPr/>
          <p:nvPr/>
        </p:nvSpPr>
        <p:spPr>
          <a:xfrm>
            <a:off x="0" y="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23" name="Oval 22" descr="Beige oval"/>
          <p:cNvSpPr/>
          <p:nvPr/>
        </p:nvSpPr>
        <p:spPr>
          <a:xfrm>
            <a:off x="1157747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ntent Placeholder 9"/>
          <p:cNvSpPr>
            <a:spLocks noGrp="1"/>
          </p:cNvSpPr>
          <p:nvPr>
            <p:ph sz="half" idx="15"/>
          </p:nvPr>
        </p:nvSpPr>
        <p:spPr bwMode="white">
          <a:xfrm>
            <a:off x="7264830" y="3334551"/>
            <a:ext cx="2983732" cy="403007"/>
          </a:xfrm>
        </p:spPr>
        <p:txBody>
          <a:bodyPr>
            <a:noAutofit/>
          </a:bodyPr>
          <a:lstStyle/>
          <a:p>
            <a:pPr marL="12700">
              <a:lnSpc>
                <a:spcPct val="120000"/>
              </a:lnSpc>
              <a:spcBef>
                <a:spcPts val="100"/>
              </a:spcBef>
            </a:pPr>
            <a:r>
              <a:rPr lang="en-US" sz="1900" b="1" dirty="0">
                <a:solidFill>
                  <a:schemeClr val="bg1"/>
                </a:solidFill>
              </a:rPr>
              <a:t>Custom solutions</a:t>
            </a:r>
          </a:p>
        </p:txBody>
      </p:sp>
      <p:sp>
        <p:nvSpPr>
          <p:cNvPr id="9" name="Content Placeholder 8"/>
          <p:cNvSpPr>
            <a:spLocks noGrp="1"/>
          </p:cNvSpPr>
          <p:nvPr>
            <p:ph sz="half" idx="14"/>
          </p:nvPr>
        </p:nvSpPr>
        <p:spPr bwMode="white">
          <a:xfrm>
            <a:off x="7264368" y="2593578"/>
            <a:ext cx="3148965" cy="352987"/>
          </a:xfrm>
        </p:spPr>
        <p:txBody>
          <a:bodyPr>
            <a:noAutofit/>
          </a:bodyPr>
          <a:lstStyle/>
          <a:p>
            <a:pPr marL="12700">
              <a:lnSpc>
                <a:spcPct val="120000"/>
              </a:lnSpc>
              <a:spcBef>
                <a:spcPts val="100"/>
              </a:spcBef>
            </a:pPr>
            <a:r>
              <a:rPr lang="en-US" sz="1900" b="1" dirty="0">
                <a:solidFill>
                  <a:schemeClr val="bg1"/>
                </a:solidFill>
              </a:rPr>
              <a:t>Availability</a:t>
            </a:r>
          </a:p>
        </p:txBody>
      </p:sp>
      <p:sp>
        <p:nvSpPr>
          <p:cNvPr id="2" name="Slide Number Placeholder 1"/>
          <p:cNvSpPr>
            <a:spLocks noGrp="1"/>
          </p:cNvSpPr>
          <p:nvPr>
            <p:ph type="sldNum" sz="quarter" idx="12"/>
          </p:nvPr>
        </p:nvSpPr>
        <p:spPr/>
        <p:txBody>
          <a:bodyPr/>
          <a:lstStyle/>
          <a:p>
            <a:pPr algn="ctr"/>
            <a:fld id="{82EE24B5-652C-4DB5-B7C3-B5BBEC1280B1}" type="slidenum">
              <a:rPr lang="en-US" smtClean="0"/>
              <a:t>13</a:t>
            </a:fld>
            <a:endParaRPr lang="en-US" dirty="0"/>
          </a:p>
        </p:txBody>
      </p:sp>
      <p:sp>
        <p:nvSpPr>
          <p:cNvPr id="6" name="Title 5"/>
          <p:cNvSpPr>
            <a:spLocks noGrp="1"/>
          </p:cNvSpPr>
          <p:nvPr>
            <p:ph type="title"/>
          </p:nvPr>
        </p:nvSpPr>
        <p:spPr bwMode="ltGray">
          <a:xfrm>
            <a:off x="818028" y="365125"/>
            <a:ext cx="10515600" cy="1325563"/>
          </a:xfrm>
        </p:spPr>
        <p:txBody>
          <a:bodyPr/>
          <a:lstStyle/>
          <a:p>
            <a:r>
              <a:rPr lang="en-US" dirty="0">
                <a:solidFill>
                  <a:schemeClr val="bg1"/>
                </a:solidFill>
                <a:latin typeface="+mn-lt"/>
              </a:rPr>
              <a:t>Why Infologia</a:t>
            </a:r>
            <a:endParaRPr lang="en-US" dirty="0">
              <a:latin typeface="+mn-lt"/>
            </a:endParaRPr>
          </a:p>
        </p:txBody>
      </p:sp>
      <p:sp>
        <p:nvSpPr>
          <p:cNvPr id="7" name="Content Placeholder 6"/>
          <p:cNvSpPr>
            <a:spLocks noGrp="1"/>
          </p:cNvSpPr>
          <p:nvPr>
            <p:ph sz="half" idx="1"/>
          </p:nvPr>
        </p:nvSpPr>
        <p:spPr bwMode="white">
          <a:xfrm>
            <a:off x="7264368" y="1776840"/>
            <a:ext cx="3148965" cy="390871"/>
          </a:xfrm>
        </p:spPr>
        <p:txBody>
          <a:bodyPr>
            <a:noAutofit/>
          </a:bodyPr>
          <a:lstStyle/>
          <a:p>
            <a:pPr marL="12700">
              <a:lnSpc>
                <a:spcPct val="120000"/>
              </a:lnSpc>
              <a:spcBef>
                <a:spcPts val="100"/>
              </a:spcBef>
            </a:pPr>
            <a:r>
              <a:rPr lang="en-US" sz="1900" b="1" dirty="0">
                <a:solidFill>
                  <a:schemeClr val="bg1"/>
                </a:solidFill>
              </a:rPr>
              <a:t>Personalized service</a:t>
            </a:r>
          </a:p>
          <a:p>
            <a:pPr marR="5080">
              <a:lnSpc>
                <a:spcPct val="120000"/>
              </a:lnSpc>
              <a:spcBef>
                <a:spcPts val="600"/>
              </a:spcBef>
            </a:pPr>
            <a:endParaRPr lang="en-US" sz="1800" i="1" spc="-15" dirty="0">
              <a:solidFill>
                <a:schemeClr val="bg2">
                  <a:lumMod val="20000"/>
                  <a:lumOff val="80000"/>
                </a:schemeClr>
              </a:solidFill>
              <a:cs typeface="Arial" panose="020B0604020202020204"/>
            </a:endParaRPr>
          </a:p>
        </p:txBody>
      </p:sp>
      <p:sp>
        <p:nvSpPr>
          <p:cNvPr id="11" name="Content Placeholder 10"/>
          <p:cNvSpPr>
            <a:spLocks noGrp="1"/>
          </p:cNvSpPr>
          <p:nvPr>
            <p:ph sz="half" idx="16"/>
          </p:nvPr>
        </p:nvSpPr>
        <p:spPr bwMode="white">
          <a:xfrm>
            <a:off x="7264368" y="4115916"/>
            <a:ext cx="3148965" cy="390870"/>
          </a:xfrm>
        </p:spPr>
        <p:txBody>
          <a:bodyPr>
            <a:noAutofit/>
          </a:bodyPr>
          <a:lstStyle/>
          <a:p>
            <a:pPr marL="12700">
              <a:lnSpc>
                <a:spcPct val="120000"/>
              </a:lnSpc>
              <a:spcBef>
                <a:spcPts val="100"/>
              </a:spcBef>
            </a:pPr>
            <a:r>
              <a:rPr lang="en-US" sz="1900" b="1" dirty="0">
                <a:solidFill>
                  <a:schemeClr val="bg1"/>
                </a:solidFill>
              </a:rPr>
              <a:t>Economies of scale</a:t>
            </a:r>
          </a:p>
        </p:txBody>
      </p:sp>
      <p:sp>
        <p:nvSpPr>
          <p:cNvPr id="12" name="Content Placeholder 11"/>
          <p:cNvSpPr>
            <a:spLocks noGrp="1"/>
          </p:cNvSpPr>
          <p:nvPr>
            <p:ph sz="half" idx="17"/>
          </p:nvPr>
        </p:nvSpPr>
        <p:spPr bwMode="white">
          <a:xfrm>
            <a:off x="7264368" y="4893139"/>
            <a:ext cx="3690011" cy="390870"/>
          </a:xfrm>
        </p:spPr>
        <p:txBody>
          <a:bodyPr>
            <a:noAutofit/>
          </a:bodyPr>
          <a:lstStyle/>
          <a:p>
            <a:pPr marL="12700">
              <a:lnSpc>
                <a:spcPct val="120000"/>
              </a:lnSpc>
              <a:spcBef>
                <a:spcPts val="100"/>
              </a:spcBef>
            </a:pPr>
            <a:r>
              <a:rPr lang="en-US" sz="1900" b="1" dirty="0">
                <a:solidFill>
                  <a:schemeClr val="bg1"/>
                </a:solidFill>
              </a:rPr>
              <a:t>Preferred loyalty programs</a:t>
            </a:r>
          </a:p>
        </p:txBody>
      </p:sp>
      <p:sp>
        <p:nvSpPr>
          <p:cNvPr id="13" name="Content Placeholder 12"/>
          <p:cNvSpPr>
            <a:spLocks noGrp="1"/>
          </p:cNvSpPr>
          <p:nvPr>
            <p:ph sz="half" idx="18"/>
          </p:nvPr>
        </p:nvSpPr>
        <p:spPr bwMode="white">
          <a:xfrm>
            <a:off x="7264368" y="5628517"/>
            <a:ext cx="3259789" cy="390871"/>
          </a:xfrm>
        </p:spPr>
        <p:txBody>
          <a:bodyPr>
            <a:noAutofit/>
          </a:bodyPr>
          <a:lstStyle/>
          <a:p>
            <a:pPr marL="12700">
              <a:lnSpc>
                <a:spcPct val="120000"/>
              </a:lnSpc>
              <a:spcBef>
                <a:spcPts val="100"/>
              </a:spcBef>
            </a:pPr>
            <a:r>
              <a:rPr lang="en-US" sz="1900" b="1" dirty="0">
                <a:solidFill>
                  <a:schemeClr val="bg1"/>
                </a:solidFill>
              </a:rPr>
              <a:t>Connections</a:t>
            </a:r>
          </a:p>
          <a:p>
            <a:pPr marL="0" indent="0">
              <a:lnSpc>
                <a:spcPct val="100000"/>
              </a:lnSpc>
              <a:spcBef>
                <a:spcPts val="600"/>
              </a:spcBef>
              <a:buNone/>
            </a:pPr>
            <a:endParaRPr lang="en-US" dirty="0"/>
          </a:p>
        </p:txBody>
      </p:sp>
      <p:pic>
        <p:nvPicPr>
          <p:cNvPr id="36" name="Picture Placeholder 35" descr="Check icon"/>
          <p:cNvPicPr>
            <a:picLocks noGrp="1" noChangeAspect="1"/>
          </p:cNvPicPr>
          <p:nvPr>
            <p:ph type="pic" sz="quarter" idx="19"/>
          </p:nvPr>
        </p:nvPicPr>
        <p:blipFill>
          <a:blip r:embed="rId4" cstate="print">
            <a:extLst>
              <a:ext uri="{28A0092B-C50C-407E-A947-70E740481C1C}">
                <a14:useLocalDpi xmlns:a14="http://schemas.microsoft.com/office/drawing/2010/main" val="0"/>
              </a:ext>
            </a:extLst>
          </a:blip>
          <a:srcRect/>
          <a:stretch>
            <a:fillRect/>
          </a:stretch>
        </p:blipFill>
        <p:spPr bwMode="white">
          <a:xfrm>
            <a:off x="6688368" y="2507157"/>
            <a:ext cx="576000" cy="576000"/>
          </a:xfrm>
        </p:spPr>
      </p:pic>
      <p:pic>
        <p:nvPicPr>
          <p:cNvPr id="38" name="Picture Placeholder 37" descr="Check icon"/>
          <p:cNvPicPr>
            <a:picLocks noGrp="1" noChangeAspect="1"/>
          </p:cNvPicPr>
          <p:nvPr>
            <p:ph type="pic" sz="quarter" idx="20"/>
          </p:nvPr>
        </p:nvPicPr>
        <p:blipFill>
          <a:blip r:embed="rId4" cstate="print">
            <a:extLst>
              <a:ext uri="{28A0092B-C50C-407E-A947-70E740481C1C}">
                <a14:useLocalDpi xmlns:a14="http://schemas.microsoft.com/office/drawing/2010/main" val="0"/>
              </a:ext>
            </a:extLst>
          </a:blip>
          <a:srcRect/>
          <a:stretch>
            <a:fillRect/>
          </a:stretch>
        </p:blipFill>
        <p:spPr bwMode="white">
          <a:xfrm>
            <a:off x="6688368" y="4800574"/>
            <a:ext cx="576000" cy="576000"/>
          </a:xfrm>
        </p:spPr>
      </p:pic>
      <p:pic>
        <p:nvPicPr>
          <p:cNvPr id="40" name="Picture Placeholder 39" descr="Check icon"/>
          <p:cNvPicPr>
            <a:picLocks noGrp="1" noChangeAspect="1"/>
          </p:cNvPicPr>
          <p:nvPr>
            <p:ph type="pic" sz="quarter" idx="21"/>
          </p:nvPr>
        </p:nvPicPr>
        <p:blipFill>
          <a:blip r:embed="rId4" cstate="print">
            <a:extLst>
              <a:ext uri="{28A0092B-C50C-407E-A947-70E740481C1C}">
                <a14:useLocalDpi xmlns:a14="http://schemas.microsoft.com/office/drawing/2010/main" val="0"/>
              </a:ext>
            </a:extLst>
          </a:blip>
          <a:srcRect/>
          <a:stretch>
            <a:fillRect/>
          </a:stretch>
        </p:blipFill>
        <p:spPr bwMode="white">
          <a:xfrm>
            <a:off x="6679736" y="1740859"/>
            <a:ext cx="576000" cy="576000"/>
          </a:xfrm>
        </p:spPr>
      </p:pic>
      <p:pic>
        <p:nvPicPr>
          <p:cNvPr id="34" name="Picture Placeholder 33" descr="Check icon"/>
          <p:cNvPicPr>
            <a:picLocks noGrp="1" noChangeAspect="1"/>
          </p:cNvPicPr>
          <p:nvPr>
            <p:ph type="pic" sz="quarter" idx="22"/>
          </p:nvPr>
        </p:nvPicPr>
        <p:blipFill>
          <a:blip r:embed="rId4" cstate="print">
            <a:extLst>
              <a:ext uri="{28A0092B-C50C-407E-A947-70E740481C1C}">
                <a14:useLocalDpi xmlns:a14="http://schemas.microsoft.com/office/drawing/2010/main" val="0"/>
              </a:ext>
            </a:extLst>
          </a:blip>
          <a:srcRect/>
          <a:stretch>
            <a:fillRect/>
          </a:stretch>
        </p:blipFill>
        <p:spPr bwMode="white">
          <a:xfrm>
            <a:off x="6688368" y="5561353"/>
            <a:ext cx="576000" cy="576000"/>
          </a:xfrm>
        </p:spPr>
      </p:pic>
      <p:pic>
        <p:nvPicPr>
          <p:cNvPr id="42" name="Picture Placeholder 41" descr="Check icon"/>
          <p:cNvPicPr>
            <a:picLocks noGrp="1" noChangeAspect="1"/>
          </p:cNvPicPr>
          <p:nvPr>
            <p:ph type="pic" sz="quarter" idx="24"/>
          </p:nvPr>
        </p:nvPicPr>
        <p:blipFill>
          <a:blip r:embed="rId4" cstate="print">
            <a:extLst>
              <a:ext uri="{28A0092B-C50C-407E-A947-70E740481C1C}">
                <a14:useLocalDpi xmlns:a14="http://schemas.microsoft.com/office/drawing/2010/main" val="0"/>
              </a:ext>
            </a:extLst>
          </a:blip>
          <a:srcRect/>
          <a:stretch>
            <a:fillRect/>
          </a:stretch>
        </p:blipFill>
        <p:spPr bwMode="white">
          <a:xfrm>
            <a:off x="6688368" y="4039753"/>
            <a:ext cx="576000" cy="576000"/>
          </a:xfrm>
        </p:spPr>
      </p:pic>
      <p:sp>
        <p:nvSpPr>
          <p:cNvPr id="24" name="object 5" descr="Beige rectangle"/>
          <p:cNvSpPr/>
          <p:nvPr/>
        </p:nvSpPr>
        <p:spPr bwMode="ltGray">
          <a:xfrm flipV="1">
            <a:off x="929705" y="1293403"/>
            <a:ext cx="2778695" cy="45719"/>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pic>
        <p:nvPicPr>
          <p:cNvPr id="32" name="Picture Placeholder 31" descr="Check icon"/>
          <p:cNvPicPr>
            <a:picLocks noGrp="1" noChangeAspect="1"/>
          </p:cNvPicPr>
          <p:nvPr>
            <p:ph type="pic" sz="quarter" idx="23"/>
          </p:nvPr>
        </p:nvPicPr>
        <p:blipFill>
          <a:blip r:embed="rId5" cstate="print">
            <a:extLst>
              <a:ext uri="{28A0092B-C50C-407E-A947-70E740481C1C}">
                <a14:useLocalDpi xmlns:a14="http://schemas.microsoft.com/office/drawing/2010/main" val="0"/>
              </a:ext>
            </a:extLst>
          </a:blip>
          <a:srcRect/>
          <a:stretch>
            <a:fillRect/>
          </a:stretch>
        </p:blipFill>
        <p:spPr bwMode="white">
          <a:xfrm>
            <a:off x="6688368" y="3273455"/>
            <a:ext cx="576000" cy="576000"/>
          </a:xfr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0713" y="2819401"/>
            <a:ext cx="5757774" cy="2068386"/>
          </a:xfrm>
          <a:prstGeom prst="rect">
            <a:avLst/>
          </a:prstGeom>
        </p:spPr>
      </p:pic>
      <p:pic>
        <p:nvPicPr>
          <p:cNvPr id="8" name="Picture Placeholder 39" descr="Check icon"/>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white">
          <a:xfrm>
            <a:off x="6688368" y="1091873"/>
            <a:ext cx="576000" cy="576000"/>
          </a:xfrm>
          <a:prstGeom prst="rect">
            <a:avLst/>
          </a:prstGeom>
        </p:spPr>
      </p:pic>
      <p:sp>
        <p:nvSpPr>
          <p:cNvPr id="14" name="Content Placeholder 6"/>
          <p:cNvSpPr txBox="1"/>
          <p:nvPr/>
        </p:nvSpPr>
        <p:spPr bwMode="white">
          <a:xfrm>
            <a:off x="7238968" y="1141840"/>
            <a:ext cx="3517932" cy="3908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a:lnSpc>
                <a:spcPct val="120000"/>
              </a:lnSpc>
              <a:spcBef>
                <a:spcPts val="100"/>
              </a:spcBef>
            </a:pPr>
            <a:r>
              <a:rPr lang="en-US" sz="1900" b="1" dirty="0">
                <a:solidFill>
                  <a:schemeClr val="bg1"/>
                </a:solidFill>
              </a:rPr>
              <a:t>Cargowise certified partner</a:t>
            </a:r>
            <a:endParaRPr lang="en-US" sz="1800" i="1" spc="-15" dirty="0">
              <a:solidFill>
                <a:schemeClr val="bg2">
                  <a:lumMod val="20000"/>
                  <a:lumOff val="80000"/>
                </a:schemeClr>
              </a:solidFill>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descr="Man talks by phon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2" y="0"/>
            <a:ext cx="6991350" cy="6858000"/>
          </a:xfrm>
          <a:prstGeom prst="rect">
            <a:avLst/>
          </a:prstGeom>
        </p:spPr>
      </p:pic>
      <p:sp>
        <p:nvSpPr>
          <p:cNvPr id="5" name="object 3" descr="Beige rectangle"/>
          <p:cNvSpPr/>
          <p:nvPr/>
        </p:nvSpPr>
        <p:spPr>
          <a:xfrm>
            <a:off x="8181340" y="1359001"/>
            <a:ext cx="4010660" cy="4194074"/>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6" name="object 6" descr="Blue rectangle"/>
          <p:cNvSpPr/>
          <p:nvPr/>
        </p:nvSpPr>
        <p:spPr>
          <a:xfrm>
            <a:off x="5502275" y="1692008"/>
            <a:ext cx="6689725" cy="3528060"/>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2" name="Title 1"/>
          <p:cNvSpPr>
            <a:spLocks noGrp="1"/>
          </p:cNvSpPr>
          <p:nvPr>
            <p:ph type="title"/>
          </p:nvPr>
        </p:nvSpPr>
        <p:spPr bwMode="white">
          <a:xfrm>
            <a:off x="5959571" y="2331086"/>
            <a:ext cx="5165558" cy="833856"/>
          </a:xfrm>
        </p:spPr>
        <p:txBody>
          <a:bodyPr/>
          <a:lstStyle/>
          <a:p>
            <a:r>
              <a:rPr lang="en-US" dirty="0">
                <a:solidFill>
                  <a:schemeClr val="bg1"/>
                </a:solidFill>
                <a:latin typeface="+mn-lt"/>
              </a:rPr>
              <a:t>INFOLOGIA</a:t>
            </a:r>
            <a:endParaRPr lang="en-US" dirty="0">
              <a:latin typeface="+mn-lt"/>
            </a:endParaRPr>
          </a:p>
        </p:txBody>
      </p:sp>
      <p:sp>
        <p:nvSpPr>
          <p:cNvPr id="3" name="Slide Number Placeholder 2"/>
          <p:cNvSpPr>
            <a:spLocks noGrp="1"/>
          </p:cNvSpPr>
          <p:nvPr>
            <p:ph type="sldNum" sz="quarter" idx="12"/>
          </p:nvPr>
        </p:nvSpPr>
        <p:spPr/>
        <p:txBody>
          <a:bodyPr/>
          <a:lstStyle/>
          <a:p>
            <a:pPr algn="ctr"/>
            <a:fld id="{82EE24B5-652C-4DB5-B7C3-B5BBEC1280B1}" type="slidenum">
              <a:rPr lang="en-US" smtClean="0"/>
              <a:t>14</a:t>
            </a:fld>
            <a:endParaRPr lang="en-US" dirty="0"/>
          </a:p>
        </p:txBody>
      </p:sp>
      <p:sp>
        <p:nvSpPr>
          <p:cNvPr id="7" name="object 9" descr="Beige rectangle"/>
          <p:cNvSpPr/>
          <p:nvPr/>
        </p:nvSpPr>
        <p:spPr bwMode="white">
          <a:xfrm>
            <a:off x="6075395" y="3042423"/>
            <a:ext cx="2408206" cy="45719"/>
          </a:xfrm>
          <a:custGeom>
            <a:avLst/>
            <a:gdLst/>
            <a:ahLst/>
            <a:cxnLst/>
            <a:rect l="l" t="t" r="r" b="b"/>
            <a:pathLst>
              <a:path w="2642870">
                <a:moveTo>
                  <a:pt x="0" y="0"/>
                </a:moveTo>
                <a:lnTo>
                  <a:pt x="2642616" y="0"/>
                </a:lnTo>
              </a:path>
            </a:pathLst>
          </a:custGeom>
          <a:ln w="54863">
            <a:solidFill>
              <a:schemeClr val="accent1"/>
            </a:solidFill>
          </a:ln>
        </p:spPr>
        <p:txBody>
          <a:bodyPr wrap="square" lIns="0" tIns="0" rIns="0" bIns="0" rtlCol="0"/>
          <a:lstStyle/>
          <a:p>
            <a:endParaRPr lang="en-US" dirty="0"/>
          </a:p>
        </p:txBody>
      </p:sp>
      <p:sp>
        <p:nvSpPr>
          <p:cNvPr id="9" name="Content Placeholder 3"/>
          <p:cNvSpPr txBox="1"/>
          <p:nvPr/>
        </p:nvSpPr>
        <p:spPr bwMode="white">
          <a:xfrm>
            <a:off x="5962957" y="3217631"/>
            <a:ext cx="6226661" cy="16033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0" i="0" dirty="0">
                <a:solidFill>
                  <a:schemeClr val="bg1"/>
                </a:solidFill>
                <a:effectLst/>
              </a:rPr>
              <a:t>We are young professionals who mainly concentrate on providing quality solution to our clients. Our specialty is rooted in our innovative approach and dedication which has been inculcated in us to proffer world-class solution.</a:t>
            </a:r>
            <a:endParaRPr lang="en-US" sz="1800" i="1" spc="-25" dirty="0">
              <a:solidFill>
                <a:schemeClr val="bg1"/>
              </a:solidFill>
              <a:cs typeface="Arial" panose="020B0604020202020204"/>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8163" y="5690027"/>
            <a:ext cx="4036966" cy="11572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Placeholder 47" descr="A group of people in a room through a glass wall"/>
          <p:cNvPicPr>
            <a:picLocks noChangeAspect="1"/>
          </p:cNvPicPr>
          <p:nvPr/>
        </p:nvPicPr>
        <p:blipFill>
          <a:blip r:embed="rId3" cstate="screen"/>
          <a:srcRect/>
          <a:stretch>
            <a:fillRect/>
          </a:stretch>
        </p:blipFill>
        <p:spPr>
          <a:xfrm>
            <a:off x="0" y="0"/>
            <a:ext cx="12192000" cy="6786563"/>
          </a:xfrm>
          <a:prstGeom prst="rect">
            <a:avLst/>
          </a:prstGeom>
        </p:spPr>
      </p:pic>
      <p:sp>
        <p:nvSpPr>
          <p:cNvPr id="7" name="object 3" descr="Blue rectangle"/>
          <p:cNvSpPr/>
          <p:nvPr/>
        </p:nvSpPr>
        <p:spPr>
          <a:xfrm>
            <a:off x="0" y="0"/>
            <a:ext cx="12191999"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5" name="Content Placeholder 4"/>
          <p:cNvSpPr txBox="1"/>
          <p:nvPr/>
        </p:nvSpPr>
        <p:spPr>
          <a:xfrm>
            <a:off x="5835741" y="1317396"/>
            <a:ext cx="6348413" cy="4283303"/>
          </a:xfrm>
          <a:prstGeom prst="rect">
            <a:avLst/>
          </a:prstGeom>
          <a:solidFill>
            <a:schemeClr val="accent2"/>
          </a:solidFill>
        </p:spPr>
        <p:txBody>
          <a:bodyPr lIns="1548000" tIns="216000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100"/>
              </a:spcBef>
              <a:buFont typeface="Arial" panose="020B0604020202020204" pitchFamily="34" charset="0"/>
              <a:buNone/>
            </a:pPr>
            <a:r>
              <a:rPr lang="en-US" sz="2500" b="1" i="1" spc="60" dirty="0">
                <a:solidFill>
                  <a:schemeClr val="bg2">
                    <a:lumMod val="20000"/>
                    <a:lumOff val="80000"/>
                    <a:alpha val="75000"/>
                  </a:schemeClr>
                </a:solidFill>
                <a:cs typeface="Arial" panose="020B0604020202020204"/>
              </a:rPr>
              <a:t>Rafeeq Raja M</a:t>
            </a:r>
            <a:endParaRPr lang="en-US" sz="2500" b="1" i="1" dirty="0">
              <a:solidFill>
                <a:schemeClr val="bg2">
                  <a:lumMod val="20000"/>
                  <a:lumOff val="80000"/>
                  <a:alpha val="75000"/>
                </a:schemeClr>
              </a:solidFill>
              <a:cs typeface="Arial" panose="020B0604020202020204"/>
            </a:endParaRPr>
          </a:p>
          <a:p>
            <a:pPr marL="0" marR="5080" indent="0">
              <a:lnSpc>
                <a:spcPct val="100000"/>
              </a:lnSpc>
              <a:buFont typeface="Arial" panose="020B0604020202020204" pitchFamily="34" charset="0"/>
              <a:buNone/>
            </a:pPr>
            <a:r>
              <a:rPr lang="en-US" sz="2500" b="1" i="1" spc="70" dirty="0">
                <a:solidFill>
                  <a:schemeClr val="bg2">
                    <a:lumMod val="20000"/>
                    <a:lumOff val="80000"/>
                    <a:alpha val="75000"/>
                  </a:schemeClr>
                </a:solidFill>
                <a:cs typeface="Arial" panose="020B0604020202020204"/>
                <a:hlinkClick r:id="rId4"/>
              </a:rPr>
              <a:t>rafeeq@infologia.in</a:t>
            </a:r>
            <a:endParaRPr lang="en-US" sz="2500" b="1" i="1" spc="70" dirty="0">
              <a:solidFill>
                <a:schemeClr val="bg2">
                  <a:lumMod val="20000"/>
                  <a:lumOff val="80000"/>
                  <a:alpha val="75000"/>
                </a:schemeClr>
              </a:solidFill>
              <a:cs typeface="Arial" panose="020B0604020202020204"/>
            </a:endParaRPr>
          </a:p>
          <a:p>
            <a:pPr marL="0" marR="5080" indent="0">
              <a:lnSpc>
                <a:spcPct val="100000"/>
              </a:lnSpc>
              <a:buFont typeface="Arial" panose="020B0604020202020204" pitchFamily="34" charset="0"/>
              <a:buNone/>
            </a:pPr>
            <a:r>
              <a:rPr lang="en-US" sz="2500" b="1" i="1" spc="45" dirty="0">
                <a:solidFill>
                  <a:schemeClr val="bg2">
                    <a:lumMod val="20000"/>
                    <a:lumOff val="80000"/>
                    <a:alpha val="75000"/>
                  </a:schemeClr>
                </a:solidFill>
                <a:cs typeface="Arial" panose="020B0604020202020204"/>
              </a:rPr>
              <a:t>+91 9551753970</a:t>
            </a:r>
          </a:p>
          <a:p>
            <a:pPr marL="0" marR="5080" indent="0">
              <a:lnSpc>
                <a:spcPct val="100000"/>
              </a:lnSpc>
              <a:buFont typeface="Arial" panose="020B0604020202020204" pitchFamily="34" charset="0"/>
              <a:buNone/>
            </a:pPr>
            <a:r>
              <a:rPr lang="en-US" sz="2500" b="1" i="1" spc="45" dirty="0">
                <a:solidFill>
                  <a:schemeClr val="bg2">
                    <a:lumMod val="20000"/>
                    <a:lumOff val="80000"/>
                    <a:alpha val="75000"/>
                  </a:schemeClr>
                </a:solidFill>
                <a:cs typeface="Arial" panose="020B0604020202020204"/>
              </a:rPr>
              <a:t>www.Infologia.in</a:t>
            </a:r>
            <a:endParaRPr lang="en-US" sz="2500" b="1" i="1" dirty="0">
              <a:solidFill>
                <a:schemeClr val="bg2">
                  <a:lumMod val="20000"/>
                  <a:lumOff val="80000"/>
                  <a:alpha val="75000"/>
                </a:schemeClr>
              </a:solidFill>
              <a:cs typeface="Arial" panose="020B0604020202020204"/>
            </a:endParaRPr>
          </a:p>
          <a:p>
            <a:pPr marL="0" indent="0">
              <a:lnSpc>
                <a:spcPct val="125000"/>
              </a:lnSpc>
              <a:buFont typeface="Arial" panose="020B0604020202020204" pitchFamily="34" charset="0"/>
              <a:buNone/>
            </a:pPr>
            <a:endParaRPr lang="en-US" sz="2500" b="1" dirty="0">
              <a:solidFill>
                <a:schemeClr val="bg2">
                  <a:alpha val="50000"/>
                </a:schemeClr>
              </a:solidFill>
            </a:endParaRPr>
          </a:p>
        </p:txBody>
      </p:sp>
      <p:sp>
        <p:nvSpPr>
          <p:cNvPr id="6" name="object 6" descr="Beige rectangle"/>
          <p:cNvSpPr/>
          <p:nvPr/>
        </p:nvSpPr>
        <p:spPr bwMode="ltGray">
          <a:xfrm>
            <a:off x="6959841" y="2839133"/>
            <a:ext cx="4176000" cy="0"/>
          </a:xfrm>
          <a:custGeom>
            <a:avLst/>
            <a:gdLst/>
            <a:ahLst/>
            <a:cxnLst/>
            <a:rect l="l" t="t" r="r" b="b"/>
            <a:pathLst>
              <a:path w="4206240">
                <a:moveTo>
                  <a:pt x="0" y="0"/>
                </a:moveTo>
                <a:lnTo>
                  <a:pt x="4206240" y="0"/>
                </a:lnTo>
              </a:path>
            </a:pathLst>
          </a:custGeom>
          <a:ln w="54863">
            <a:solidFill>
              <a:schemeClr val="accent1"/>
            </a:solidFill>
          </a:ln>
        </p:spPr>
        <p:txBody>
          <a:bodyPr wrap="square" lIns="0" tIns="0" rIns="0" bIns="0" rtlCol="0"/>
          <a:lstStyle/>
          <a:p>
            <a:endParaRPr lang="en-US" dirty="0"/>
          </a:p>
        </p:txBody>
      </p:sp>
      <p:sp>
        <p:nvSpPr>
          <p:cNvPr id="2" name="Title 1"/>
          <p:cNvSpPr>
            <a:spLocks noGrp="1"/>
          </p:cNvSpPr>
          <p:nvPr>
            <p:ph type="title"/>
          </p:nvPr>
        </p:nvSpPr>
        <p:spPr bwMode="ltGray">
          <a:xfrm>
            <a:off x="6775180" y="1767819"/>
            <a:ext cx="4859215" cy="1325563"/>
          </a:xfrm>
        </p:spPr>
        <p:txBody>
          <a:bodyPr>
            <a:normAutofit/>
          </a:bodyPr>
          <a:lstStyle/>
          <a:p>
            <a:r>
              <a:rPr lang="en-US" sz="5000" dirty="0">
                <a:solidFill>
                  <a:schemeClr val="bg1"/>
                </a:solidFill>
              </a:rPr>
              <a:t>THANK YOU!</a:t>
            </a:r>
            <a:endParaRPr lang="en-US" sz="5000" dirty="0"/>
          </a:p>
        </p:txBody>
      </p:sp>
      <p:pic>
        <p:nvPicPr>
          <p:cNvPr id="11" name="Graphic 10" descr="Person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67948" y="3507473"/>
            <a:ext cx="342900" cy="352425"/>
          </a:xfrm>
          <a:prstGeom prst="rect">
            <a:avLst/>
          </a:prstGeom>
        </p:spPr>
      </p:pic>
      <p:pic>
        <p:nvPicPr>
          <p:cNvPr id="12" name="Graphic 11" descr="Mail icon"/>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67948" y="4028599"/>
            <a:ext cx="342900" cy="342900"/>
          </a:xfrm>
          <a:prstGeom prst="rect">
            <a:avLst/>
          </a:prstGeom>
        </p:spPr>
      </p:pic>
      <p:pic>
        <p:nvPicPr>
          <p:cNvPr id="13" name="Graphic 12" descr="Phone icon"/>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71111" y="4540200"/>
            <a:ext cx="342900" cy="342900"/>
          </a:xfrm>
          <a:prstGeom prst="rect">
            <a:avLst/>
          </a:prstGeom>
        </p:spPr>
      </p:pic>
      <p:pic>
        <p:nvPicPr>
          <p:cNvPr id="28" name="Graphic 27" descr="Internet"/>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p:blipFill>
        <p:spPr>
          <a:xfrm>
            <a:off x="6906916" y="5063433"/>
            <a:ext cx="284471" cy="284471"/>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403"/>
            <a:ext cx="10515600" cy="477364"/>
          </a:xfrm>
        </p:spPr>
        <p:txBody>
          <a:bodyPr>
            <a:normAutofit fontScale="90000"/>
          </a:bodyPr>
          <a:lstStyle/>
          <a:p>
            <a:r>
              <a:rPr lang="en-US" dirty="0">
                <a:latin typeface="+mn-lt"/>
              </a:rPr>
              <a:t>Deliverables</a:t>
            </a:r>
          </a:p>
        </p:txBody>
      </p:sp>
      <p:sp>
        <p:nvSpPr>
          <p:cNvPr id="3" name="Slide Number Placeholder 2"/>
          <p:cNvSpPr>
            <a:spLocks noGrp="1"/>
          </p:cNvSpPr>
          <p:nvPr>
            <p:ph type="sldNum" sz="quarter" idx="12"/>
          </p:nvPr>
        </p:nvSpPr>
        <p:spPr/>
        <p:txBody>
          <a:bodyPr/>
          <a:lstStyle/>
          <a:p>
            <a:pPr algn="ctr"/>
            <a:fld id="{82EE24B5-652C-4DB5-B7C3-B5BBEC1280B1}" type="slidenum">
              <a:rPr lang="en-US" smtClean="0"/>
              <a:t>16</a:t>
            </a:fld>
            <a:endParaRPr lang="en-US" dirty="0"/>
          </a:p>
        </p:txBody>
      </p:sp>
      <p:sp>
        <p:nvSpPr>
          <p:cNvPr id="6" name="object 18" descr="Beige rectangle"/>
          <p:cNvSpPr/>
          <p:nvPr/>
        </p:nvSpPr>
        <p:spPr>
          <a:xfrm>
            <a:off x="919832" y="562649"/>
            <a:ext cx="2209867" cy="67823"/>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graphicFrame>
        <p:nvGraphicFramePr>
          <p:cNvPr id="7" name="Content Placeholder 7" descr="Table"/>
          <p:cNvGraphicFramePr/>
          <p:nvPr/>
        </p:nvGraphicFramePr>
        <p:xfrm>
          <a:off x="1217628" y="712289"/>
          <a:ext cx="9756743" cy="2659996"/>
        </p:xfrm>
        <a:graphic>
          <a:graphicData uri="http://schemas.openxmlformats.org/drawingml/2006/table">
            <a:tbl>
              <a:tblPr firstRow="1" bandRow="1">
                <a:tableStyleId>{21E4AEA4-8DFA-4A89-87EB-49C32662AFE0}</a:tableStyleId>
              </a:tblPr>
              <a:tblGrid>
                <a:gridCol w="966404">
                  <a:extLst>
                    <a:ext uri="{9D8B030D-6E8A-4147-A177-3AD203B41FA5}">
                      <a16:colId xmlns:a16="http://schemas.microsoft.com/office/drawing/2014/main" val="20000"/>
                    </a:ext>
                  </a:extLst>
                </a:gridCol>
                <a:gridCol w="6535762">
                  <a:extLst>
                    <a:ext uri="{9D8B030D-6E8A-4147-A177-3AD203B41FA5}">
                      <a16:colId xmlns:a16="http://schemas.microsoft.com/office/drawing/2014/main" val="20001"/>
                    </a:ext>
                  </a:extLst>
                </a:gridCol>
                <a:gridCol w="2254577">
                  <a:extLst>
                    <a:ext uri="{9D8B030D-6E8A-4147-A177-3AD203B41FA5}">
                      <a16:colId xmlns:a16="http://schemas.microsoft.com/office/drawing/2014/main" val="20002"/>
                    </a:ext>
                  </a:extLst>
                </a:gridCol>
              </a:tblGrid>
              <a:tr h="293905">
                <a:tc>
                  <a:txBody>
                    <a:bodyPr/>
                    <a:lstStyle/>
                    <a:p>
                      <a:pPr marL="227965" algn="ctr">
                        <a:lnSpc>
                          <a:spcPct val="100000"/>
                        </a:lnSpc>
                        <a:spcBef>
                          <a:spcPts val="785"/>
                        </a:spcBef>
                      </a:pPr>
                      <a:r>
                        <a:rPr lang="en-US" sz="1400" dirty="0"/>
                        <a:t>S.No</a:t>
                      </a:r>
                      <a:endParaRPr sz="1400" dirty="0">
                        <a:solidFill>
                          <a:schemeClr val="bg2">
                            <a:lumMod val="20000"/>
                            <a:lumOff val="80000"/>
                          </a:schemeClr>
                        </a:solidFill>
                        <a:latin typeface="+mn-lt"/>
                        <a:cs typeface="Arial" panose="020B0604020202020204"/>
                      </a:endParaRPr>
                    </a:p>
                  </a:txBody>
                  <a:tcPr marL="0" marR="0" marT="0" marB="0" anchor="ctr"/>
                </a:tc>
                <a:tc>
                  <a:txBody>
                    <a:bodyPr/>
                    <a:lstStyle/>
                    <a:p>
                      <a:pPr marL="350520" algn="ctr">
                        <a:lnSpc>
                          <a:spcPct val="100000"/>
                        </a:lnSpc>
                        <a:spcBef>
                          <a:spcPts val="785"/>
                        </a:spcBef>
                      </a:pPr>
                      <a:r>
                        <a:rPr lang="en-US" sz="1400" dirty="0"/>
                        <a:t>Deliverables Description</a:t>
                      </a:r>
                      <a:endParaRPr sz="1400" dirty="0">
                        <a:solidFill>
                          <a:schemeClr val="bg2">
                            <a:lumMod val="20000"/>
                            <a:lumOff val="80000"/>
                          </a:schemeClr>
                        </a:solidFill>
                        <a:latin typeface="+mn-lt"/>
                        <a:cs typeface="Arial" panose="020B0604020202020204"/>
                      </a:endParaRPr>
                    </a:p>
                  </a:txBody>
                  <a:tcPr marL="0" marR="0" marT="0" marB="0" anchor="ctr"/>
                </a:tc>
                <a:tc>
                  <a:txBody>
                    <a:bodyPr/>
                    <a:lstStyle/>
                    <a:p>
                      <a:pPr marL="367665" algn="l">
                        <a:lnSpc>
                          <a:spcPct val="100000"/>
                        </a:lnSpc>
                        <a:spcBef>
                          <a:spcPts val="785"/>
                        </a:spcBef>
                      </a:pPr>
                      <a:r>
                        <a:rPr lang="en-US" sz="1400" dirty="0"/>
                        <a:t>Days</a:t>
                      </a:r>
                      <a:endParaRPr sz="1400" dirty="0">
                        <a:solidFill>
                          <a:schemeClr val="bg2">
                            <a:lumMod val="20000"/>
                            <a:lumOff val="80000"/>
                          </a:schemeClr>
                        </a:solidFill>
                        <a:latin typeface="+mn-lt"/>
                        <a:cs typeface="Arial" panose="020B0604020202020204"/>
                      </a:endParaRPr>
                    </a:p>
                  </a:txBody>
                  <a:tcPr marL="0" marR="0" marT="0" marB="0" anchor="ctr"/>
                </a:tc>
                <a:extLst>
                  <a:ext uri="{0D108BD9-81ED-4DB2-BD59-A6C34878D82A}">
                    <a16:rowId xmlns:a16="http://schemas.microsoft.com/office/drawing/2014/main" val="10000"/>
                  </a:ext>
                </a:extLst>
              </a:tr>
              <a:tr h="293905">
                <a:tc>
                  <a:txBody>
                    <a:bodyPr/>
                    <a:lstStyle/>
                    <a:p>
                      <a:pPr marL="227965" algn="ctr">
                        <a:lnSpc>
                          <a:spcPct val="100000"/>
                        </a:lnSpc>
                        <a:spcBef>
                          <a:spcPts val="415"/>
                        </a:spcBef>
                      </a:pPr>
                      <a:r>
                        <a:rPr lang="en-US" sz="1400" spc="-30" dirty="0">
                          <a:solidFill>
                            <a:schemeClr val="tx2"/>
                          </a:solidFill>
                        </a:rPr>
                        <a:t>1</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415"/>
                        </a:spcBef>
                      </a:pPr>
                      <a:r>
                        <a:rPr lang="en-US" sz="1400" spc="-5" dirty="0">
                          <a:solidFill>
                            <a:schemeClr val="tx2"/>
                          </a:solidFill>
                        </a:rPr>
                        <a:t>CargoWise Inbound and Outbound setup / Work flow trigger</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3 Days</a:t>
                      </a:r>
                      <a:endParaRPr sz="1200" b="1" spc="-5"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1"/>
                  </a:ext>
                </a:extLst>
              </a:tr>
              <a:tr h="338192">
                <a:tc>
                  <a:txBody>
                    <a:bodyPr/>
                    <a:lstStyle/>
                    <a:p>
                      <a:pPr marL="227965" algn="ctr">
                        <a:lnSpc>
                          <a:spcPct val="100000"/>
                        </a:lnSpc>
                        <a:spcBef>
                          <a:spcPts val="370"/>
                        </a:spcBef>
                      </a:pPr>
                      <a:r>
                        <a:rPr lang="en-US" sz="1400" spc="-5" dirty="0">
                          <a:solidFill>
                            <a:schemeClr val="tx2"/>
                          </a:solidFill>
                        </a:rPr>
                        <a:t>2</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US" sz="1400" spc="-5" dirty="0">
                          <a:solidFill>
                            <a:schemeClr val="tx2"/>
                          </a:solidFill>
                        </a:rPr>
                        <a:t>Middleware Application / </a:t>
                      </a:r>
                      <a:r>
                        <a:rPr lang="en-IN" sz="1400" dirty="0">
                          <a:solidFill>
                            <a:schemeClr val="tx2"/>
                          </a:solidFill>
                        </a:rPr>
                        <a:t>SQL configuration and data structure </a:t>
                      </a:r>
                      <a:r>
                        <a:rPr lang="en-US" sz="1400" spc="-5" dirty="0">
                          <a:solidFill>
                            <a:schemeClr val="tx2"/>
                          </a:solidFill>
                        </a:rPr>
                        <a:t>/ Email Trigger</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10 Days</a:t>
                      </a:r>
                    </a:p>
                  </a:txBody>
                  <a:tcPr marL="0" marR="0" marT="0" marB="0" anchor="ctr"/>
                </a:tc>
                <a:extLst>
                  <a:ext uri="{0D108BD9-81ED-4DB2-BD59-A6C34878D82A}">
                    <a16:rowId xmlns:a16="http://schemas.microsoft.com/office/drawing/2014/main" val="10002"/>
                  </a:ext>
                </a:extLst>
              </a:tr>
              <a:tr h="425513">
                <a:tc>
                  <a:txBody>
                    <a:bodyPr/>
                    <a:lstStyle/>
                    <a:p>
                      <a:pPr marL="227965" algn="ctr">
                        <a:lnSpc>
                          <a:spcPct val="100000"/>
                        </a:lnSpc>
                        <a:spcBef>
                          <a:spcPts val="370"/>
                        </a:spcBef>
                      </a:pPr>
                      <a:r>
                        <a:rPr lang="en-IN" sz="1400" dirty="0">
                          <a:solidFill>
                            <a:schemeClr val="tx2"/>
                          </a:solidFill>
                        </a:rPr>
                        <a:t>3</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IN" sz="1400" dirty="0">
                          <a:solidFill>
                            <a:schemeClr val="tx2"/>
                          </a:solidFill>
                        </a:rPr>
                        <a:t>Window server configuration for Middleware and Integration Application</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2 Days</a:t>
                      </a:r>
                      <a:endParaRPr sz="1200" b="1" spc="-5"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3"/>
                  </a:ext>
                </a:extLst>
              </a:tr>
              <a:tr h="338192">
                <a:tc>
                  <a:txBody>
                    <a:bodyPr/>
                    <a:lstStyle/>
                    <a:p>
                      <a:pPr marL="227965" algn="ctr">
                        <a:lnSpc>
                          <a:spcPct val="100000"/>
                        </a:lnSpc>
                        <a:spcBef>
                          <a:spcPts val="370"/>
                        </a:spcBef>
                      </a:pPr>
                      <a:r>
                        <a:rPr lang="en-IN" sz="1400" dirty="0">
                          <a:solidFill>
                            <a:schemeClr val="tx2"/>
                          </a:solidFill>
                        </a:rPr>
                        <a:t>4</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IN" sz="1400" dirty="0">
                          <a:solidFill>
                            <a:schemeClr val="tx2"/>
                          </a:solidFill>
                        </a:rPr>
                        <a:t>Integration application and XML / Json data conversion</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11 Days</a:t>
                      </a:r>
                      <a:endParaRPr sz="1200" b="1" spc="-5"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4"/>
                  </a:ext>
                </a:extLst>
              </a:tr>
              <a:tr h="338192">
                <a:tc>
                  <a:txBody>
                    <a:bodyPr/>
                    <a:lstStyle/>
                    <a:p>
                      <a:pPr marL="227965" algn="ctr">
                        <a:lnSpc>
                          <a:spcPct val="100000"/>
                        </a:lnSpc>
                        <a:spcBef>
                          <a:spcPts val="370"/>
                        </a:spcBef>
                      </a:pPr>
                      <a:r>
                        <a:rPr lang="en-IN" sz="1400" dirty="0">
                          <a:solidFill>
                            <a:schemeClr val="tx2"/>
                          </a:solidFill>
                        </a:rPr>
                        <a:t>5</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IN" sz="1400" dirty="0">
                          <a:solidFill>
                            <a:schemeClr val="tx2"/>
                          </a:solidFill>
                        </a:rPr>
                        <a:t>Cargoes API setup and data push</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3 Days</a:t>
                      </a:r>
                      <a:endParaRPr sz="1200" b="1" spc="-5"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5"/>
                  </a:ext>
                </a:extLst>
              </a:tr>
              <a:tr h="338192">
                <a:tc>
                  <a:txBody>
                    <a:bodyPr/>
                    <a:lstStyle/>
                    <a:p>
                      <a:pPr marL="227965" algn="ctr">
                        <a:lnSpc>
                          <a:spcPct val="100000"/>
                        </a:lnSpc>
                        <a:spcBef>
                          <a:spcPts val="370"/>
                        </a:spcBef>
                      </a:pPr>
                      <a:r>
                        <a:rPr lang="en-IN" sz="1400" dirty="0">
                          <a:solidFill>
                            <a:schemeClr val="tx2"/>
                          </a:solidFill>
                          <a:latin typeface="+mn-lt"/>
                          <a:cs typeface="Arial" panose="020B0604020202020204"/>
                        </a:rPr>
                        <a:t>6</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IN" sz="1400" dirty="0">
                          <a:solidFill>
                            <a:schemeClr val="tx2"/>
                          </a:solidFill>
                          <a:latin typeface="+mn-lt"/>
                          <a:cs typeface="Arial" panose="020B0604020202020204"/>
                        </a:rPr>
                        <a:t>Testing and Deployment</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11 Days</a:t>
                      </a:r>
                      <a:endParaRPr sz="1200" b="1" spc="-5"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6"/>
                  </a:ext>
                </a:extLst>
              </a:tr>
              <a:tr h="293905">
                <a:tc>
                  <a:txBody>
                    <a:bodyPr/>
                    <a:lstStyle/>
                    <a:p>
                      <a:pPr marL="227965">
                        <a:lnSpc>
                          <a:spcPct val="100000"/>
                        </a:lnSpc>
                        <a:spcBef>
                          <a:spcPts val="370"/>
                        </a:spcBef>
                      </a:pPr>
                      <a:endParaRPr sz="1400" dirty="0">
                        <a:solidFill>
                          <a:schemeClr val="tx2">
                            <a:alpha val="70000"/>
                          </a:schemeClr>
                        </a:solidFill>
                        <a:latin typeface="+mn-lt"/>
                        <a:cs typeface="Arial" panose="020B0604020202020204"/>
                      </a:endParaRPr>
                    </a:p>
                  </a:txBody>
                  <a:tcPr marL="0" marR="0" marT="0" marB="0" anchor="ctr"/>
                </a:tc>
                <a:tc>
                  <a:txBody>
                    <a:bodyPr/>
                    <a:lstStyle/>
                    <a:p>
                      <a:pPr marL="350520" algn="r">
                        <a:lnSpc>
                          <a:spcPct val="100000"/>
                        </a:lnSpc>
                        <a:spcBef>
                          <a:spcPts val="370"/>
                        </a:spcBef>
                      </a:pPr>
                      <a:r>
                        <a:rPr lang="en-US" sz="1400" b="1" dirty="0"/>
                        <a:t>Total no of days  </a:t>
                      </a:r>
                      <a:endParaRPr sz="1400" b="1" dirty="0">
                        <a:solidFill>
                          <a:schemeClr val="tx2">
                            <a:alpha val="70000"/>
                          </a:schemeClr>
                        </a:solidFill>
                        <a:latin typeface="+mn-lt"/>
                        <a:cs typeface="Arial" panose="020B0604020202020204"/>
                      </a:endParaRPr>
                    </a:p>
                  </a:txBody>
                  <a:tcPr marL="0" marR="0" marT="0" marB="0" anchor="ctr"/>
                </a:tc>
                <a:tc>
                  <a:txBody>
                    <a:bodyPr/>
                    <a:lstStyle/>
                    <a:p>
                      <a:pPr marL="367665" marR="0" lvl="0" indent="0" algn="l" defTabSz="914400" rtl="0" eaLnBrk="1" fontAlgn="auto" latinLnBrk="0" hangingPunct="1">
                        <a:lnSpc>
                          <a:spcPct val="100000"/>
                        </a:lnSpc>
                        <a:spcBef>
                          <a:spcPts val="370"/>
                        </a:spcBef>
                        <a:spcAft>
                          <a:spcPts val="0"/>
                        </a:spcAft>
                        <a:buClrTx/>
                        <a:buSzTx/>
                        <a:buFontTx/>
                        <a:buNone/>
                        <a:defRPr/>
                      </a:pPr>
                      <a:r>
                        <a:rPr lang="en-IN" sz="1600" b="1" dirty="0">
                          <a:solidFill>
                            <a:schemeClr val="tx1">
                              <a:alpha val="70000"/>
                            </a:schemeClr>
                          </a:solidFill>
                          <a:latin typeface="+mn-lt"/>
                          <a:cs typeface="Arial" panose="020B0604020202020204"/>
                        </a:rPr>
                        <a:t>40 Working  Days</a:t>
                      </a:r>
                    </a:p>
                  </a:txBody>
                  <a:tcPr marL="0" marR="0" marT="0" marB="0" anchor="ctr"/>
                </a:tc>
                <a:extLst>
                  <a:ext uri="{0D108BD9-81ED-4DB2-BD59-A6C34878D82A}">
                    <a16:rowId xmlns:a16="http://schemas.microsoft.com/office/drawing/2014/main" val="10007"/>
                  </a:ext>
                </a:extLst>
              </a:tr>
            </a:tbl>
          </a:graphicData>
        </a:graphic>
      </p:graphicFrame>
      <p:sp>
        <p:nvSpPr>
          <p:cNvPr id="8" name="Title 1"/>
          <p:cNvSpPr txBox="1"/>
          <p:nvPr/>
        </p:nvSpPr>
        <p:spPr>
          <a:xfrm>
            <a:off x="990600" y="3772718"/>
            <a:ext cx="10515600" cy="47736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a:lstStyle>
          <a:p>
            <a:r>
              <a:rPr lang="en-US" dirty="0">
                <a:latin typeface="+mn-lt"/>
              </a:rPr>
              <a:t>Resource Allocation</a:t>
            </a:r>
          </a:p>
        </p:txBody>
      </p:sp>
      <p:graphicFrame>
        <p:nvGraphicFramePr>
          <p:cNvPr id="9" name="Content Placeholder 7" descr="Table"/>
          <p:cNvGraphicFramePr/>
          <p:nvPr/>
        </p:nvGraphicFramePr>
        <p:xfrm>
          <a:off x="1236480" y="4328476"/>
          <a:ext cx="9756743" cy="1910320"/>
        </p:xfrm>
        <a:graphic>
          <a:graphicData uri="http://schemas.openxmlformats.org/drawingml/2006/table">
            <a:tbl>
              <a:tblPr firstRow="1" bandRow="1">
                <a:tableStyleId>{21E4AEA4-8DFA-4A89-87EB-49C32662AFE0}</a:tableStyleId>
              </a:tblPr>
              <a:tblGrid>
                <a:gridCol w="966404">
                  <a:extLst>
                    <a:ext uri="{9D8B030D-6E8A-4147-A177-3AD203B41FA5}">
                      <a16:colId xmlns:a16="http://schemas.microsoft.com/office/drawing/2014/main" val="20000"/>
                    </a:ext>
                  </a:extLst>
                </a:gridCol>
                <a:gridCol w="7149202">
                  <a:extLst>
                    <a:ext uri="{9D8B030D-6E8A-4147-A177-3AD203B41FA5}">
                      <a16:colId xmlns:a16="http://schemas.microsoft.com/office/drawing/2014/main" val="20001"/>
                    </a:ext>
                  </a:extLst>
                </a:gridCol>
                <a:gridCol w="1641137">
                  <a:extLst>
                    <a:ext uri="{9D8B030D-6E8A-4147-A177-3AD203B41FA5}">
                      <a16:colId xmlns:a16="http://schemas.microsoft.com/office/drawing/2014/main" val="20002"/>
                    </a:ext>
                  </a:extLst>
                </a:gridCol>
              </a:tblGrid>
              <a:tr h="276865">
                <a:tc>
                  <a:txBody>
                    <a:bodyPr/>
                    <a:lstStyle/>
                    <a:p>
                      <a:pPr marL="227965" algn="ctr">
                        <a:lnSpc>
                          <a:spcPct val="100000"/>
                        </a:lnSpc>
                        <a:spcBef>
                          <a:spcPts val="785"/>
                        </a:spcBef>
                      </a:pPr>
                      <a:r>
                        <a:rPr lang="en-US" sz="1400" dirty="0"/>
                        <a:t>S.No</a:t>
                      </a:r>
                      <a:endParaRPr sz="1400" dirty="0">
                        <a:solidFill>
                          <a:schemeClr val="bg2">
                            <a:lumMod val="20000"/>
                            <a:lumOff val="80000"/>
                          </a:schemeClr>
                        </a:solidFill>
                        <a:latin typeface="+mn-lt"/>
                        <a:cs typeface="Arial" panose="020B0604020202020204"/>
                      </a:endParaRPr>
                    </a:p>
                  </a:txBody>
                  <a:tcPr marL="0" marR="0" marT="0" marB="0" anchor="ctr"/>
                </a:tc>
                <a:tc>
                  <a:txBody>
                    <a:bodyPr/>
                    <a:lstStyle/>
                    <a:p>
                      <a:pPr marL="350520" algn="ctr">
                        <a:lnSpc>
                          <a:spcPct val="100000"/>
                        </a:lnSpc>
                        <a:spcBef>
                          <a:spcPts val="785"/>
                        </a:spcBef>
                      </a:pPr>
                      <a:r>
                        <a:rPr lang="en-US" sz="1400" dirty="0"/>
                        <a:t>Description</a:t>
                      </a:r>
                      <a:endParaRPr sz="1400" dirty="0">
                        <a:solidFill>
                          <a:schemeClr val="bg2">
                            <a:lumMod val="20000"/>
                            <a:lumOff val="80000"/>
                          </a:schemeClr>
                        </a:solidFill>
                        <a:latin typeface="+mn-lt"/>
                        <a:cs typeface="Arial" panose="020B0604020202020204"/>
                      </a:endParaRPr>
                    </a:p>
                  </a:txBody>
                  <a:tcPr marL="0" marR="0" marT="0" marB="0" anchor="ctr"/>
                </a:tc>
                <a:tc>
                  <a:txBody>
                    <a:bodyPr/>
                    <a:lstStyle/>
                    <a:p>
                      <a:pPr marL="367665" algn="l">
                        <a:lnSpc>
                          <a:spcPct val="100000"/>
                        </a:lnSpc>
                        <a:spcBef>
                          <a:spcPts val="785"/>
                        </a:spcBef>
                      </a:pPr>
                      <a:r>
                        <a:rPr lang="en-US" sz="1400" dirty="0"/>
                        <a:t>No’s</a:t>
                      </a:r>
                      <a:endParaRPr sz="1400" dirty="0">
                        <a:solidFill>
                          <a:schemeClr val="bg2">
                            <a:lumMod val="20000"/>
                            <a:lumOff val="80000"/>
                          </a:schemeClr>
                        </a:solidFill>
                        <a:latin typeface="+mn-lt"/>
                        <a:cs typeface="Arial" panose="020B0604020202020204"/>
                      </a:endParaRPr>
                    </a:p>
                  </a:txBody>
                  <a:tcPr marL="0" marR="0" marT="0" marB="0" anchor="ctr"/>
                </a:tc>
                <a:extLst>
                  <a:ext uri="{0D108BD9-81ED-4DB2-BD59-A6C34878D82A}">
                    <a16:rowId xmlns:a16="http://schemas.microsoft.com/office/drawing/2014/main" val="10000"/>
                  </a:ext>
                </a:extLst>
              </a:tr>
              <a:tr h="276865">
                <a:tc>
                  <a:txBody>
                    <a:bodyPr/>
                    <a:lstStyle/>
                    <a:p>
                      <a:pPr marL="227965" algn="ctr">
                        <a:lnSpc>
                          <a:spcPct val="100000"/>
                        </a:lnSpc>
                        <a:spcBef>
                          <a:spcPts val="415"/>
                        </a:spcBef>
                      </a:pPr>
                      <a:r>
                        <a:rPr lang="en-US" sz="1400" spc="-30" dirty="0">
                          <a:solidFill>
                            <a:schemeClr val="tx2"/>
                          </a:solidFill>
                        </a:rPr>
                        <a:t>1</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415"/>
                        </a:spcBef>
                      </a:pPr>
                      <a:r>
                        <a:rPr lang="en-US" sz="1400" spc="-5" dirty="0">
                          <a:solidFill>
                            <a:schemeClr val="tx2"/>
                          </a:solidFill>
                        </a:rPr>
                        <a:t>Project Manager</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1</a:t>
                      </a:r>
                      <a:endParaRPr sz="1200" b="1" spc="-5"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1"/>
                  </a:ext>
                </a:extLst>
              </a:tr>
              <a:tr h="318583">
                <a:tc>
                  <a:txBody>
                    <a:bodyPr/>
                    <a:lstStyle/>
                    <a:p>
                      <a:pPr marL="227965" algn="ctr">
                        <a:lnSpc>
                          <a:spcPct val="100000"/>
                        </a:lnSpc>
                        <a:spcBef>
                          <a:spcPts val="370"/>
                        </a:spcBef>
                      </a:pPr>
                      <a:r>
                        <a:rPr lang="en-US" sz="1400" spc="-5" dirty="0">
                          <a:solidFill>
                            <a:schemeClr val="tx2"/>
                          </a:solidFill>
                        </a:rPr>
                        <a:t>2</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IN" sz="1400" spc="-5" dirty="0">
                          <a:solidFill>
                            <a:schemeClr val="tx2"/>
                          </a:solidFill>
                        </a:rPr>
                        <a:t>Software architect </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1</a:t>
                      </a:r>
                    </a:p>
                  </a:txBody>
                  <a:tcPr marL="0" marR="0" marT="0" marB="0" anchor="ctr"/>
                </a:tc>
                <a:extLst>
                  <a:ext uri="{0D108BD9-81ED-4DB2-BD59-A6C34878D82A}">
                    <a16:rowId xmlns:a16="http://schemas.microsoft.com/office/drawing/2014/main" val="10002"/>
                  </a:ext>
                </a:extLst>
              </a:tr>
              <a:tr h="400841">
                <a:tc>
                  <a:txBody>
                    <a:bodyPr/>
                    <a:lstStyle/>
                    <a:p>
                      <a:pPr marL="227965" algn="ctr">
                        <a:lnSpc>
                          <a:spcPct val="100000"/>
                        </a:lnSpc>
                        <a:spcBef>
                          <a:spcPts val="370"/>
                        </a:spcBef>
                      </a:pPr>
                      <a:r>
                        <a:rPr lang="en-IN" sz="1400" dirty="0">
                          <a:solidFill>
                            <a:schemeClr val="tx2"/>
                          </a:solidFill>
                        </a:rPr>
                        <a:t>3</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IN" sz="1400" dirty="0">
                          <a:solidFill>
                            <a:schemeClr val="tx2"/>
                          </a:solidFill>
                          <a:latin typeface="+mn-lt"/>
                          <a:cs typeface="Arial" panose="020B0604020202020204"/>
                        </a:rPr>
                        <a:t>Senior Developers</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2</a:t>
                      </a:r>
                      <a:endParaRPr sz="1200" b="1" spc="-5"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3"/>
                  </a:ext>
                </a:extLst>
              </a:tr>
              <a:tr h="318583">
                <a:tc>
                  <a:txBody>
                    <a:bodyPr/>
                    <a:lstStyle/>
                    <a:p>
                      <a:pPr marL="227965" algn="ctr">
                        <a:lnSpc>
                          <a:spcPct val="100000"/>
                        </a:lnSpc>
                        <a:spcBef>
                          <a:spcPts val="370"/>
                        </a:spcBef>
                      </a:pPr>
                      <a:r>
                        <a:rPr lang="en-IN" sz="1400" dirty="0">
                          <a:solidFill>
                            <a:schemeClr val="tx2"/>
                          </a:solidFill>
                        </a:rPr>
                        <a:t>4</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IN" sz="1400" dirty="0">
                          <a:solidFill>
                            <a:schemeClr val="tx2"/>
                          </a:solidFill>
                        </a:rPr>
                        <a:t>Testing Engineer</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1</a:t>
                      </a:r>
                      <a:endParaRPr sz="1200" b="1" spc="-5"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4"/>
                  </a:ext>
                </a:extLst>
              </a:tr>
              <a:tr h="318583">
                <a:tc>
                  <a:txBody>
                    <a:bodyPr/>
                    <a:lstStyle/>
                    <a:p>
                      <a:pPr marL="227965" algn="ctr">
                        <a:lnSpc>
                          <a:spcPct val="100000"/>
                        </a:lnSpc>
                        <a:spcBef>
                          <a:spcPts val="370"/>
                        </a:spcBef>
                      </a:pPr>
                      <a:r>
                        <a:rPr lang="en-IN" sz="1400" dirty="0">
                          <a:solidFill>
                            <a:schemeClr val="tx2"/>
                          </a:solidFill>
                        </a:rPr>
                        <a:t>5</a:t>
                      </a:r>
                      <a:endParaRPr sz="1400" dirty="0">
                        <a:solidFill>
                          <a:schemeClr val="tx2"/>
                        </a:solidFill>
                        <a:latin typeface="+mn-lt"/>
                        <a:cs typeface="Arial" panose="020B0604020202020204"/>
                      </a:endParaRPr>
                    </a:p>
                  </a:txBody>
                  <a:tcPr marL="0" marR="0" marT="0" marB="0" anchor="ctr"/>
                </a:tc>
                <a:tc>
                  <a:txBody>
                    <a:bodyPr/>
                    <a:lstStyle/>
                    <a:p>
                      <a:pPr marL="350520">
                        <a:lnSpc>
                          <a:spcPct val="100000"/>
                        </a:lnSpc>
                        <a:spcBef>
                          <a:spcPts val="370"/>
                        </a:spcBef>
                      </a:pPr>
                      <a:r>
                        <a:rPr lang="en-IN" sz="1400" dirty="0">
                          <a:solidFill>
                            <a:schemeClr val="tx2"/>
                          </a:solidFill>
                        </a:rPr>
                        <a:t>Server Admin</a:t>
                      </a:r>
                      <a:endParaRPr sz="1400" dirty="0">
                        <a:solidFill>
                          <a:schemeClr val="tx2"/>
                        </a:solidFill>
                        <a:latin typeface="+mn-lt"/>
                        <a:cs typeface="Arial" panose="020B0604020202020204"/>
                      </a:endParaRPr>
                    </a:p>
                  </a:txBody>
                  <a:tcPr marL="0" marR="0" marT="0" marB="0" anchor="ctr"/>
                </a:tc>
                <a:tc>
                  <a:txBody>
                    <a:bodyPr/>
                    <a:lstStyle/>
                    <a:p>
                      <a:pPr marL="367665">
                        <a:lnSpc>
                          <a:spcPct val="100000"/>
                        </a:lnSpc>
                        <a:spcBef>
                          <a:spcPts val="415"/>
                        </a:spcBef>
                      </a:pPr>
                      <a:r>
                        <a:rPr lang="en-IN" sz="1200" b="1" spc="-5" dirty="0">
                          <a:solidFill>
                            <a:schemeClr val="tx2"/>
                          </a:solidFill>
                          <a:latin typeface="+mn-lt"/>
                          <a:cs typeface="Arial" panose="020B0604020202020204"/>
                        </a:rPr>
                        <a:t>1</a:t>
                      </a:r>
                      <a:endParaRPr sz="1200" b="1" spc="-5" dirty="0">
                        <a:solidFill>
                          <a:schemeClr val="tx2"/>
                        </a:solidFill>
                        <a:latin typeface="+mn-lt"/>
                        <a:cs typeface="Arial" panose="020B0604020202020204"/>
                      </a:endParaRPr>
                    </a:p>
                  </a:txBody>
                  <a:tcPr marL="0" marR="0" marT="0" marB="0" anchor="ctr"/>
                </a:tc>
                <a:extLst>
                  <a:ext uri="{0D108BD9-81ED-4DB2-BD59-A6C34878D82A}">
                    <a16:rowId xmlns:a16="http://schemas.microsoft.com/office/drawing/2014/main" val="10005"/>
                  </a:ext>
                </a:extLst>
              </a:tr>
            </a:tbl>
          </a:graphicData>
        </a:graphic>
      </p:graphicFrame>
      <p:sp>
        <p:nvSpPr>
          <p:cNvPr id="10" name="object 18" descr="Beige rectangle"/>
          <p:cNvSpPr/>
          <p:nvPr/>
        </p:nvSpPr>
        <p:spPr>
          <a:xfrm>
            <a:off x="1071779" y="4175045"/>
            <a:ext cx="3660477" cy="123578"/>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lgn="ctr"/>
            <a:fld id="{82EE24B5-652C-4DB5-B7C3-B5BBEC1280B1}" type="slidenum">
              <a:rPr lang="en-US" noProof="0" smtClean="0"/>
              <a:t>17</a:t>
            </a:fld>
            <a:endParaRPr lang="en-US" noProof="0" dirty="0"/>
          </a:p>
        </p:txBody>
      </p:sp>
      <p:sp>
        <p:nvSpPr>
          <p:cNvPr id="19" name="TextBox 18"/>
          <p:cNvSpPr txBox="1"/>
          <p:nvPr/>
        </p:nvSpPr>
        <p:spPr>
          <a:xfrm>
            <a:off x="849158" y="704308"/>
            <a:ext cx="3062442" cy="580993"/>
          </a:xfrm>
          <a:prstGeom prst="rect">
            <a:avLst/>
          </a:prstGeom>
          <a:noFill/>
        </p:spPr>
        <p:txBody>
          <a:bodyPr wrap="square">
            <a:spAutoFit/>
          </a:bodyPr>
          <a:lstStyle/>
          <a:p>
            <a:pPr marL="0" marR="0">
              <a:lnSpc>
                <a:spcPct val="107000"/>
              </a:lnSpc>
              <a:spcBef>
                <a:spcPts val="0"/>
              </a:spcBef>
              <a:spcAft>
                <a:spcPts val="800"/>
              </a:spcAft>
            </a:pPr>
            <a:r>
              <a:rPr lang="en-US" sz="3200" b="1" dirty="0">
                <a:solidFill>
                  <a:schemeClr val="accent2"/>
                </a:solidFill>
                <a:effectLst/>
                <a:ea typeface="Calibri" panose="020F0502020204030204" charset="0"/>
                <a:cs typeface="Times New Roman" panose="02020603050405020304" pitchFamily="18" charset="0"/>
              </a:rPr>
              <a:t>Appendix</a:t>
            </a:r>
          </a:p>
        </p:txBody>
      </p:sp>
      <p:sp>
        <p:nvSpPr>
          <p:cNvPr id="20" name="TextBox 19"/>
          <p:cNvSpPr txBox="1"/>
          <p:nvPr/>
        </p:nvSpPr>
        <p:spPr>
          <a:xfrm>
            <a:off x="925042" y="1457031"/>
            <a:ext cx="10543802" cy="5094215"/>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sz="1600" b="1" dirty="0">
                <a:solidFill>
                  <a:schemeClr val="accent2"/>
                </a:solidFill>
              </a:rPr>
              <a:t>What is eAdaptor Inbound and Outbound</a:t>
            </a:r>
          </a:p>
          <a:p>
            <a:pPr>
              <a:lnSpc>
                <a:spcPct val="150000"/>
              </a:lnSpc>
            </a:pPr>
            <a:r>
              <a:rPr lang="en-US" sz="1600" dirty="0">
                <a:solidFill>
                  <a:schemeClr val="tx1">
                    <a:lumMod val="75000"/>
                    <a:lumOff val="25000"/>
                  </a:schemeClr>
                </a:solidFill>
              </a:rPr>
              <a:t>The eAdaptor SDK connects CargoWise One to your in-house middleware platform to fast track. Development   of your own integrated message mapping and communication layers. This Inbound and Outbound process is used to get and post XML data into CargoWise.</a:t>
            </a:r>
          </a:p>
          <a:p>
            <a:endParaRPr lang="en-US" sz="1600" dirty="0">
              <a:solidFill>
                <a:schemeClr val="accent2"/>
              </a:solidFill>
            </a:endParaRPr>
          </a:p>
          <a:p>
            <a:pPr marL="285750" indent="-285750">
              <a:lnSpc>
                <a:spcPct val="200000"/>
              </a:lnSpc>
              <a:buFont typeface="Wingdings" panose="05000000000000000000" pitchFamily="2" charset="2"/>
              <a:buChar char="Ø"/>
            </a:pPr>
            <a:r>
              <a:rPr lang="en-US" sz="1600" b="1" dirty="0">
                <a:solidFill>
                  <a:schemeClr val="accent2"/>
                </a:solidFill>
              </a:rPr>
              <a:t>What is Middleware application</a:t>
            </a:r>
          </a:p>
          <a:p>
            <a:pPr>
              <a:lnSpc>
                <a:spcPct val="150000"/>
              </a:lnSpc>
            </a:pPr>
            <a:r>
              <a:rPr lang="en-US" sz="1600" dirty="0">
                <a:solidFill>
                  <a:schemeClr val="tx1">
                    <a:lumMod val="75000"/>
                    <a:lumOff val="25000"/>
                  </a:schemeClr>
                </a:solidFill>
              </a:rPr>
              <a:t>Middleware application is used to read, convert XML files and store the data into SQL sever. </a:t>
            </a:r>
          </a:p>
          <a:p>
            <a:pPr>
              <a:lnSpc>
                <a:spcPct val="150000"/>
              </a:lnSpc>
            </a:pPr>
            <a:endParaRPr lang="en-US" sz="1600" b="1" dirty="0">
              <a:solidFill>
                <a:schemeClr val="accent2"/>
              </a:solidFill>
            </a:endParaRPr>
          </a:p>
          <a:p>
            <a:pPr marL="285750" indent="-285750">
              <a:lnSpc>
                <a:spcPct val="200000"/>
              </a:lnSpc>
              <a:buFont typeface="Wingdings" panose="05000000000000000000" pitchFamily="2" charset="2"/>
              <a:buChar char="Ø"/>
            </a:pPr>
            <a:r>
              <a:rPr lang="en-US" sz="1600" b="1" dirty="0">
                <a:solidFill>
                  <a:schemeClr val="accent2"/>
                </a:solidFill>
              </a:rPr>
              <a:t>What is integration application</a:t>
            </a:r>
          </a:p>
          <a:p>
            <a:pPr>
              <a:lnSpc>
                <a:spcPct val="150000"/>
              </a:lnSpc>
            </a:pPr>
            <a:r>
              <a:rPr lang="en-US" sz="1600" dirty="0">
                <a:solidFill>
                  <a:schemeClr val="tx1">
                    <a:lumMod val="75000"/>
                    <a:lumOff val="25000"/>
                  </a:schemeClr>
                </a:solidFill>
              </a:rPr>
              <a:t>Integration application is used to get the stored data from SQL server and convert the retrieved data into cargoes Json format and push the Json files into Cargoes Portal. Also Integration application get the milestone data from Cargoes portal via API and convert the Json data for update the SQL server based on shipment or consol. Application will convert the SQL data into CargoWise XML format and push the data into CargoWise via eAdaptor.</a:t>
            </a:r>
            <a:endParaRPr lang="en-US" sz="1600" b="1" dirty="0">
              <a:solidFill>
                <a:schemeClr val="accent2"/>
              </a:solidFill>
            </a:endParaRPr>
          </a:p>
        </p:txBody>
      </p:sp>
      <p:sp>
        <p:nvSpPr>
          <p:cNvPr id="21" name="object 18" descr="Beige rectangle"/>
          <p:cNvSpPr/>
          <p:nvPr/>
        </p:nvSpPr>
        <p:spPr>
          <a:xfrm>
            <a:off x="876760" y="1271067"/>
            <a:ext cx="1917064"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lgn="ctr"/>
            <a:fld id="{82EE24B5-652C-4DB5-B7C3-B5BBEC1280B1}" type="slidenum">
              <a:rPr lang="en-US" noProof="0" smtClean="0"/>
              <a:t>18</a:t>
            </a:fld>
            <a:endParaRPr lang="en-US" noProof="0" dirty="0"/>
          </a:p>
        </p:txBody>
      </p:sp>
      <p:sp>
        <p:nvSpPr>
          <p:cNvPr id="19" name="TextBox 18"/>
          <p:cNvSpPr txBox="1"/>
          <p:nvPr/>
        </p:nvSpPr>
        <p:spPr>
          <a:xfrm>
            <a:off x="849158" y="704308"/>
            <a:ext cx="3062442" cy="580993"/>
          </a:xfrm>
          <a:prstGeom prst="rect">
            <a:avLst/>
          </a:prstGeom>
          <a:noFill/>
        </p:spPr>
        <p:txBody>
          <a:bodyPr wrap="square">
            <a:spAutoFit/>
          </a:bodyPr>
          <a:lstStyle/>
          <a:p>
            <a:pPr marL="0" marR="0">
              <a:lnSpc>
                <a:spcPct val="107000"/>
              </a:lnSpc>
              <a:spcBef>
                <a:spcPts val="0"/>
              </a:spcBef>
              <a:spcAft>
                <a:spcPts val="800"/>
              </a:spcAft>
            </a:pPr>
            <a:r>
              <a:rPr lang="en-US" sz="3200" b="1" dirty="0">
                <a:solidFill>
                  <a:schemeClr val="accent2"/>
                </a:solidFill>
                <a:effectLst/>
                <a:ea typeface="Calibri" panose="020F0502020204030204" charset="0"/>
                <a:cs typeface="Times New Roman" panose="02020603050405020304" pitchFamily="18" charset="0"/>
              </a:rPr>
              <a:t>Appendix</a:t>
            </a:r>
          </a:p>
        </p:txBody>
      </p:sp>
      <p:sp>
        <p:nvSpPr>
          <p:cNvPr id="20" name="TextBox 19"/>
          <p:cNvSpPr txBox="1"/>
          <p:nvPr/>
        </p:nvSpPr>
        <p:spPr>
          <a:xfrm>
            <a:off x="925042" y="1457031"/>
            <a:ext cx="10543802" cy="4940327"/>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sz="1600" b="1" dirty="0">
                <a:solidFill>
                  <a:schemeClr val="accent2"/>
                </a:solidFill>
              </a:rPr>
              <a:t>Why Json and XML conversion</a:t>
            </a:r>
          </a:p>
          <a:p>
            <a:pPr>
              <a:lnSpc>
                <a:spcPct val="150000"/>
              </a:lnSpc>
            </a:pPr>
            <a:r>
              <a:rPr lang="en-US" sz="1600" dirty="0">
                <a:solidFill>
                  <a:schemeClr val="tx1">
                    <a:lumMod val="75000"/>
                    <a:lumOff val="25000"/>
                  </a:schemeClr>
                </a:solidFill>
              </a:rPr>
              <a:t>CargoWise and Cargoes are give the data different data object formats. CargoWise give the XML format and Cargoes gives the Json format data. We need to convert the data on their own format to post and get the data from their application portals.</a:t>
            </a:r>
          </a:p>
          <a:p>
            <a:pPr>
              <a:lnSpc>
                <a:spcPct val="150000"/>
              </a:lnSpc>
            </a:pPr>
            <a:endParaRPr lang="en-US" sz="1600" b="1" dirty="0">
              <a:solidFill>
                <a:schemeClr val="accent2"/>
              </a:solidFill>
            </a:endParaRPr>
          </a:p>
          <a:p>
            <a:pPr marL="285750" indent="-285750">
              <a:lnSpc>
                <a:spcPct val="200000"/>
              </a:lnSpc>
              <a:buFont typeface="Wingdings" panose="05000000000000000000" pitchFamily="2" charset="2"/>
              <a:buChar char="Ø"/>
            </a:pPr>
            <a:r>
              <a:rPr lang="en-US" sz="1600" b="1" dirty="0">
                <a:solidFill>
                  <a:schemeClr val="accent2"/>
                </a:solidFill>
              </a:rPr>
              <a:t>Why SQL server</a:t>
            </a:r>
          </a:p>
          <a:p>
            <a:pPr>
              <a:lnSpc>
                <a:spcPct val="150000"/>
              </a:lnSpc>
            </a:pPr>
            <a:r>
              <a:rPr lang="en-US" sz="1600" dirty="0">
                <a:solidFill>
                  <a:schemeClr val="tx1">
                    <a:lumMod val="75000"/>
                    <a:lumOff val="25000"/>
                  </a:schemeClr>
                </a:solidFill>
              </a:rPr>
              <a:t>SQL database needs for store and track the existing posted the data to update the milestone details.</a:t>
            </a:r>
          </a:p>
          <a:p>
            <a:pPr>
              <a:lnSpc>
                <a:spcPct val="150000"/>
              </a:lnSpc>
            </a:pPr>
            <a:endParaRPr lang="en-US" sz="1600" b="1" dirty="0">
              <a:solidFill>
                <a:schemeClr val="accent2"/>
              </a:solidFill>
            </a:endParaRPr>
          </a:p>
          <a:p>
            <a:pPr marL="285750" indent="-285750">
              <a:lnSpc>
                <a:spcPct val="200000"/>
              </a:lnSpc>
              <a:buFont typeface="Wingdings" panose="05000000000000000000" pitchFamily="2" charset="2"/>
              <a:buChar char="Ø"/>
            </a:pPr>
            <a:r>
              <a:rPr lang="en-US" sz="1600" b="1" dirty="0">
                <a:solidFill>
                  <a:schemeClr val="accent2"/>
                </a:solidFill>
              </a:rPr>
              <a:t>Why Windows server </a:t>
            </a:r>
          </a:p>
          <a:p>
            <a:pPr>
              <a:lnSpc>
                <a:spcPct val="150000"/>
              </a:lnSpc>
            </a:pPr>
            <a:r>
              <a:rPr lang="en-US" sz="1600" dirty="0">
                <a:solidFill>
                  <a:schemeClr val="tx1">
                    <a:lumMod val="75000"/>
                    <a:lumOff val="25000"/>
                  </a:schemeClr>
                </a:solidFill>
              </a:rPr>
              <a:t>Middleware and Integration Application are worked as windows services. This services won’t be affect when the server automate update or automate restart of the server. </a:t>
            </a:r>
            <a:endParaRPr lang="en-US" sz="1600" b="1" dirty="0">
              <a:solidFill>
                <a:schemeClr val="accent2"/>
              </a:solidFill>
            </a:endParaRPr>
          </a:p>
          <a:p>
            <a:pPr marL="285750" indent="-285750">
              <a:lnSpc>
                <a:spcPct val="200000"/>
              </a:lnSpc>
              <a:buFont typeface="Wingdings" panose="05000000000000000000" pitchFamily="2" charset="2"/>
              <a:buChar char="Ø"/>
            </a:pPr>
            <a:endParaRPr lang="en-US" sz="1600" b="1" dirty="0">
              <a:solidFill>
                <a:schemeClr val="accent2"/>
              </a:solidFill>
            </a:endParaRPr>
          </a:p>
        </p:txBody>
      </p:sp>
      <p:sp>
        <p:nvSpPr>
          <p:cNvPr id="21" name="object 18" descr="Beige rectangle"/>
          <p:cNvSpPr/>
          <p:nvPr/>
        </p:nvSpPr>
        <p:spPr>
          <a:xfrm>
            <a:off x="876760" y="1271067"/>
            <a:ext cx="1917064"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5">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72DAF9E5-DED4-4A50-A81B-4CC218A03F2B}">
  <ds:schemaRefs/>
</ds:datastoreItem>
</file>

<file path=customXml/itemProps2.xml><?xml version="1.0" encoding="utf-8"?>
<ds:datastoreItem xmlns:ds="http://schemas.openxmlformats.org/officeDocument/2006/customXml" ds:itemID="{FFDD087A-3273-4D74-8700-4C8E2BE507D4}">
  <ds:schemaRefs/>
</ds:datastoreItem>
</file>

<file path=customXml/itemProps3.xml><?xml version="1.0" encoding="utf-8"?>
<ds:datastoreItem xmlns:ds="http://schemas.openxmlformats.org/officeDocument/2006/customXml" ds:itemID="{171946EF-A3EA-4ECB-8D9A-56C36FFF4075}">
  <ds:schemaRefs>
    <ds:schemaRef ds:uri="http://purl.org/dc/dcmitype/"/>
    <ds:schemaRef ds:uri="http://purl.org/dc/elements/1.1/"/>
    <ds:schemaRef ds:uri="http://purl.org/dc/terms/"/>
    <ds:schemaRef ds:uri="http://www.w3.org/XML/1998/namespace"/>
    <ds:schemaRef ds:uri="http://schemas.microsoft.com/office/2006/documentManagement/types"/>
    <ds:schemaRef ds:uri="16c05727-aa75-4e4a-9b5f-8a80a1165891"/>
    <ds:schemaRef ds:uri="71af3243-3dd4-4a8d-8c0d-dd76da1f02a5"/>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Professional services pitch deck</Template>
  <TotalTime>346</TotalTime>
  <Words>1412</Words>
  <Application>Microsoft Office PowerPoint</Application>
  <PresentationFormat>Widescreen</PresentationFormat>
  <Paragraphs>269</Paragraphs>
  <Slides>18</Slides>
  <Notes>10</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 </vt:lpstr>
      <vt:lpstr>Calibri</vt:lpstr>
      <vt:lpstr>Gill Sans MT</vt:lpstr>
      <vt:lpstr>Inter</vt:lpstr>
      <vt:lpstr>Wingdings</vt:lpstr>
      <vt:lpstr>Office Theme</vt:lpstr>
      <vt:lpstr>PowerPoint Presentation</vt:lpstr>
      <vt:lpstr>Agenda</vt:lpstr>
      <vt:lpstr>CargosSoft Overview</vt:lpstr>
      <vt:lpstr>Solution Approach</vt:lpstr>
      <vt:lpstr>Key CargosSoft Modules</vt:lpstr>
      <vt:lpstr>Implementation Plan</vt:lpstr>
      <vt:lpstr>Pricing &amp; Structure</vt:lpstr>
      <vt:lpstr>Timeline &amp; Deliverance </vt:lpstr>
      <vt:lpstr>Commercials</vt:lpstr>
      <vt:lpstr>Server Specifications  </vt:lpstr>
      <vt:lpstr>PowerPoint Presentation</vt:lpstr>
      <vt:lpstr>PowerPoint Presentation</vt:lpstr>
      <vt:lpstr>Why Infologia</vt:lpstr>
      <vt:lpstr>INFOLOGIA</vt:lpstr>
      <vt:lpstr>THANK YOU!</vt:lpstr>
      <vt:lpstr>Deliverables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OMNITRANS BOOKING TO             SHIPMENT CONVERSION</dc:title>
  <dc:creator>dhana ruban</dc:creator>
  <cp:lastModifiedBy>Vidhura Baskaran</cp:lastModifiedBy>
  <cp:revision>101</cp:revision>
  <dcterms:created xsi:type="dcterms:W3CDTF">2022-12-30T10:46:00Z</dcterms:created>
  <dcterms:modified xsi:type="dcterms:W3CDTF">2025-11-14T16:06:45Z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0A20C2E4361743679C352984C770900D_12</vt:lpwstr>
  </property>
  <property fmtid="{D5CDD505-2E9C-101B-9397-08002B2CF9AE}" pid="4" name="KSOProductBuildVer">
    <vt:lpwstr>1033-12.2.0.23155</vt:lpwstr>
  </property>
</Properties>
</file>