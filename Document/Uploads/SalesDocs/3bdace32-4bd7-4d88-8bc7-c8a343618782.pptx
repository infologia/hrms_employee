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Open Sauce Heavy" charset="1" panose="00000A00000000000000"/>
      <p:regular r:id="rId17"/>
    </p:embeddedFont>
    <p:embeddedFont>
      <p:font typeface="Open Sauce Bold" charset="1" panose="00000800000000000000"/>
      <p:regular r:id="rId18"/>
    </p:embeddedFont>
    <p:embeddedFont>
      <p:font typeface="Open Sauce" charset="1" panose="00000500000000000000"/>
      <p:regular r:id="rId19"/>
    </p:embeddedFont>
    <p:embeddedFont>
      <p:font typeface="Now" charset="1" panose="00000500000000000000"/>
      <p:regular r:id="rId20"/>
    </p:embeddedFont>
    <p:embeddedFont>
      <p:font typeface="Now Bold" charset="1" panose="00000800000000000000"/>
      <p:regular r:id="rId21"/>
    </p:embeddedFont>
    <p:embeddedFont>
      <p:font typeface="Aileron Bold" charset="1" panose="00000800000000000000"/>
      <p:regular r:id="rId22"/>
    </p:embeddedFont>
    <p:embeddedFont>
      <p:font typeface="Aileron Heavy" charset="1" panose="00000A00000000000000"/>
      <p:regular r:id="rId23"/>
    </p:embeddedFont>
    <p:embeddedFont>
      <p:font typeface="Aileron"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23.png" Type="http://schemas.openxmlformats.org/officeDocument/2006/relationships/image"/><Relationship Id="rId17" Target="../media/image24.svg" Type="http://schemas.openxmlformats.org/officeDocument/2006/relationships/image"/><Relationship Id="rId18" Target="../media/image25.png" Type="http://schemas.openxmlformats.org/officeDocument/2006/relationships/image"/><Relationship Id="rId19" Target="../media/image26.svg" Type="http://schemas.openxmlformats.org/officeDocument/2006/relationships/image"/><Relationship Id="rId2" Target="../media/image15.png" Type="http://schemas.openxmlformats.org/officeDocument/2006/relationships/image"/><Relationship Id="rId20" Target="../media/image27.png" Type="http://schemas.openxmlformats.org/officeDocument/2006/relationships/image"/><Relationship Id="rId21" Target="../media/image28.png" Type="http://schemas.openxmlformats.org/officeDocument/2006/relationships/image"/><Relationship Id="rId22" Target="../media/image29.svg" Type="http://schemas.openxmlformats.org/officeDocument/2006/relationships/image"/><Relationship Id="rId23" Target="../media/image30.png" Type="http://schemas.openxmlformats.org/officeDocument/2006/relationships/image"/><Relationship Id="rId24" Target="../media/image31.sv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40.png" Type="http://schemas.openxmlformats.org/officeDocument/2006/relationships/image"/><Relationship Id="rId13" Target="../media/image41.svg" Type="http://schemas.openxmlformats.org/officeDocument/2006/relationships/image"/><Relationship Id="rId14" Target="../media/image42.png" Type="http://schemas.openxmlformats.org/officeDocument/2006/relationships/image"/><Relationship Id="rId15" Target="../media/image43.svg" Type="http://schemas.openxmlformats.org/officeDocument/2006/relationships/image"/><Relationship Id="rId16" Target="../media/image44.png" Type="http://schemas.openxmlformats.org/officeDocument/2006/relationships/image"/><Relationship Id="rId17" Target="../media/image45.svg" Type="http://schemas.openxmlformats.org/officeDocument/2006/relationships/image"/><Relationship Id="rId18" Target="../media/image46.png" Type="http://schemas.openxmlformats.org/officeDocument/2006/relationships/image"/><Relationship Id="rId19" Target="../media/image47.svg" Type="http://schemas.openxmlformats.org/officeDocument/2006/relationships/image"/><Relationship Id="rId2" Target="../media/image9.png" Type="http://schemas.openxmlformats.org/officeDocument/2006/relationships/image"/><Relationship Id="rId20" Target="../media/image48.png" Type="http://schemas.openxmlformats.org/officeDocument/2006/relationships/image"/><Relationship Id="rId21" Target="../media/image49.svg" Type="http://schemas.openxmlformats.org/officeDocument/2006/relationships/image"/><Relationship Id="rId22" Target="../media/image50.png" Type="http://schemas.openxmlformats.org/officeDocument/2006/relationships/image"/><Relationship Id="rId23" Target="../media/image51.svg" Type="http://schemas.openxmlformats.org/officeDocument/2006/relationships/image"/><Relationship Id="rId24" Target="../media/image52.png" Type="http://schemas.openxmlformats.org/officeDocument/2006/relationships/image"/><Relationship Id="rId25" Target="../media/image53.svg" Type="http://schemas.openxmlformats.org/officeDocument/2006/relationships/image"/><Relationship Id="rId26" Target="../media/image54.png" Type="http://schemas.openxmlformats.org/officeDocument/2006/relationships/image"/><Relationship Id="rId27" Target="../media/image55.svg" Type="http://schemas.openxmlformats.org/officeDocument/2006/relationships/image"/><Relationship Id="rId28" Target="../media/image56.png" Type="http://schemas.openxmlformats.org/officeDocument/2006/relationships/image"/><Relationship Id="rId29" Target="../media/image57.svg" Type="http://schemas.openxmlformats.org/officeDocument/2006/relationships/image"/><Relationship Id="rId3" Target="../media/image10.svg" Type="http://schemas.openxmlformats.org/officeDocument/2006/relationships/image"/><Relationship Id="rId30" Target="../media/image15.png" Type="http://schemas.openxmlformats.org/officeDocument/2006/relationships/image"/><Relationship Id="rId31" Target="../media/image16.svg" Type="http://schemas.openxmlformats.org/officeDocument/2006/relationships/image"/><Relationship Id="rId32" Target="../media/image58.png" Type="http://schemas.openxmlformats.org/officeDocument/2006/relationships/image"/><Relationship Id="rId33" Target="../media/image59.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8.png" Type="http://schemas.openxmlformats.org/officeDocument/2006/relationships/image"/><Relationship Id="rId11" Target="../media/image69.svg" Type="http://schemas.openxmlformats.org/officeDocument/2006/relationships/image"/><Relationship Id="rId12" Target="../media/image70.png" Type="http://schemas.openxmlformats.org/officeDocument/2006/relationships/image"/><Relationship Id="rId13" Target="../media/image71.svg" Type="http://schemas.openxmlformats.org/officeDocument/2006/relationships/image"/><Relationship Id="rId14" Target="../media/image72.png" Type="http://schemas.openxmlformats.org/officeDocument/2006/relationships/image"/><Relationship Id="rId15" Target="../media/image73.svg" Type="http://schemas.openxmlformats.org/officeDocument/2006/relationships/image"/><Relationship Id="rId16" Target="../media/image74.png" Type="http://schemas.openxmlformats.org/officeDocument/2006/relationships/image"/><Relationship Id="rId17" Target="../media/image75.svg" Type="http://schemas.openxmlformats.org/officeDocument/2006/relationships/image"/><Relationship Id="rId18" Target="../media/image76.png" Type="http://schemas.openxmlformats.org/officeDocument/2006/relationships/image"/><Relationship Id="rId19" Target="../media/image77.svg" Type="http://schemas.openxmlformats.org/officeDocument/2006/relationships/image"/><Relationship Id="rId2" Target="../media/image60.png" Type="http://schemas.openxmlformats.org/officeDocument/2006/relationships/image"/><Relationship Id="rId20" Target="../media/image78.png" Type="http://schemas.openxmlformats.org/officeDocument/2006/relationships/image"/><Relationship Id="rId21" Target="../media/image79.svg" Type="http://schemas.openxmlformats.org/officeDocument/2006/relationships/image"/><Relationship Id="rId22" Target="../media/image15.png" Type="http://schemas.openxmlformats.org/officeDocument/2006/relationships/image"/><Relationship Id="rId23" Target="../media/image16.svg" Type="http://schemas.openxmlformats.org/officeDocument/2006/relationships/image"/><Relationship Id="rId3" Target="../media/image61.svg" Type="http://schemas.openxmlformats.org/officeDocument/2006/relationships/image"/><Relationship Id="rId4" Target="../media/image62.png" Type="http://schemas.openxmlformats.org/officeDocument/2006/relationships/image"/><Relationship Id="rId5" Target="../media/image63.svg" Type="http://schemas.openxmlformats.org/officeDocument/2006/relationships/image"/><Relationship Id="rId6" Target="../media/image64.png" Type="http://schemas.openxmlformats.org/officeDocument/2006/relationships/image"/><Relationship Id="rId7" Target="../media/image65.svg" Type="http://schemas.openxmlformats.org/officeDocument/2006/relationships/image"/><Relationship Id="rId8" Target="../media/image66.png" Type="http://schemas.openxmlformats.org/officeDocument/2006/relationships/image"/><Relationship Id="rId9" Target="../media/image6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80.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81.png" Type="http://schemas.openxmlformats.org/officeDocument/2006/relationships/image"/><Relationship Id="rId5" Target="../media/image82.jpeg" Type="http://schemas.openxmlformats.org/officeDocument/2006/relationships/image"/><Relationship Id="rId6" Target="../media/image8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8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81.png" Type="http://schemas.openxmlformats.org/officeDocument/2006/relationships/image"/><Relationship Id="rId5" Target="../media/image82.jpeg" Type="http://schemas.openxmlformats.org/officeDocument/2006/relationships/image"/><Relationship Id="rId6" Target="../media/image8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8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81.png" Type="http://schemas.openxmlformats.org/officeDocument/2006/relationships/image"/><Relationship Id="rId5" Target="../media/image82.jpeg" Type="http://schemas.openxmlformats.org/officeDocument/2006/relationships/image"/><Relationship Id="rId6" Target="../media/image83.jpe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8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 Id="rId3" Target="../media/image8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93.png" Type="http://schemas.openxmlformats.org/officeDocument/2006/relationships/image"/><Relationship Id="rId12" Target="../media/image94.svg" Type="http://schemas.openxmlformats.org/officeDocument/2006/relationships/image"/><Relationship Id="rId13" Target="../media/image95.png" Type="http://schemas.openxmlformats.org/officeDocument/2006/relationships/image"/><Relationship Id="rId14" Target="../media/image96.svg" Type="http://schemas.openxmlformats.org/officeDocument/2006/relationships/image"/><Relationship Id="rId15" Target="../media/image97.png" Type="http://schemas.openxmlformats.org/officeDocument/2006/relationships/image"/><Relationship Id="rId16" Target="../media/image98.svg" Type="http://schemas.openxmlformats.org/officeDocument/2006/relationships/image"/><Relationship Id="rId17" Target="../media/image99.png" Type="http://schemas.openxmlformats.org/officeDocument/2006/relationships/image"/><Relationship Id="rId18" Target="../media/image10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9.jpeg" Type="http://schemas.openxmlformats.org/officeDocument/2006/relationships/image"/><Relationship Id="rId5" Target="../media/image90.png" Type="http://schemas.openxmlformats.org/officeDocument/2006/relationships/image"/><Relationship Id="rId6" Target="../media/image91.svg" Type="http://schemas.openxmlformats.org/officeDocument/2006/relationships/image"/><Relationship Id="rId7" Target="../media/image92.jpe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486411">
            <a:off x="-3736473" y="7527737"/>
            <a:ext cx="15613996" cy="4079156"/>
          </a:xfrm>
          <a:custGeom>
            <a:avLst/>
            <a:gdLst/>
            <a:ahLst/>
            <a:cxnLst/>
            <a:rect r="r" b="b" t="t" l="l"/>
            <a:pathLst>
              <a:path h="4079156" w="15613996">
                <a:moveTo>
                  <a:pt x="0" y="0"/>
                </a:moveTo>
                <a:lnTo>
                  <a:pt x="15613996" y="0"/>
                </a:lnTo>
                <a:lnTo>
                  <a:pt x="15613996" y="4079157"/>
                </a:lnTo>
                <a:lnTo>
                  <a:pt x="0" y="4079157"/>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700000">
            <a:off x="5259331" y="-784732"/>
            <a:ext cx="7315200" cy="3904488"/>
          </a:xfrm>
          <a:custGeom>
            <a:avLst/>
            <a:gdLst/>
            <a:ahLst/>
            <a:cxnLst/>
            <a:rect r="r" b="b" t="t" l="l"/>
            <a:pathLst>
              <a:path h="3904488" w="7315200">
                <a:moveTo>
                  <a:pt x="0" y="0"/>
                </a:moveTo>
                <a:lnTo>
                  <a:pt x="7315200" y="0"/>
                </a:lnTo>
                <a:lnTo>
                  <a:pt x="7315200" y="3904488"/>
                </a:lnTo>
                <a:lnTo>
                  <a:pt x="0" y="3904488"/>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6135231" y="372278"/>
            <a:ext cx="12223109" cy="10651194"/>
            <a:chOff x="0" y="0"/>
            <a:chExt cx="9398000" cy="8189399"/>
          </a:xfrm>
        </p:grpSpPr>
        <p:sp>
          <p:nvSpPr>
            <p:cNvPr name="Freeform 5" id="5"/>
            <p:cNvSpPr/>
            <p:nvPr/>
          </p:nvSpPr>
          <p:spPr>
            <a:xfrm flipH="false" flipV="false" rot="0">
              <a:off x="0" y="0"/>
              <a:ext cx="9398000" cy="8189367"/>
            </a:xfrm>
            <a:custGeom>
              <a:avLst/>
              <a:gdLst/>
              <a:ahLst/>
              <a:cxnLst/>
              <a:rect r="r" b="b" t="t" l="l"/>
              <a:pathLst>
                <a:path h="8189367" w="9398000">
                  <a:moveTo>
                    <a:pt x="9398000" y="0"/>
                  </a:moveTo>
                  <a:lnTo>
                    <a:pt x="0" y="8189367"/>
                  </a:lnTo>
                  <a:lnTo>
                    <a:pt x="9398000" y="8189367"/>
                  </a:lnTo>
                  <a:lnTo>
                    <a:pt x="9398000" y="0"/>
                  </a:lnTo>
                  <a:close/>
                </a:path>
              </a:pathLst>
            </a:custGeom>
            <a:blipFill>
              <a:blip r:embed="rId6"/>
              <a:stretch>
                <a:fillRect l="-8092" t="0" r="-8092" b="0"/>
              </a:stretch>
            </a:blipFill>
          </p:spPr>
        </p:sp>
      </p:grpSp>
      <p:grpSp>
        <p:nvGrpSpPr>
          <p:cNvPr name="Group 6" id="6"/>
          <p:cNvGrpSpPr/>
          <p:nvPr/>
        </p:nvGrpSpPr>
        <p:grpSpPr>
          <a:xfrm rot="2911606">
            <a:off x="8281731" y="-4737821"/>
            <a:ext cx="2410021" cy="23647483"/>
            <a:chOff x="0" y="0"/>
            <a:chExt cx="634738" cy="6228144"/>
          </a:xfrm>
        </p:grpSpPr>
        <p:sp>
          <p:nvSpPr>
            <p:cNvPr name="Freeform 7" id="7"/>
            <p:cNvSpPr/>
            <p:nvPr/>
          </p:nvSpPr>
          <p:spPr>
            <a:xfrm flipH="false" flipV="false" rot="0">
              <a:off x="0" y="0"/>
              <a:ext cx="634738" cy="6228143"/>
            </a:xfrm>
            <a:custGeom>
              <a:avLst/>
              <a:gdLst/>
              <a:ahLst/>
              <a:cxnLst/>
              <a:rect r="r" b="b" t="t" l="l"/>
              <a:pathLst>
                <a:path h="6228143" w="634738">
                  <a:moveTo>
                    <a:pt x="0" y="0"/>
                  </a:moveTo>
                  <a:lnTo>
                    <a:pt x="634738" y="0"/>
                  </a:lnTo>
                  <a:lnTo>
                    <a:pt x="634738" y="6228143"/>
                  </a:lnTo>
                  <a:lnTo>
                    <a:pt x="0" y="6228143"/>
                  </a:lnTo>
                  <a:close/>
                </a:path>
              </a:pathLst>
            </a:custGeom>
            <a:gradFill rotWithShape="true">
              <a:gsLst>
                <a:gs pos="0">
                  <a:srgbClr val="366980">
                    <a:alpha val="100000"/>
                  </a:srgbClr>
                </a:gs>
                <a:gs pos="100000">
                  <a:srgbClr val="0B51AE">
                    <a:alpha val="0"/>
                  </a:srgbClr>
                </a:gs>
              </a:gsLst>
              <a:lin ang="5400000"/>
            </a:gradFill>
          </p:spPr>
        </p:sp>
        <p:sp>
          <p:nvSpPr>
            <p:cNvPr name="TextBox 8" id="8"/>
            <p:cNvSpPr txBox="true"/>
            <p:nvPr/>
          </p:nvSpPr>
          <p:spPr>
            <a:xfrm>
              <a:off x="0" y="-38100"/>
              <a:ext cx="634738" cy="626624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384816" y="2972763"/>
            <a:ext cx="4544232" cy="454423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sp>
        <p:nvSpPr>
          <p:cNvPr name="Freeform 11" id="11"/>
          <p:cNvSpPr/>
          <p:nvPr/>
        </p:nvSpPr>
        <p:spPr>
          <a:xfrm flipH="false" flipV="false" rot="0">
            <a:off x="9803670" y="2122829"/>
            <a:ext cx="6049424" cy="6427011"/>
          </a:xfrm>
          <a:custGeom>
            <a:avLst/>
            <a:gdLst/>
            <a:ahLst/>
            <a:cxnLst/>
            <a:rect r="r" b="b" t="t" l="l"/>
            <a:pathLst>
              <a:path h="6427011" w="6049424">
                <a:moveTo>
                  <a:pt x="0" y="0"/>
                </a:moveTo>
                <a:lnTo>
                  <a:pt x="6049424" y="0"/>
                </a:lnTo>
                <a:lnTo>
                  <a:pt x="6049424" y="6427010"/>
                </a:lnTo>
                <a:lnTo>
                  <a:pt x="0" y="64270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10088656" y="2390513"/>
            <a:ext cx="5116834" cy="5525024"/>
            <a:chOff x="0" y="0"/>
            <a:chExt cx="785012" cy="847635"/>
          </a:xfrm>
        </p:grpSpPr>
        <p:sp>
          <p:nvSpPr>
            <p:cNvPr name="Freeform 13" id="13"/>
            <p:cNvSpPr/>
            <p:nvPr/>
          </p:nvSpPr>
          <p:spPr>
            <a:xfrm flipH="false" flipV="false" rot="0">
              <a:off x="0" y="0"/>
              <a:ext cx="785012" cy="847635"/>
            </a:xfrm>
            <a:custGeom>
              <a:avLst/>
              <a:gdLst/>
              <a:ahLst/>
              <a:cxnLst/>
              <a:rect r="r" b="b" t="t" l="l"/>
              <a:pathLst>
                <a:path h="847635" w="785012">
                  <a:moveTo>
                    <a:pt x="392506" y="0"/>
                  </a:moveTo>
                  <a:cubicBezTo>
                    <a:pt x="175731" y="0"/>
                    <a:pt x="0" y="189750"/>
                    <a:pt x="0" y="423818"/>
                  </a:cubicBezTo>
                  <a:cubicBezTo>
                    <a:pt x="0" y="657886"/>
                    <a:pt x="175731" y="847635"/>
                    <a:pt x="392506" y="847635"/>
                  </a:cubicBezTo>
                  <a:cubicBezTo>
                    <a:pt x="609281" y="847635"/>
                    <a:pt x="785012" y="657886"/>
                    <a:pt x="785012" y="423818"/>
                  </a:cubicBezTo>
                  <a:cubicBezTo>
                    <a:pt x="785012" y="189750"/>
                    <a:pt x="609281" y="0"/>
                    <a:pt x="392506" y="0"/>
                  </a:cubicBezTo>
                  <a:close/>
                </a:path>
              </a:pathLst>
            </a:custGeom>
            <a:blipFill>
              <a:blip r:embed="rId9"/>
              <a:stretch>
                <a:fillRect l="-3988" t="0" r="-3988" b="0"/>
              </a:stretch>
            </a:blipFill>
          </p:spPr>
        </p:sp>
      </p:grpSp>
      <p:grpSp>
        <p:nvGrpSpPr>
          <p:cNvPr name="Group 14" id="14"/>
          <p:cNvGrpSpPr/>
          <p:nvPr/>
        </p:nvGrpSpPr>
        <p:grpSpPr>
          <a:xfrm rot="0">
            <a:off x="-3617754" y="8890732"/>
            <a:ext cx="11806576" cy="1396268"/>
            <a:chOff x="0" y="0"/>
            <a:chExt cx="1508702" cy="178422"/>
          </a:xfrm>
        </p:grpSpPr>
        <p:sp>
          <p:nvSpPr>
            <p:cNvPr name="Freeform 15" id="15"/>
            <p:cNvSpPr/>
            <p:nvPr/>
          </p:nvSpPr>
          <p:spPr>
            <a:xfrm flipH="false" flipV="false" rot="0">
              <a:off x="0" y="0"/>
              <a:ext cx="1508702" cy="178422"/>
            </a:xfrm>
            <a:custGeom>
              <a:avLst/>
              <a:gdLst/>
              <a:ahLst/>
              <a:cxnLst/>
              <a:rect r="r" b="b" t="t" l="l"/>
              <a:pathLst>
                <a:path h="178422" w="1508702">
                  <a:moveTo>
                    <a:pt x="203200" y="178422"/>
                  </a:moveTo>
                  <a:lnTo>
                    <a:pt x="1305502" y="178422"/>
                  </a:lnTo>
                  <a:lnTo>
                    <a:pt x="1508702" y="0"/>
                  </a:lnTo>
                  <a:lnTo>
                    <a:pt x="0" y="0"/>
                  </a:lnTo>
                  <a:lnTo>
                    <a:pt x="203200" y="178422"/>
                  </a:lnTo>
                  <a:close/>
                </a:path>
              </a:pathLst>
            </a:custGeom>
            <a:gradFill rotWithShape="true">
              <a:gsLst>
                <a:gs pos="0">
                  <a:srgbClr val="153953">
                    <a:alpha val="100000"/>
                  </a:srgbClr>
                </a:gs>
                <a:gs pos="100000">
                  <a:srgbClr val="065D9B">
                    <a:alpha val="100000"/>
                  </a:srgbClr>
                </a:gs>
              </a:gsLst>
              <a:lin ang="0"/>
            </a:gradFill>
          </p:spPr>
        </p:sp>
        <p:sp>
          <p:nvSpPr>
            <p:cNvPr name="TextBox 16" id="16"/>
            <p:cNvSpPr txBox="true"/>
            <p:nvPr/>
          </p:nvSpPr>
          <p:spPr>
            <a:xfrm>
              <a:off x="127000" y="-38100"/>
              <a:ext cx="1254702" cy="216522"/>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8100000">
            <a:off x="14876196" y="-4778665"/>
            <a:ext cx="4584947" cy="9887645"/>
            <a:chOff x="0" y="0"/>
            <a:chExt cx="1207558" cy="2604153"/>
          </a:xfrm>
        </p:grpSpPr>
        <p:sp>
          <p:nvSpPr>
            <p:cNvPr name="Freeform 18" id="18"/>
            <p:cNvSpPr/>
            <p:nvPr/>
          </p:nvSpPr>
          <p:spPr>
            <a:xfrm flipH="false" flipV="false" rot="0">
              <a:off x="0" y="0"/>
              <a:ext cx="1207558" cy="2604153"/>
            </a:xfrm>
            <a:custGeom>
              <a:avLst/>
              <a:gdLst/>
              <a:ahLst/>
              <a:cxnLst/>
              <a:rect r="r" b="b" t="t" l="l"/>
              <a:pathLst>
                <a:path h="2604153" w="1207558">
                  <a:moveTo>
                    <a:pt x="0" y="0"/>
                  </a:moveTo>
                  <a:lnTo>
                    <a:pt x="1207558" y="0"/>
                  </a:lnTo>
                  <a:lnTo>
                    <a:pt x="1207558" y="2604153"/>
                  </a:lnTo>
                  <a:lnTo>
                    <a:pt x="0" y="2604153"/>
                  </a:ln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19" id="19"/>
            <p:cNvSpPr txBox="true"/>
            <p:nvPr/>
          </p:nvSpPr>
          <p:spPr>
            <a:xfrm>
              <a:off x="0" y="-38100"/>
              <a:ext cx="1207558" cy="264225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8100000">
            <a:off x="7739032" y="6965659"/>
            <a:ext cx="4584947" cy="9887645"/>
            <a:chOff x="0" y="0"/>
            <a:chExt cx="1207558" cy="2604153"/>
          </a:xfrm>
        </p:grpSpPr>
        <p:sp>
          <p:nvSpPr>
            <p:cNvPr name="Freeform 21" id="21"/>
            <p:cNvSpPr/>
            <p:nvPr/>
          </p:nvSpPr>
          <p:spPr>
            <a:xfrm flipH="false" flipV="false" rot="0">
              <a:off x="0" y="0"/>
              <a:ext cx="1207558" cy="2604153"/>
            </a:xfrm>
            <a:custGeom>
              <a:avLst/>
              <a:gdLst/>
              <a:ahLst/>
              <a:cxnLst/>
              <a:rect r="r" b="b" t="t" l="l"/>
              <a:pathLst>
                <a:path h="2604153" w="1207558">
                  <a:moveTo>
                    <a:pt x="0" y="0"/>
                  </a:moveTo>
                  <a:lnTo>
                    <a:pt x="1207558" y="0"/>
                  </a:lnTo>
                  <a:lnTo>
                    <a:pt x="1207558" y="2604153"/>
                  </a:lnTo>
                  <a:lnTo>
                    <a:pt x="0" y="2604153"/>
                  </a:ln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22" id="22"/>
            <p:cNvSpPr txBox="true"/>
            <p:nvPr/>
          </p:nvSpPr>
          <p:spPr>
            <a:xfrm>
              <a:off x="0" y="-38100"/>
              <a:ext cx="1207558" cy="2642253"/>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9079893" y="882821"/>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5601831" y="6532753"/>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5" id="25"/>
          <p:cNvGrpSpPr/>
          <p:nvPr/>
        </p:nvGrpSpPr>
        <p:grpSpPr>
          <a:xfrm rot="8100000">
            <a:off x="17477136" y="-2589616"/>
            <a:ext cx="3158636" cy="6487180"/>
            <a:chOff x="0" y="0"/>
            <a:chExt cx="831904" cy="1708558"/>
          </a:xfrm>
        </p:grpSpPr>
        <p:sp>
          <p:nvSpPr>
            <p:cNvPr name="Freeform 26" id="26"/>
            <p:cNvSpPr/>
            <p:nvPr/>
          </p:nvSpPr>
          <p:spPr>
            <a:xfrm flipH="false" flipV="false" rot="0">
              <a:off x="0" y="0"/>
              <a:ext cx="831904" cy="1708558"/>
            </a:xfrm>
            <a:custGeom>
              <a:avLst/>
              <a:gdLst/>
              <a:ahLst/>
              <a:cxnLst/>
              <a:rect r="r" b="b" t="t" l="l"/>
              <a:pathLst>
                <a:path h="1708558" w="831904">
                  <a:moveTo>
                    <a:pt x="0" y="0"/>
                  </a:moveTo>
                  <a:lnTo>
                    <a:pt x="831904" y="0"/>
                  </a:lnTo>
                  <a:lnTo>
                    <a:pt x="831904" y="1708558"/>
                  </a:lnTo>
                  <a:lnTo>
                    <a:pt x="0" y="1708558"/>
                  </a:lnTo>
                  <a:close/>
                </a:path>
              </a:pathLst>
            </a:custGeom>
            <a:gradFill rotWithShape="true">
              <a:gsLst>
                <a:gs pos="0">
                  <a:srgbClr val="FFFFFF">
                    <a:alpha val="100000"/>
                  </a:srgbClr>
                </a:gs>
                <a:gs pos="50000">
                  <a:srgbClr val="FFFFFF">
                    <a:alpha val="71000"/>
                  </a:srgbClr>
                </a:gs>
                <a:gs pos="100000">
                  <a:srgbClr val="0B51AE">
                    <a:alpha val="0"/>
                  </a:srgbClr>
                </a:gs>
              </a:gsLst>
              <a:lin ang="5400000"/>
            </a:gradFill>
          </p:spPr>
        </p:sp>
        <p:sp>
          <p:nvSpPr>
            <p:cNvPr name="TextBox 27" id="27"/>
            <p:cNvSpPr txBox="true"/>
            <p:nvPr/>
          </p:nvSpPr>
          <p:spPr>
            <a:xfrm>
              <a:off x="0" y="-38100"/>
              <a:ext cx="831904" cy="1746658"/>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8287351">
            <a:off x="5446030" y="8741331"/>
            <a:ext cx="4645285" cy="5898577"/>
            <a:chOff x="0" y="0"/>
            <a:chExt cx="1223450" cy="1553535"/>
          </a:xfrm>
        </p:grpSpPr>
        <p:sp>
          <p:nvSpPr>
            <p:cNvPr name="Freeform 29" id="29"/>
            <p:cNvSpPr/>
            <p:nvPr/>
          </p:nvSpPr>
          <p:spPr>
            <a:xfrm flipH="false" flipV="false" rot="0">
              <a:off x="0" y="0"/>
              <a:ext cx="1223450" cy="1553535"/>
            </a:xfrm>
            <a:custGeom>
              <a:avLst/>
              <a:gdLst/>
              <a:ahLst/>
              <a:cxnLst/>
              <a:rect r="r" b="b" t="t" l="l"/>
              <a:pathLst>
                <a:path h="1553535" w="1223450">
                  <a:moveTo>
                    <a:pt x="0" y="0"/>
                  </a:moveTo>
                  <a:lnTo>
                    <a:pt x="1223450" y="0"/>
                  </a:lnTo>
                  <a:lnTo>
                    <a:pt x="1223450" y="1553535"/>
                  </a:lnTo>
                  <a:lnTo>
                    <a:pt x="0" y="1553535"/>
                  </a:lnTo>
                  <a:close/>
                </a:path>
              </a:pathLst>
            </a:custGeom>
            <a:gradFill rotWithShape="true">
              <a:gsLst>
                <a:gs pos="0">
                  <a:srgbClr val="FFFFFF">
                    <a:alpha val="100000"/>
                  </a:srgbClr>
                </a:gs>
                <a:gs pos="50000">
                  <a:srgbClr val="FFFFFF">
                    <a:alpha val="71000"/>
                  </a:srgbClr>
                </a:gs>
                <a:gs pos="100000">
                  <a:srgbClr val="0B51AE">
                    <a:alpha val="0"/>
                  </a:srgbClr>
                </a:gs>
              </a:gsLst>
              <a:lin ang="5400000"/>
            </a:gradFill>
          </p:spPr>
        </p:sp>
        <p:sp>
          <p:nvSpPr>
            <p:cNvPr name="TextBox 30" id="30"/>
            <p:cNvSpPr txBox="true"/>
            <p:nvPr/>
          </p:nvSpPr>
          <p:spPr>
            <a:xfrm>
              <a:off x="0" y="-38100"/>
              <a:ext cx="1223450" cy="1591635"/>
            </a:xfrm>
            <a:prstGeom prst="rect">
              <a:avLst/>
            </a:prstGeom>
          </p:spPr>
          <p:txBody>
            <a:bodyPr anchor="ctr" rtlCol="false" tIns="50800" lIns="50800" bIns="50800" rIns="50800"/>
            <a:lstStyle/>
            <a:p>
              <a:pPr algn="ctr">
                <a:lnSpc>
                  <a:spcPts val="2659"/>
                </a:lnSpc>
              </a:pPr>
            </a:p>
          </p:txBody>
        </p:sp>
      </p:grpSp>
      <p:sp>
        <p:nvSpPr>
          <p:cNvPr name="AutoShape 31" id="31"/>
          <p:cNvSpPr/>
          <p:nvPr/>
        </p:nvSpPr>
        <p:spPr>
          <a:xfrm>
            <a:off x="1047750" y="4598650"/>
            <a:ext cx="0" cy="1127799"/>
          </a:xfrm>
          <a:prstGeom prst="line">
            <a:avLst/>
          </a:prstGeom>
          <a:ln cap="flat" w="38100">
            <a:solidFill>
              <a:srgbClr val="000000"/>
            </a:solidFill>
            <a:prstDash val="solid"/>
            <a:headEnd type="none" len="sm" w="sm"/>
            <a:tailEnd type="none" len="sm" w="sm"/>
          </a:ln>
        </p:spPr>
      </p:sp>
      <p:sp>
        <p:nvSpPr>
          <p:cNvPr name="Freeform 32" id="32"/>
          <p:cNvSpPr/>
          <p:nvPr/>
        </p:nvSpPr>
        <p:spPr>
          <a:xfrm flipH="false" flipV="false" rot="0">
            <a:off x="13912390" y="653974"/>
            <a:ext cx="2595839" cy="2592594"/>
          </a:xfrm>
          <a:custGeom>
            <a:avLst/>
            <a:gdLst/>
            <a:ahLst/>
            <a:cxnLst/>
            <a:rect r="r" b="b" t="t" l="l"/>
            <a:pathLst>
              <a:path h="2592594" w="2595839">
                <a:moveTo>
                  <a:pt x="0" y="0"/>
                </a:moveTo>
                <a:lnTo>
                  <a:pt x="2595839" y="0"/>
                </a:lnTo>
                <a:lnTo>
                  <a:pt x="2595839" y="2592594"/>
                </a:lnTo>
                <a:lnTo>
                  <a:pt x="0" y="2592594"/>
                </a:lnTo>
                <a:lnTo>
                  <a:pt x="0" y="0"/>
                </a:lnTo>
                <a:close/>
              </a:path>
            </a:pathLst>
          </a:custGeom>
          <a:blipFill>
            <a:blip r:embed="rId12"/>
            <a:stretch>
              <a:fillRect l="0" t="0" r="0" b="0"/>
            </a:stretch>
          </a:blipFill>
        </p:spPr>
      </p:sp>
      <p:sp>
        <p:nvSpPr>
          <p:cNvPr name="Freeform 33" id="33"/>
          <p:cNvSpPr/>
          <p:nvPr/>
        </p:nvSpPr>
        <p:spPr>
          <a:xfrm flipH="false" flipV="false" rot="0">
            <a:off x="8870981" y="8430877"/>
            <a:ext cx="2595839" cy="2592594"/>
          </a:xfrm>
          <a:custGeom>
            <a:avLst/>
            <a:gdLst/>
            <a:ahLst/>
            <a:cxnLst/>
            <a:rect r="r" b="b" t="t" l="l"/>
            <a:pathLst>
              <a:path h="2592594" w="2595839">
                <a:moveTo>
                  <a:pt x="0" y="0"/>
                </a:moveTo>
                <a:lnTo>
                  <a:pt x="2595838" y="0"/>
                </a:lnTo>
                <a:lnTo>
                  <a:pt x="2595838" y="2592594"/>
                </a:lnTo>
                <a:lnTo>
                  <a:pt x="0" y="2592594"/>
                </a:lnTo>
                <a:lnTo>
                  <a:pt x="0" y="0"/>
                </a:lnTo>
                <a:close/>
              </a:path>
            </a:pathLst>
          </a:custGeom>
          <a:blipFill>
            <a:blip r:embed="rId12"/>
            <a:stretch>
              <a:fillRect l="0" t="0" r="0" b="0"/>
            </a:stretch>
          </a:blipFill>
        </p:spPr>
      </p:sp>
      <p:sp>
        <p:nvSpPr>
          <p:cNvPr name="Freeform 34" id="34"/>
          <p:cNvSpPr/>
          <p:nvPr/>
        </p:nvSpPr>
        <p:spPr>
          <a:xfrm flipH="false" flipV="false" rot="0">
            <a:off x="7619012" y="5789624"/>
            <a:ext cx="2595839" cy="2592594"/>
          </a:xfrm>
          <a:custGeom>
            <a:avLst/>
            <a:gdLst/>
            <a:ahLst/>
            <a:cxnLst/>
            <a:rect r="r" b="b" t="t" l="l"/>
            <a:pathLst>
              <a:path h="2592594" w="2595839">
                <a:moveTo>
                  <a:pt x="0" y="0"/>
                </a:moveTo>
                <a:lnTo>
                  <a:pt x="2595839" y="0"/>
                </a:lnTo>
                <a:lnTo>
                  <a:pt x="2595839" y="2592594"/>
                </a:lnTo>
                <a:lnTo>
                  <a:pt x="0" y="2592594"/>
                </a:lnTo>
                <a:lnTo>
                  <a:pt x="0" y="0"/>
                </a:lnTo>
                <a:close/>
              </a:path>
            </a:pathLst>
          </a:custGeom>
          <a:blipFill>
            <a:blip r:embed="rId12"/>
            <a:stretch>
              <a:fillRect l="0" t="0" r="0" b="0"/>
            </a:stretch>
          </a:blipFill>
        </p:spPr>
      </p:sp>
      <p:sp>
        <p:nvSpPr>
          <p:cNvPr name="Freeform 35" id="35"/>
          <p:cNvSpPr/>
          <p:nvPr/>
        </p:nvSpPr>
        <p:spPr>
          <a:xfrm flipH="false" flipV="false" rot="0">
            <a:off x="1028700" y="9414297"/>
            <a:ext cx="349139" cy="349139"/>
          </a:xfrm>
          <a:custGeom>
            <a:avLst/>
            <a:gdLst/>
            <a:ahLst/>
            <a:cxnLst/>
            <a:rect r="r" b="b" t="t" l="l"/>
            <a:pathLst>
              <a:path h="349139" w="349139">
                <a:moveTo>
                  <a:pt x="0" y="0"/>
                </a:moveTo>
                <a:lnTo>
                  <a:pt x="349139" y="0"/>
                </a:lnTo>
                <a:lnTo>
                  <a:pt x="349139" y="349138"/>
                </a:lnTo>
                <a:lnTo>
                  <a:pt x="0" y="3491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6" id="36"/>
          <p:cNvSpPr/>
          <p:nvPr/>
        </p:nvSpPr>
        <p:spPr>
          <a:xfrm flipH="false" flipV="false" rot="0">
            <a:off x="0" y="0"/>
            <a:ext cx="4875567" cy="1438908"/>
          </a:xfrm>
          <a:custGeom>
            <a:avLst/>
            <a:gdLst/>
            <a:ahLst/>
            <a:cxnLst/>
            <a:rect r="r" b="b" t="t" l="l"/>
            <a:pathLst>
              <a:path h="1438908" w="4875567">
                <a:moveTo>
                  <a:pt x="0" y="0"/>
                </a:moveTo>
                <a:lnTo>
                  <a:pt x="4875567" y="0"/>
                </a:lnTo>
                <a:lnTo>
                  <a:pt x="4875567" y="1438908"/>
                </a:lnTo>
                <a:lnTo>
                  <a:pt x="0" y="1438908"/>
                </a:lnTo>
                <a:lnTo>
                  <a:pt x="0" y="0"/>
                </a:lnTo>
                <a:close/>
              </a:path>
            </a:pathLst>
          </a:custGeom>
          <a:blipFill>
            <a:blip r:embed="rId15"/>
            <a:stretch>
              <a:fillRect l="0" t="0" r="0" b="0"/>
            </a:stretch>
          </a:blipFill>
        </p:spPr>
      </p:sp>
      <p:sp>
        <p:nvSpPr>
          <p:cNvPr name="TextBox 37" id="37"/>
          <p:cNvSpPr txBox="true"/>
          <p:nvPr/>
        </p:nvSpPr>
        <p:spPr>
          <a:xfrm rot="0">
            <a:off x="895350" y="2547613"/>
            <a:ext cx="9755961" cy="1809750"/>
          </a:xfrm>
          <a:prstGeom prst="rect">
            <a:avLst/>
          </a:prstGeom>
        </p:spPr>
        <p:txBody>
          <a:bodyPr anchor="t" rtlCol="false" tIns="0" lIns="0" bIns="0" rIns="0">
            <a:spAutoFit/>
          </a:bodyPr>
          <a:lstStyle/>
          <a:p>
            <a:pPr algn="l">
              <a:lnSpc>
                <a:spcPts val="7196"/>
              </a:lnSpc>
            </a:pPr>
            <a:r>
              <a:rPr lang="en-US" sz="5996" spc="-125" b="true">
                <a:solidFill>
                  <a:srgbClr val="0F5995"/>
                </a:solidFill>
                <a:latin typeface="Open Sauce Heavy"/>
                <a:ea typeface="Open Sauce Heavy"/>
                <a:cs typeface="Open Sauce Heavy"/>
                <a:sym typeface="Open Sauce Heavy"/>
              </a:rPr>
              <a:t>SHIPMENT INFORMATION TRACKING SYSTEM</a:t>
            </a:r>
          </a:p>
        </p:txBody>
      </p:sp>
      <p:sp>
        <p:nvSpPr>
          <p:cNvPr name="TextBox 38" id="38"/>
          <p:cNvSpPr txBox="true"/>
          <p:nvPr/>
        </p:nvSpPr>
        <p:spPr>
          <a:xfrm rot="0">
            <a:off x="1422999" y="4620433"/>
            <a:ext cx="7054347" cy="1082723"/>
          </a:xfrm>
          <a:prstGeom prst="rect">
            <a:avLst/>
          </a:prstGeom>
        </p:spPr>
        <p:txBody>
          <a:bodyPr anchor="t" rtlCol="false" tIns="0" lIns="0" bIns="0" rIns="0">
            <a:spAutoFit/>
          </a:bodyPr>
          <a:lstStyle/>
          <a:p>
            <a:pPr algn="l">
              <a:lnSpc>
                <a:spcPts val="4372"/>
              </a:lnSpc>
            </a:pPr>
            <a:r>
              <a:rPr lang="en-US" sz="3123" b="true">
                <a:solidFill>
                  <a:srgbClr val="000000"/>
                </a:solidFill>
                <a:latin typeface="Open Sauce Bold"/>
                <a:ea typeface="Open Sauce Bold"/>
                <a:cs typeface="Open Sauce Bold"/>
                <a:sym typeface="Open Sauce Bold"/>
              </a:rPr>
              <a:t>SITS </a:t>
            </a:r>
          </a:p>
          <a:p>
            <a:pPr algn="l">
              <a:lnSpc>
                <a:spcPts val="4372"/>
              </a:lnSpc>
              <a:spcBef>
                <a:spcPct val="0"/>
              </a:spcBef>
            </a:pPr>
            <a:r>
              <a:rPr lang="en-US" b="true" sz="3123">
                <a:solidFill>
                  <a:srgbClr val="000000"/>
                </a:solidFill>
                <a:latin typeface="Open Sauce Bold"/>
                <a:ea typeface="Open Sauce Bold"/>
                <a:cs typeface="Open Sauce Bold"/>
                <a:sym typeface="Open Sauce Bold"/>
              </a:rPr>
              <a:t>Product Overview</a:t>
            </a:r>
          </a:p>
        </p:txBody>
      </p:sp>
      <p:sp>
        <p:nvSpPr>
          <p:cNvPr name="TextBox 39" id="39"/>
          <p:cNvSpPr txBox="true"/>
          <p:nvPr/>
        </p:nvSpPr>
        <p:spPr>
          <a:xfrm rot="0">
            <a:off x="1599823" y="9330154"/>
            <a:ext cx="4002008" cy="426698"/>
          </a:xfrm>
          <a:prstGeom prst="rect">
            <a:avLst/>
          </a:prstGeom>
        </p:spPr>
        <p:txBody>
          <a:bodyPr anchor="t" rtlCol="false" tIns="0" lIns="0" bIns="0" rIns="0">
            <a:spAutoFit/>
          </a:bodyPr>
          <a:lstStyle/>
          <a:p>
            <a:pPr algn="l">
              <a:lnSpc>
                <a:spcPts val="3522"/>
              </a:lnSpc>
              <a:spcBef>
                <a:spcPct val="0"/>
              </a:spcBef>
            </a:pPr>
            <a:r>
              <a:rPr lang="en-US" sz="2516">
                <a:solidFill>
                  <a:srgbClr val="FFFFFF"/>
                </a:solidFill>
                <a:latin typeface="Open Sauce"/>
                <a:ea typeface="Open Sauce"/>
                <a:cs typeface="Open Sauce"/>
                <a:sym typeface="Open Sauce"/>
              </a:rPr>
              <a:t>www.infologia.in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12883319" y="3908436"/>
            <a:ext cx="2129229" cy="13038508"/>
            <a:chOff x="0" y="0"/>
            <a:chExt cx="560785" cy="3434010"/>
          </a:xfrm>
        </p:grpSpPr>
        <p:sp>
          <p:nvSpPr>
            <p:cNvPr name="Freeform 3" id="3"/>
            <p:cNvSpPr/>
            <p:nvPr/>
          </p:nvSpPr>
          <p:spPr>
            <a:xfrm flipH="false" flipV="false" rot="0">
              <a:off x="0" y="0"/>
              <a:ext cx="560785" cy="3434010"/>
            </a:xfrm>
            <a:custGeom>
              <a:avLst/>
              <a:gdLst/>
              <a:ahLst/>
              <a:cxnLst/>
              <a:rect r="r" b="b" t="t" l="l"/>
              <a:pathLst>
                <a:path h="3434010" w="560785">
                  <a:moveTo>
                    <a:pt x="0" y="0"/>
                  </a:moveTo>
                  <a:lnTo>
                    <a:pt x="560785" y="0"/>
                  </a:lnTo>
                  <a:lnTo>
                    <a:pt x="560785" y="3434010"/>
                  </a:lnTo>
                  <a:lnTo>
                    <a:pt x="0" y="3434010"/>
                  </a:lnTo>
                  <a:close/>
                </a:path>
              </a:pathLst>
            </a:custGeom>
            <a:gradFill rotWithShape="true">
              <a:gsLst>
                <a:gs pos="0">
                  <a:srgbClr val="366980">
                    <a:alpha val="100000"/>
                  </a:srgbClr>
                </a:gs>
                <a:gs pos="100000">
                  <a:srgbClr val="0B51AE">
                    <a:alpha val="0"/>
                  </a:srgbClr>
                </a:gs>
              </a:gsLst>
              <a:lin ang="5400000"/>
            </a:gradFill>
          </p:spPr>
        </p:sp>
        <p:sp>
          <p:nvSpPr>
            <p:cNvPr name="TextBox 4" id="4"/>
            <p:cNvSpPr txBox="true"/>
            <p:nvPr/>
          </p:nvSpPr>
          <p:spPr>
            <a:xfrm>
              <a:off x="0" y="-38100"/>
              <a:ext cx="560785" cy="347211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true" rot="866750">
            <a:off x="-7937144" y="-2728177"/>
            <a:ext cx="16773160" cy="6414648"/>
          </a:xfrm>
          <a:custGeom>
            <a:avLst/>
            <a:gdLst/>
            <a:ahLst/>
            <a:cxnLst/>
            <a:rect r="r" b="b" t="t" l="l"/>
            <a:pathLst>
              <a:path h="6414648" w="16773160">
                <a:moveTo>
                  <a:pt x="0" y="6414649"/>
                </a:moveTo>
                <a:lnTo>
                  <a:pt x="16773160" y="6414649"/>
                </a:lnTo>
                <a:lnTo>
                  <a:pt x="16773160" y="0"/>
                </a:lnTo>
                <a:lnTo>
                  <a:pt x="0" y="0"/>
                </a:lnTo>
                <a:lnTo>
                  <a:pt x="0" y="6414649"/>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6" id="6"/>
          <p:cNvSpPr/>
          <p:nvPr/>
        </p:nvSpPr>
        <p:spPr>
          <a:xfrm flipH="false" flipV="false" rot="2700000">
            <a:off x="3789716" y="-604502"/>
            <a:ext cx="11026492" cy="5885390"/>
          </a:xfrm>
          <a:custGeom>
            <a:avLst/>
            <a:gdLst/>
            <a:ahLst/>
            <a:cxnLst/>
            <a:rect r="r" b="b" t="t" l="l"/>
            <a:pathLst>
              <a:path h="5885390" w="11026492">
                <a:moveTo>
                  <a:pt x="0" y="0"/>
                </a:moveTo>
                <a:lnTo>
                  <a:pt x="11026492" y="0"/>
                </a:lnTo>
                <a:lnTo>
                  <a:pt x="11026492" y="5885390"/>
                </a:lnTo>
                <a:lnTo>
                  <a:pt x="0" y="5885390"/>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28700" y="1319143"/>
            <a:ext cx="7153840" cy="813096"/>
          </a:xfrm>
          <a:prstGeom prst="rect">
            <a:avLst/>
          </a:prstGeom>
        </p:spPr>
        <p:txBody>
          <a:bodyPr anchor="t" rtlCol="false" tIns="0" lIns="0" bIns="0" rIns="0">
            <a:spAutoFit/>
          </a:bodyPr>
          <a:lstStyle/>
          <a:p>
            <a:pPr algn="l">
              <a:lnSpc>
                <a:spcPts val="6544"/>
              </a:lnSpc>
            </a:pPr>
            <a:r>
              <a:rPr lang="en-US" sz="5034" b="true">
                <a:solidFill>
                  <a:srgbClr val="0F5995"/>
                </a:solidFill>
                <a:latin typeface="Open Sauce Bold"/>
                <a:ea typeface="Open Sauce Bold"/>
                <a:cs typeface="Open Sauce Bold"/>
                <a:sym typeface="Open Sauce Bold"/>
              </a:rPr>
              <a:t>PRODUCT OVERVIEW</a:t>
            </a:r>
          </a:p>
        </p:txBody>
      </p:sp>
      <p:grpSp>
        <p:nvGrpSpPr>
          <p:cNvPr name="Group 8" id="8"/>
          <p:cNvGrpSpPr/>
          <p:nvPr/>
        </p:nvGrpSpPr>
        <p:grpSpPr>
          <a:xfrm rot="0">
            <a:off x="17259300" y="-431599"/>
            <a:ext cx="1437126" cy="13038508"/>
            <a:chOff x="0" y="0"/>
            <a:chExt cx="378502" cy="3434010"/>
          </a:xfrm>
        </p:grpSpPr>
        <p:sp>
          <p:nvSpPr>
            <p:cNvPr name="Freeform 9" id="9"/>
            <p:cNvSpPr/>
            <p:nvPr/>
          </p:nvSpPr>
          <p:spPr>
            <a:xfrm flipH="false" flipV="false" rot="0">
              <a:off x="0" y="0"/>
              <a:ext cx="378502" cy="3434010"/>
            </a:xfrm>
            <a:custGeom>
              <a:avLst/>
              <a:gdLst/>
              <a:ahLst/>
              <a:cxnLst/>
              <a:rect r="r" b="b" t="t" l="l"/>
              <a:pathLst>
                <a:path h="3434010" w="378502">
                  <a:moveTo>
                    <a:pt x="0" y="0"/>
                  </a:moveTo>
                  <a:lnTo>
                    <a:pt x="378502" y="0"/>
                  </a:lnTo>
                  <a:lnTo>
                    <a:pt x="378502" y="3434010"/>
                  </a:lnTo>
                  <a:lnTo>
                    <a:pt x="0" y="3434010"/>
                  </a:lnTo>
                  <a:close/>
                </a:path>
              </a:pathLst>
            </a:custGeom>
            <a:gradFill rotWithShape="true">
              <a:gsLst>
                <a:gs pos="0">
                  <a:srgbClr val="366980">
                    <a:alpha val="100000"/>
                  </a:srgbClr>
                </a:gs>
                <a:gs pos="100000">
                  <a:srgbClr val="0B51AE">
                    <a:alpha val="0"/>
                  </a:srgbClr>
                </a:gs>
              </a:gsLst>
              <a:lin ang="5400000"/>
            </a:gradFill>
          </p:spPr>
        </p:sp>
        <p:sp>
          <p:nvSpPr>
            <p:cNvPr name="TextBox 10" id="10"/>
            <p:cNvSpPr txBox="true"/>
            <p:nvPr/>
          </p:nvSpPr>
          <p:spPr>
            <a:xfrm>
              <a:off x="0" y="-38100"/>
              <a:ext cx="378502" cy="347211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028700" y="2437039"/>
            <a:ext cx="15867752" cy="1144255"/>
          </a:xfrm>
          <a:prstGeom prst="rect">
            <a:avLst/>
          </a:prstGeom>
        </p:spPr>
        <p:txBody>
          <a:bodyPr anchor="t" rtlCol="false" tIns="0" lIns="0" bIns="0" rIns="0">
            <a:spAutoFit/>
          </a:bodyPr>
          <a:lstStyle/>
          <a:p>
            <a:pPr algn="just">
              <a:lnSpc>
                <a:spcPts val="3080"/>
              </a:lnSpc>
              <a:spcBef>
                <a:spcPct val="0"/>
              </a:spcBef>
            </a:pPr>
            <a:r>
              <a:rPr lang="en-US" sz="2200">
                <a:solidFill>
                  <a:srgbClr val="000000"/>
                </a:solidFill>
                <a:latin typeface="Open Sauce"/>
                <a:ea typeface="Open Sauce"/>
                <a:cs typeface="Open Sauce"/>
                <a:sym typeface="Open Sauce"/>
              </a:rPr>
              <a:t>SITS</a:t>
            </a:r>
            <a:r>
              <a:rPr lang="en-US" sz="2200">
                <a:solidFill>
                  <a:srgbClr val="000000"/>
                </a:solidFill>
                <a:latin typeface="Open Sauce"/>
                <a:ea typeface="Open Sauce"/>
                <a:cs typeface="Open Sauce"/>
                <a:sym typeface="Open Sauce"/>
              </a:rPr>
              <a:t> (Shipment Information Tracking System) is Infologia’s next generation track-and-trace platform built for freight forwarders, logistics providers and enterprises. It delivers real time visibility across multimodal shipments air, ocean, rail, road that enables businesses to monitor, predict and control their cargo movement with confidence.</a:t>
            </a:r>
          </a:p>
        </p:txBody>
      </p:sp>
      <p:sp>
        <p:nvSpPr>
          <p:cNvPr name="Freeform 12" id="12"/>
          <p:cNvSpPr/>
          <p:nvPr/>
        </p:nvSpPr>
        <p:spPr>
          <a:xfrm flipH="false" flipV="false" rot="203369">
            <a:off x="-3668906" y="6795626"/>
            <a:ext cx="15613996" cy="4079156"/>
          </a:xfrm>
          <a:custGeom>
            <a:avLst/>
            <a:gdLst/>
            <a:ahLst/>
            <a:cxnLst/>
            <a:rect r="r" b="b" t="t" l="l"/>
            <a:pathLst>
              <a:path h="4079156" w="15613996">
                <a:moveTo>
                  <a:pt x="0" y="0"/>
                </a:moveTo>
                <a:lnTo>
                  <a:pt x="15613996" y="0"/>
                </a:lnTo>
                <a:lnTo>
                  <a:pt x="15613996" y="4079156"/>
                </a:lnTo>
                <a:lnTo>
                  <a:pt x="0" y="4079156"/>
                </a:lnTo>
                <a:lnTo>
                  <a:pt x="0" y="0"/>
                </a:lnTo>
                <a:close/>
              </a:path>
            </a:pathLst>
          </a:custGeom>
          <a:blipFill>
            <a:blip r:embed="rId6">
              <a:alphaModFix amt="4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7259300" y="9363075"/>
            <a:ext cx="923925" cy="923925"/>
          </a:xfrm>
          <a:custGeom>
            <a:avLst/>
            <a:gdLst/>
            <a:ahLst/>
            <a:cxnLst/>
            <a:rect r="r" b="b" t="t" l="l"/>
            <a:pathLst>
              <a:path h="923925" w="923925">
                <a:moveTo>
                  <a:pt x="0" y="0"/>
                </a:moveTo>
                <a:lnTo>
                  <a:pt x="923925" y="0"/>
                </a:lnTo>
                <a:lnTo>
                  <a:pt x="923925" y="923925"/>
                </a:lnTo>
                <a:lnTo>
                  <a:pt x="0" y="92392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685975" y="9453685"/>
            <a:ext cx="742704" cy="742704"/>
          </a:xfrm>
          <a:custGeom>
            <a:avLst/>
            <a:gdLst/>
            <a:ahLst/>
            <a:cxnLst/>
            <a:rect r="r" b="b" t="t" l="l"/>
            <a:pathLst>
              <a:path h="742704" w="742704">
                <a:moveTo>
                  <a:pt x="0" y="0"/>
                </a:moveTo>
                <a:lnTo>
                  <a:pt x="742704" y="0"/>
                </a:lnTo>
                <a:lnTo>
                  <a:pt x="742704" y="742705"/>
                </a:lnTo>
                <a:lnTo>
                  <a:pt x="0" y="742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2047901" y="4012988"/>
            <a:ext cx="13829350" cy="2261025"/>
            <a:chOff x="0" y="0"/>
            <a:chExt cx="18439133" cy="3014699"/>
          </a:xfrm>
        </p:grpSpPr>
        <p:sp>
          <p:nvSpPr>
            <p:cNvPr name="Freeform 16" id="16"/>
            <p:cNvSpPr/>
            <p:nvPr/>
          </p:nvSpPr>
          <p:spPr>
            <a:xfrm flipH="false" flipV="false" rot="0">
              <a:off x="0" y="42885"/>
              <a:ext cx="980602" cy="979376"/>
            </a:xfrm>
            <a:custGeom>
              <a:avLst/>
              <a:gdLst/>
              <a:ahLst/>
              <a:cxnLst/>
              <a:rect r="r" b="b" t="t" l="l"/>
              <a:pathLst>
                <a:path h="979376" w="980602">
                  <a:moveTo>
                    <a:pt x="0" y="0"/>
                  </a:moveTo>
                  <a:lnTo>
                    <a:pt x="980602" y="0"/>
                  </a:lnTo>
                  <a:lnTo>
                    <a:pt x="980602" y="979376"/>
                  </a:lnTo>
                  <a:lnTo>
                    <a:pt x="0" y="97937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6241329" y="112455"/>
              <a:ext cx="933324" cy="954807"/>
            </a:xfrm>
            <a:custGeom>
              <a:avLst/>
              <a:gdLst/>
              <a:ahLst/>
              <a:cxnLst/>
              <a:rect r="r" b="b" t="t" l="l"/>
              <a:pathLst>
                <a:path h="954807" w="933324">
                  <a:moveTo>
                    <a:pt x="0" y="0"/>
                  </a:moveTo>
                  <a:lnTo>
                    <a:pt x="933324" y="0"/>
                  </a:lnTo>
                  <a:lnTo>
                    <a:pt x="933324" y="954806"/>
                  </a:lnTo>
                  <a:lnTo>
                    <a:pt x="0" y="95480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8" id="18"/>
            <p:cNvSpPr/>
            <p:nvPr/>
          </p:nvSpPr>
          <p:spPr>
            <a:xfrm flipH="false" flipV="false" rot="0">
              <a:off x="12482948" y="0"/>
              <a:ext cx="1035854" cy="1065146"/>
            </a:xfrm>
            <a:custGeom>
              <a:avLst/>
              <a:gdLst/>
              <a:ahLst/>
              <a:cxnLst/>
              <a:rect r="r" b="b" t="t" l="l"/>
              <a:pathLst>
                <a:path h="1065146" w="1035854">
                  <a:moveTo>
                    <a:pt x="0" y="0"/>
                  </a:moveTo>
                  <a:lnTo>
                    <a:pt x="1035854" y="0"/>
                  </a:lnTo>
                  <a:lnTo>
                    <a:pt x="1035854" y="1065146"/>
                  </a:lnTo>
                  <a:lnTo>
                    <a:pt x="0" y="10651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0" y="2098529"/>
              <a:ext cx="1030853" cy="916171"/>
            </a:xfrm>
            <a:custGeom>
              <a:avLst/>
              <a:gdLst/>
              <a:ahLst/>
              <a:cxnLst/>
              <a:rect r="r" b="b" t="t" l="l"/>
              <a:pathLst>
                <a:path h="916171" w="1030853">
                  <a:moveTo>
                    <a:pt x="0" y="0"/>
                  </a:moveTo>
                  <a:lnTo>
                    <a:pt x="1030853" y="0"/>
                  </a:lnTo>
                  <a:lnTo>
                    <a:pt x="1030853" y="916170"/>
                  </a:lnTo>
                  <a:lnTo>
                    <a:pt x="0" y="91617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6241329" y="2268856"/>
              <a:ext cx="992803" cy="745843"/>
            </a:xfrm>
            <a:custGeom>
              <a:avLst/>
              <a:gdLst/>
              <a:ahLst/>
              <a:cxnLst/>
              <a:rect r="r" b="b" t="t" l="l"/>
              <a:pathLst>
                <a:path h="745843" w="992803">
                  <a:moveTo>
                    <a:pt x="0" y="0"/>
                  </a:moveTo>
                  <a:lnTo>
                    <a:pt x="992803" y="0"/>
                  </a:lnTo>
                  <a:lnTo>
                    <a:pt x="992803" y="745843"/>
                  </a:lnTo>
                  <a:lnTo>
                    <a:pt x="0" y="74584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2786439" y="2145171"/>
              <a:ext cx="875027" cy="806736"/>
            </a:xfrm>
            <a:custGeom>
              <a:avLst/>
              <a:gdLst/>
              <a:ahLst/>
              <a:cxnLst/>
              <a:rect r="r" b="b" t="t" l="l"/>
              <a:pathLst>
                <a:path h="806736" w="875027">
                  <a:moveTo>
                    <a:pt x="0" y="0"/>
                  </a:moveTo>
                  <a:lnTo>
                    <a:pt x="875027" y="0"/>
                  </a:lnTo>
                  <a:lnTo>
                    <a:pt x="875027" y="806735"/>
                  </a:lnTo>
                  <a:lnTo>
                    <a:pt x="0" y="806735"/>
                  </a:lnTo>
                  <a:lnTo>
                    <a:pt x="0" y="0"/>
                  </a:lnTo>
                  <a:close/>
                </a:path>
              </a:pathLst>
            </a:custGeom>
            <a:blipFill>
              <a:blip r:embed="rId20"/>
              <a:stretch>
                <a:fillRect l="0" t="0" r="-1026" b="-7113"/>
              </a:stretch>
            </a:blipFill>
          </p:spPr>
        </p:sp>
        <p:sp>
          <p:nvSpPr>
            <p:cNvPr name="TextBox 22" id="22"/>
            <p:cNvSpPr txBox="true"/>
            <p:nvPr/>
          </p:nvSpPr>
          <p:spPr>
            <a:xfrm rot="0">
              <a:off x="1234393" y="394359"/>
              <a:ext cx="3702703"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Global Coverage</a:t>
              </a:r>
            </a:p>
          </p:txBody>
        </p:sp>
        <p:sp>
          <p:nvSpPr>
            <p:cNvPr name="TextBox 23" id="23"/>
            <p:cNvSpPr txBox="true"/>
            <p:nvPr/>
          </p:nvSpPr>
          <p:spPr>
            <a:xfrm rot="0">
              <a:off x="7522701" y="394359"/>
              <a:ext cx="3869069"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Real-time Visibility</a:t>
              </a:r>
            </a:p>
          </p:txBody>
        </p:sp>
        <p:sp>
          <p:nvSpPr>
            <p:cNvPr name="TextBox 24" id="24"/>
            <p:cNvSpPr txBox="true"/>
            <p:nvPr/>
          </p:nvSpPr>
          <p:spPr>
            <a:xfrm rot="0">
              <a:off x="13900949" y="394359"/>
              <a:ext cx="4232347"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Multimodal Tracking</a:t>
              </a:r>
            </a:p>
          </p:txBody>
        </p:sp>
        <p:sp>
          <p:nvSpPr>
            <p:cNvPr name="TextBox 25" id="25"/>
            <p:cNvSpPr txBox="true"/>
            <p:nvPr/>
          </p:nvSpPr>
          <p:spPr>
            <a:xfrm rot="0">
              <a:off x="1275216" y="2384804"/>
              <a:ext cx="3282945"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Proactive Alerts</a:t>
              </a:r>
            </a:p>
          </p:txBody>
        </p:sp>
        <p:sp>
          <p:nvSpPr>
            <p:cNvPr name="TextBox 26" id="26"/>
            <p:cNvSpPr txBox="true"/>
            <p:nvPr/>
          </p:nvSpPr>
          <p:spPr>
            <a:xfrm rot="0">
              <a:off x="7588203" y="2384804"/>
              <a:ext cx="4083654"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Advanced Analytics</a:t>
              </a:r>
            </a:p>
          </p:txBody>
        </p:sp>
        <p:sp>
          <p:nvSpPr>
            <p:cNvPr name="TextBox 27" id="27"/>
            <p:cNvSpPr txBox="true"/>
            <p:nvPr/>
          </p:nvSpPr>
          <p:spPr>
            <a:xfrm rot="0">
              <a:off x="14025436" y="2384804"/>
              <a:ext cx="4413697" cy="513948"/>
            </a:xfrm>
            <a:prstGeom prst="rect">
              <a:avLst/>
            </a:prstGeom>
          </p:spPr>
          <p:txBody>
            <a:bodyPr anchor="t" rtlCol="false" tIns="0" lIns="0" bIns="0" rIns="0">
              <a:spAutoFit/>
            </a:bodyPr>
            <a:lstStyle/>
            <a:p>
              <a:pPr algn="ctr">
                <a:lnSpc>
                  <a:spcPts val="3093"/>
                </a:lnSpc>
                <a:spcBef>
                  <a:spcPct val="0"/>
                </a:spcBef>
              </a:pPr>
              <a:r>
                <a:rPr lang="en-US" sz="2535">
                  <a:solidFill>
                    <a:srgbClr val="000000"/>
                  </a:solidFill>
                  <a:latin typeface="Now"/>
                  <a:ea typeface="Now"/>
                  <a:cs typeface="Now"/>
                  <a:sym typeface="Now"/>
                </a:rPr>
                <a:t>Sustainability Metrics</a:t>
              </a:r>
            </a:p>
          </p:txBody>
        </p:sp>
      </p:grpSp>
      <p:grpSp>
        <p:nvGrpSpPr>
          <p:cNvPr name="Group 28" id="28"/>
          <p:cNvGrpSpPr/>
          <p:nvPr/>
        </p:nvGrpSpPr>
        <p:grpSpPr>
          <a:xfrm rot="0">
            <a:off x="2104551" y="6702637"/>
            <a:ext cx="14078898" cy="2534363"/>
            <a:chOff x="0" y="0"/>
            <a:chExt cx="18771864" cy="3379151"/>
          </a:xfrm>
        </p:grpSpPr>
        <p:sp>
          <p:nvSpPr>
            <p:cNvPr name="Freeform 29" id="29"/>
            <p:cNvSpPr/>
            <p:nvPr/>
          </p:nvSpPr>
          <p:spPr>
            <a:xfrm flipH="false" flipV="false" rot="0">
              <a:off x="14315659" y="34660"/>
              <a:ext cx="4456205" cy="3202897"/>
            </a:xfrm>
            <a:custGeom>
              <a:avLst/>
              <a:gdLst/>
              <a:ahLst/>
              <a:cxnLst/>
              <a:rect r="r" b="b" t="t" l="l"/>
              <a:pathLst>
                <a:path h="3202897" w="4456205">
                  <a:moveTo>
                    <a:pt x="0" y="0"/>
                  </a:moveTo>
                  <a:lnTo>
                    <a:pt x="4456205" y="0"/>
                  </a:lnTo>
                  <a:lnTo>
                    <a:pt x="4456205" y="3202898"/>
                  </a:lnTo>
                  <a:lnTo>
                    <a:pt x="0" y="320289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0" id="30"/>
            <p:cNvSpPr/>
            <p:nvPr/>
          </p:nvSpPr>
          <p:spPr>
            <a:xfrm flipH="false" flipV="false" rot="0">
              <a:off x="0" y="34660"/>
              <a:ext cx="4456205" cy="3202897"/>
            </a:xfrm>
            <a:custGeom>
              <a:avLst/>
              <a:gdLst/>
              <a:ahLst/>
              <a:cxnLst/>
              <a:rect r="r" b="b" t="t" l="l"/>
              <a:pathLst>
                <a:path h="3202897" w="4456205">
                  <a:moveTo>
                    <a:pt x="0" y="0"/>
                  </a:moveTo>
                  <a:lnTo>
                    <a:pt x="4456205" y="0"/>
                  </a:lnTo>
                  <a:lnTo>
                    <a:pt x="4456205" y="3202898"/>
                  </a:lnTo>
                  <a:lnTo>
                    <a:pt x="0" y="320289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AutoShape 31" id="31"/>
            <p:cNvSpPr/>
            <p:nvPr/>
          </p:nvSpPr>
          <p:spPr>
            <a:xfrm>
              <a:off x="4423716" y="1813909"/>
              <a:ext cx="9891943" cy="0"/>
            </a:xfrm>
            <a:prstGeom prst="line">
              <a:avLst/>
            </a:prstGeom>
            <a:ln cap="flat" w="25400">
              <a:solidFill>
                <a:srgbClr val="0F5995"/>
              </a:solidFill>
              <a:prstDash val="solid"/>
              <a:headEnd type="none" len="sm" w="sm"/>
              <a:tailEnd type="none" len="sm" w="sm"/>
            </a:ln>
          </p:spPr>
        </p:sp>
        <p:sp>
          <p:nvSpPr>
            <p:cNvPr name="Freeform 32" id="32"/>
            <p:cNvSpPr/>
            <p:nvPr/>
          </p:nvSpPr>
          <p:spPr>
            <a:xfrm flipH="false" flipV="false" rot="0">
              <a:off x="6642053" y="248667"/>
              <a:ext cx="4456205" cy="3130484"/>
            </a:xfrm>
            <a:custGeom>
              <a:avLst/>
              <a:gdLst/>
              <a:ahLst/>
              <a:cxnLst/>
              <a:rect r="r" b="b" t="t" l="l"/>
              <a:pathLst>
                <a:path h="3130484" w="4456205">
                  <a:moveTo>
                    <a:pt x="0" y="0"/>
                  </a:moveTo>
                  <a:lnTo>
                    <a:pt x="4456205" y="0"/>
                  </a:lnTo>
                  <a:lnTo>
                    <a:pt x="4456205" y="3130484"/>
                  </a:lnTo>
                  <a:lnTo>
                    <a:pt x="0" y="313048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3" id="33"/>
            <p:cNvSpPr/>
            <p:nvPr/>
          </p:nvSpPr>
          <p:spPr>
            <a:xfrm flipH="false" flipV="false" rot="0">
              <a:off x="6642053" y="0"/>
              <a:ext cx="4456205" cy="3202897"/>
            </a:xfrm>
            <a:custGeom>
              <a:avLst/>
              <a:gdLst/>
              <a:ahLst/>
              <a:cxnLst/>
              <a:rect r="r" b="b" t="t" l="l"/>
              <a:pathLst>
                <a:path h="3202897" w="4456205">
                  <a:moveTo>
                    <a:pt x="0" y="0"/>
                  </a:moveTo>
                  <a:lnTo>
                    <a:pt x="4456205" y="0"/>
                  </a:lnTo>
                  <a:lnTo>
                    <a:pt x="4456205" y="3202897"/>
                  </a:lnTo>
                  <a:lnTo>
                    <a:pt x="0" y="320289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4" id="34"/>
            <p:cNvSpPr txBox="true"/>
            <p:nvPr/>
          </p:nvSpPr>
          <p:spPr>
            <a:xfrm rot="0">
              <a:off x="1031554" y="1296851"/>
              <a:ext cx="2393098" cy="1108271"/>
            </a:xfrm>
            <a:prstGeom prst="rect">
              <a:avLst/>
            </a:prstGeom>
          </p:spPr>
          <p:txBody>
            <a:bodyPr anchor="t" rtlCol="false" tIns="0" lIns="0" bIns="0" rIns="0">
              <a:spAutoFit/>
            </a:bodyPr>
            <a:lstStyle/>
            <a:p>
              <a:pPr algn="ctr">
                <a:lnSpc>
                  <a:spcPts val="2216"/>
                </a:lnSpc>
              </a:pPr>
              <a:r>
                <a:rPr lang="en-US" sz="1817">
                  <a:solidFill>
                    <a:srgbClr val="1B1B1B"/>
                  </a:solidFill>
                  <a:latin typeface="Now"/>
                  <a:ea typeface="Now"/>
                  <a:cs typeface="Now"/>
                  <a:sym typeface="Now"/>
                </a:rPr>
                <a:t>200+</a:t>
              </a:r>
            </a:p>
            <a:p>
              <a:pPr algn="ctr" marL="0" indent="0" lvl="0">
                <a:lnSpc>
                  <a:spcPts val="2216"/>
                </a:lnSpc>
                <a:spcBef>
                  <a:spcPct val="0"/>
                </a:spcBef>
              </a:pPr>
              <a:r>
                <a:rPr lang="en-US" sz="1817">
                  <a:solidFill>
                    <a:srgbClr val="1B1B1B"/>
                  </a:solidFill>
                  <a:latin typeface="Now"/>
                  <a:ea typeface="Now"/>
                  <a:cs typeface="Now"/>
                  <a:sym typeface="Now"/>
                </a:rPr>
                <a:t>Global </a:t>
              </a:r>
              <a:r>
                <a:rPr lang="en-US" sz="1817">
                  <a:solidFill>
                    <a:srgbClr val="1B1B1B"/>
                  </a:solidFill>
                  <a:latin typeface="Now"/>
                  <a:ea typeface="Now"/>
                  <a:cs typeface="Now"/>
                  <a:sym typeface="Now"/>
                </a:rPr>
                <a:t>Carrier Integrations</a:t>
              </a:r>
            </a:p>
          </p:txBody>
        </p:sp>
        <p:sp>
          <p:nvSpPr>
            <p:cNvPr name="TextBox 35" id="35"/>
            <p:cNvSpPr txBox="true"/>
            <p:nvPr/>
          </p:nvSpPr>
          <p:spPr>
            <a:xfrm rot="0">
              <a:off x="7673606" y="1296851"/>
              <a:ext cx="2393098" cy="1108271"/>
            </a:xfrm>
            <a:prstGeom prst="rect">
              <a:avLst/>
            </a:prstGeom>
          </p:spPr>
          <p:txBody>
            <a:bodyPr anchor="t" rtlCol="false" tIns="0" lIns="0" bIns="0" rIns="0">
              <a:spAutoFit/>
            </a:bodyPr>
            <a:lstStyle/>
            <a:p>
              <a:pPr algn="ctr">
                <a:lnSpc>
                  <a:spcPts val="2216"/>
                </a:lnSpc>
              </a:pPr>
              <a:r>
                <a:rPr lang="en-US" sz="1817">
                  <a:solidFill>
                    <a:srgbClr val="1B1B1B"/>
                  </a:solidFill>
                  <a:latin typeface="Now"/>
                  <a:ea typeface="Now"/>
                  <a:cs typeface="Now"/>
                  <a:sym typeface="Now"/>
                </a:rPr>
                <a:t>20+</a:t>
              </a:r>
            </a:p>
            <a:p>
              <a:pPr algn="ctr" marL="0" indent="0" lvl="0">
                <a:lnSpc>
                  <a:spcPts val="2216"/>
                </a:lnSpc>
                <a:spcBef>
                  <a:spcPct val="0"/>
                </a:spcBef>
              </a:pPr>
              <a:r>
                <a:rPr lang="en-US" sz="1817">
                  <a:solidFill>
                    <a:srgbClr val="1B1B1B"/>
                  </a:solidFill>
                  <a:latin typeface="Now"/>
                  <a:ea typeface="Now"/>
                  <a:cs typeface="Now"/>
                  <a:sym typeface="Now"/>
                </a:rPr>
                <a:t>Enterprise Clients</a:t>
              </a:r>
            </a:p>
          </p:txBody>
        </p:sp>
        <p:sp>
          <p:nvSpPr>
            <p:cNvPr name="TextBox 36" id="36"/>
            <p:cNvSpPr txBox="true"/>
            <p:nvPr/>
          </p:nvSpPr>
          <p:spPr>
            <a:xfrm rot="0">
              <a:off x="15347213" y="1296851"/>
              <a:ext cx="2393098" cy="1108271"/>
            </a:xfrm>
            <a:prstGeom prst="rect">
              <a:avLst/>
            </a:prstGeom>
          </p:spPr>
          <p:txBody>
            <a:bodyPr anchor="t" rtlCol="false" tIns="0" lIns="0" bIns="0" rIns="0">
              <a:spAutoFit/>
            </a:bodyPr>
            <a:lstStyle/>
            <a:p>
              <a:pPr algn="ctr">
                <a:lnSpc>
                  <a:spcPts val="2216"/>
                </a:lnSpc>
              </a:pPr>
              <a:r>
                <a:rPr lang="en-US" sz="1817">
                  <a:solidFill>
                    <a:srgbClr val="1B1B1B"/>
                  </a:solidFill>
                  <a:latin typeface="Now"/>
                  <a:ea typeface="Now"/>
                  <a:cs typeface="Now"/>
                  <a:sym typeface="Now"/>
                </a:rPr>
                <a:t>32%</a:t>
              </a:r>
            </a:p>
            <a:p>
              <a:pPr algn="ctr" marL="0" indent="0" lvl="0">
                <a:lnSpc>
                  <a:spcPts val="2216"/>
                </a:lnSpc>
                <a:spcBef>
                  <a:spcPct val="0"/>
                </a:spcBef>
              </a:pPr>
              <a:r>
                <a:rPr lang="en-US" sz="1817">
                  <a:solidFill>
                    <a:srgbClr val="1B1B1B"/>
                  </a:solidFill>
                  <a:latin typeface="Now"/>
                  <a:ea typeface="Now"/>
                  <a:cs typeface="Now"/>
                  <a:sym typeface="Now"/>
                </a:rPr>
                <a:t>Reducti</a:t>
              </a:r>
              <a:r>
                <a:rPr lang="en-US" sz="1817">
                  <a:solidFill>
                    <a:srgbClr val="1B1B1B"/>
                  </a:solidFill>
                  <a:latin typeface="Now"/>
                  <a:ea typeface="Now"/>
                  <a:cs typeface="Now"/>
                  <a:sym typeface="Now"/>
                </a:rPr>
                <a:t>on </a:t>
              </a:r>
              <a:r>
                <a:rPr lang="en-US" sz="1817">
                  <a:solidFill>
                    <a:srgbClr val="1B1B1B"/>
                  </a:solidFill>
                  <a:latin typeface="Now"/>
                  <a:ea typeface="Now"/>
                  <a:cs typeface="Now"/>
                  <a:sym typeface="Now"/>
                </a:rPr>
                <a:t>in Transit Time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056143" y="9258300"/>
            <a:ext cx="15030952" cy="2314575"/>
            <a:chOff x="0" y="0"/>
            <a:chExt cx="3958769" cy="609600"/>
          </a:xfrm>
        </p:grpSpPr>
        <p:sp>
          <p:nvSpPr>
            <p:cNvPr name="Freeform 3" id="3"/>
            <p:cNvSpPr/>
            <p:nvPr/>
          </p:nvSpPr>
          <p:spPr>
            <a:xfrm flipH="false" flipV="false" rot="0">
              <a:off x="14382" y="0"/>
              <a:ext cx="3930004" cy="609600"/>
            </a:xfrm>
            <a:custGeom>
              <a:avLst/>
              <a:gdLst/>
              <a:ahLst/>
              <a:cxnLst/>
              <a:rect r="r" b="b" t="t" l="l"/>
              <a:pathLst>
                <a:path h="609600" w="3930004">
                  <a:moveTo>
                    <a:pt x="240325" y="0"/>
                  </a:moveTo>
                  <a:lnTo>
                    <a:pt x="3689681" y="0"/>
                  </a:lnTo>
                  <a:cubicBezTo>
                    <a:pt x="3720440" y="0"/>
                    <a:pt x="3747748" y="19683"/>
                    <a:pt x="3757475" y="48863"/>
                  </a:cubicBezTo>
                  <a:lnTo>
                    <a:pt x="3928099" y="560737"/>
                  </a:lnTo>
                  <a:cubicBezTo>
                    <a:pt x="3931873" y="572057"/>
                    <a:pt x="3929975" y="584502"/>
                    <a:pt x="3922997" y="594183"/>
                  </a:cubicBezTo>
                  <a:cubicBezTo>
                    <a:pt x="3916020" y="603864"/>
                    <a:pt x="3904814" y="609600"/>
                    <a:pt x="3892881" y="609600"/>
                  </a:cubicBezTo>
                  <a:lnTo>
                    <a:pt x="37125" y="609600"/>
                  </a:lnTo>
                  <a:cubicBezTo>
                    <a:pt x="25191" y="609600"/>
                    <a:pt x="13986" y="603864"/>
                    <a:pt x="7008" y="594183"/>
                  </a:cubicBezTo>
                  <a:cubicBezTo>
                    <a:pt x="31" y="584502"/>
                    <a:pt x="-1868" y="572057"/>
                    <a:pt x="1906" y="560737"/>
                  </a:cubicBezTo>
                  <a:lnTo>
                    <a:pt x="172530" y="48863"/>
                  </a:lnTo>
                  <a:cubicBezTo>
                    <a:pt x="182257" y="19683"/>
                    <a:pt x="209565" y="0"/>
                    <a:pt x="240325" y="0"/>
                  </a:cubicBez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4" id="4"/>
            <p:cNvSpPr txBox="true"/>
            <p:nvPr/>
          </p:nvSpPr>
          <p:spPr>
            <a:xfrm>
              <a:off x="127000" y="-38100"/>
              <a:ext cx="3704769" cy="64770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6516596" y="3167249"/>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7689" y="3167249"/>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3906814" y="981075"/>
            <a:ext cx="10130649" cy="812361"/>
          </a:xfrm>
          <a:prstGeom prst="rect">
            <a:avLst/>
          </a:prstGeom>
        </p:spPr>
        <p:txBody>
          <a:bodyPr anchor="t" rtlCol="false" tIns="0" lIns="0" bIns="0" rIns="0">
            <a:spAutoFit/>
          </a:bodyPr>
          <a:lstStyle/>
          <a:p>
            <a:pPr algn="ctr">
              <a:lnSpc>
                <a:spcPts val="6544"/>
              </a:lnSpc>
            </a:pPr>
            <a:r>
              <a:rPr lang="en-US" b="true" sz="5034">
                <a:solidFill>
                  <a:srgbClr val="0F5995"/>
                </a:solidFill>
                <a:latin typeface="Open Sauce Bold"/>
                <a:ea typeface="Open Sauce Bold"/>
                <a:cs typeface="Open Sauce Bold"/>
                <a:sym typeface="Open Sauce Bold"/>
              </a:rPr>
              <a:t>WHY SITS MATTERS</a:t>
            </a:r>
          </a:p>
        </p:txBody>
      </p:sp>
      <p:sp>
        <p:nvSpPr>
          <p:cNvPr name="TextBox 8" id="8"/>
          <p:cNvSpPr txBox="true"/>
          <p:nvPr/>
        </p:nvSpPr>
        <p:spPr>
          <a:xfrm rot="0">
            <a:off x="2056143" y="2461129"/>
            <a:ext cx="14175714" cy="763270"/>
          </a:xfrm>
          <a:prstGeom prst="rect">
            <a:avLst/>
          </a:prstGeom>
        </p:spPr>
        <p:txBody>
          <a:bodyPr anchor="t" rtlCol="false" tIns="0" lIns="0" bIns="0" rIns="0">
            <a:spAutoFit/>
          </a:bodyPr>
          <a:lstStyle/>
          <a:p>
            <a:pPr algn="ctr">
              <a:lnSpc>
                <a:spcPts val="3079"/>
              </a:lnSpc>
              <a:spcBef>
                <a:spcPct val="0"/>
              </a:spcBef>
            </a:pPr>
            <a:r>
              <a:rPr lang="en-US" sz="2199">
                <a:solidFill>
                  <a:srgbClr val="000000"/>
                </a:solidFill>
                <a:latin typeface="Open Sauce"/>
                <a:ea typeface="Open Sauce"/>
                <a:cs typeface="Open Sauce"/>
                <a:sym typeface="Open Sauce"/>
              </a:rPr>
              <a:t>SITS</a:t>
            </a:r>
            <a:r>
              <a:rPr lang="en-US" sz="2199">
                <a:solidFill>
                  <a:srgbClr val="000000"/>
                </a:solidFill>
                <a:latin typeface="Open Sauce"/>
                <a:ea typeface="Open Sauce"/>
                <a:cs typeface="Open Sauce"/>
                <a:sym typeface="Open Sauce"/>
              </a:rPr>
              <a:t> transforms shipment tracking into a strategic advantage by improving efficiency, reliability and trust across the supply chain.</a:t>
            </a:r>
          </a:p>
        </p:txBody>
      </p:sp>
      <p:grpSp>
        <p:nvGrpSpPr>
          <p:cNvPr name="Group 9" id="9"/>
          <p:cNvGrpSpPr/>
          <p:nvPr/>
        </p:nvGrpSpPr>
        <p:grpSpPr>
          <a:xfrm rot="0">
            <a:off x="1884308" y="4239968"/>
            <a:ext cx="4071427" cy="3042416"/>
            <a:chOff x="0" y="0"/>
            <a:chExt cx="5428570" cy="4056555"/>
          </a:xfrm>
        </p:grpSpPr>
        <p:grpSp>
          <p:nvGrpSpPr>
            <p:cNvPr name="Group 10" id="10"/>
            <p:cNvGrpSpPr/>
            <p:nvPr/>
          </p:nvGrpSpPr>
          <p:grpSpPr>
            <a:xfrm rot="0">
              <a:off x="0" y="486196"/>
              <a:ext cx="5428570" cy="3570359"/>
              <a:chOff x="0" y="0"/>
              <a:chExt cx="1072310" cy="705256"/>
            </a:xfrm>
          </p:grpSpPr>
          <p:sp>
            <p:nvSpPr>
              <p:cNvPr name="Freeform 11" id="11"/>
              <p:cNvSpPr/>
              <p:nvPr/>
            </p:nvSpPr>
            <p:spPr>
              <a:xfrm flipH="false" flipV="false" rot="0">
                <a:off x="0" y="0"/>
                <a:ext cx="1072310" cy="705256"/>
              </a:xfrm>
              <a:custGeom>
                <a:avLst/>
                <a:gdLst/>
                <a:ahLst/>
                <a:cxnLst/>
                <a:rect r="r" b="b" t="t" l="l"/>
                <a:pathLst>
                  <a:path h="705256" w="1072310">
                    <a:moveTo>
                      <a:pt x="112190" y="0"/>
                    </a:moveTo>
                    <a:lnTo>
                      <a:pt x="960120" y="0"/>
                    </a:lnTo>
                    <a:cubicBezTo>
                      <a:pt x="989875" y="0"/>
                      <a:pt x="1018411" y="11820"/>
                      <a:pt x="1039450" y="32860"/>
                    </a:cubicBezTo>
                    <a:cubicBezTo>
                      <a:pt x="1060490" y="53899"/>
                      <a:pt x="1072310" y="82435"/>
                      <a:pt x="1072310" y="112190"/>
                    </a:cubicBezTo>
                    <a:lnTo>
                      <a:pt x="1072310" y="593066"/>
                    </a:lnTo>
                    <a:cubicBezTo>
                      <a:pt x="1072310" y="655027"/>
                      <a:pt x="1022081" y="705256"/>
                      <a:pt x="960120" y="705256"/>
                    </a:cubicBezTo>
                    <a:lnTo>
                      <a:pt x="112190" y="705256"/>
                    </a:lnTo>
                    <a:cubicBezTo>
                      <a:pt x="82435" y="705256"/>
                      <a:pt x="53899" y="693436"/>
                      <a:pt x="32860" y="672396"/>
                    </a:cubicBezTo>
                    <a:cubicBezTo>
                      <a:pt x="11820" y="651357"/>
                      <a:pt x="0" y="622821"/>
                      <a:pt x="0" y="593066"/>
                    </a:cubicBezTo>
                    <a:lnTo>
                      <a:pt x="0" y="112190"/>
                    </a:lnTo>
                    <a:cubicBezTo>
                      <a:pt x="0" y="82435"/>
                      <a:pt x="11820" y="53899"/>
                      <a:pt x="32860" y="32860"/>
                    </a:cubicBezTo>
                    <a:cubicBezTo>
                      <a:pt x="53899" y="11820"/>
                      <a:pt x="82435" y="0"/>
                      <a:pt x="112190" y="0"/>
                    </a:cubicBezTo>
                    <a:close/>
                  </a:path>
                </a:pathLst>
              </a:custGeom>
              <a:gradFill rotWithShape="true">
                <a:gsLst>
                  <a:gs pos="0">
                    <a:srgbClr val="153953">
                      <a:alpha val="100000"/>
                    </a:srgbClr>
                  </a:gs>
                  <a:gs pos="100000">
                    <a:srgbClr val="065D9B">
                      <a:alpha val="100000"/>
                    </a:srgbClr>
                  </a:gs>
                </a:gsLst>
                <a:lin ang="0"/>
              </a:gradFill>
            </p:spPr>
          </p:sp>
          <p:sp>
            <p:nvSpPr>
              <p:cNvPr name="TextBox 12" id="12"/>
              <p:cNvSpPr txBox="true"/>
              <p:nvPr/>
            </p:nvSpPr>
            <p:spPr>
              <a:xfrm>
                <a:off x="0" y="-38100"/>
                <a:ext cx="1072310" cy="74335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05569" y="0"/>
              <a:ext cx="4217431" cy="972392"/>
              <a:chOff x="0" y="0"/>
              <a:chExt cx="833073" cy="192077"/>
            </a:xfrm>
          </p:grpSpPr>
          <p:sp>
            <p:nvSpPr>
              <p:cNvPr name="Freeform 14" id="14"/>
              <p:cNvSpPr/>
              <p:nvPr/>
            </p:nvSpPr>
            <p:spPr>
              <a:xfrm flipH="false" flipV="false" rot="0">
                <a:off x="0" y="0"/>
                <a:ext cx="833073" cy="192077"/>
              </a:xfrm>
              <a:custGeom>
                <a:avLst/>
                <a:gdLst/>
                <a:ahLst/>
                <a:cxnLst/>
                <a:rect r="r" b="b" t="t" l="l"/>
                <a:pathLst>
                  <a:path h="192077" w="833073">
                    <a:moveTo>
                      <a:pt x="96039" y="0"/>
                    </a:moveTo>
                    <a:lnTo>
                      <a:pt x="737034" y="0"/>
                    </a:lnTo>
                    <a:cubicBezTo>
                      <a:pt x="790075" y="0"/>
                      <a:pt x="833073" y="42998"/>
                      <a:pt x="833073" y="96039"/>
                    </a:cubicBezTo>
                    <a:lnTo>
                      <a:pt x="833073" y="96039"/>
                    </a:lnTo>
                    <a:cubicBezTo>
                      <a:pt x="833073" y="149079"/>
                      <a:pt x="790075" y="192077"/>
                      <a:pt x="737034" y="192077"/>
                    </a:cubicBezTo>
                    <a:lnTo>
                      <a:pt x="96039" y="192077"/>
                    </a:lnTo>
                    <a:cubicBezTo>
                      <a:pt x="42998" y="192077"/>
                      <a:pt x="0" y="149079"/>
                      <a:pt x="0" y="96039"/>
                    </a:cubicBezTo>
                    <a:lnTo>
                      <a:pt x="0" y="96039"/>
                    </a:lnTo>
                    <a:cubicBezTo>
                      <a:pt x="0" y="42998"/>
                      <a:pt x="42998" y="0"/>
                      <a:pt x="96039" y="0"/>
                    </a:cubicBezTo>
                    <a:close/>
                  </a:path>
                </a:pathLst>
              </a:custGeom>
              <a:solidFill>
                <a:srgbClr val="FFFFFF"/>
              </a:solidFill>
              <a:ln w="38100" cap="rnd">
                <a:gradFill>
                  <a:gsLst>
                    <a:gs pos="0">
                      <a:srgbClr val="153953">
                        <a:alpha val="100000"/>
                      </a:srgbClr>
                    </a:gs>
                    <a:gs pos="100000">
                      <a:srgbClr val="065D9B">
                        <a:alpha val="100000"/>
                      </a:srgbClr>
                    </a:gs>
                  </a:gsLst>
                  <a:lin ang="0"/>
                </a:gradFill>
                <a:prstDash val="solid"/>
                <a:round/>
              </a:ln>
            </p:spPr>
          </p:sp>
          <p:sp>
            <p:nvSpPr>
              <p:cNvPr name="TextBox 15" id="15"/>
              <p:cNvSpPr txBox="true"/>
              <p:nvPr/>
            </p:nvSpPr>
            <p:spPr>
              <a:xfrm>
                <a:off x="0" y="-38100"/>
                <a:ext cx="833073" cy="230177"/>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561665" y="1221728"/>
              <a:ext cx="503406" cy="352384"/>
            </a:xfrm>
            <a:custGeom>
              <a:avLst/>
              <a:gdLst/>
              <a:ahLst/>
              <a:cxnLst/>
              <a:rect r="r" b="b" t="t" l="l"/>
              <a:pathLst>
                <a:path h="352384" w="503406">
                  <a:moveTo>
                    <a:pt x="0" y="0"/>
                  </a:moveTo>
                  <a:lnTo>
                    <a:pt x="503406" y="0"/>
                  </a:lnTo>
                  <a:lnTo>
                    <a:pt x="503406" y="352384"/>
                  </a:lnTo>
                  <a:lnTo>
                    <a:pt x="0" y="352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625165" y="1815412"/>
              <a:ext cx="439906" cy="466125"/>
            </a:xfrm>
            <a:custGeom>
              <a:avLst/>
              <a:gdLst/>
              <a:ahLst/>
              <a:cxnLst/>
              <a:rect r="r" b="b" t="t" l="l"/>
              <a:pathLst>
                <a:path h="466125" w="439906">
                  <a:moveTo>
                    <a:pt x="0" y="0"/>
                  </a:moveTo>
                  <a:lnTo>
                    <a:pt x="439906" y="0"/>
                  </a:lnTo>
                  <a:lnTo>
                    <a:pt x="439906" y="466125"/>
                  </a:lnTo>
                  <a:lnTo>
                    <a:pt x="0" y="4661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625165" y="2547319"/>
              <a:ext cx="360292" cy="351585"/>
            </a:xfrm>
            <a:custGeom>
              <a:avLst/>
              <a:gdLst/>
              <a:ahLst/>
              <a:cxnLst/>
              <a:rect r="r" b="b" t="t" l="l"/>
              <a:pathLst>
                <a:path h="351585" w="360292">
                  <a:moveTo>
                    <a:pt x="0" y="0"/>
                  </a:moveTo>
                  <a:lnTo>
                    <a:pt x="360292" y="0"/>
                  </a:lnTo>
                  <a:lnTo>
                    <a:pt x="360292" y="351585"/>
                  </a:lnTo>
                  <a:lnTo>
                    <a:pt x="0" y="3515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634359" y="3140204"/>
              <a:ext cx="341904" cy="464013"/>
            </a:xfrm>
            <a:custGeom>
              <a:avLst/>
              <a:gdLst/>
              <a:ahLst/>
              <a:cxnLst/>
              <a:rect r="r" b="b" t="t" l="l"/>
              <a:pathLst>
                <a:path h="464013" w="341904">
                  <a:moveTo>
                    <a:pt x="0" y="0"/>
                  </a:moveTo>
                  <a:lnTo>
                    <a:pt x="341904" y="0"/>
                  </a:lnTo>
                  <a:lnTo>
                    <a:pt x="341904" y="464013"/>
                  </a:lnTo>
                  <a:lnTo>
                    <a:pt x="0" y="46401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939398" y="177547"/>
              <a:ext cx="3549773" cy="569673"/>
            </a:xfrm>
            <a:prstGeom prst="rect">
              <a:avLst/>
            </a:prstGeom>
          </p:spPr>
          <p:txBody>
            <a:bodyPr anchor="t" rtlCol="false" tIns="0" lIns="0" bIns="0" rIns="0">
              <a:spAutoFit/>
            </a:bodyPr>
            <a:lstStyle/>
            <a:p>
              <a:pPr algn="ctr">
                <a:lnSpc>
                  <a:spcPts val="3619"/>
                </a:lnSpc>
                <a:spcBef>
                  <a:spcPct val="0"/>
                </a:spcBef>
              </a:pPr>
              <a:r>
                <a:rPr lang="en-US" b="true" sz="2585">
                  <a:solidFill>
                    <a:srgbClr val="000000"/>
                  </a:solidFill>
                  <a:latin typeface="Open Sauce Bold"/>
                  <a:ea typeface="Open Sauce Bold"/>
                  <a:cs typeface="Open Sauce Bold"/>
                  <a:sym typeface="Open Sauce Bold"/>
                </a:rPr>
                <a:t>Problem </a:t>
              </a:r>
            </a:p>
          </p:txBody>
        </p:sp>
        <p:sp>
          <p:nvSpPr>
            <p:cNvPr name="TextBox 21" id="21"/>
            <p:cNvSpPr txBox="true"/>
            <p:nvPr/>
          </p:nvSpPr>
          <p:spPr>
            <a:xfrm rot="0">
              <a:off x="1315437" y="1201228"/>
              <a:ext cx="2288134" cy="418253"/>
            </a:xfrm>
            <a:prstGeom prst="rect">
              <a:avLst/>
            </a:prstGeom>
          </p:spPr>
          <p:txBody>
            <a:bodyPr anchor="t" rtlCol="false" tIns="0" lIns="0" bIns="0" rIns="0">
              <a:spAutoFit/>
            </a:bodyPr>
            <a:lstStyle/>
            <a:p>
              <a:pPr algn="just">
                <a:lnSpc>
                  <a:spcPts val="2659"/>
                </a:lnSpc>
              </a:pPr>
              <a:r>
                <a:rPr lang="en-US" sz="1899">
                  <a:solidFill>
                    <a:srgbClr val="FFFFFF"/>
                  </a:solidFill>
                  <a:latin typeface="Open Sauce"/>
                  <a:ea typeface="Open Sauce"/>
                  <a:cs typeface="Open Sauce"/>
                  <a:sym typeface="Open Sauce"/>
                </a:rPr>
                <a:t>Visibility Gaps</a:t>
              </a:r>
            </a:p>
          </p:txBody>
        </p:sp>
        <p:sp>
          <p:nvSpPr>
            <p:cNvPr name="TextBox 22" id="22"/>
            <p:cNvSpPr txBox="true"/>
            <p:nvPr/>
          </p:nvSpPr>
          <p:spPr>
            <a:xfrm rot="0">
              <a:off x="1315437" y="1848081"/>
              <a:ext cx="2938611"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Manual Processes</a:t>
              </a:r>
            </a:p>
          </p:txBody>
        </p:sp>
        <p:sp>
          <p:nvSpPr>
            <p:cNvPr name="TextBox 23" id="23"/>
            <p:cNvSpPr txBox="true"/>
            <p:nvPr/>
          </p:nvSpPr>
          <p:spPr>
            <a:xfrm rot="0">
              <a:off x="1315437" y="2494935"/>
              <a:ext cx="3872230"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Supply Chain Disruptions</a:t>
              </a:r>
            </a:p>
          </p:txBody>
        </p:sp>
        <p:sp>
          <p:nvSpPr>
            <p:cNvPr name="TextBox 24" id="24"/>
            <p:cNvSpPr txBox="true"/>
            <p:nvPr/>
          </p:nvSpPr>
          <p:spPr>
            <a:xfrm rot="0">
              <a:off x="1315437" y="3161127"/>
              <a:ext cx="3757454"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Fragmented Technology</a:t>
              </a:r>
            </a:p>
          </p:txBody>
        </p:sp>
      </p:grpSp>
      <p:grpSp>
        <p:nvGrpSpPr>
          <p:cNvPr name="Group 25" id="25"/>
          <p:cNvGrpSpPr/>
          <p:nvPr/>
        </p:nvGrpSpPr>
        <p:grpSpPr>
          <a:xfrm rot="0">
            <a:off x="6555382" y="4604615"/>
            <a:ext cx="5181782" cy="3752259"/>
            <a:chOff x="0" y="0"/>
            <a:chExt cx="1364749" cy="988249"/>
          </a:xfrm>
        </p:grpSpPr>
        <p:sp>
          <p:nvSpPr>
            <p:cNvPr name="Freeform 26" id="26"/>
            <p:cNvSpPr/>
            <p:nvPr/>
          </p:nvSpPr>
          <p:spPr>
            <a:xfrm flipH="false" flipV="false" rot="0">
              <a:off x="0" y="0"/>
              <a:ext cx="1364749" cy="988249"/>
            </a:xfrm>
            <a:custGeom>
              <a:avLst/>
              <a:gdLst/>
              <a:ahLst/>
              <a:cxnLst/>
              <a:rect r="r" b="b" t="t" l="l"/>
              <a:pathLst>
                <a:path h="988249" w="1364749">
                  <a:moveTo>
                    <a:pt x="88150" y="0"/>
                  </a:moveTo>
                  <a:lnTo>
                    <a:pt x="1276599" y="0"/>
                  </a:lnTo>
                  <a:cubicBezTo>
                    <a:pt x="1325283" y="0"/>
                    <a:pt x="1364749" y="39466"/>
                    <a:pt x="1364749" y="88150"/>
                  </a:cubicBezTo>
                  <a:lnTo>
                    <a:pt x="1364749" y="900099"/>
                  </a:lnTo>
                  <a:cubicBezTo>
                    <a:pt x="1364749" y="948783"/>
                    <a:pt x="1325283" y="988249"/>
                    <a:pt x="1276599" y="988249"/>
                  </a:cubicBezTo>
                  <a:lnTo>
                    <a:pt x="88150" y="988249"/>
                  </a:lnTo>
                  <a:cubicBezTo>
                    <a:pt x="39466" y="988249"/>
                    <a:pt x="0" y="948783"/>
                    <a:pt x="0" y="900099"/>
                  </a:cubicBezTo>
                  <a:lnTo>
                    <a:pt x="0" y="88150"/>
                  </a:lnTo>
                  <a:cubicBezTo>
                    <a:pt x="0" y="39466"/>
                    <a:pt x="39466" y="0"/>
                    <a:pt x="88150" y="0"/>
                  </a:cubicBezTo>
                  <a:close/>
                </a:path>
              </a:pathLst>
            </a:custGeom>
            <a:gradFill rotWithShape="true">
              <a:gsLst>
                <a:gs pos="0">
                  <a:srgbClr val="153953">
                    <a:alpha val="100000"/>
                  </a:srgbClr>
                </a:gs>
                <a:gs pos="100000">
                  <a:srgbClr val="065D9B">
                    <a:alpha val="100000"/>
                  </a:srgbClr>
                </a:gs>
              </a:gsLst>
              <a:lin ang="0"/>
            </a:gradFill>
          </p:spPr>
        </p:sp>
        <p:sp>
          <p:nvSpPr>
            <p:cNvPr name="TextBox 27" id="27"/>
            <p:cNvSpPr txBox="true"/>
            <p:nvPr/>
          </p:nvSpPr>
          <p:spPr>
            <a:xfrm>
              <a:off x="0" y="-38100"/>
              <a:ext cx="1364749" cy="10263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7134686" y="4239968"/>
            <a:ext cx="4101506" cy="729294"/>
            <a:chOff x="0" y="0"/>
            <a:chExt cx="1080232" cy="192077"/>
          </a:xfrm>
        </p:grpSpPr>
        <p:sp>
          <p:nvSpPr>
            <p:cNvPr name="Freeform 29" id="29"/>
            <p:cNvSpPr/>
            <p:nvPr/>
          </p:nvSpPr>
          <p:spPr>
            <a:xfrm flipH="false" flipV="false" rot="0">
              <a:off x="0" y="0"/>
              <a:ext cx="1080232" cy="192077"/>
            </a:xfrm>
            <a:custGeom>
              <a:avLst/>
              <a:gdLst/>
              <a:ahLst/>
              <a:cxnLst/>
              <a:rect r="r" b="b" t="t" l="l"/>
              <a:pathLst>
                <a:path h="192077" w="1080232">
                  <a:moveTo>
                    <a:pt x="96039" y="0"/>
                  </a:moveTo>
                  <a:lnTo>
                    <a:pt x="984193" y="0"/>
                  </a:lnTo>
                  <a:cubicBezTo>
                    <a:pt x="1009664" y="0"/>
                    <a:pt x="1034092" y="10118"/>
                    <a:pt x="1052103" y="28129"/>
                  </a:cubicBezTo>
                  <a:cubicBezTo>
                    <a:pt x="1070114" y="46140"/>
                    <a:pt x="1080232" y="70568"/>
                    <a:pt x="1080232" y="96039"/>
                  </a:cubicBezTo>
                  <a:lnTo>
                    <a:pt x="1080232" y="96039"/>
                  </a:lnTo>
                  <a:cubicBezTo>
                    <a:pt x="1080232" y="149079"/>
                    <a:pt x="1037234" y="192077"/>
                    <a:pt x="984193" y="192077"/>
                  </a:cubicBezTo>
                  <a:lnTo>
                    <a:pt x="96039" y="192077"/>
                  </a:lnTo>
                  <a:cubicBezTo>
                    <a:pt x="42998" y="192077"/>
                    <a:pt x="0" y="149079"/>
                    <a:pt x="0" y="96039"/>
                  </a:cubicBezTo>
                  <a:lnTo>
                    <a:pt x="0" y="96039"/>
                  </a:lnTo>
                  <a:cubicBezTo>
                    <a:pt x="0" y="42998"/>
                    <a:pt x="42998" y="0"/>
                    <a:pt x="96039" y="0"/>
                  </a:cubicBezTo>
                  <a:close/>
                </a:path>
              </a:pathLst>
            </a:custGeom>
            <a:solidFill>
              <a:srgbClr val="FFFFFF"/>
            </a:solidFill>
            <a:ln w="38100" cap="rnd">
              <a:gradFill>
                <a:gsLst>
                  <a:gs pos="0">
                    <a:srgbClr val="153953">
                      <a:alpha val="100000"/>
                    </a:srgbClr>
                  </a:gs>
                  <a:gs pos="100000">
                    <a:srgbClr val="065D9B">
                      <a:alpha val="100000"/>
                    </a:srgbClr>
                  </a:gs>
                </a:gsLst>
                <a:lin ang="0"/>
              </a:gradFill>
              <a:prstDash val="solid"/>
              <a:round/>
            </a:ln>
          </p:spPr>
        </p:sp>
        <p:sp>
          <p:nvSpPr>
            <p:cNvPr name="TextBox 30" id="30"/>
            <p:cNvSpPr txBox="true"/>
            <p:nvPr/>
          </p:nvSpPr>
          <p:spPr>
            <a:xfrm>
              <a:off x="0" y="-38100"/>
              <a:ext cx="1080232" cy="230177"/>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7271618" y="5083451"/>
            <a:ext cx="341178" cy="334781"/>
          </a:xfrm>
          <a:custGeom>
            <a:avLst/>
            <a:gdLst/>
            <a:ahLst/>
            <a:cxnLst/>
            <a:rect r="r" b="b" t="t" l="l"/>
            <a:pathLst>
              <a:path h="334781" w="341178">
                <a:moveTo>
                  <a:pt x="0" y="0"/>
                </a:moveTo>
                <a:lnTo>
                  <a:pt x="341179" y="0"/>
                </a:lnTo>
                <a:lnTo>
                  <a:pt x="341179" y="334781"/>
                </a:lnTo>
                <a:lnTo>
                  <a:pt x="0" y="3347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0">
            <a:off x="7278517" y="5640972"/>
            <a:ext cx="327381" cy="327381"/>
          </a:xfrm>
          <a:custGeom>
            <a:avLst/>
            <a:gdLst/>
            <a:ahLst/>
            <a:cxnLst/>
            <a:rect r="r" b="b" t="t" l="l"/>
            <a:pathLst>
              <a:path h="327381" w="327381">
                <a:moveTo>
                  <a:pt x="0" y="0"/>
                </a:moveTo>
                <a:lnTo>
                  <a:pt x="327381" y="0"/>
                </a:lnTo>
                <a:lnTo>
                  <a:pt x="327381" y="327381"/>
                </a:lnTo>
                <a:lnTo>
                  <a:pt x="0" y="3273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3" id="33"/>
          <p:cNvSpPr/>
          <p:nvPr/>
        </p:nvSpPr>
        <p:spPr>
          <a:xfrm flipH="false" flipV="false" rot="0">
            <a:off x="7271618" y="6148138"/>
            <a:ext cx="301428" cy="301428"/>
          </a:xfrm>
          <a:custGeom>
            <a:avLst/>
            <a:gdLst/>
            <a:ahLst/>
            <a:cxnLst/>
            <a:rect r="r" b="b" t="t" l="l"/>
            <a:pathLst>
              <a:path h="301428" w="301428">
                <a:moveTo>
                  <a:pt x="0" y="0"/>
                </a:moveTo>
                <a:lnTo>
                  <a:pt x="301428" y="0"/>
                </a:lnTo>
                <a:lnTo>
                  <a:pt x="301428" y="301427"/>
                </a:lnTo>
                <a:lnTo>
                  <a:pt x="0" y="30142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4" id="34"/>
          <p:cNvSpPr/>
          <p:nvPr/>
        </p:nvSpPr>
        <p:spPr>
          <a:xfrm flipH="false" flipV="false" rot="0">
            <a:off x="7278517" y="6637068"/>
            <a:ext cx="288724" cy="285115"/>
          </a:xfrm>
          <a:custGeom>
            <a:avLst/>
            <a:gdLst/>
            <a:ahLst/>
            <a:cxnLst/>
            <a:rect r="r" b="b" t="t" l="l"/>
            <a:pathLst>
              <a:path h="285115" w="288724">
                <a:moveTo>
                  <a:pt x="0" y="0"/>
                </a:moveTo>
                <a:lnTo>
                  <a:pt x="288724" y="0"/>
                </a:lnTo>
                <a:lnTo>
                  <a:pt x="288724" y="285116"/>
                </a:lnTo>
                <a:lnTo>
                  <a:pt x="0" y="28511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5" id="35"/>
          <p:cNvSpPr/>
          <p:nvPr/>
        </p:nvSpPr>
        <p:spPr>
          <a:xfrm flipH="false" flipV="false" rot="0">
            <a:off x="7299422" y="7103159"/>
            <a:ext cx="285571" cy="277004"/>
          </a:xfrm>
          <a:custGeom>
            <a:avLst/>
            <a:gdLst/>
            <a:ahLst/>
            <a:cxnLst/>
            <a:rect r="r" b="b" t="t" l="l"/>
            <a:pathLst>
              <a:path h="277004" w="285571">
                <a:moveTo>
                  <a:pt x="0" y="0"/>
                </a:moveTo>
                <a:lnTo>
                  <a:pt x="285571" y="0"/>
                </a:lnTo>
                <a:lnTo>
                  <a:pt x="285571" y="277004"/>
                </a:lnTo>
                <a:lnTo>
                  <a:pt x="0" y="27700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36" id="36"/>
          <p:cNvGrpSpPr/>
          <p:nvPr/>
        </p:nvGrpSpPr>
        <p:grpSpPr>
          <a:xfrm rot="0">
            <a:off x="12331444" y="4239968"/>
            <a:ext cx="4087726" cy="3042416"/>
            <a:chOff x="0" y="0"/>
            <a:chExt cx="5450301" cy="4056555"/>
          </a:xfrm>
        </p:grpSpPr>
        <p:grpSp>
          <p:nvGrpSpPr>
            <p:cNvPr name="Group 37" id="37"/>
            <p:cNvGrpSpPr/>
            <p:nvPr/>
          </p:nvGrpSpPr>
          <p:grpSpPr>
            <a:xfrm rot="0">
              <a:off x="0" y="486196"/>
              <a:ext cx="5428570" cy="3570359"/>
              <a:chOff x="0" y="0"/>
              <a:chExt cx="1072310" cy="705256"/>
            </a:xfrm>
          </p:grpSpPr>
          <p:sp>
            <p:nvSpPr>
              <p:cNvPr name="Freeform 38" id="38"/>
              <p:cNvSpPr/>
              <p:nvPr/>
            </p:nvSpPr>
            <p:spPr>
              <a:xfrm flipH="false" flipV="false" rot="0">
                <a:off x="0" y="0"/>
                <a:ext cx="1072310" cy="705256"/>
              </a:xfrm>
              <a:custGeom>
                <a:avLst/>
                <a:gdLst/>
                <a:ahLst/>
                <a:cxnLst/>
                <a:rect r="r" b="b" t="t" l="l"/>
                <a:pathLst>
                  <a:path h="705256" w="1072310">
                    <a:moveTo>
                      <a:pt x="112190" y="0"/>
                    </a:moveTo>
                    <a:lnTo>
                      <a:pt x="960120" y="0"/>
                    </a:lnTo>
                    <a:cubicBezTo>
                      <a:pt x="989875" y="0"/>
                      <a:pt x="1018411" y="11820"/>
                      <a:pt x="1039450" y="32860"/>
                    </a:cubicBezTo>
                    <a:cubicBezTo>
                      <a:pt x="1060490" y="53899"/>
                      <a:pt x="1072310" y="82435"/>
                      <a:pt x="1072310" y="112190"/>
                    </a:cubicBezTo>
                    <a:lnTo>
                      <a:pt x="1072310" y="593066"/>
                    </a:lnTo>
                    <a:cubicBezTo>
                      <a:pt x="1072310" y="655027"/>
                      <a:pt x="1022081" y="705256"/>
                      <a:pt x="960120" y="705256"/>
                    </a:cubicBezTo>
                    <a:lnTo>
                      <a:pt x="112190" y="705256"/>
                    </a:lnTo>
                    <a:cubicBezTo>
                      <a:pt x="82435" y="705256"/>
                      <a:pt x="53899" y="693436"/>
                      <a:pt x="32860" y="672396"/>
                    </a:cubicBezTo>
                    <a:cubicBezTo>
                      <a:pt x="11820" y="651357"/>
                      <a:pt x="0" y="622821"/>
                      <a:pt x="0" y="593066"/>
                    </a:cubicBezTo>
                    <a:lnTo>
                      <a:pt x="0" y="112190"/>
                    </a:lnTo>
                    <a:cubicBezTo>
                      <a:pt x="0" y="82435"/>
                      <a:pt x="11820" y="53899"/>
                      <a:pt x="32860" y="32860"/>
                    </a:cubicBezTo>
                    <a:cubicBezTo>
                      <a:pt x="53899" y="11820"/>
                      <a:pt x="82435" y="0"/>
                      <a:pt x="112190" y="0"/>
                    </a:cubicBezTo>
                    <a:close/>
                  </a:path>
                </a:pathLst>
              </a:custGeom>
              <a:gradFill rotWithShape="true">
                <a:gsLst>
                  <a:gs pos="0">
                    <a:srgbClr val="153953">
                      <a:alpha val="100000"/>
                    </a:srgbClr>
                  </a:gs>
                  <a:gs pos="100000">
                    <a:srgbClr val="065D9B">
                      <a:alpha val="100000"/>
                    </a:srgbClr>
                  </a:gs>
                </a:gsLst>
                <a:lin ang="0"/>
              </a:gradFill>
            </p:spPr>
          </p:sp>
          <p:sp>
            <p:nvSpPr>
              <p:cNvPr name="TextBox 39" id="39"/>
              <p:cNvSpPr txBox="true"/>
              <p:nvPr/>
            </p:nvSpPr>
            <p:spPr>
              <a:xfrm>
                <a:off x="0" y="-38100"/>
                <a:ext cx="1072310" cy="743356"/>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628067" y="0"/>
              <a:ext cx="4217431" cy="972392"/>
              <a:chOff x="0" y="0"/>
              <a:chExt cx="833073" cy="192077"/>
            </a:xfrm>
          </p:grpSpPr>
          <p:sp>
            <p:nvSpPr>
              <p:cNvPr name="Freeform 41" id="41"/>
              <p:cNvSpPr/>
              <p:nvPr/>
            </p:nvSpPr>
            <p:spPr>
              <a:xfrm flipH="false" flipV="false" rot="0">
                <a:off x="0" y="0"/>
                <a:ext cx="833073" cy="192077"/>
              </a:xfrm>
              <a:custGeom>
                <a:avLst/>
                <a:gdLst/>
                <a:ahLst/>
                <a:cxnLst/>
                <a:rect r="r" b="b" t="t" l="l"/>
                <a:pathLst>
                  <a:path h="192077" w="833073">
                    <a:moveTo>
                      <a:pt x="96039" y="0"/>
                    </a:moveTo>
                    <a:lnTo>
                      <a:pt x="737034" y="0"/>
                    </a:lnTo>
                    <a:cubicBezTo>
                      <a:pt x="790075" y="0"/>
                      <a:pt x="833073" y="42998"/>
                      <a:pt x="833073" y="96039"/>
                    </a:cubicBezTo>
                    <a:lnTo>
                      <a:pt x="833073" y="96039"/>
                    </a:lnTo>
                    <a:cubicBezTo>
                      <a:pt x="833073" y="149079"/>
                      <a:pt x="790075" y="192077"/>
                      <a:pt x="737034" y="192077"/>
                    </a:cubicBezTo>
                    <a:lnTo>
                      <a:pt x="96039" y="192077"/>
                    </a:lnTo>
                    <a:cubicBezTo>
                      <a:pt x="42998" y="192077"/>
                      <a:pt x="0" y="149079"/>
                      <a:pt x="0" y="96039"/>
                    </a:cubicBezTo>
                    <a:lnTo>
                      <a:pt x="0" y="96039"/>
                    </a:lnTo>
                    <a:cubicBezTo>
                      <a:pt x="0" y="42998"/>
                      <a:pt x="42998" y="0"/>
                      <a:pt x="96039" y="0"/>
                    </a:cubicBezTo>
                    <a:close/>
                  </a:path>
                </a:pathLst>
              </a:custGeom>
              <a:solidFill>
                <a:srgbClr val="FFFFFF"/>
              </a:solidFill>
              <a:ln w="38100" cap="rnd">
                <a:gradFill>
                  <a:gsLst>
                    <a:gs pos="0">
                      <a:srgbClr val="153953">
                        <a:alpha val="100000"/>
                      </a:srgbClr>
                    </a:gs>
                    <a:gs pos="100000">
                      <a:srgbClr val="065D9B">
                        <a:alpha val="100000"/>
                      </a:srgbClr>
                    </a:gs>
                  </a:gsLst>
                  <a:lin ang="0"/>
                </a:gradFill>
                <a:prstDash val="solid"/>
                <a:round/>
              </a:ln>
            </p:spPr>
          </p:sp>
          <p:sp>
            <p:nvSpPr>
              <p:cNvPr name="TextBox 42" id="42"/>
              <p:cNvSpPr txBox="true"/>
              <p:nvPr/>
            </p:nvSpPr>
            <p:spPr>
              <a:xfrm>
                <a:off x="0" y="-38100"/>
                <a:ext cx="833073" cy="230177"/>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961896" y="177547"/>
              <a:ext cx="3549773" cy="569673"/>
            </a:xfrm>
            <a:prstGeom prst="rect">
              <a:avLst/>
            </a:prstGeom>
          </p:spPr>
          <p:txBody>
            <a:bodyPr anchor="t" rtlCol="false" tIns="0" lIns="0" bIns="0" rIns="0">
              <a:spAutoFit/>
            </a:bodyPr>
            <a:lstStyle/>
            <a:p>
              <a:pPr algn="ctr">
                <a:lnSpc>
                  <a:spcPts val="3619"/>
                </a:lnSpc>
                <a:spcBef>
                  <a:spcPct val="0"/>
                </a:spcBef>
              </a:pPr>
              <a:r>
                <a:rPr lang="en-US" b="true" sz="2585">
                  <a:solidFill>
                    <a:srgbClr val="000000"/>
                  </a:solidFill>
                  <a:latin typeface="Open Sauce Bold"/>
                  <a:ea typeface="Open Sauce Bold"/>
                  <a:cs typeface="Open Sauce Bold"/>
                  <a:sym typeface="Open Sauce Bold"/>
                </a:rPr>
                <a:t>Solutions</a:t>
              </a:r>
            </a:p>
          </p:txBody>
        </p:sp>
        <p:sp>
          <p:nvSpPr>
            <p:cNvPr name="TextBox 44" id="44"/>
            <p:cNvSpPr txBox="true"/>
            <p:nvPr/>
          </p:nvSpPr>
          <p:spPr>
            <a:xfrm rot="0">
              <a:off x="1566699" y="1186763"/>
              <a:ext cx="3883602" cy="418253"/>
            </a:xfrm>
            <a:prstGeom prst="rect">
              <a:avLst/>
            </a:prstGeom>
          </p:spPr>
          <p:txBody>
            <a:bodyPr anchor="t" rtlCol="false" tIns="0" lIns="0" bIns="0" rIns="0">
              <a:spAutoFit/>
            </a:bodyPr>
            <a:lstStyle/>
            <a:p>
              <a:pPr algn="l">
                <a:lnSpc>
                  <a:spcPts val="2659"/>
                </a:lnSpc>
              </a:pPr>
              <a:r>
                <a:rPr lang="en-US" sz="1899">
                  <a:solidFill>
                    <a:srgbClr val="FFFFFF"/>
                  </a:solidFill>
                  <a:latin typeface="Open Sauce"/>
                  <a:ea typeface="Open Sauce"/>
                  <a:cs typeface="Open Sauce"/>
                  <a:sym typeface="Open Sauce"/>
                </a:rPr>
                <a:t>End-to-End Visibility</a:t>
              </a:r>
            </a:p>
          </p:txBody>
        </p:sp>
        <p:sp>
          <p:nvSpPr>
            <p:cNvPr name="TextBox 45" id="45"/>
            <p:cNvSpPr txBox="true"/>
            <p:nvPr/>
          </p:nvSpPr>
          <p:spPr>
            <a:xfrm rot="0">
              <a:off x="1412080" y="1851216"/>
              <a:ext cx="3429986"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Process Automation</a:t>
              </a:r>
            </a:p>
          </p:txBody>
        </p:sp>
        <p:sp>
          <p:nvSpPr>
            <p:cNvPr name="TextBox 46" id="46"/>
            <p:cNvSpPr txBox="true"/>
            <p:nvPr/>
          </p:nvSpPr>
          <p:spPr>
            <a:xfrm rot="0">
              <a:off x="1566699" y="2498070"/>
              <a:ext cx="2463959"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Proactive Alerts</a:t>
              </a:r>
            </a:p>
          </p:txBody>
        </p:sp>
        <p:sp>
          <p:nvSpPr>
            <p:cNvPr name="TextBox 47" id="47"/>
            <p:cNvSpPr txBox="true"/>
            <p:nvPr/>
          </p:nvSpPr>
          <p:spPr>
            <a:xfrm rot="0">
              <a:off x="1536256" y="3164262"/>
              <a:ext cx="3280410" cy="4182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Seamless Integration</a:t>
              </a:r>
            </a:p>
          </p:txBody>
        </p:sp>
        <p:sp>
          <p:nvSpPr>
            <p:cNvPr name="Freeform 48" id="48"/>
            <p:cNvSpPr/>
            <p:nvPr/>
          </p:nvSpPr>
          <p:spPr>
            <a:xfrm flipH="false" flipV="false" rot="0">
              <a:off x="890748" y="1204709"/>
              <a:ext cx="372538" cy="372538"/>
            </a:xfrm>
            <a:custGeom>
              <a:avLst/>
              <a:gdLst/>
              <a:ahLst/>
              <a:cxnLst/>
              <a:rect r="r" b="b" t="t" l="l"/>
              <a:pathLst>
                <a:path h="372538" w="372538">
                  <a:moveTo>
                    <a:pt x="0" y="0"/>
                  </a:moveTo>
                  <a:lnTo>
                    <a:pt x="372538" y="0"/>
                  </a:lnTo>
                  <a:lnTo>
                    <a:pt x="372538" y="372538"/>
                  </a:lnTo>
                  <a:lnTo>
                    <a:pt x="0" y="37253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49" id="49"/>
            <p:cNvSpPr/>
            <p:nvPr/>
          </p:nvSpPr>
          <p:spPr>
            <a:xfrm flipH="false" flipV="false" rot="0">
              <a:off x="833522" y="1851047"/>
              <a:ext cx="429764" cy="423464"/>
            </a:xfrm>
            <a:custGeom>
              <a:avLst/>
              <a:gdLst/>
              <a:ahLst/>
              <a:cxnLst/>
              <a:rect r="r" b="b" t="t" l="l"/>
              <a:pathLst>
                <a:path h="423464" w="429764">
                  <a:moveTo>
                    <a:pt x="0" y="0"/>
                  </a:moveTo>
                  <a:lnTo>
                    <a:pt x="429764" y="0"/>
                  </a:lnTo>
                  <a:lnTo>
                    <a:pt x="429764" y="423463"/>
                  </a:lnTo>
                  <a:lnTo>
                    <a:pt x="0" y="42346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50" id="50"/>
            <p:cNvSpPr/>
            <p:nvPr/>
          </p:nvSpPr>
          <p:spPr>
            <a:xfrm flipH="false" flipV="false" rot="0">
              <a:off x="809649" y="2553910"/>
              <a:ext cx="477511" cy="424388"/>
            </a:xfrm>
            <a:custGeom>
              <a:avLst/>
              <a:gdLst/>
              <a:ahLst/>
              <a:cxnLst/>
              <a:rect r="r" b="b" t="t" l="l"/>
              <a:pathLst>
                <a:path h="424388" w="477511">
                  <a:moveTo>
                    <a:pt x="0" y="0"/>
                  </a:moveTo>
                  <a:lnTo>
                    <a:pt x="477511" y="0"/>
                  </a:lnTo>
                  <a:lnTo>
                    <a:pt x="477511" y="424388"/>
                  </a:lnTo>
                  <a:lnTo>
                    <a:pt x="0" y="4243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51" id="51"/>
            <p:cNvSpPr/>
            <p:nvPr/>
          </p:nvSpPr>
          <p:spPr>
            <a:xfrm flipH="false" flipV="false" rot="0">
              <a:off x="838595" y="3206898"/>
              <a:ext cx="448565" cy="448565"/>
            </a:xfrm>
            <a:custGeom>
              <a:avLst/>
              <a:gdLst/>
              <a:ahLst/>
              <a:cxnLst/>
              <a:rect r="r" b="b" t="t" l="l"/>
              <a:pathLst>
                <a:path h="448565" w="448565">
                  <a:moveTo>
                    <a:pt x="0" y="0"/>
                  </a:moveTo>
                  <a:lnTo>
                    <a:pt x="448565" y="0"/>
                  </a:lnTo>
                  <a:lnTo>
                    <a:pt x="448565" y="448565"/>
                  </a:lnTo>
                  <a:lnTo>
                    <a:pt x="0" y="448565"/>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sp>
        <p:nvSpPr>
          <p:cNvPr name="Freeform 52" id="52"/>
          <p:cNvSpPr/>
          <p:nvPr/>
        </p:nvSpPr>
        <p:spPr>
          <a:xfrm flipH="false" flipV="true" rot="775972">
            <a:off x="-10722864" y="-1960373"/>
            <a:ext cx="16773160" cy="6414648"/>
          </a:xfrm>
          <a:custGeom>
            <a:avLst/>
            <a:gdLst/>
            <a:ahLst/>
            <a:cxnLst/>
            <a:rect r="r" b="b" t="t" l="l"/>
            <a:pathLst>
              <a:path h="6414648" w="16773160">
                <a:moveTo>
                  <a:pt x="0" y="6414648"/>
                </a:moveTo>
                <a:lnTo>
                  <a:pt x="16773160" y="6414648"/>
                </a:lnTo>
                <a:lnTo>
                  <a:pt x="16773160" y="0"/>
                </a:lnTo>
                <a:lnTo>
                  <a:pt x="0" y="0"/>
                </a:lnTo>
                <a:lnTo>
                  <a:pt x="0" y="6414648"/>
                </a:lnTo>
                <a:close/>
              </a:path>
            </a:pathLst>
          </a:custGeom>
          <a:blipFill>
            <a:blip r:embed="rId30">
              <a:extLst>
                <a:ext uri="{96DAC541-7B7A-43D3-8B79-37D633B846F1}">
                  <asvg:svgBlip xmlns:asvg="http://schemas.microsoft.com/office/drawing/2016/SVG/main" r:embed="rId31"/>
                </a:ext>
              </a:extLst>
            </a:blip>
            <a:stretch>
              <a:fillRect l="0" t="-79322" r="0" b="-82160"/>
            </a:stretch>
          </a:blipFill>
        </p:spPr>
      </p:sp>
      <p:sp>
        <p:nvSpPr>
          <p:cNvPr name="Freeform 53" id="53"/>
          <p:cNvSpPr/>
          <p:nvPr/>
        </p:nvSpPr>
        <p:spPr>
          <a:xfrm flipH="false" flipV="false" rot="0">
            <a:off x="7330722" y="7592845"/>
            <a:ext cx="183220" cy="283863"/>
          </a:xfrm>
          <a:custGeom>
            <a:avLst/>
            <a:gdLst/>
            <a:ahLst/>
            <a:cxnLst/>
            <a:rect r="r" b="b" t="t" l="l"/>
            <a:pathLst>
              <a:path h="283863" w="183220">
                <a:moveTo>
                  <a:pt x="0" y="0"/>
                </a:moveTo>
                <a:lnTo>
                  <a:pt x="183221" y="0"/>
                </a:lnTo>
                <a:lnTo>
                  <a:pt x="183221" y="283862"/>
                </a:lnTo>
                <a:lnTo>
                  <a:pt x="0" y="283862"/>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TextBox 54" id="54"/>
          <p:cNvSpPr txBox="true"/>
          <p:nvPr/>
        </p:nvSpPr>
        <p:spPr>
          <a:xfrm rot="0">
            <a:off x="7385058" y="4351697"/>
            <a:ext cx="3622689" cy="468742"/>
          </a:xfrm>
          <a:prstGeom prst="rect">
            <a:avLst/>
          </a:prstGeom>
        </p:spPr>
        <p:txBody>
          <a:bodyPr anchor="t" rtlCol="false" tIns="0" lIns="0" bIns="0" rIns="0">
            <a:spAutoFit/>
          </a:bodyPr>
          <a:lstStyle/>
          <a:p>
            <a:pPr algn="ctr">
              <a:lnSpc>
                <a:spcPts val="3804"/>
              </a:lnSpc>
              <a:spcBef>
                <a:spcPct val="0"/>
              </a:spcBef>
            </a:pPr>
            <a:r>
              <a:rPr lang="en-US" b="true" sz="2717">
                <a:solidFill>
                  <a:srgbClr val="000000"/>
                </a:solidFill>
                <a:latin typeface="Open Sauce Bold"/>
                <a:ea typeface="Open Sauce Bold"/>
                <a:cs typeface="Open Sauce Bold"/>
                <a:sym typeface="Open Sauce Bold"/>
              </a:rPr>
              <a:t>Core Competiences</a:t>
            </a:r>
          </a:p>
        </p:txBody>
      </p:sp>
      <p:sp>
        <p:nvSpPr>
          <p:cNvPr name="TextBox 55" id="55"/>
          <p:cNvSpPr txBox="true"/>
          <p:nvPr/>
        </p:nvSpPr>
        <p:spPr>
          <a:xfrm rot="0">
            <a:off x="7876725" y="5129044"/>
            <a:ext cx="2805371" cy="323215"/>
          </a:xfrm>
          <a:prstGeom prst="rect">
            <a:avLst/>
          </a:prstGeom>
        </p:spPr>
        <p:txBody>
          <a:bodyPr anchor="t" rtlCol="false" tIns="0" lIns="0" bIns="0" rIns="0">
            <a:spAutoFit/>
          </a:bodyPr>
          <a:lstStyle/>
          <a:p>
            <a:pPr algn="just">
              <a:lnSpc>
                <a:spcPts val="2659"/>
              </a:lnSpc>
            </a:pPr>
            <a:r>
              <a:rPr lang="en-US" sz="1899">
                <a:solidFill>
                  <a:srgbClr val="FFFFFF"/>
                </a:solidFill>
                <a:latin typeface="Open Sauce"/>
                <a:ea typeface="Open Sauce"/>
                <a:cs typeface="Open Sauce"/>
                <a:sym typeface="Open Sauce"/>
              </a:rPr>
              <a:t>Multimodal Tracking</a:t>
            </a:r>
          </a:p>
        </p:txBody>
      </p:sp>
      <p:sp>
        <p:nvSpPr>
          <p:cNvPr name="TextBox 56" id="56"/>
          <p:cNvSpPr txBox="true"/>
          <p:nvPr/>
        </p:nvSpPr>
        <p:spPr>
          <a:xfrm rot="0">
            <a:off x="7876712" y="5602872"/>
            <a:ext cx="2534603"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Document Repository</a:t>
            </a:r>
          </a:p>
        </p:txBody>
      </p:sp>
      <p:sp>
        <p:nvSpPr>
          <p:cNvPr name="TextBox 57" id="57"/>
          <p:cNvSpPr txBox="true"/>
          <p:nvPr/>
        </p:nvSpPr>
        <p:spPr>
          <a:xfrm rot="0">
            <a:off x="7876725" y="6110038"/>
            <a:ext cx="2301835"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Advanced Analytics</a:t>
            </a:r>
          </a:p>
        </p:txBody>
      </p:sp>
      <p:sp>
        <p:nvSpPr>
          <p:cNvPr name="TextBox 58" id="58"/>
          <p:cNvSpPr txBox="true"/>
          <p:nvPr/>
        </p:nvSpPr>
        <p:spPr>
          <a:xfrm rot="0">
            <a:off x="7876712" y="6584464"/>
            <a:ext cx="2752011"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Exception Management</a:t>
            </a:r>
          </a:p>
        </p:txBody>
      </p:sp>
      <p:sp>
        <p:nvSpPr>
          <p:cNvPr name="TextBox 59" id="59"/>
          <p:cNvSpPr txBox="true"/>
          <p:nvPr/>
        </p:nvSpPr>
        <p:spPr>
          <a:xfrm rot="0">
            <a:off x="7876712" y="7069604"/>
            <a:ext cx="1864400"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AI-Powered ETA</a:t>
            </a:r>
          </a:p>
        </p:txBody>
      </p:sp>
      <p:sp>
        <p:nvSpPr>
          <p:cNvPr name="TextBox 60" id="60"/>
          <p:cNvSpPr txBox="true"/>
          <p:nvPr/>
        </p:nvSpPr>
        <p:spPr>
          <a:xfrm rot="0">
            <a:off x="7848137" y="7564270"/>
            <a:ext cx="3640522" cy="323215"/>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Open Sauce"/>
                <a:ea typeface="Open Sauce"/>
                <a:cs typeface="Open Sauce"/>
                <a:sym typeface="Open Sauce"/>
              </a:rPr>
              <a:t>Customizable Milestone Setup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9367" y="1223078"/>
            <a:ext cx="16412271" cy="812800"/>
          </a:xfrm>
          <a:prstGeom prst="rect">
            <a:avLst/>
          </a:prstGeom>
        </p:spPr>
        <p:txBody>
          <a:bodyPr anchor="t" rtlCol="false" tIns="0" lIns="0" bIns="0" rIns="0">
            <a:spAutoFit/>
          </a:bodyPr>
          <a:lstStyle/>
          <a:p>
            <a:pPr algn="l">
              <a:lnSpc>
                <a:spcPts val="6500"/>
              </a:lnSpc>
            </a:pPr>
            <a:r>
              <a:rPr lang="en-US" sz="5000" b="true">
                <a:solidFill>
                  <a:srgbClr val="0F5995"/>
                </a:solidFill>
                <a:latin typeface="Open Sauce Bold"/>
                <a:ea typeface="Open Sauce Bold"/>
                <a:cs typeface="Open Sauce Bold"/>
                <a:sym typeface="Open Sauce Bold"/>
              </a:rPr>
              <a:t>MULTIMODAL COVERAGE &amp; INTEGRATION STATS</a:t>
            </a:r>
          </a:p>
        </p:txBody>
      </p:sp>
      <p:sp>
        <p:nvSpPr>
          <p:cNvPr name="Freeform 3" id="3"/>
          <p:cNvSpPr/>
          <p:nvPr/>
        </p:nvSpPr>
        <p:spPr>
          <a:xfrm flipH="false" flipV="false" rot="0">
            <a:off x="16698267" y="1028700"/>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476042" y="3793602"/>
            <a:ext cx="14992255" cy="1993814"/>
            <a:chOff x="0" y="0"/>
            <a:chExt cx="19989674" cy="2658419"/>
          </a:xfrm>
        </p:grpSpPr>
        <p:sp>
          <p:nvSpPr>
            <p:cNvPr name="Freeform 5" id="5"/>
            <p:cNvSpPr/>
            <p:nvPr/>
          </p:nvSpPr>
          <p:spPr>
            <a:xfrm flipH="false" flipV="false" rot="0">
              <a:off x="444897" y="0"/>
              <a:ext cx="1354296" cy="1354296"/>
            </a:xfrm>
            <a:custGeom>
              <a:avLst/>
              <a:gdLst/>
              <a:ahLst/>
              <a:cxnLst/>
              <a:rect r="r" b="b" t="t" l="l"/>
              <a:pathLst>
                <a:path h="1354296" w="1354296">
                  <a:moveTo>
                    <a:pt x="0" y="0"/>
                  </a:moveTo>
                  <a:lnTo>
                    <a:pt x="1354296" y="0"/>
                  </a:lnTo>
                  <a:lnTo>
                    <a:pt x="1354296" y="1354296"/>
                  </a:lnTo>
                  <a:lnTo>
                    <a:pt x="0" y="13542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020420" y="59250"/>
              <a:ext cx="1354296" cy="1295045"/>
            </a:xfrm>
            <a:custGeom>
              <a:avLst/>
              <a:gdLst/>
              <a:ahLst/>
              <a:cxnLst/>
              <a:rect r="r" b="b" t="t" l="l"/>
              <a:pathLst>
                <a:path h="1295045" w="1354296">
                  <a:moveTo>
                    <a:pt x="0" y="0"/>
                  </a:moveTo>
                  <a:lnTo>
                    <a:pt x="1354295" y="0"/>
                  </a:lnTo>
                  <a:lnTo>
                    <a:pt x="1354295" y="1295046"/>
                  </a:lnTo>
                  <a:lnTo>
                    <a:pt x="0" y="12950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591115" y="218522"/>
              <a:ext cx="1303614" cy="1135774"/>
            </a:xfrm>
            <a:custGeom>
              <a:avLst/>
              <a:gdLst/>
              <a:ahLst/>
              <a:cxnLst/>
              <a:rect r="r" b="b" t="t" l="l"/>
              <a:pathLst>
                <a:path h="1135774" w="1303614">
                  <a:moveTo>
                    <a:pt x="0" y="0"/>
                  </a:moveTo>
                  <a:lnTo>
                    <a:pt x="1303614" y="0"/>
                  </a:lnTo>
                  <a:lnTo>
                    <a:pt x="1303614" y="1135774"/>
                  </a:lnTo>
                  <a:lnTo>
                    <a:pt x="0" y="11357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7519777" y="257070"/>
              <a:ext cx="1005651" cy="1097225"/>
            </a:xfrm>
            <a:custGeom>
              <a:avLst/>
              <a:gdLst/>
              <a:ahLst/>
              <a:cxnLst/>
              <a:rect r="r" b="b" t="t" l="l"/>
              <a:pathLst>
                <a:path h="1097225" w="1005651">
                  <a:moveTo>
                    <a:pt x="0" y="0"/>
                  </a:moveTo>
                  <a:lnTo>
                    <a:pt x="1005651" y="0"/>
                  </a:lnTo>
                  <a:lnTo>
                    <a:pt x="1005651" y="1097226"/>
                  </a:lnTo>
                  <a:lnTo>
                    <a:pt x="0" y="109722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0" y="1801916"/>
              <a:ext cx="2244090" cy="856504"/>
            </a:xfrm>
            <a:prstGeom prst="rect">
              <a:avLst/>
            </a:prstGeom>
          </p:spPr>
          <p:txBody>
            <a:bodyPr anchor="t" rtlCol="false" tIns="0" lIns="0" bIns="0" rIns="0">
              <a:spAutoFit/>
            </a:bodyPr>
            <a:lstStyle/>
            <a:p>
              <a:pPr algn="ctr">
                <a:lnSpc>
                  <a:spcPts val="2556"/>
                </a:lnSpc>
                <a:spcBef>
                  <a:spcPct val="0"/>
                </a:spcBef>
              </a:pPr>
              <a:r>
                <a:rPr lang="en-US" sz="2095">
                  <a:solidFill>
                    <a:srgbClr val="1B1B1B"/>
                  </a:solidFill>
                  <a:latin typeface="Now"/>
                  <a:ea typeface="Now"/>
                  <a:cs typeface="Now"/>
                  <a:sym typeface="Now"/>
                </a:rPr>
                <a:t>Air</a:t>
              </a:r>
            </a:p>
            <a:p>
              <a:pPr algn="ctr">
                <a:lnSpc>
                  <a:spcPts val="2556"/>
                </a:lnSpc>
                <a:spcBef>
                  <a:spcPct val="0"/>
                </a:spcBef>
              </a:pPr>
              <a:r>
                <a:rPr lang="en-US" sz="2095">
                  <a:solidFill>
                    <a:srgbClr val="1B1B1B"/>
                  </a:solidFill>
                  <a:latin typeface="Now"/>
                  <a:ea typeface="Now"/>
                  <a:cs typeface="Now"/>
                  <a:sym typeface="Now"/>
                </a:rPr>
                <a:t>100+ Airlines</a:t>
              </a:r>
            </a:p>
          </p:txBody>
        </p:sp>
        <p:sp>
          <p:nvSpPr>
            <p:cNvPr name="TextBox 10" id="10"/>
            <p:cNvSpPr txBox="true"/>
            <p:nvPr/>
          </p:nvSpPr>
          <p:spPr>
            <a:xfrm rot="0">
              <a:off x="5132689" y="1801916"/>
              <a:ext cx="3129756" cy="856504"/>
            </a:xfrm>
            <a:prstGeom prst="rect">
              <a:avLst/>
            </a:prstGeom>
          </p:spPr>
          <p:txBody>
            <a:bodyPr anchor="t" rtlCol="false" tIns="0" lIns="0" bIns="0" rIns="0">
              <a:spAutoFit/>
            </a:bodyPr>
            <a:lstStyle/>
            <a:p>
              <a:pPr algn="ctr">
                <a:lnSpc>
                  <a:spcPts val="2556"/>
                </a:lnSpc>
                <a:spcBef>
                  <a:spcPct val="0"/>
                </a:spcBef>
              </a:pPr>
              <a:r>
                <a:rPr lang="en-US" sz="2095">
                  <a:solidFill>
                    <a:srgbClr val="1B1B1B"/>
                  </a:solidFill>
                  <a:latin typeface="Now"/>
                  <a:ea typeface="Now"/>
                  <a:cs typeface="Now"/>
                  <a:sym typeface="Now"/>
                </a:rPr>
                <a:t>Ocean</a:t>
              </a:r>
            </a:p>
            <a:p>
              <a:pPr algn="ctr">
                <a:lnSpc>
                  <a:spcPts val="2556"/>
                </a:lnSpc>
                <a:spcBef>
                  <a:spcPct val="0"/>
                </a:spcBef>
              </a:pPr>
              <a:r>
                <a:rPr lang="en-US" sz="2095">
                  <a:solidFill>
                    <a:srgbClr val="1B1B1B"/>
                  </a:solidFill>
                  <a:latin typeface="Now"/>
                  <a:ea typeface="Now"/>
                  <a:cs typeface="Now"/>
                  <a:sym typeface="Now"/>
                </a:rPr>
                <a:t>105+ Ocean Lines</a:t>
              </a:r>
            </a:p>
          </p:txBody>
        </p:sp>
        <p:sp>
          <p:nvSpPr>
            <p:cNvPr name="TextBox 11" id="11"/>
            <p:cNvSpPr txBox="true"/>
            <p:nvPr/>
          </p:nvSpPr>
          <p:spPr>
            <a:xfrm rot="0">
              <a:off x="10772064" y="1801916"/>
              <a:ext cx="3502342" cy="856504"/>
            </a:xfrm>
            <a:prstGeom prst="rect">
              <a:avLst/>
            </a:prstGeom>
          </p:spPr>
          <p:txBody>
            <a:bodyPr anchor="t" rtlCol="false" tIns="0" lIns="0" bIns="0" rIns="0">
              <a:spAutoFit/>
            </a:bodyPr>
            <a:lstStyle/>
            <a:p>
              <a:pPr algn="ctr">
                <a:lnSpc>
                  <a:spcPts val="2556"/>
                </a:lnSpc>
                <a:spcBef>
                  <a:spcPct val="0"/>
                </a:spcBef>
              </a:pPr>
              <a:r>
                <a:rPr lang="en-US" sz="2095">
                  <a:solidFill>
                    <a:srgbClr val="1B1B1B"/>
                  </a:solidFill>
                  <a:latin typeface="Now"/>
                  <a:ea typeface="Now"/>
                  <a:cs typeface="Now"/>
                  <a:sym typeface="Now"/>
                </a:rPr>
                <a:t>Rail</a:t>
              </a:r>
            </a:p>
            <a:p>
              <a:pPr algn="ctr">
                <a:lnSpc>
                  <a:spcPts val="2556"/>
                </a:lnSpc>
                <a:spcBef>
                  <a:spcPct val="0"/>
                </a:spcBef>
              </a:pPr>
              <a:r>
                <a:rPr lang="en-US" sz="2095">
                  <a:solidFill>
                    <a:srgbClr val="1B1B1B"/>
                  </a:solidFill>
                  <a:latin typeface="Now"/>
                  <a:ea typeface="Now"/>
                  <a:cs typeface="Now"/>
                  <a:sym typeface="Now"/>
                </a:rPr>
                <a:t>Major Rail Networks</a:t>
              </a:r>
            </a:p>
          </p:txBody>
        </p:sp>
        <p:sp>
          <p:nvSpPr>
            <p:cNvPr name="TextBox 12" id="12"/>
            <p:cNvSpPr txBox="true"/>
            <p:nvPr/>
          </p:nvSpPr>
          <p:spPr>
            <a:xfrm rot="0">
              <a:off x="16487331" y="1801916"/>
              <a:ext cx="3502342" cy="856504"/>
            </a:xfrm>
            <a:prstGeom prst="rect">
              <a:avLst/>
            </a:prstGeom>
          </p:spPr>
          <p:txBody>
            <a:bodyPr anchor="t" rtlCol="false" tIns="0" lIns="0" bIns="0" rIns="0">
              <a:spAutoFit/>
            </a:bodyPr>
            <a:lstStyle/>
            <a:p>
              <a:pPr algn="ctr">
                <a:lnSpc>
                  <a:spcPts val="2556"/>
                </a:lnSpc>
                <a:spcBef>
                  <a:spcPct val="0"/>
                </a:spcBef>
              </a:pPr>
              <a:r>
                <a:rPr lang="en-US" sz="2095">
                  <a:solidFill>
                    <a:srgbClr val="1B1B1B"/>
                  </a:solidFill>
                  <a:latin typeface="Now"/>
                  <a:ea typeface="Now"/>
                  <a:cs typeface="Now"/>
                  <a:sym typeface="Now"/>
                </a:rPr>
                <a:t>Road</a:t>
              </a:r>
            </a:p>
            <a:p>
              <a:pPr algn="ctr">
                <a:lnSpc>
                  <a:spcPts val="2556"/>
                </a:lnSpc>
                <a:spcBef>
                  <a:spcPct val="0"/>
                </a:spcBef>
              </a:pPr>
              <a:r>
                <a:rPr lang="en-US" sz="2095">
                  <a:solidFill>
                    <a:srgbClr val="1B1B1B"/>
                  </a:solidFill>
                  <a:latin typeface="Now"/>
                  <a:ea typeface="Now"/>
                  <a:cs typeface="Now"/>
                  <a:sym typeface="Now"/>
                </a:rPr>
                <a:t>100+ Road Carriers</a:t>
              </a:r>
            </a:p>
          </p:txBody>
        </p:sp>
      </p:grpSp>
      <p:sp>
        <p:nvSpPr>
          <p:cNvPr name="TextBox 13" id="13"/>
          <p:cNvSpPr txBox="true"/>
          <p:nvPr/>
        </p:nvSpPr>
        <p:spPr>
          <a:xfrm rot="0">
            <a:off x="4690702" y="2713086"/>
            <a:ext cx="9091610" cy="328041"/>
          </a:xfrm>
          <a:prstGeom prst="rect">
            <a:avLst/>
          </a:prstGeom>
        </p:spPr>
        <p:txBody>
          <a:bodyPr anchor="t" rtlCol="false" tIns="0" lIns="0" bIns="0" rIns="0">
            <a:spAutoFit/>
          </a:bodyPr>
          <a:lstStyle/>
          <a:p>
            <a:pPr algn="l" marL="0" indent="0" lvl="0">
              <a:lnSpc>
                <a:spcPts val="2562"/>
              </a:lnSpc>
              <a:spcBef>
                <a:spcPct val="0"/>
              </a:spcBef>
            </a:pPr>
            <a:r>
              <a:rPr lang="en-US" b="true" sz="2100" spc="50">
                <a:solidFill>
                  <a:srgbClr val="1B1B1B"/>
                </a:solidFill>
                <a:latin typeface="Open Sauce Bold"/>
                <a:ea typeface="Open Sauce Bold"/>
                <a:cs typeface="Open Sauce Bold"/>
                <a:sym typeface="Open Sauce Bold"/>
              </a:rPr>
              <a:t>END-TO-END VISIBILITY ACROSS ALL TRANSPORTATION MODES</a:t>
            </a:r>
          </a:p>
        </p:txBody>
      </p:sp>
      <p:grpSp>
        <p:nvGrpSpPr>
          <p:cNvPr name="Group 14" id="14"/>
          <p:cNvGrpSpPr/>
          <p:nvPr/>
        </p:nvGrpSpPr>
        <p:grpSpPr>
          <a:xfrm rot="0">
            <a:off x="7587199" y="6511316"/>
            <a:ext cx="3628392" cy="1013841"/>
            <a:chOff x="0" y="0"/>
            <a:chExt cx="955626" cy="267020"/>
          </a:xfrm>
        </p:grpSpPr>
        <p:sp>
          <p:nvSpPr>
            <p:cNvPr name="Freeform 15" id="15"/>
            <p:cNvSpPr/>
            <p:nvPr/>
          </p:nvSpPr>
          <p:spPr>
            <a:xfrm flipH="false" flipV="false" rot="0">
              <a:off x="0" y="0"/>
              <a:ext cx="955626" cy="267020"/>
            </a:xfrm>
            <a:custGeom>
              <a:avLst/>
              <a:gdLst/>
              <a:ahLst/>
              <a:cxnLst/>
              <a:rect r="r" b="b" t="t" l="l"/>
              <a:pathLst>
                <a:path h="267020" w="955626">
                  <a:moveTo>
                    <a:pt x="108819" y="0"/>
                  </a:moveTo>
                  <a:lnTo>
                    <a:pt x="846807" y="0"/>
                  </a:lnTo>
                  <a:cubicBezTo>
                    <a:pt x="875668" y="0"/>
                    <a:pt x="903346" y="11465"/>
                    <a:pt x="923754" y="31872"/>
                  </a:cubicBezTo>
                  <a:cubicBezTo>
                    <a:pt x="944161" y="52280"/>
                    <a:pt x="955626" y="79958"/>
                    <a:pt x="955626" y="108819"/>
                  </a:cubicBezTo>
                  <a:lnTo>
                    <a:pt x="955626" y="158201"/>
                  </a:lnTo>
                  <a:cubicBezTo>
                    <a:pt x="955626" y="187061"/>
                    <a:pt x="944161" y="214740"/>
                    <a:pt x="923754" y="235148"/>
                  </a:cubicBezTo>
                  <a:cubicBezTo>
                    <a:pt x="903346" y="255555"/>
                    <a:pt x="875668" y="267020"/>
                    <a:pt x="846807" y="267020"/>
                  </a:cubicBezTo>
                  <a:lnTo>
                    <a:pt x="108819" y="267020"/>
                  </a:lnTo>
                  <a:cubicBezTo>
                    <a:pt x="79958" y="267020"/>
                    <a:pt x="52280" y="255555"/>
                    <a:pt x="31872" y="235148"/>
                  </a:cubicBezTo>
                  <a:cubicBezTo>
                    <a:pt x="11465" y="214740"/>
                    <a:pt x="0" y="187061"/>
                    <a:pt x="0" y="158201"/>
                  </a:cubicBezTo>
                  <a:lnTo>
                    <a:pt x="0" y="108819"/>
                  </a:lnTo>
                  <a:cubicBezTo>
                    <a:pt x="0" y="79958"/>
                    <a:pt x="11465" y="52280"/>
                    <a:pt x="31872" y="31872"/>
                  </a:cubicBezTo>
                  <a:cubicBezTo>
                    <a:pt x="52280" y="11465"/>
                    <a:pt x="79958" y="0"/>
                    <a:pt x="108819" y="0"/>
                  </a:cubicBezTo>
                  <a:close/>
                </a:path>
              </a:pathLst>
            </a:custGeom>
            <a:solidFill>
              <a:srgbClr val="004E7A"/>
            </a:solidFill>
          </p:spPr>
        </p:sp>
        <p:sp>
          <p:nvSpPr>
            <p:cNvPr name="TextBox 16" id="16"/>
            <p:cNvSpPr txBox="true"/>
            <p:nvPr/>
          </p:nvSpPr>
          <p:spPr>
            <a:xfrm>
              <a:off x="0" y="0"/>
              <a:ext cx="955626" cy="267020"/>
            </a:xfrm>
            <a:prstGeom prst="rect">
              <a:avLst/>
            </a:prstGeom>
          </p:spPr>
          <p:txBody>
            <a:bodyPr anchor="ctr" rtlCol="false" tIns="50800" lIns="50800" bIns="50800" rIns="50800"/>
            <a:lstStyle/>
            <a:p>
              <a:pPr algn="ctr">
                <a:lnSpc>
                  <a:spcPts val="2556"/>
                </a:lnSpc>
              </a:pPr>
              <a:r>
                <a:rPr lang="en-US" sz="2095" b="true">
                  <a:solidFill>
                    <a:srgbClr val="FFFFFF"/>
                  </a:solidFill>
                  <a:latin typeface="Now Bold"/>
                  <a:ea typeface="Now Bold"/>
                  <a:cs typeface="Now Bold"/>
                  <a:sym typeface="Now Bold"/>
                </a:rPr>
                <a:t>95%</a:t>
              </a:r>
            </a:p>
            <a:p>
              <a:pPr algn="ctr">
                <a:lnSpc>
                  <a:spcPts val="2556"/>
                </a:lnSpc>
              </a:pPr>
              <a:r>
                <a:rPr lang="en-US" b="true" sz="2095">
                  <a:solidFill>
                    <a:srgbClr val="FFFFFF"/>
                  </a:solidFill>
                  <a:latin typeface="Now Bold"/>
                  <a:ea typeface="Now Bold"/>
                  <a:cs typeface="Now Bold"/>
                  <a:sym typeface="Now Bold"/>
                </a:rPr>
                <a:t>Operational Visibility</a:t>
              </a:r>
            </a:p>
          </p:txBody>
        </p:sp>
      </p:grpSp>
      <p:grpSp>
        <p:nvGrpSpPr>
          <p:cNvPr name="Group 17" id="17"/>
          <p:cNvGrpSpPr/>
          <p:nvPr/>
        </p:nvGrpSpPr>
        <p:grpSpPr>
          <a:xfrm rot="0">
            <a:off x="7587199" y="7731278"/>
            <a:ext cx="3628392" cy="1013841"/>
            <a:chOff x="0" y="0"/>
            <a:chExt cx="955626" cy="267020"/>
          </a:xfrm>
        </p:grpSpPr>
        <p:sp>
          <p:nvSpPr>
            <p:cNvPr name="Freeform 18" id="18"/>
            <p:cNvSpPr/>
            <p:nvPr/>
          </p:nvSpPr>
          <p:spPr>
            <a:xfrm flipH="false" flipV="false" rot="0">
              <a:off x="0" y="0"/>
              <a:ext cx="955626" cy="267020"/>
            </a:xfrm>
            <a:custGeom>
              <a:avLst/>
              <a:gdLst/>
              <a:ahLst/>
              <a:cxnLst/>
              <a:rect r="r" b="b" t="t" l="l"/>
              <a:pathLst>
                <a:path h="267020" w="955626">
                  <a:moveTo>
                    <a:pt x="108819" y="0"/>
                  </a:moveTo>
                  <a:lnTo>
                    <a:pt x="846807" y="0"/>
                  </a:lnTo>
                  <a:cubicBezTo>
                    <a:pt x="875668" y="0"/>
                    <a:pt x="903346" y="11465"/>
                    <a:pt x="923754" y="31872"/>
                  </a:cubicBezTo>
                  <a:cubicBezTo>
                    <a:pt x="944161" y="52280"/>
                    <a:pt x="955626" y="79958"/>
                    <a:pt x="955626" y="108819"/>
                  </a:cubicBezTo>
                  <a:lnTo>
                    <a:pt x="955626" y="158201"/>
                  </a:lnTo>
                  <a:cubicBezTo>
                    <a:pt x="955626" y="187061"/>
                    <a:pt x="944161" y="214740"/>
                    <a:pt x="923754" y="235148"/>
                  </a:cubicBezTo>
                  <a:cubicBezTo>
                    <a:pt x="903346" y="255555"/>
                    <a:pt x="875668" y="267020"/>
                    <a:pt x="846807" y="267020"/>
                  </a:cubicBezTo>
                  <a:lnTo>
                    <a:pt x="108819" y="267020"/>
                  </a:lnTo>
                  <a:cubicBezTo>
                    <a:pt x="79958" y="267020"/>
                    <a:pt x="52280" y="255555"/>
                    <a:pt x="31872" y="235148"/>
                  </a:cubicBezTo>
                  <a:cubicBezTo>
                    <a:pt x="11465" y="214740"/>
                    <a:pt x="0" y="187061"/>
                    <a:pt x="0" y="158201"/>
                  </a:cubicBezTo>
                  <a:lnTo>
                    <a:pt x="0" y="108819"/>
                  </a:lnTo>
                  <a:cubicBezTo>
                    <a:pt x="0" y="79958"/>
                    <a:pt x="11465" y="52280"/>
                    <a:pt x="31872" y="31872"/>
                  </a:cubicBezTo>
                  <a:cubicBezTo>
                    <a:pt x="52280" y="11465"/>
                    <a:pt x="79958" y="0"/>
                    <a:pt x="108819" y="0"/>
                  </a:cubicBezTo>
                  <a:close/>
                </a:path>
              </a:pathLst>
            </a:custGeom>
            <a:solidFill>
              <a:srgbClr val="004E7A"/>
            </a:solidFill>
          </p:spPr>
        </p:sp>
        <p:sp>
          <p:nvSpPr>
            <p:cNvPr name="TextBox 19" id="19"/>
            <p:cNvSpPr txBox="true"/>
            <p:nvPr/>
          </p:nvSpPr>
          <p:spPr>
            <a:xfrm>
              <a:off x="0" y="0"/>
              <a:ext cx="955626" cy="267020"/>
            </a:xfrm>
            <a:prstGeom prst="rect">
              <a:avLst/>
            </a:prstGeom>
          </p:spPr>
          <p:txBody>
            <a:bodyPr anchor="ctr" rtlCol="false" tIns="50800" lIns="50800" bIns="50800" rIns="50800"/>
            <a:lstStyle/>
            <a:p>
              <a:pPr algn="ctr">
                <a:lnSpc>
                  <a:spcPts val="2556"/>
                </a:lnSpc>
              </a:pPr>
              <a:r>
                <a:rPr lang="en-US" sz="2095" b="true">
                  <a:solidFill>
                    <a:srgbClr val="FFFFFF"/>
                  </a:solidFill>
                  <a:latin typeface="Now Bold"/>
                  <a:ea typeface="Now Bold"/>
                  <a:cs typeface="Now Bold"/>
                  <a:sym typeface="Now Bold"/>
                </a:rPr>
                <a:t>32%</a:t>
              </a:r>
            </a:p>
            <a:p>
              <a:pPr algn="ctr">
                <a:lnSpc>
                  <a:spcPts val="2556"/>
                </a:lnSpc>
              </a:pPr>
              <a:r>
                <a:rPr lang="en-US" b="true" sz="2095">
                  <a:solidFill>
                    <a:srgbClr val="FFFFFF"/>
                  </a:solidFill>
                  <a:latin typeface="Now Bold"/>
                  <a:ea typeface="Now Bold"/>
                  <a:cs typeface="Now Bold"/>
                  <a:sym typeface="Now Bold"/>
                </a:rPr>
                <a:t>R</a:t>
              </a:r>
              <a:r>
                <a:rPr lang="en-US" b="true" sz="2095">
                  <a:solidFill>
                    <a:srgbClr val="FFFFFF"/>
                  </a:solidFill>
                  <a:latin typeface="Now Bold"/>
                  <a:ea typeface="Now Bold"/>
                  <a:cs typeface="Now Bold"/>
                  <a:sym typeface="Now Bold"/>
                </a:rPr>
                <a:t>eduction in Transit Time</a:t>
              </a:r>
            </a:p>
          </p:txBody>
        </p:sp>
      </p:grpSp>
      <p:grpSp>
        <p:nvGrpSpPr>
          <p:cNvPr name="Group 20" id="20"/>
          <p:cNvGrpSpPr/>
          <p:nvPr/>
        </p:nvGrpSpPr>
        <p:grpSpPr>
          <a:xfrm rot="0">
            <a:off x="7587199" y="8954669"/>
            <a:ext cx="3628392" cy="1013841"/>
            <a:chOff x="0" y="0"/>
            <a:chExt cx="955626" cy="267020"/>
          </a:xfrm>
        </p:grpSpPr>
        <p:sp>
          <p:nvSpPr>
            <p:cNvPr name="Freeform 21" id="21"/>
            <p:cNvSpPr/>
            <p:nvPr/>
          </p:nvSpPr>
          <p:spPr>
            <a:xfrm flipH="false" flipV="false" rot="0">
              <a:off x="0" y="0"/>
              <a:ext cx="955626" cy="267020"/>
            </a:xfrm>
            <a:custGeom>
              <a:avLst/>
              <a:gdLst/>
              <a:ahLst/>
              <a:cxnLst/>
              <a:rect r="r" b="b" t="t" l="l"/>
              <a:pathLst>
                <a:path h="267020" w="955626">
                  <a:moveTo>
                    <a:pt x="108819" y="0"/>
                  </a:moveTo>
                  <a:lnTo>
                    <a:pt x="846807" y="0"/>
                  </a:lnTo>
                  <a:cubicBezTo>
                    <a:pt x="875668" y="0"/>
                    <a:pt x="903346" y="11465"/>
                    <a:pt x="923754" y="31872"/>
                  </a:cubicBezTo>
                  <a:cubicBezTo>
                    <a:pt x="944161" y="52280"/>
                    <a:pt x="955626" y="79958"/>
                    <a:pt x="955626" y="108819"/>
                  </a:cubicBezTo>
                  <a:lnTo>
                    <a:pt x="955626" y="158201"/>
                  </a:lnTo>
                  <a:cubicBezTo>
                    <a:pt x="955626" y="187061"/>
                    <a:pt x="944161" y="214740"/>
                    <a:pt x="923754" y="235148"/>
                  </a:cubicBezTo>
                  <a:cubicBezTo>
                    <a:pt x="903346" y="255555"/>
                    <a:pt x="875668" y="267020"/>
                    <a:pt x="846807" y="267020"/>
                  </a:cubicBezTo>
                  <a:lnTo>
                    <a:pt x="108819" y="267020"/>
                  </a:lnTo>
                  <a:cubicBezTo>
                    <a:pt x="79958" y="267020"/>
                    <a:pt x="52280" y="255555"/>
                    <a:pt x="31872" y="235148"/>
                  </a:cubicBezTo>
                  <a:cubicBezTo>
                    <a:pt x="11465" y="214740"/>
                    <a:pt x="0" y="187061"/>
                    <a:pt x="0" y="158201"/>
                  </a:cubicBezTo>
                  <a:lnTo>
                    <a:pt x="0" y="108819"/>
                  </a:lnTo>
                  <a:cubicBezTo>
                    <a:pt x="0" y="79958"/>
                    <a:pt x="11465" y="52280"/>
                    <a:pt x="31872" y="31872"/>
                  </a:cubicBezTo>
                  <a:cubicBezTo>
                    <a:pt x="52280" y="11465"/>
                    <a:pt x="79958" y="0"/>
                    <a:pt x="108819" y="0"/>
                  </a:cubicBezTo>
                  <a:close/>
                </a:path>
              </a:pathLst>
            </a:custGeom>
            <a:solidFill>
              <a:srgbClr val="004E7A"/>
            </a:solidFill>
          </p:spPr>
        </p:sp>
        <p:sp>
          <p:nvSpPr>
            <p:cNvPr name="TextBox 22" id="22"/>
            <p:cNvSpPr txBox="true"/>
            <p:nvPr/>
          </p:nvSpPr>
          <p:spPr>
            <a:xfrm>
              <a:off x="0" y="0"/>
              <a:ext cx="955626" cy="267020"/>
            </a:xfrm>
            <a:prstGeom prst="rect">
              <a:avLst/>
            </a:prstGeom>
          </p:spPr>
          <p:txBody>
            <a:bodyPr anchor="ctr" rtlCol="false" tIns="50800" lIns="50800" bIns="50800" rIns="50800"/>
            <a:lstStyle/>
            <a:p>
              <a:pPr algn="ctr">
                <a:lnSpc>
                  <a:spcPts val="2556"/>
                </a:lnSpc>
              </a:pPr>
              <a:r>
                <a:rPr lang="en-US" sz="2095" b="true">
                  <a:solidFill>
                    <a:srgbClr val="FFFFFF"/>
                  </a:solidFill>
                  <a:latin typeface="Now Bold"/>
                  <a:ea typeface="Now Bold"/>
                  <a:cs typeface="Now Bold"/>
                  <a:sym typeface="Now Bold"/>
                </a:rPr>
                <a:t>20+</a:t>
              </a:r>
            </a:p>
            <a:p>
              <a:pPr algn="ctr">
                <a:lnSpc>
                  <a:spcPts val="2556"/>
                </a:lnSpc>
              </a:pPr>
              <a:r>
                <a:rPr lang="en-US" b="true" sz="2095">
                  <a:solidFill>
                    <a:srgbClr val="FFFFFF"/>
                  </a:solidFill>
                  <a:latin typeface="Now Bold"/>
                  <a:ea typeface="Now Bold"/>
                  <a:cs typeface="Now Bold"/>
                  <a:sym typeface="Now Bold"/>
                </a:rPr>
                <a:t>Diff</a:t>
              </a:r>
              <a:r>
                <a:rPr lang="en-US" b="true" sz="2095">
                  <a:solidFill>
                    <a:srgbClr val="FFFFFF"/>
                  </a:solidFill>
                  <a:latin typeface="Now Bold"/>
                  <a:ea typeface="Now Bold"/>
                  <a:cs typeface="Now Bold"/>
                  <a:sym typeface="Now Bold"/>
                </a:rPr>
                <a:t>erent Stakeholders</a:t>
              </a:r>
            </a:p>
          </p:txBody>
        </p:sp>
      </p:grpSp>
      <p:sp>
        <p:nvSpPr>
          <p:cNvPr name="Freeform 23" id="23"/>
          <p:cNvSpPr/>
          <p:nvPr/>
        </p:nvSpPr>
        <p:spPr>
          <a:xfrm flipH="false" flipV="false" rot="0">
            <a:off x="727806" y="7794905"/>
            <a:ext cx="523122" cy="513313"/>
          </a:xfrm>
          <a:custGeom>
            <a:avLst/>
            <a:gdLst/>
            <a:ahLst/>
            <a:cxnLst/>
            <a:rect r="r" b="b" t="t" l="l"/>
            <a:pathLst>
              <a:path h="513313" w="523122">
                <a:moveTo>
                  <a:pt x="0" y="0"/>
                </a:moveTo>
                <a:lnTo>
                  <a:pt x="523122" y="0"/>
                </a:lnTo>
                <a:lnTo>
                  <a:pt x="523122" y="513313"/>
                </a:lnTo>
                <a:lnTo>
                  <a:pt x="0" y="51331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11801405" y="6771623"/>
            <a:ext cx="638480" cy="493226"/>
          </a:xfrm>
          <a:custGeom>
            <a:avLst/>
            <a:gdLst/>
            <a:ahLst/>
            <a:cxnLst/>
            <a:rect r="r" b="b" t="t" l="l"/>
            <a:pathLst>
              <a:path h="493226" w="638480">
                <a:moveTo>
                  <a:pt x="0" y="0"/>
                </a:moveTo>
                <a:lnTo>
                  <a:pt x="638480" y="0"/>
                </a:lnTo>
                <a:lnTo>
                  <a:pt x="638480" y="493227"/>
                </a:lnTo>
                <a:lnTo>
                  <a:pt x="0" y="4932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0">
            <a:off x="11842577" y="7816978"/>
            <a:ext cx="597308" cy="566216"/>
          </a:xfrm>
          <a:custGeom>
            <a:avLst/>
            <a:gdLst/>
            <a:ahLst/>
            <a:cxnLst/>
            <a:rect r="r" b="b" t="t" l="l"/>
            <a:pathLst>
              <a:path h="566216" w="597308">
                <a:moveTo>
                  <a:pt x="0" y="0"/>
                </a:moveTo>
                <a:lnTo>
                  <a:pt x="597308" y="0"/>
                </a:lnTo>
                <a:lnTo>
                  <a:pt x="597308" y="566216"/>
                </a:lnTo>
                <a:lnTo>
                  <a:pt x="0" y="56621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0">
            <a:off x="11777566" y="8985087"/>
            <a:ext cx="727330" cy="534257"/>
          </a:xfrm>
          <a:custGeom>
            <a:avLst/>
            <a:gdLst/>
            <a:ahLst/>
            <a:cxnLst/>
            <a:rect r="r" b="b" t="t" l="l"/>
            <a:pathLst>
              <a:path h="534257" w="727330">
                <a:moveTo>
                  <a:pt x="0" y="0"/>
                </a:moveTo>
                <a:lnTo>
                  <a:pt x="727330" y="0"/>
                </a:lnTo>
                <a:lnTo>
                  <a:pt x="727330" y="534257"/>
                </a:lnTo>
                <a:lnTo>
                  <a:pt x="0" y="534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7" id="27"/>
          <p:cNvSpPr/>
          <p:nvPr/>
        </p:nvSpPr>
        <p:spPr>
          <a:xfrm flipH="false" flipV="false" rot="0">
            <a:off x="828759" y="6821817"/>
            <a:ext cx="392840" cy="392840"/>
          </a:xfrm>
          <a:custGeom>
            <a:avLst/>
            <a:gdLst/>
            <a:ahLst/>
            <a:cxnLst/>
            <a:rect r="r" b="b" t="t" l="l"/>
            <a:pathLst>
              <a:path h="392840" w="392840">
                <a:moveTo>
                  <a:pt x="0" y="0"/>
                </a:moveTo>
                <a:lnTo>
                  <a:pt x="392839" y="0"/>
                </a:lnTo>
                <a:lnTo>
                  <a:pt x="392839" y="392839"/>
                </a:lnTo>
                <a:lnTo>
                  <a:pt x="0" y="39283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28" id="28"/>
          <p:cNvSpPr txBox="true"/>
          <p:nvPr/>
        </p:nvSpPr>
        <p:spPr>
          <a:xfrm rot="0">
            <a:off x="1565130" y="6713056"/>
            <a:ext cx="5589159" cy="642366"/>
          </a:xfrm>
          <a:prstGeom prst="rect">
            <a:avLst/>
          </a:prstGeom>
        </p:spPr>
        <p:txBody>
          <a:bodyPr anchor="t" rtlCol="false" tIns="0" lIns="0" bIns="0" rIns="0">
            <a:spAutoFit/>
          </a:bodyPr>
          <a:lstStyle/>
          <a:p>
            <a:pPr algn="l" marL="0" indent="0" lvl="0">
              <a:lnSpc>
                <a:spcPts val="2562"/>
              </a:lnSpc>
              <a:spcBef>
                <a:spcPct val="0"/>
              </a:spcBef>
            </a:pPr>
            <a:r>
              <a:rPr lang="en-US" sz="2100" spc="50">
                <a:solidFill>
                  <a:srgbClr val="1B1B1B"/>
                </a:solidFill>
                <a:latin typeface="Now"/>
                <a:ea typeface="Now"/>
                <a:cs typeface="Now"/>
                <a:sym typeface="Now"/>
              </a:rPr>
              <a:t>Coverage across major trade lanes and logistics hubs worldwide</a:t>
            </a:r>
          </a:p>
        </p:txBody>
      </p:sp>
      <p:sp>
        <p:nvSpPr>
          <p:cNvPr name="TextBox 29" id="29"/>
          <p:cNvSpPr txBox="true"/>
          <p:nvPr/>
        </p:nvSpPr>
        <p:spPr>
          <a:xfrm rot="0">
            <a:off x="1565130" y="7882345"/>
            <a:ext cx="5707744" cy="1937766"/>
          </a:xfrm>
          <a:prstGeom prst="rect">
            <a:avLst/>
          </a:prstGeom>
        </p:spPr>
        <p:txBody>
          <a:bodyPr anchor="t" rtlCol="false" tIns="0" lIns="0" bIns="0" rIns="0">
            <a:spAutoFit/>
          </a:bodyPr>
          <a:lstStyle/>
          <a:p>
            <a:pPr algn="l">
              <a:lnSpc>
                <a:spcPts val="2562"/>
              </a:lnSpc>
            </a:pPr>
            <a:r>
              <a:rPr lang="en-US" sz="2100" spc="50">
                <a:solidFill>
                  <a:srgbClr val="1B1B1B"/>
                </a:solidFill>
                <a:latin typeface="Now"/>
                <a:ea typeface="Now"/>
                <a:cs typeface="Now"/>
                <a:sym typeface="Now"/>
              </a:rPr>
              <a:t>Sustainability Gains</a:t>
            </a:r>
          </a:p>
          <a:p>
            <a:pPr algn="l">
              <a:lnSpc>
                <a:spcPts val="2562"/>
              </a:lnSpc>
            </a:pPr>
            <a:r>
              <a:rPr lang="en-US" sz="2100" spc="50">
                <a:solidFill>
                  <a:srgbClr val="1B1B1B"/>
                </a:solidFill>
                <a:latin typeface="Now"/>
                <a:ea typeface="Now"/>
                <a:cs typeface="Now"/>
                <a:sym typeface="Now"/>
              </a:rPr>
              <a:t>Track and optimize CO₂ emissions across your supply chain. Average 15% emissions reduction after first year of implementation.</a:t>
            </a:r>
          </a:p>
          <a:p>
            <a:pPr algn="l" marL="0" indent="0" lvl="0">
              <a:lnSpc>
                <a:spcPts val="2562"/>
              </a:lnSpc>
              <a:spcBef>
                <a:spcPct val="0"/>
              </a:spcBef>
            </a:pPr>
          </a:p>
        </p:txBody>
      </p:sp>
      <p:sp>
        <p:nvSpPr>
          <p:cNvPr name="TextBox 30" id="30"/>
          <p:cNvSpPr txBox="true"/>
          <p:nvPr/>
        </p:nvSpPr>
        <p:spPr>
          <a:xfrm rot="0">
            <a:off x="12685236" y="6658954"/>
            <a:ext cx="5122068" cy="966216"/>
          </a:xfrm>
          <a:prstGeom prst="rect">
            <a:avLst/>
          </a:prstGeom>
        </p:spPr>
        <p:txBody>
          <a:bodyPr anchor="t" rtlCol="false" tIns="0" lIns="0" bIns="0" rIns="0">
            <a:spAutoFit/>
          </a:bodyPr>
          <a:lstStyle/>
          <a:p>
            <a:pPr algn="l">
              <a:lnSpc>
                <a:spcPts val="2562"/>
              </a:lnSpc>
            </a:pPr>
            <a:r>
              <a:rPr lang="en-US" sz="2100" spc="50">
                <a:solidFill>
                  <a:srgbClr val="1B1B1B"/>
                </a:solidFill>
                <a:latin typeface="Now"/>
                <a:ea typeface="Now"/>
                <a:cs typeface="Now"/>
                <a:sym typeface="Now"/>
              </a:rPr>
              <a:t>API Integration</a:t>
            </a:r>
          </a:p>
          <a:p>
            <a:pPr algn="l" marL="0" indent="0" lvl="0">
              <a:lnSpc>
                <a:spcPts val="2562"/>
              </a:lnSpc>
              <a:spcBef>
                <a:spcPct val="0"/>
              </a:spcBef>
            </a:pPr>
            <a:r>
              <a:rPr lang="en-US" sz="2100" spc="50">
                <a:solidFill>
                  <a:srgbClr val="1B1B1B"/>
                </a:solidFill>
                <a:latin typeface="Now"/>
                <a:ea typeface="Now"/>
                <a:cs typeface="Now"/>
                <a:sym typeface="Now"/>
              </a:rPr>
              <a:t>Fast onboarding with minimal IT investment</a:t>
            </a:r>
          </a:p>
        </p:txBody>
      </p:sp>
      <p:sp>
        <p:nvSpPr>
          <p:cNvPr name="TextBox 31" id="31"/>
          <p:cNvSpPr txBox="true"/>
          <p:nvPr/>
        </p:nvSpPr>
        <p:spPr>
          <a:xfrm rot="0">
            <a:off x="12694761" y="7740803"/>
            <a:ext cx="5122068" cy="966216"/>
          </a:xfrm>
          <a:prstGeom prst="rect">
            <a:avLst/>
          </a:prstGeom>
        </p:spPr>
        <p:txBody>
          <a:bodyPr anchor="t" rtlCol="false" tIns="0" lIns="0" bIns="0" rIns="0">
            <a:spAutoFit/>
          </a:bodyPr>
          <a:lstStyle/>
          <a:p>
            <a:pPr algn="l">
              <a:lnSpc>
                <a:spcPts val="2562"/>
              </a:lnSpc>
            </a:pPr>
            <a:r>
              <a:rPr lang="en-US" sz="2100" spc="50">
                <a:solidFill>
                  <a:srgbClr val="1B1B1B"/>
                </a:solidFill>
                <a:latin typeface="Now"/>
                <a:ea typeface="Now"/>
                <a:cs typeface="Now"/>
                <a:sym typeface="Now"/>
              </a:rPr>
              <a:t>Data Standardization</a:t>
            </a:r>
          </a:p>
          <a:p>
            <a:pPr algn="l" marL="0" indent="0" lvl="0">
              <a:lnSpc>
                <a:spcPts val="2562"/>
              </a:lnSpc>
              <a:spcBef>
                <a:spcPct val="0"/>
              </a:spcBef>
            </a:pPr>
            <a:r>
              <a:rPr lang="en-US" sz="2100" spc="50">
                <a:solidFill>
                  <a:srgbClr val="1B1B1B"/>
                </a:solidFill>
                <a:latin typeface="Now"/>
                <a:ea typeface="Now"/>
                <a:cs typeface="Now"/>
                <a:sym typeface="Now"/>
              </a:rPr>
              <a:t>Near real-time processing across carriers</a:t>
            </a:r>
          </a:p>
        </p:txBody>
      </p:sp>
      <p:sp>
        <p:nvSpPr>
          <p:cNvPr name="TextBox 32" id="32"/>
          <p:cNvSpPr txBox="true"/>
          <p:nvPr/>
        </p:nvSpPr>
        <p:spPr>
          <a:xfrm rot="0">
            <a:off x="12685236" y="8851228"/>
            <a:ext cx="5122068" cy="966216"/>
          </a:xfrm>
          <a:prstGeom prst="rect">
            <a:avLst/>
          </a:prstGeom>
        </p:spPr>
        <p:txBody>
          <a:bodyPr anchor="t" rtlCol="false" tIns="0" lIns="0" bIns="0" rIns="0">
            <a:spAutoFit/>
          </a:bodyPr>
          <a:lstStyle/>
          <a:p>
            <a:pPr algn="l">
              <a:lnSpc>
                <a:spcPts val="2562"/>
              </a:lnSpc>
            </a:pPr>
            <a:r>
              <a:rPr lang="en-US" sz="2100" spc="50">
                <a:solidFill>
                  <a:srgbClr val="1B1B1B"/>
                </a:solidFill>
                <a:latin typeface="Now"/>
                <a:ea typeface="Now"/>
                <a:cs typeface="Now"/>
                <a:sym typeface="Now"/>
              </a:rPr>
              <a:t>TMS Compatibility</a:t>
            </a:r>
          </a:p>
          <a:p>
            <a:pPr algn="l" marL="0" indent="0" lvl="0">
              <a:lnSpc>
                <a:spcPts val="2562"/>
              </a:lnSpc>
              <a:spcBef>
                <a:spcPct val="0"/>
              </a:spcBef>
            </a:pPr>
            <a:r>
              <a:rPr lang="en-US" sz="2100" spc="50">
                <a:solidFill>
                  <a:srgbClr val="1B1B1B"/>
                </a:solidFill>
                <a:latin typeface="Now"/>
                <a:ea typeface="Now"/>
                <a:cs typeface="Now"/>
                <a:sym typeface="Now"/>
              </a:rPr>
              <a:t>Seamless connection with your logistics systems</a:t>
            </a:r>
          </a:p>
        </p:txBody>
      </p:sp>
      <p:sp>
        <p:nvSpPr>
          <p:cNvPr name="Freeform 33" id="33"/>
          <p:cNvSpPr/>
          <p:nvPr/>
        </p:nvSpPr>
        <p:spPr>
          <a:xfrm flipH="false" flipV="true" rot="312797">
            <a:off x="-7512814" y="-1716405"/>
            <a:ext cx="13763590" cy="5263682"/>
          </a:xfrm>
          <a:custGeom>
            <a:avLst/>
            <a:gdLst/>
            <a:ahLst/>
            <a:cxnLst/>
            <a:rect r="r" b="b" t="t" l="l"/>
            <a:pathLst>
              <a:path h="5263682" w="13763590">
                <a:moveTo>
                  <a:pt x="0" y="5263682"/>
                </a:moveTo>
                <a:lnTo>
                  <a:pt x="13763589" y="5263682"/>
                </a:lnTo>
                <a:lnTo>
                  <a:pt x="13763589" y="0"/>
                </a:lnTo>
                <a:lnTo>
                  <a:pt x="0" y="0"/>
                </a:lnTo>
                <a:lnTo>
                  <a:pt x="0" y="5263682"/>
                </a:lnTo>
                <a:close/>
              </a:path>
            </a:pathLst>
          </a:custGeom>
          <a:blipFill>
            <a:blip r:embed="rId22">
              <a:extLst>
                <a:ext uri="{96DAC541-7B7A-43D3-8B79-37D633B846F1}">
                  <asvg:svgBlip xmlns:asvg="http://schemas.microsoft.com/office/drawing/2016/SVG/main" r:embed="rId23"/>
                </a:ext>
              </a:extLst>
            </a:blip>
            <a:stretch>
              <a:fillRect l="0" t="-79322" r="0" b="-82160"/>
            </a:stretch>
          </a:blipFill>
        </p:spPr>
      </p:sp>
      <p:sp>
        <p:nvSpPr>
          <p:cNvPr name="Freeform 34" id="34"/>
          <p:cNvSpPr/>
          <p:nvPr/>
        </p:nvSpPr>
        <p:spPr>
          <a:xfrm flipH="false" flipV="true" rot="775972">
            <a:off x="16818308" y="-1895895"/>
            <a:ext cx="11623333" cy="4445173"/>
          </a:xfrm>
          <a:custGeom>
            <a:avLst/>
            <a:gdLst/>
            <a:ahLst/>
            <a:cxnLst/>
            <a:rect r="r" b="b" t="t" l="l"/>
            <a:pathLst>
              <a:path h="4445173" w="11623333">
                <a:moveTo>
                  <a:pt x="0" y="4445172"/>
                </a:moveTo>
                <a:lnTo>
                  <a:pt x="11623333" y="4445172"/>
                </a:lnTo>
                <a:lnTo>
                  <a:pt x="11623333" y="0"/>
                </a:lnTo>
                <a:lnTo>
                  <a:pt x="0" y="0"/>
                </a:lnTo>
                <a:lnTo>
                  <a:pt x="0" y="4445172"/>
                </a:lnTo>
                <a:close/>
              </a:path>
            </a:pathLst>
          </a:custGeom>
          <a:blipFill>
            <a:blip r:embed="rId22">
              <a:extLst>
                <a:ext uri="{96DAC541-7B7A-43D3-8B79-37D633B846F1}">
                  <asvg:svgBlip xmlns:asvg="http://schemas.microsoft.com/office/drawing/2016/SVG/main" r:embed="rId23"/>
                </a:ext>
              </a:extLst>
            </a:blip>
            <a:stretch>
              <a:fillRect l="0" t="-79322" r="0" b="-8216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45990" y="902006"/>
            <a:ext cx="11197736" cy="794722"/>
          </a:xfrm>
          <a:prstGeom prst="rect">
            <a:avLst/>
          </a:prstGeom>
        </p:spPr>
        <p:txBody>
          <a:bodyPr anchor="t" rtlCol="false" tIns="0" lIns="0" bIns="0" rIns="0">
            <a:spAutoFit/>
          </a:bodyPr>
          <a:lstStyle/>
          <a:p>
            <a:pPr algn="ctr">
              <a:lnSpc>
                <a:spcPts val="6400"/>
              </a:lnSpc>
            </a:pPr>
            <a:r>
              <a:rPr lang="en-US" b="true" sz="4923">
                <a:solidFill>
                  <a:srgbClr val="0F5995"/>
                </a:solidFill>
                <a:latin typeface="Open Sauce Bold"/>
                <a:ea typeface="Open Sauce Bold"/>
                <a:cs typeface="Open Sauce Bold"/>
                <a:sym typeface="Open Sauce Bold"/>
              </a:rPr>
              <a:t>REAL TIME VISIBILITY DASHBOARD</a:t>
            </a:r>
          </a:p>
        </p:txBody>
      </p:sp>
      <p:sp>
        <p:nvSpPr>
          <p:cNvPr name="Freeform 3" id="3"/>
          <p:cNvSpPr/>
          <p:nvPr/>
        </p:nvSpPr>
        <p:spPr>
          <a:xfrm flipH="false" flipV="true" rot="0">
            <a:off x="-971364" y="-293222"/>
            <a:ext cx="6499679" cy="2485706"/>
          </a:xfrm>
          <a:custGeom>
            <a:avLst/>
            <a:gdLst/>
            <a:ahLst/>
            <a:cxnLst/>
            <a:rect r="r" b="b" t="t" l="l"/>
            <a:pathLst>
              <a:path h="2485706" w="6499679">
                <a:moveTo>
                  <a:pt x="0" y="2485706"/>
                </a:moveTo>
                <a:lnTo>
                  <a:pt x="6499678" y="2485706"/>
                </a:lnTo>
                <a:lnTo>
                  <a:pt x="6499678" y="0"/>
                </a:lnTo>
                <a:lnTo>
                  <a:pt x="0" y="0"/>
                </a:lnTo>
                <a:lnTo>
                  <a:pt x="0" y="2485706"/>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4" id="4"/>
          <p:cNvSpPr/>
          <p:nvPr/>
        </p:nvSpPr>
        <p:spPr>
          <a:xfrm flipH="true" flipV="true" rot="0">
            <a:off x="12759686" y="-293222"/>
            <a:ext cx="6499679" cy="2485706"/>
          </a:xfrm>
          <a:custGeom>
            <a:avLst/>
            <a:gdLst/>
            <a:ahLst/>
            <a:cxnLst/>
            <a:rect r="r" b="b" t="t" l="l"/>
            <a:pathLst>
              <a:path h="2485706" w="6499679">
                <a:moveTo>
                  <a:pt x="6499678" y="2485706"/>
                </a:moveTo>
                <a:lnTo>
                  <a:pt x="0" y="2485706"/>
                </a:lnTo>
                <a:lnTo>
                  <a:pt x="0" y="0"/>
                </a:lnTo>
                <a:lnTo>
                  <a:pt x="6499678" y="0"/>
                </a:lnTo>
                <a:lnTo>
                  <a:pt x="6499678" y="2485706"/>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5" id="5"/>
          <p:cNvSpPr/>
          <p:nvPr/>
        </p:nvSpPr>
        <p:spPr>
          <a:xfrm flipH="false" flipV="false" rot="0">
            <a:off x="8388855" y="1843591"/>
            <a:ext cx="9639719" cy="8145991"/>
          </a:xfrm>
          <a:custGeom>
            <a:avLst/>
            <a:gdLst/>
            <a:ahLst/>
            <a:cxnLst/>
            <a:rect r="r" b="b" t="t" l="l"/>
            <a:pathLst>
              <a:path h="8145991" w="9639719">
                <a:moveTo>
                  <a:pt x="0" y="0"/>
                </a:moveTo>
                <a:lnTo>
                  <a:pt x="9639718" y="0"/>
                </a:lnTo>
                <a:lnTo>
                  <a:pt x="9639718" y="8145992"/>
                </a:lnTo>
                <a:lnTo>
                  <a:pt x="0" y="8145992"/>
                </a:lnTo>
                <a:lnTo>
                  <a:pt x="0" y="0"/>
                </a:lnTo>
                <a:close/>
              </a:path>
            </a:pathLst>
          </a:custGeom>
          <a:blipFill>
            <a:blip r:embed="rId4"/>
            <a:stretch>
              <a:fillRect l="0" t="-3302" r="-1933" b="-4656"/>
            </a:stretch>
          </a:blipFill>
        </p:spPr>
      </p:sp>
      <p:grpSp>
        <p:nvGrpSpPr>
          <p:cNvPr name="Group 6" id="6"/>
          <p:cNvGrpSpPr/>
          <p:nvPr/>
        </p:nvGrpSpPr>
        <p:grpSpPr>
          <a:xfrm rot="0">
            <a:off x="-643279" y="2057400"/>
            <a:ext cx="7940611" cy="7912496"/>
            <a:chOff x="0" y="0"/>
            <a:chExt cx="10587481" cy="10549994"/>
          </a:xfrm>
        </p:grpSpPr>
        <p:grpSp>
          <p:nvGrpSpPr>
            <p:cNvPr name="Group 7" id="7"/>
            <p:cNvGrpSpPr/>
            <p:nvPr/>
          </p:nvGrpSpPr>
          <p:grpSpPr>
            <a:xfrm rot="0">
              <a:off x="857706" y="0"/>
              <a:ext cx="7650014" cy="10549994"/>
              <a:chOff x="0" y="0"/>
              <a:chExt cx="1511114" cy="2083949"/>
            </a:xfrm>
          </p:grpSpPr>
          <p:sp>
            <p:nvSpPr>
              <p:cNvPr name="Freeform 8" id="8"/>
              <p:cNvSpPr/>
              <p:nvPr/>
            </p:nvSpPr>
            <p:spPr>
              <a:xfrm flipH="false" flipV="false" rot="0">
                <a:off x="0" y="0"/>
                <a:ext cx="1511114" cy="2083950"/>
              </a:xfrm>
              <a:custGeom>
                <a:avLst/>
                <a:gdLst/>
                <a:ahLst/>
                <a:cxnLst/>
                <a:rect r="r" b="b" t="t" l="l"/>
                <a:pathLst>
                  <a:path h="2083950" w="1511114">
                    <a:moveTo>
                      <a:pt x="68817" y="0"/>
                    </a:moveTo>
                    <a:lnTo>
                      <a:pt x="1442297" y="0"/>
                    </a:lnTo>
                    <a:cubicBezTo>
                      <a:pt x="1480303" y="0"/>
                      <a:pt x="1511114" y="30810"/>
                      <a:pt x="1511114" y="68817"/>
                    </a:cubicBezTo>
                    <a:lnTo>
                      <a:pt x="1511114" y="2015133"/>
                    </a:lnTo>
                    <a:cubicBezTo>
                      <a:pt x="1511114" y="2033384"/>
                      <a:pt x="1503864" y="2050888"/>
                      <a:pt x="1490958" y="2063794"/>
                    </a:cubicBezTo>
                    <a:cubicBezTo>
                      <a:pt x="1478052" y="2076699"/>
                      <a:pt x="1460548" y="2083950"/>
                      <a:pt x="1442297" y="2083950"/>
                    </a:cubicBezTo>
                    <a:lnTo>
                      <a:pt x="68817" y="2083950"/>
                    </a:lnTo>
                    <a:cubicBezTo>
                      <a:pt x="30810" y="2083950"/>
                      <a:pt x="0" y="2053139"/>
                      <a:pt x="0" y="2015133"/>
                    </a:cubicBezTo>
                    <a:lnTo>
                      <a:pt x="0" y="68817"/>
                    </a:lnTo>
                    <a:cubicBezTo>
                      <a:pt x="0" y="30810"/>
                      <a:pt x="30810" y="0"/>
                      <a:pt x="68817" y="0"/>
                    </a:cubicBezTo>
                    <a:close/>
                  </a:path>
                </a:pathLst>
              </a:custGeom>
              <a:solidFill>
                <a:srgbClr val="004E7A"/>
              </a:solidFill>
            </p:spPr>
          </p:sp>
          <p:sp>
            <p:nvSpPr>
              <p:cNvPr name="TextBox 9" id="9"/>
              <p:cNvSpPr txBox="true"/>
              <p:nvPr/>
            </p:nvSpPr>
            <p:spPr>
              <a:xfrm>
                <a:off x="0" y="0"/>
                <a:ext cx="1511114" cy="2083949"/>
              </a:xfrm>
              <a:prstGeom prst="rect">
                <a:avLst/>
              </a:prstGeom>
            </p:spPr>
            <p:txBody>
              <a:bodyPr anchor="ctr" rtlCol="false" tIns="50800" lIns="50800" bIns="50800" rIns="50800"/>
              <a:lstStyle/>
              <a:p>
                <a:pPr algn="ctr">
                  <a:lnSpc>
                    <a:spcPts val="2556"/>
                  </a:lnSpc>
                </a:pPr>
              </a:p>
            </p:txBody>
          </p:sp>
        </p:grpSp>
        <p:grpSp>
          <p:nvGrpSpPr>
            <p:cNvPr name="Group 10" id="10"/>
            <p:cNvGrpSpPr/>
            <p:nvPr/>
          </p:nvGrpSpPr>
          <p:grpSpPr>
            <a:xfrm rot="0">
              <a:off x="0" y="489927"/>
              <a:ext cx="7705252" cy="2057400"/>
              <a:chOff x="0" y="0"/>
              <a:chExt cx="1522025" cy="406400"/>
            </a:xfrm>
          </p:grpSpPr>
          <p:sp>
            <p:nvSpPr>
              <p:cNvPr name="Freeform 11" id="11"/>
              <p:cNvSpPr/>
              <p:nvPr/>
            </p:nvSpPr>
            <p:spPr>
              <a:xfrm flipH="false" flipV="false" rot="0">
                <a:off x="0" y="0"/>
                <a:ext cx="1522025" cy="406400"/>
              </a:xfrm>
              <a:custGeom>
                <a:avLst/>
                <a:gdLst/>
                <a:ahLst/>
                <a:cxnLst/>
                <a:rect r="r" b="b" t="t" l="l"/>
                <a:pathLst>
                  <a:path h="406400" w="1522025">
                    <a:moveTo>
                      <a:pt x="1318825" y="0"/>
                    </a:moveTo>
                    <a:cubicBezTo>
                      <a:pt x="1431049" y="0"/>
                      <a:pt x="1522025" y="90976"/>
                      <a:pt x="1522025" y="203200"/>
                    </a:cubicBezTo>
                    <a:cubicBezTo>
                      <a:pt x="1522025" y="315424"/>
                      <a:pt x="1431049" y="406400"/>
                      <a:pt x="1318825"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12" id="12"/>
              <p:cNvSpPr txBox="true"/>
              <p:nvPr/>
            </p:nvSpPr>
            <p:spPr>
              <a:xfrm>
                <a:off x="0" y="0"/>
                <a:ext cx="1522025" cy="406400"/>
              </a:xfrm>
              <a:prstGeom prst="rect">
                <a:avLst/>
              </a:prstGeom>
            </p:spPr>
            <p:txBody>
              <a:bodyPr anchor="ctr" rtlCol="false" tIns="50800" lIns="50800" bIns="50800" rIns="50800"/>
              <a:lstStyle/>
              <a:p>
                <a:pPr algn="ctr">
                  <a:lnSpc>
                    <a:spcPts val="2556"/>
                  </a:lnSpc>
                </a:pPr>
              </a:p>
            </p:txBody>
          </p:sp>
        </p:grpSp>
        <p:grpSp>
          <p:nvGrpSpPr>
            <p:cNvPr name="Group 13" id="13"/>
            <p:cNvGrpSpPr/>
            <p:nvPr/>
          </p:nvGrpSpPr>
          <p:grpSpPr>
            <a:xfrm rot="0">
              <a:off x="2882229" y="2873748"/>
              <a:ext cx="7705252" cy="2057400"/>
              <a:chOff x="0" y="0"/>
              <a:chExt cx="1522025" cy="406400"/>
            </a:xfrm>
          </p:grpSpPr>
          <p:sp>
            <p:nvSpPr>
              <p:cNvPr name="Freeform 14" id="14"/>
              <p:cNvSpPr/>
              <p:nvPr/>
            </p:nvSpPr>
            <p:spPr>
              <a:xfrm flipH="false" flipV="false" rot="0">
                <a:off x="0" y="0"/>
                <a:ext cx="1522025" cy="406400"/>
              </a:xfrm>
              <a:custGeom>
                <a:avLst/>
                <a:gdLst/>
                <a:ahLst/>
                <a:cxnLst/>
                <a:rect r="r" b="b" t="t" l="l"/>
                <a:pathLst>
                  <a:path h="406400" w="1522025">
                    <a:moveTo>
                      <a:pt x="1318825" y="0"/>
                    </a:moveTo>
                    <a:cubicBezTo>
                      <a:pt x="1431049" y="0"/>
                      <a:pt x="1522025" y="90976"/>
                      <a:pt x="1522025" y="203200"/>
                    </a:cubicBezTo>
                    <a:cubicBezTo>
                      <a:pt x="1522025" y="315424"/>
                      <a:pt x="1431049" y="406400"/>
                      <a:pt x="1318825"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15" id="15"/>
              <p:cNvSpPr txBox="true"/>
              <p:nvPr/>
            </p:nvSpPr>
            <p:spPr>
              <a:xfrm>
                <a:off x="0" y="0"/>
                <a:ext cx="1522025" cy="406400"/>
              </a:xfrm>
              <a:prstGeom prst="rect">
                <a:avLst/>
              </a:prstGeom>
            </p:spPr>
            <p:txBody>
              <a:bodyPr anchor="ctr" rtlCol="false" tIns="50800" lIns="50800" bIns="50800" rIns="50800"/>
              <a:lstStyle/>
              <a:p>
                <a:pPr algn="ctr">
                  <a:lnSpc>
                    <a:spcPts val="2556"/>
                  </a:lnSpc>
                </a:pPr>
              </a:p>
            </p:txBody>
          </p:sp>
        </p:grpSp>
        <p:grpSp>
          <p:nvGrpSpPr>
            <p:cNvPr name="Group 16" id="16"/>
            <p:cNvGrpSpPr/>
            <p:nvPr/>
          </p:nvGrpSpPr>
          <p:grpSpPr>
            <a:xfrm rot="0">
              <a:off x="0" y="5274997"/>
              <a:ext cx="7705252" cy="2057400"/>
              <a:chOff x="0" y="0"/>
              <a:chExt cx="1522025" cy="406400"/>
            </a:xfrm>
          </p:grpSpPr>
          <p:sp>
            <p:nvSpPr>
              <p:cNvPr name="Freeform 17" id="17"/>
              <p:cNvSpPr/>
              <p:nvPr/>
            </p:nvSpPr>
            <p:spPr>
              <a:xfrm flipH="false" flipV="false" rot="0">
                <a:off x="0" y="0"/>
                <a:ext cx="1522025" cy="406400"/>
              </a:xfrm>
              <a:custGeom>
                <a:avLst/>
                <a:gdLst/>
                <a:ahLst/>
                <a:cxnLst/>
                <a:rect r="r" b="b" t="t" l="l"/>
                <a:pathLst>
                  <a:path h="406400" w="1522025">
                    <a:moveTo>
                      <a:pt x="1318825" y="0"/>
                    </a:moveTo>
                    <a:cubicBezTo>
                      <a:pt x="1431049" y="0"/>
                      <a:pt x="1522025" y="90976"/>
                      <a:pt x="1522025" y="203200"/>
                    </a:cubicBezTo>
                    <a:cubicBezTo>
                      <a:pt x="1522025" y="315424"/>
                      <a:pt x="1431049" y="406400"/>
                      <a:pt x="1318825"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18" id="18"/>
              <p:cNvSpPr txBox="true"/>
              <p:nvPr/>
            </p:nvSpPr>
            <p:spPr>
              <a:xfrm>
                <a:off x="0" y="0"/>
                <a:ext cx="1522025" cy="406400"/>
              </a:xfrm>
              <a:prstGeom prst="rect">
                <a:avLst/>
              </a:prstGeom>
            </p:spPr>
            <p:txBody>
              <a:bodyPr anchor="ctr" rtlCol="false" tIns="50800" lIns="50800" bIns="50800" rIns="50800"/>
              <a:lstStyle/>
              <a:p>
                <a:pPr algn="ctr">
                  <a:lnSpc>
                    <a:spcPts val="2556"/>
                  </a:lnSpc>
                </a:pPr>
              </a:p>
            </p:txBody>
          </p:sp>
        </p:grpSp>
        <p:grpSp>
          <p:nvGrpSpPr>
            <p:cNvPr name="Group 19" id="19"/>
            <p:cNvGrpSpPr/>
            <p:nvPr/>
          </p:nvGrpSpPr>
          <p:grpSpPr>
            <a:xfrm rot="0">
              <a:off x="2882229" y="7662597"/>
              <a:ext cx="7705252" cy="2057400"/>
              <a:chOff x="0" y="0"/>
              <a:chExt cx="1522025" cy="406400"/>
            </a:xfrm>
          </p:grpSpPr>
          <p:sp>
            <p:nvSpPr>
              <p:cNvPr name="Freeform 20" id="20"/>
              <p:cNvSpPr/>
              <p:nvPr/>
            </p:nvSpPr>
            <p:spPr>
              <a:xfrm flipH="false" flipV="false" rot="0">
                <a:off x="0" y="0"/>
                <a:ext cx="1522025" cy="406400"/>
              </a:xfrm>
              <a:custGeom>
                <a:avLst/>
                <a:gdLst/>
                <a:ahLst/>
                <a:cxnLst/>
                <a:rect r="r" b="b" t="t" l="l"/>
                <a:pathLst>
                  <a:path h="406400" w="1522025">
                    <a:moveTo>
                      <a:pt x="1318825" y="0"/>
                    </a:moveTo>
                    <a:cubicBezTo>
                      <a:pt x="1431049" y="0"/>
                      <a:pt x="1522025" y="90976"/>
                      <a:pt x="1522025" y="203200"/>
                    </a:cubicBezTo>
                    <a:cubicBezTo>
                      <a:pt x="1522025" y="315424"/>
                      <a:pt x="1431049" y="406400"/>
                      <a:pt x="1318825"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1" id="21"/>
              <p:cNvSpPr txBox="true"/>
              <p:nvPr/>
            </p:nvSpPr>
            <p:spPr>
              <a:xfrm>
                <a:off x="0" y="0"/>
                <a:ext cx="1522025" cy="406400"/>
              </a:xfrm>
              <a:prstGeom prst="rect">
                <a:avLst/>
              </a:prstGeom>
            </p:spPr>
            <p:txBody>
              <a:bodyPr anchor="ctr" rtlCol="false" tIns="50800" lIns="50800" bIns="50800" rIns="50800"/>
              <a:lstStyle/>
              <a:p>
                <a:pPr algn="ctr">
                  <a:lnSpc>
                    <a:spcPts val="2556"/>
                  </a:lnSpc>
                </a:pPr>
              </a:p>
            </p:txBody>
          </p:sp>
        </p:grpSp>
        <p:sp>
          <p:nvSpPr>
            <p:cNvPr name="TextBox 22" id="22"/>
            <p:cNvSpPr txBox="true"/>
            <p:nvPr/>
          </p:nvSpPr>
          <p:spPr>
            <a:xfrm rot="0">
              <a:off x="1114989" y="874475"/>
              <a:ext cx="6224025" cy="1298464"/>
            </a:xfrm>
            <a:prstGeom prst="rect">
              <a:avLst/>
            </a:prstGeom>
          </p:spPr>
          <p:txBody>
            <a:bodyPr anchor="t" rtlCol="false" tIns="0" lIns="0" bIns="0" rIns="0">
              <a:spAutoFit/>
            </a:bodyPr>
            <a:lstStyle/>
            <a:p>
              <a:pPr algn="l">
                <a:lnSpc>
                  <a:spcPts val="2556"/>
                </a:lnSpc>
                <a:spcBef>
                  <a:spcPct val="0"/>
                </a:spcBef>
              </a:pPr>
              <a:r>
                <a:rPr lang="en-US" b="true" sz="2095">
                  <a:solidFill>
                    <a:srgbClr val="FFFFFF"/>
                  </a:solidFill>
                  <a:latin typeface="Now Bold"/>
                  <a:ea typeface="Now Bold"/>
                  <a:cs typeface="Now Bold"/>
                  <a:sym typeface="Now Bold"/>
                </a:rPr>
                <a:t>Real-time</a:t>
              </a:r>
              <a:r>
                <a:rPr lang="en-US" b="true" sz="2095">
                  <a:solidFill>
                    <a:srgbClr val="FFFFFF"/>
                  </a:solidFill>
                  <a:latin typeface="Now Bold"/>
                  <a:ea typeface="Now Bold"/>
                  <a:cs typeface="Now Bold"/>
                  <a:sym typeface="Now Bold"/>
                </a:rPr>
                <a:t> Updates</a:t>
              </a:r>
            </a:p>
            <a:p>
              <a:pPr algn="l">
                <a:lnSpc>
                  <a:spcPts val="2556"/>
                </a:lnSpc>
                <a:spcBef>
                  <a:spcPct val="0"/>
                </a:spcBef>
              </a:pPr>
              <a:r>
                <a:rPr lang="en-US" sz="2095">
                  <a:solidFill>
                    <a:srgbClr val="FFFFFF"/>
                  </a:solidFill>
                  <a:latin typeface="Now"/>
                  <a:ea typeface="Now"/>
                  <a:cs typeface="Now"/>
                  <a:sym typeface="Now"/>
                </a:rPr>
                <a:t>Live tracking data with instant milestone notifications</a:t>
              </a:r>
            </a:p>
          </p:txBody>
        </p:sp>
        <p:sp>
          <p:nvSpPr>
            <p:cNvPr name="TextBox 23" id="23"/>
            <p:cNvSpPr txBox="true"/>
            <p:nvPr/>
          </p:nvSpPr>
          <p:spPr>
            <a:xfrm rot="0">
              <a:off x="3622843" y="3347427"/>
              <a:ext cx="6224025" cy="1298464"/>
            </a:xfrm>
            <a:prstGeom prst="rect">
              <a:avLst/>
            </a:prstGeom>
          </p:spPr>
          <p:txBody>
            <a:bodyPr anchor="t" rtlCol="false" tIns="0" lIns="0" bIns="0" rIns="0">
              <a:spAutoFit/>
            </a:bodyPr>
            <a:lstStyle/>
            <a:p>
              <a:pPr algn="l">
                <a:lnSpc>
                  <a:spcPts val="2556"/>
                </a:lnSpc>
                <a:spcBef>
                  <a:spcPct val="0"/>
                </a:spcBef>
              </a:pPr>
              <a:r>
                <a:rPr lang="en-US" b="true" sz="2095">
                  <a:solidFill>
                    <a:srgbClr val="FFFFFF"/>
                  </a:solidFill>
                  <a:latin typeface="Now Bold"/>
                  <a:ea typeface="Now Bold"/>
                  <a:cs typeface="Now Bold"/>
                  <a:sym typeface="Now Bold"/>
                </a:rPr>
                <a:t>Exc</a:t>
              </a:r>
              <a:r>
                <a:rPr lang="en-US" b="true" sz="2095">
                  <a:solidFill>
                    <a:srgbClr val="FFFFFF"/>
                  </a:solidFill>
                  <a:latin typeface="Now Bold"/>
                  <a:ea typeface="Now Bold"/>
                  <a:cs typeface="Now Bold"/>
                  <a:sym typeface="Now Bold"/>
                </a:rPr>
                <a:t>eption Aler</a:t>
              </a:r>
              <a:r>
                <a:rPr lang="en-US" b="true" sz="2095">
                  <a:solidFill>
                    <a:srgbClr val="FFFFFF"/>
                  </a:solidFill>
                  <a:latin typeface="Now Bold"/>
                  <a:ea typeface="Now Bold"/>
                  <a:cs typeface="Now Bold"/>
                  <a:sym typeface="Now Bold"/>
                </a:rPr>
                <a:t>ts</a:t>
              </a:r>
            </a:p>
            <a:p>
              <a:pPr algn="l">
                <a:lnSpc>
                  <a:spcPts val="2556"/>
                </a:lnSpc>
                <a:spcBef>
                  <a:spcPct val="0"/>
                </a:spcBef>
              </a:pPr>
              <a:r>
                <a:rPr lang="en-US" sz="2095">
                  <a:solidFill>
                    <a:srgbClr val="FFFFFF"/>
                  </a:solidFill>
                  <a:latin typeface="Now"/>
                  <a:ea typeface="Now"/>
                  <a:cs typeface="Now"/>
                  <a:sym typeface="Now"/>
                </a:rPr>
                <a:t>Proactive notifications for delays and disruptions</a:t>
              </a:r>
            </a:p>
          </p:txBody>
        </p:sp>
        <p:sp>
          <p:nvSpPr>
            <p:cNvPr name="TextBox 24" id="24"/>
            <p:cNvSpPr txBox="true"/>
            <p:nvPr/>
          </p:nvSpPr>
          <p:spPr>
            <a:xfrm rot="0">
              <a:off x="1114989" y="5659545"/>
              <a:ext cx="6224025" cy="1298464"/>
            </a:xfrm>
            <a:prstGeom prst="rect">
              <a:avLst/>
            </a:prstGeom>
          </p:spPr>
          <p:txBody>
            <a:bodyPr anchor="t" rtlCol="false" tIns="0" lIns="0" bIns="0" rIns="0">
              <a:spAutoFit/>
            </a:bodyPr>
            <a:lstStyle/>
            <a:p>
              <a:pPr algn="l">
                <a:lnSpc>
                  <a:spcPts val="2556"/>
                </a:lnSpc>
                <a:spcBef>
                  <a:spcPct val="0"/>
                </a:spcBef>
              </a:pPr>
              <a:r>
                <a:rPr lang="en-US" b="true" sz="2095">
                  <a:solidFill>
                    <a:srgbClr val="FFFFFF"/>
                  </a:solidFill>
                  <a:latin typeface="Now Bold"/>
                  <a:ea typeface="Now Bold"/>
                  <a:cs typeface="Now Bold"/>
                  <a:sym typeface="Now Bold"/>
                </a:rPr>
                <a:t>Cus</a:t>
              </a:r>
              <a:r>
                <a:rPr lang="en-US" b="true" sz="2095">
                  <a:solidFill>
                    <a:srgbClr val="FFFFFF"/>
                  </a:solidFill>
                  <a:latin typeface="Now Bold"/>
                  <a:ea typeface="Now Bold"/>
                  <a:cs typeface="Now Bold"/>
                  <a:sym typeface="Now Bold"/>
                </a:rPr>
                <a:t>tomizable View</a:t>
              </a:r>
              <a:r>
                <a:rPr lang="en-US" b="true" sz="2095">
                  <a:solidFill>
                    <a:srgbClr val="FFFFFF"/>
                  </a:solidFill>
                  <a:latin typeface="Now Bold"/>
                  <a:ea typeface="Now Bold"/>
                  <a:cs typeface="Now Bold"/>
                  <a:sym typeface="Now Bold"/>
                </a:rPr>
                <a:t>s</a:t>
              </a:r>
            </a:p>
            <a:p>
              <a:pPr algn="l">
                <a:lnSpc>
                  <a:spcPts val="2556"/>
                </a:lnSpc>
                <a:spcBef>
                  <a:spcPct val="0"/>
                </a:spcBef>
              </a:pPr>
              <a:r>
                <a:rPr lang="en-US" sz="2095">
                  <a:solidFill>
                    <a:srgbClr val="FFFFFF"/>
                  </a:solidFill>
                  <a:latin typeface="Now"/>
                  <a:ea typeface="Now"/>
                  <a:cs typeface="Now"/>
                  <a:sym typeface="Now"/>
                </a:rPr>
                <a:t>Personalized dashboards for different user roles</a:t>
              </a:r>
            </a:p>
          </p:txBody>
        </p:sp>
        <p:sp>
          <p:nvSpPr>
            <p:cNvPr name="TextBox 25" id="25"/>
            <p:cNvSpPr txBox="true"/>
            <p:nvPr/>
          </p:nvSpPr>
          <p:spPr>
            <a:xfrm rot="0">
              <a:off x="3622843" y="8059845"/>
              <a:ext cx="6224025" cy="1298464"/>
            </a:xfrm>
            <a:prstGeom prst="rect">
              <a:avLst/>
            </a:prstGeom>
          </p:spPr>
          <p:txBody>
            <a:bodyPr anchor="t" rtlCol="false" tIns="0" lIns="0" bIns="0" rIns="0">
              <a:spAutoFit/>
            </a:bodyPr>
            <a:lstStyle/>
            <a:p>
              <a:pPr algn="l">
                <a:lnSpc>
                  <a:spcPts val="2556"/>
                </a:lnSpc>
                <a:spcBef>
                  <a:spcPct val="0"/>
                </a:spcBef>
              </a:pPr>
              <a:r>
                <a:rPr lang="en-US" b="true" sz="2095">
                  <a:solidFill>
                    <a:srgbClr val="FFFFFF"/>
                  </a:solidFill>
                  <a:latin typeface="Now Bold"/>
                  <a:ea typeface="Now Bold"/>
                  <a:cs typeface="Now Bold"/>
                  <a:sym typeface="Now Bold"/>
                </a:rPr>
                <a:t>Predic</a:t>
              </a:r>
              <a:r>
                <a:rPr lang="en-US" b="true" sz="2095">
                  <a:solidFill>
                    <a:srgbClr val="FFFFFF"/>
                  </a:solidFill>
                  <a:latin typeface="Now Bold"/>
                  <a:ea typeface="Now Bold"/>
                  <a:cs typeface="Now Bold"/>
                  <a:sym typeface="Now Bold"/>
                </a:rPr>
                <a:t>tive ETAs &amp; </a:t>
              </a:r>
              <a:r>
                <a:rPr lang="en-US" b="true" sz="2095">
                  <a:solidFill>
                    <a:srgbClr val="FFFFFF"/>
                  </a:solidFill>
                  <a:latin typeface="Now Bold"/>
                  <a:ea typeface="Now Bold"/>
                  <a:cs typeface="Now Bold"/>
                  <a:sym typeface="Now Bold"/>
                </a:rPr>
                <a:t>ETDs</a:t>
              </a:r>
            </a:p>
            <a:p>
              <a:pPr algn="l">
                <a:lnSpc>
                  <a:spcPts val="2556"/>
                </a:lnSpc>
                <a:spcBef>
                  <a:spcPct val="0"/>
                </a:spcBef>
              </a:pPr>
              <a:r>
                <a:rPr lang="en-US" sz="2095">
                  <a:solidFill>
                    <a:srgbClr val="FFFFFF"/>
                  </a:solidFill>
                  <a:latin typeface="Now"/>
                  <a:ea typeface="Now"/>
                  <a:cs typeface="Now"/>
                  <a:sym typeface="Now"/>
                </a:rPr>
                <a:t>AI-powered arrival predictions with 95% accuracy</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663988" y="1609995"/>
            <a:ext cx="11197736" cy="794722"/>
          </a:xfrm>
          <a:prstGeom prst="rect">
            <a:avLst/>
          </a:prstGeom>
        </p:spPr>
        <p:txBody>
          <a:bodyPr anchor="t" rtlCol="false" tIns="0" lIns="0" bIns="0" rIns="0">
            <a:spAutoFit/>
          </a:bodyPr>
          <a:lstStyle/>
          <a:p>
            <a:pPr algn="ctr">
              <a:lnSpc>
                <a:spcPts val="6400"/>
              </a:lnSpc>
            </a:pPr>
            <a:r>
              <a:rPr lang="en-US" b="true" sz="4923">
                <a:solidFill>
                  <a:srgbClr val="0F5995"/>
                </a:solidFill>
                <a:latin typeface="Open Sauce Bold"/>
                <a:ea typeface="Open Sauce Bold"/>
                <a:cs typeface="Open Sauce Bold"/>
                <a:sym typeface="Open Sauce Bold"/>
              </a:rPr>
              <a:t>INTEGRATION &amp; COLLABORATION</a:t>
            </a:r>
          </a:p>
        </p:txBody>
      </p:sp>
      <p:sp>
        <p:nvSpPr>
          <p:cNvPr name="TextBox 3" id="3"/>
          <p:cNvSpPr txBox="true"/>
          <p:nvPr/>
        </p:nvSpPr>
        <p:spPr>
          <a:xfrm rot="0">
            <a:off x="6986140" y="2760839"/>
            <a:ext cx="3596283" cy="391807"/>
          </a:xfrm>
          <a:prstGeom prst="rect">
            <a:avLst/>
          </a:prstGeom>
        </p:spPr>
        <p:txBody>
          <a:bodyPr anchor="t" rtlCol="false" tIns="0" lIns="0" bIns="0" rIns="0">
            <a:spAutoFit/>
          </a:bodyPr>
          <a:lstStyle/>
          <a:p>
            <a:pPr algn="ctr">
              <a:lnSpc>
                <a:spcPts val="3044"/>
              </a:lnSpc>
              <a:spcBef>
                <a:spcPct val="0"/>
              </a:spcBef>
            </a:pPr>
            <a:r>
              <a:rPr lang="en-US" b="true" sz="2495">
                <a:solidFill>
                  <a:srgbClr val="000000"/>
                </a:solidFill>
                <a:latin typeface="Now Bold"/>
                <a:ea typeface="Now Bold"/>
                <a:cs typeface="Now Bold"/>
                <a:sym typeface="Now Bold"/>
              </a:rPr>
              <a:t>Seamless Connectivity</a:t>
            </a:r>
          </a:p>
        </p:txBody>
      </p:sp>
      <p:sp>
        <p:nvSpPr>
          <p:cNvPr name="TextBox 4" id="4"/>
          <p:cNvSpPr txBox="true"/>
          <p:nvPr/>
        </p:nvSpPr>
        <p:spPr>
          <a:xfrm rot="0">
            <a:off x="2071669" y="3449826"/>
            <a:ext cx="14484393" cy="1148890"/>
          </a:xfrm>
          <a:prstGeom prst="rect">
            <a:avLst/>
          </a:prstGeom>
        </p:spPr>
        <p:txBody>
          <a:bodyPr anchor="t" rtlCol="false" tIns="0" lIns="0" bIns="0" rIns="0">
            <a:spAutoFit/>
          </a:bodyPr>
          <a:lstStyle/>
          <a:p>
            <a:pPr algn="just">
              <a:lnSpc>
                <a:spcPts val="3143"/>
              </a:lnSpc>
            </a:pPr>
            <a:r>
              <a:rPr lang="en-US" sz="2095">
                <a:solidFill>
                  <a:srgbClr val="000000"/>
                </a:solidFill>
                <a:latin typeface="Now"/>
                <a:ea typeface="Now"/>
                <a:cs typeface="Now"/>
                <a:sym typeface="Now"/>
              </a:rPr>
              <a:t>SITS is built to integrate effortlessly with global Transportation Management Systems (TMS), empowering logistics providers, freight forwarders and enterprises with real time shipment visibility. By connecting with platforms like:</a:t>
            </a:r>
          </a:p>
        </p:txBody>
      </p:sp>
      <p:grpSp>
        <p:nvGrpSpPr>
          <p:cNvPr name="Group 5" id="5"/>
          <p:cNvGrpSpPr/>
          <p:nvPr/>
        </p:nvGrpSpPr>
        <p:grpSpPr>
          <a:xfrm rot="0">
            <a:off x="3333775" y="4835153"/>
            <a:ext cx="11856447" cy="2239845"/>
            <a:chOff x="0" y="0"/>
            <a:chExt cx="15808596" cy="2986461"/>
          </a:xfrm>
        </p:grpSpPr>
        <p:grpSp>
          <p:nvGrpSpPr>
            <p:cNvPr name="Group 6" id="6"/>
            <p:cNvGrpSpPr/>
            <p:nvPr/>
          </p:nvGrpSpPr>
          <p:grpSpPr>
            <a:xfrm rot="0">
              <a:off x="5492739" y="0"/>
              <a:ext cx="4823117" cy="772854"/>
              <a:chOff x="0" y="0"/>
              <a:chExt cx="885386" cy="141874"/>
            </a:xfrm>
          </p:grpSpPr>
          <p:sp>
            <p:nvSpPr>
              <p:cNvPr name="Freeform 7" id="7"/>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8" id="8"/>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CargoWise</a:t>
                </a:r>
              </a:p>
            </p:txBody>
          </p:sp>
        </p:grpSp>
        <p:grpSp>
          <p:nvGrpSpPr>
            <p:cNvPr name="Group 9" id="9"/>
            <p:cNvGrpSpPr/>
            <p:nvPr/>
          </p:nvGrpSpPr>
          <p:grpSpPr>
            <a:xfrm rot="0">
              <a:off x="0" y="0"/>
              <a:ext cx="4823117" cy="772854"/>
              <a:chOff x="0" y="0"/>
              <a:chExt cx="885386" cy="141874"/>
            </a:xfrm>
          </p:grpSpPr>
          <p:sp>
            <p:nvSpPr>
              <p:cNvPr name="Freeform 10" id="10"/>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11" id="11"/>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 Oracle OTM</a:t>
                </a:r>
              </a:p>
            </p:txBody>
          </p:sp>
        </p:grpSp>
        <p:grpSp>
          <p:nvGrpSpPr>
            <p:cNvPr name="Group 12" id="12"/>
            <p:cNvGrpSpPr/>
            <p:nvPr/>
          </p:nvGrpSpPr>
          <p:grpSpPr>
            <a:xfrm rot="0">
              <a:off x="10985479" y="0"/>
              <a:ext cx="4823117" cy="772854"/>
              <a:chOff x="0" y="0"/>
              <a:chExt cx="885386" cy="141874"/>
            </a:xfrm>
          </p:grpSpPr>
          <p:sp>
            <p:nvSpPr>
              <p:cNvPr name="Freeform 13" id="13"/>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14" id="14"/>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SAP TM</a:t>
                </a:r>
              </a:p>
            </p:txBody>
          </p:sp>
        </p:grpSp>
        <p:grpSp>
          <p:nvGrpSpPr>
            <p:cNvPr name="Group 15" id="15"/>
            <p:cNvGrpSpPr/>
            <p:nvPr/>
          </p:nvGrpSpPr>
          <p:grpSpPr>
            <a:xfrm rot="0">
              <a:off x="0" y="1078179"/>
              <a:ext cx="4823117" cy="772854"/>
              <a:chOff x="0" y="0"/>
              <a:chExt cx="885386" cy="141874"/>
            </a:xfrm>
          </p:grpSpPr>
          <p:sp>
            <p:nvSpPr>
              <p:cNvPr name="Freeform 16" id="16"/>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17" id="17"/>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Logisys</a:t>
                </a:r>
              </a:p>
            </p:txBody>
          </p:sp>
        </p:grpSp>
        <p:grpSp>
          <p:nvGrpSpPr>
            <p:cNvPr name="Group 18" id="18"/>
            <p:cNvGrpSpPr/>
            <p:nvPr/>
          </p:nvGrpSpPr>
          <p:grpSpPr>
            <a:xfrm rot="0">
              <a:off x="5492739" y="1078179"/>
              <a:ext cx="4823117" cy="772854"/>
              <a:chOff x="0" y="0"/>
              <a:chExt cx="885386" cy="141874"/>
            </a:xfrm>
          </p:grpSpPr>
          <p:sp>
            <p:nvSpPr>
              <p:cNvPr name="Freeform 19" id="19"/>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20" id="20"/>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Manhattan</a:t>
                </a:r>
              </a:p>
            </p:txBody>
          </p:sp>
        </p:grpSp>
        <p:grpSp>
          <p:nvGrpSpPr>
            <p:cNvPr name="Group 21" id="21"/>
            <p:cNvGrpSpPr/>
            <p:nvPr/>
          </p:nvGrpSpPr>
          <p:grpSpPr>
            <a:xfrm rot="0">
              <a:off x="10981404" y="1078179"/>
              <a:ext cx="4823117" cy="772854"/>
              <a:chOff x="0" y="0"/>
              <a:chExt cx="885386" cy="141874"/>
            </a:xfrm>
          </p:grpSpPr>
          <p:sp>
            <p:nvSpPr>
              <p:cNvPr name="Freeform 22" id="22"/>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23" id="23"/>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 Magaya</a:t>
                </a:r>
              </a:p>
            </p:txBody>
          </p:sp>
        </p:grpSp>
        <p:grpSp>
          <p:nvGrpSpPr>
            <p:cNvPr name="Group 24" id="24"/>
            <p:cNvGrpSpPr/>
            <p:nvPr/>
          </p:nvGrpSpPr>
          <p:grpSpPr>
            <a:xfrm rot="0">
              <a:off x="10981404" y="2213607"/>
              <a:ext cx="4823117" cy="772854"/>
              <a:chOff x="0" y="0"/>
              <a:chExt cx="885386" cy="141874"/>
            </a:xfrm>
          </p:grpSpPr>
          <p:sp>
            <p:nvSpPr>
              <p:cNvPr name="Freeform 25" id="25"/>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26" id="26"/>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Infor Nexus</a:t>
                </a:r>
              </a:p>
            </p:txBody>
          </p:sp>
        </p:grpSp>
        <p:grpSp>
          <p:nvGrpSpPr>
            <p:cNvPr name="Group 27" id="27"/>
            <p:cNvGrpSpPr/>
            <p:nvPr/>
          </p:nvGrpSpPr>
          <p:grpSpPr>
            <a:xfrm rot="0">
              <a:off x="5492739" y="2156358"/>
              <a:ext cx="4823117" cy="772854"/>
              <a:chOff x="0" y="0"/>
              <a:chExt cx="885386" cy="141874"/>
            </a:xfrm>
          </p:grpSpPr>
          <p:sp>
            <p:nvSpPr>
              <p:cNvPr name="Freeform 28" id="28"/>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29" id="29"/>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 Descartes</a:t>
                </a:r>
              </a:p>
            </p:txBody>
          </p:sp>
        </p:grpSp>
        <p:grpSp>
          <p:nvGrpSpPr>
            <p:cNvPr name="Group 30" id="30"/>
            <p:cNvGrpSpPr/>
            <p:nvPr/>
          </p:nvGrpSpPr>
          <p:grpSpPr>
            <a:xfrm rot="0">
              <a:off x="0" y="2156358"/>
              <a:ext cx="4823117" cy="772854"/>
              <a:chOff x="0" y="0"/>
              <a:chExt cx="885386" cy="141874"/>
            </a:xfrm>
          </p:grpSpPr>
          <p:sp>
            <p:nvSpPr>
              <p:cNvPr name="Freeform 31" id="31"/>
              <p:cNvSpPr/>
              <p:nvPr/>
            </p:nvSpPr>
            <p:spPr>
              <a:xfrm flipH="false" flipV="false" rot="0">
                <a:off x="0" y="0"/>
                <a:ext cx="885386" cy="141874"/>
              </a:xfrm>
              <a:custGeom>
                <a:avLst/>
                <a:gdLst/>
                <a:ahLst/>
                <a:cxnLst/>
                <a:rect r="r" b="b" t="t" l="l"/>
                <a:pathLst>
                  <a:path h="141874" w="885386">
                    <a:moveTo>
                      <a:pt x="682186" y="0"/>
                    </a:moveTo>
                    <a:cubicBezTo>
                      <a:pt x="794411" y="0"/>
                      <a:pt x="885386" y="31760"/>
                      <a:pt x="885386" y="70937"/>
                    </a:cubicBezTo>
                    <a:cubicBezTo>
                      <a:pt x="885386" y="110114"/>
                      <a:pt x="794411" y="141874"/>
                      <a:pt x="682186" y="141874"/>
                    </a:cubicBezTo>
                    <a:lnTo>
                      <a:pt x="203200" y="141874"/>
                    </a:lnTo>
                    <a:cubicBezTo>
                      <a:pt x="90976" y="141874"/>
                      <a:pt x="0" y="110114"/>
                      <a:pt x="0" y="70937"/>
                    </a:cubicBezTo>
                    <a:cubicBezTo>
                      <a:pt x="0" y="31760"/>
                      <a:pt x="90976" y="0"/>
                      <a:pt x="203200" y="0"/>
                    </a:cubicBezTo>
                    <a:close/>
                  </a:path>
                </a:pathLst>
              </a:custGeom>
              <a:solidFill>
                <a:srgbClr val="0071BC"/>
              </a:solidFill>
            </p:spPr>
          </p:sp>
          <p:sp>
            <p:nvSpPr>
              <p:cNvPr name="TextBox 32" id="32"/>
              <p:cNvSpPr txBox="true"/>
              <p:nvPr/>
            </p:nvSpPr>
            <p:spPr>
              <a:xfrm>
                <a:off x="0" y="0"/>
                <a:ext cx="885386" cy="141874"/>
              </a:xfrm>
              <a:prstGeom prst="rect">
                <a:avLst/>
              </a:prstGeom>
            </p:spPr>
            <p:txBody>
              <a:bodyPr anchor="ctr" rtlCol="false" tIns="54663" lIns="54663" bIns="54663" rIns="54663"/>
              <a:lstStyle/>
              <a:p>
                <a:pPr algn="ctr">
                  <a:lnSpc>
                    <a:spcPts val="2556"/>
                  </a:lnSpc>
                </a:pPr>
                <a:r>
                  <a:rPr lang="en-US" sz="2095">
                    <a:solidFill>
                      <a:srgbClr val="FFFFFF"/>
                    </a:solidFill>
                    <a:latin typeface="Now"/>
                    <a:ea typeface="Now"/>
                    <a:cs typeface="Now"/>
                    <a:sym typeface="Now"/>
                  </a:rPr>
                  <a:t>MercuryGate</a:t>
                </a:r>
              </a:p>
            </p:txBody>
          </p:sp>
        </p:grpSp>
      </p:grpSp>
      <p:sp>
        <p:nvSpPr>
          <p:cNvPr name="AutoShape 33" id="33"/>
          <p:cNvSpPr/>
          <p:nvPr/>
        </p:nvSpPr>
        <p:spPr>
          <a:xfrm>
            <a:off x="4574418" y="8453463"/>
            <a:ext cx="685150" cy="0"/>
          </a:xfrm>
          <a:prstGeom prst="line">
            <a:avLst/>
          </a:prstGeom>
          <a:ln cap="flat" w="38100">
            <a:solidFill>
              <a:srgbClr val="0071BC"/>
            </a:solidFill>
            <a:prstDash val="solid"/>
            <a:headEnd type="none" len="sm" w="sm"/>
            <a:tailEnd type="arrow" len="sm" w="med"/>
          </a:ln>
        </p:spPr>
      </p:sp>
      <p:sp>
        <p:nvSpPr>
          <p:cNvPr name="TextBox 34" id="34"/>
          <p:cNvSpPr txBox="true"/>
          <p:nvPr/>
        </p:nvSpPr>
        <p:spPr>
          <a:xfrm rot="0">
            <a:off x="5836524" y="8294199"/>
            <a:ext cx="2921437"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Unified Shipment Data</a:t>
            </a:r>
          </a:p>
        </p:txBody>
      </p:sp>
      <p:sp>
        <p:nvSpPr>
          <p:cNvPr name="AutoShape 35" id="35"/>
          <p:cNvSpPr/>
          <p:nvPr/>
        </p:nvSpPr>
        <p:spPr>
          <a:xfrm>
            <a:off x="4574418" y="9177363"/>
            <a:ext cx="685150" cy="0"/>
          </a:xfrm>
          <a:prstGeom prst="line">
            <a:avLst/>
          </a:prstGeom>
          <a:ln cap="flat" w="38100">
            <a:solidFill>
              <a:srgbClr val="0071BC"/>
            </a:solidFill>
            <a:prstDash val="solid"/>
            <a:headEnd type="none" len="sm" w="sm"/>
            <a:tailEnd type="arrow" len="sm" w="med"/>
          </a:ln>
        </p:spPr>
      </p:sp>
      <p:sp>
        <p:nvSpPr>
          <p:cNvPr name="TextBox 36" id="36"/>
          <p:cNvSpPr txBox="true"/>
          <p:nvPr/>
        </p:nvSpPr>
        <p:spPr>
          <a:xfrm rot="0">
            <a:off x="5836524" y="8974676"/>
            <a:ext cx="2323743"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Predictive Insights</a:t>
            </a:r>
          </a:p>
        </p:txBody>
      </p:sp>
      <p:sp>
        <p:nvSpPr>
          <p:cNvPr name="AutoShape 37" id="37"/>
          <p:cNvSpPr/>
          <p:nvPr/>
        </p:nvSpPr>
        <p:spPr>
          <a:xfrm>
            <a:off x="4574418" y="9834588"/>
            <a:ext cx="685150" cy="0"/>
          </a:xfrm>
          <a:prstGeom prst="line">
            <a:avLst/>
          </a:prstGeom>
          <a:ln cap="flat" w="38100">
            <a:solidFill>
              <a:srgbClr val="0071BC"/>
            </a:solidFill>
            <a:prstDash val="solid"/>
            <a:headEnd type="none" len="sm" w="sm"/>
            <a:tailEnd type="arrow" len="sm" w="med"/>
          </a:ln>
        </p:spPr>
      </p:sp>
      <p:sp>
        <p:nvSpPr>
          <p:cNvPr name="TextBox 38" id="38"/>
          <p:cNvSpPr txBox="true"/>
          <p:nvPr/>
        </p:nvSpPr>
        <p:spPr>
          <a:xfrm rot="0">
            <a:off x="5836524" y="9655154"/>
            <a:ext cx="2921437"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Multimodal Coverage</a:t>
            </a:r>
          </a:p>
        </p:txBody>
      </p:sp>
      <p:sp>
        <p:nvSpPr>
          <p:cNvPr name="AutoShape 39" id="39"/>
          <p:cNvSpPr/>
          <p:nvPr/>
        </p:nvSpPr>
        <p:spPr>
          <a:xfrm>
            <a:off x="9576222" y="8472513"/>
            <a:ext cx="685150" cy="0"/>
          </a:xfrm>
          <a:prstGeom prst="line">
            <a:avLst/>
          </a:prstGeom>
          <a:ln cap="flat" w="38100">
            <a:solidFill>
              <a:srgbClr val="0071BC"/>
            </a:solidFill>
            <a:prstDash val="solid"/>
            <a:headEnd type="none" len="sm" w="sm"/>
            <a:tailEnd type="arrow" len="sm" w="med"/>
          </a:ln>
        </p:spPr>
      </p:sp>
      <p:sp>
        <p:nvSpPr>
          <p:cNvPr name="AutoShape 40" id="40"/>
          <p:cNvSpPr/>
          <p:nvPr/>
        </p:nvSpPr>
        <p:spPr>
          <a:xfrm>
            <a:off x="9576222" y="9196413"/>
            <a:ext cx="685150" cy="0"/>
          </a:xfrm>
          <a:prstGeom prst="line">
            <a:avLst/>
          </a:prstGeom>
          <a:ln cap="flat" w="38100">
            <a:solidFill>
              <a:srgbClr val="0071BC"/>
            </a:solidFill>
            <a:prstDash val="solid"/>
            <a:headEnd type="none" len="sm" w="sm"/>
            <a:tailEnd type="arrow" len="sm" w="med"/>
          </a:ln>
        </p:spPr>
      </p:sp>
      <p:sp>
        <p:nvSpPr>
          <p:cNvPr name="TextBox 41" id="41"/>
          <p:cNvSpPr txBox="true"/>
          <p:nvPr/>
        </p:nvSpPr>
        <p:spPr>
          <a:xfrm rot="0">
            <a:off x="10775830" y="8313249"/>
            <a:ext cx="2081570"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Faster Decisions</a:t>
            </a:r>
          </a:p>
        </p:txBody>
      </p:sp>
      <p:sp>
        <p:nvSpPr>
          <p:cNvPr name="TextBox 42" id="42"/>
          <p:cNvSpPr txBox="true"/>
          <p:nvPr/>
        </p:nvSpPr>
        <p:spPr>
          <a:xfrm rot="0">
            <a:off x="10775830" y="9018099"/>
            <a:ext cx="2493645"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Scalable &amp; Flexible</a:t>
            </a:r>
          </a:p>
        </p:txBody>
      </p:sp>
      <p:sp>
        <p:nvSpPr>
          <p:cNvPr name="Freeform 43" id="43"/>
          <p:cNvSpPr/>
          <p:nvPr/>
        </p:nvSpPr>
        <p:spPr>
          <a:xfrm flipH="false" flipV="true" rot="0">
            <a:off x="-971364" y="-293222"/>
            <a:ext cx="9330349" cy="3568255"/>
          </a:xfrm>
          <a:custGeom>
            <a:avLst/>
            <a:gdLst/>
            <a:ahLst/>
            <a:cxnLst/>
            <a:rect r="r" b="b" t="t" l="l"/>
            <a:pathLst>
              <a:path h="3568255" w="9330349">
                <a:moveTo>
                  <a:pt x="0" y="3568254"/>
                </a:moveTo>
                <a:lnTo>
                  <a:pt x="9330349" y="3568254"/>
                </a:lnTo>
                <a:lnTo>
                  <a:pt x="9330349" y="0"/>
                </a:lnTo>
                <a:lnTo>
                  <a:pt x="0" y="0"/>
                </a:lnTo>
                <a:lnTo>
                  <a:pt x="0" y="3568254"/>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44" id="44"/>
          <p:cNvSpPr/>
          <p:nvPr/>
        </p:nvSpPr>
        <p:spPr>
          <a:xfrm flipH="true" flipV="true" rot="0">
            <a:off x="14726774" y="-2031347"/>
            <a:ext cx="8001477" cy="3060047"/>
          </a:xfrm>
          <a:custGeom>
            <a:avLst/>
            <a:gdLst/>
            <a:ahLst/>
            <a:cxnLst/>
            <a:rect r="r" b="b" t="t" l="l"/>
            <a:pathLst>
              <a:path h="3060047" w="8001477">
                <a:moveTo>
                  <a:pt x="8001477" y="3060047"/>
                </a:moveTo>
                <a:lnTo>
                  <a:pt x="0" y="3060047"/>
                </a:lnTo>
                <a:lnTo>
                  <a:pt x="0" y="0"/>
                </a:lnTo>
                <a:lnTo>
                  <a:pt x="8001477" y="0"/>
                </a:lnTo>
                <a:lnTo>
                  <a:pt x="8001477" y="3060047"/>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TextBox 45" id="45"/>
          <p:cNvSpPr txBox="true"/>
          <p:nvPr/>
        </p:nvSpPr>
        <p:spPr>
          <a:xfrm rot="0">
            <a:off x="2071669" y="7525335"/>
            <a:ext cx="4774763"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SITS enriches existing workflows with:</a:t>
            </a:r>
          </a:p>
        </p:txBody>
      </p:sp>
      <p:sp>
        <p:nvSpPr>
          <p:cNvPr name="AutoShape 46" id="46"/>
          <p:cNvSpPr/>
          <p:nvPr/>
        </p:nvSpPr>
        <p:spPr>
          <a:xfrm>
            <a:off x="9576222" y="9834588"/>
            <a:ext cx="685150" cy="0"/>
          </a:xfrm>
          <a:prstGeom prst="line">
            <a:avLst/>
          </a:prstGeom>
          <a:ln cap="flat" w="38100">
            <a:solidFill>
              <a:srgbClr val="0071BC"/>
            </a:solidFill>
            <a:prstDash val="solid"/>
            <a:headEnd type="none" len="sm" w="sm"/>
            <a:tailEnd type="arrow" len="sm" w="med"/>
          </a:ln>
        </p:spPr>
      </p:sp>
      <p:sp>
        <p:nvSpPr>
          <p:cNvPr name="TextBox 47" id="47"/>
          <p:cNvSpPr txBox="true"/>
          <p:nvPr/>
        </p:nvSpPr>
        <p:spPr>
          <a:xfrm rot="0">
            <a:off x="10775830" y="9675324"/>
            <a:ext cx="2822138" cy="318528"/>
          </a:xfrm>
          <a:prstGeom prst="rect">
            <a:avLst/>
          </a:prstGeom>
        </p:spPr>
        <p:txBody>
          <a:bodyPr anchor="t" rtlCol="false" tIns="0" lIns="0" bIns="0" rIns="0">
            <a:spAutoFit/>
          </a:bodyPr>
          <a:lstStyle/>
          <a:p>
            <a:pPr algn="ctr">
              <a:lnSpc>
                <a:spcPts val="2556"/>
              </a:lnSpc>
              <a:spcBef>
                <a:spcPct val="0"/>
              </a:spcBef>
            </a:pPr>
            <a:r>
              <a:rPr lang="en-US" sz="2095">
                <a:solidFill>
                  <a:srgbClr val="000000"/>
                </a:solidFill>
                <a:latin typeface="Now"/>
                <a:ea typeface="Now"/>
                <a:cs typeface="Now"/>
                <a:sym typeface="Now"/>
              </a:rPr>
              <a:t>Seamless Integration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66750">
            <a:off x="-9800850" y="-2626522"/>
            <a:ext cx="18546456" cy="7092819"/>
          </a:xfrm>
          <a:custGeom>
            <a:avLst/>
            <a:gdLst/>
            <a:ahLst/>
            <a:cxnLst/>
            <a:rect r="r" b="b" t="t" l="l"/>
            <a:pathLst>
              <a:path h="7092819" w="18546456">
                <a:moveTo>
                  <a:pt x="0" y="7092819"/>
                </a:moveTo>
                <a:lnTo>
                  <a:pt x="18546456" y="7092819"/>
                </a:lnTo>
                <a:lnTo>
                  <a:pt x="18546456" y="0"/>
                </a:lnTo>
                <a:lnTo>
                  <a:pt x="0" y="0"/>
                </a:lnTo>
                <a:lnTo>
                  <a:pt x="0" y="7092819"/>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TextBox 3" id="3"/>
          <p:cNvSpPr txBox="true"/>
          <p:nvPr/>
        </p:nvSpPr>
        <p:spPr>
          <a:xfrm rot="0">
            <a:off x="7770848" y="2192429"/>
            <a:ext cx="9740267" cy="105410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At SITS, w</a:t>
            </a:r>
            <a:r>
              <a:rPr lang="en-US" sz="2000">
                <a:solidFill>
                  <a:srgbClr val="000000"/>
                </a:solidFill>
                <a:latin typeface="Open Sauce"/>
                <a:ea typeface="Open Sauce"/>
                <a:cs typeface="Open Sauce"/>
                <a:sym typeface="Open Sauce"/>
              </a:rPr>
              <a:t>e believe in transparent pricing that scales with your business needs. Our pricing is designed to deliver immediate ROI while providing the flexibility to grow with your supply chain operations.</a:t>
            </a:r>
          </a:p>
        </p:txBody>
      </p:sp>
      <p:sp>
        <p:nvSpPr>
          <p:cNvPr name="Freeform 4" id="4"/>
          <p:cNvSpPr/>
          <p:nvPr/>
        </p:nvSpPr>
        <p:spPr>
          <a:xfrm flipH="false" flipV="false" rot="866750">
            <a:off x="-12329424" y="5254825"/>
            <a:ext cx="18546456" cy="7092819"/>
          </a:xfrm>
          <a:custGeom>
            <a:avLst/>
            <a:gdLst/>
            <a:ahLst/>
            <a:cxnLst/>
            <a:rect r="r" b="b" t="t" l="l"/>
            <a:pathLst>
              <a:path h="7092819" w="18546456">
                <a:moveTo>
                  <a:pt x="0" y="0"/>
                </a:moveTo>
                <a:lnTo>
                  <a:pt x="18546457" y="0"/>
                </a:lnTo>
                <a:lnTo>
                  <a:pt x="18546457" y="7092820"/>
                </a:lnTo>
                <a:lnTo>
                  <a:pt x="0" y="7092820"/>
                </a:lnTo>
                <a:lnTo>
                  <a:pt x="0" y="0"/>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5" id="5"/>
          <p:cNvSpPr/>
          <p:nvPr/>
        </p:nvSpPr>
        <p:spPr>
          <a:xfrm flipH="false" flipV="false" rot="0">
            <a:off x="-527622" y="388449"/>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6" id="6"/>
          <p:cNvGrpSpPr/>
          <p:nvPr/>
        </p:nvGrpSpPr>
        <p:grpSpPr>
          <a:xfrm rot="0">
            <a:off x="386107" y="1056606"/>
            <a:ext cx="4983406" cy="5216787"/>
            <a:chOff x="0" y="0"/>
            <a:chExt cx="6644542" cy="6955716"/>
          </a:xfrm>
        </p:grpSpPr>
        <p:pic>
          <p:nvPicPr>
            <p:cNvPr name="Picture 7" id="7"/>
            <p:cNvPicPr>
              <a:picLocks noChangeAspect="true"/>
            </p:cNvPicPr>
            <p:nvPr/>
          </p:nvPicPr>
          <p:blipFill>
            <a:blip r:embed="rId5"/>
            <a:srcRect l="18128" t="0" r="18128" b="0"/>
            <a:stretch>
              <a:fillRect/>
            </a:stretch>
          </p:blipFill>
          <p:spPr>
            <a:xfrm flipH="false" flipV="false">
              <a:off x="0" y="0"/>
              <a:ext cx="6644542" cy="6955716"/>
            </a:xfrm>
            <a:prstGeom prst="rect">
              <a:avLst/>
            </a:prstGeom>
          </p:spPr>
        </p:pic>
      </p:grpSp>
      <p:sp>
        <p:nvSpPr>
          <p:cNvPr name="Freeform 8" id="8"/>
          <p:cNvSpPr/>
          <p:nvPr/>
        </p:nvSpPr>
        <p:spPr>
          <a:xfrm flipH="false" flipV="false" rot="0">
            <a:off x="243903" y="4306065"/>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9" id="9"/>
          <p:cNvGrpSpPr/>
          <p:nvPr/>
        </p:nvGrpSpPr>
        <p:grpSpPr>
          <a:xfrm rot="0">
            <a:off x="1243357" y="4774922"/>
            <a:ext cx="4983406" cy="5216787"/>
            <a:chOff x="0" y="0"/>
            <a:chExt cx="6644542" cy="6955716"/>
          </a:xfrm>
        </p:grpSpPr>
        <p:pic>
          <p:nvPicPr>
            <p:cNvPr name="Picture 10" id="10"/>
            <p:cNvPicPr>
              <a:picLocks noChangeAspect="true"/>
            </p:cNvPicPr>
            <p:nvPr/>
          </p:nvPicPr>
          <p:blipFill>
            <a:blip r:embed="rId6"/>
            <a:srcRect l="18128" t="0" r="18128" b="0"/>
            <a:stretch>
              <a:fillRect/>
            </a:stretch>
          </p:blipFill>
          <p:spPr>
            <a:xfrm flipH="false" flipV="false">
              <a:off x="0" y="0"/>
              <a:ext cx="6644542" cy="6955716"/>
            </a:xfrm>
            <a:prstGeom prst="rect">
              <a:avLst/>
            </a:prstGeom>
          </p:spPr>
        </p:pic>
      </p:grpSp>
      <p:sp>
        <p:nvSpPr>
          <p:cNvPr name="Freeform 11" id="11"/>
          <p:cNvSpPr/>
          <p:nvPr/>
        </p:nvSpPr>
        <p:spPr>
          <a:xfrm flipH="false" flipV="false" rot="0">
            <a:off x="9894048" y="919888"/>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628126" y="9248775"/>
            <a:ext cx="9935687" cy="321221"/>
            <a:chOff x="0" y="0"/>
            <a:chExt cx="13247583" cy="428294"/>
          </a:xfrm>
        </p:grpSpPr>
        <p:sp>
          <p:nvSpPr>
            <p:cNvPr name="Freeform 13" id="13"/>
            <p:cNvSpPr/>
            <p:nvPr/>
          </p:nvSpPr>
          <p:spPr>
            <a:xfrm flipH="false" flipV="false" rot="0">
              <a:off x="0" y="0"/>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4" id="14"/>
            <p:cNvSpPr/>
            <p:nvPr/>
          </p:nvSpPr>
          <p:spPr>
            <a:xfrm flipH="false" flipV="false" rot="0">
              <a:off x="4720734"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5" id="15"/>
            <p:cNvSpPr/>
            <p:nvPr/>
          </p:nvSpPr>
          <p:spPr>
            <a:xfrm flipH="false" flipV="false" rot="0">
              <a:off x="9483020"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grpSp>
      <p:sp>
        <p:nvSpPr>
          <p:cNvPr name="TextBox 16" id="16"/>
          <p:cNvSpPr txBox="true"/>
          <p:nvPr/>
        </p:nvSpPr>
        <p:spPr>
          <a:xfrm rot="0">
            <a:off x="11506307" y="1008981"/>
            <a:ext cx="5915025" cy="794722"/>
          </a:xfrm>
          <a:prstGeom prst="rect">
            <a:avLst/>
          </a:prstGeom>
        </p:spPr>
        <p:txBody>
          <a:bodyPr anchor="t" rtlCol="false" tIns="0" lIns="0" bIns="0" rIns="0">
            <a:spAutoFit/>
          </a:bodyPr>
          <a:lstStyle/>
          <a:p>
            <a:pPr algn="r">
              <a:lnSpc>
                <a:spcPts val="6400"/>
              </a:lnSpc>
            </a:pPr>
            <a:r>
              <a:rPr lang="en-US" b="true" sz="4923">
                <a:solidFill>
                  <a:srgbClr val="0F5995"/>
                </a:solidFill>
                <a:latin typeface="Open Sauce Bold"/>
                <a:ea typeface="Open Sauce Bold"/>
                <a:cs typeface="Open Sauce Bold"/>
                <a:sym typeface="Open Sauce Bold"/>
              </a:rPr>
              <a:t>PRICING MODAL</a:t>
            </a:r>
          </a:p>
        </p:txBody>
      </p:sp>
      <p:sp>
        <p:nvSpPr>
          <p:cNvPr name="TextBox 17" id="17"/>
          <p:cNvSpPr txBox="true"/>
          <p:nvPr/>
        </p:nvSpPr>
        <p:spPr>
          <a:xfrm rot="0">
            <a:off x="8421304" y="9604359"/>
            <a:ext cx="8177881" cy="34925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If more than 500 containers contact sales team for more details</a:t>
            </a:r>
          </a:p>
        </p:txBody>
      </p:sp>
      <p:grpSp>
        <p:nvGrpSpPr>
          <p:cNvPr name="Group 18" id="18"/>
          <p:cNvGrpSpPr/>
          <p:nvPr/>
        </p:nvGrpSpPr>
        <p:grpSpPr>
          <a:xfrm rot="0">
            <a:off x="10934812" y="4232433"/>
            <a:ext cx="3032587" cy="5142096"/>
            <a:chOff x="0" y="0"/>
            <a:chExt cx="923406" cy="1565740"/>
          </a:xfrm>
        </p:grpSpPr>
        <p:sp>
          <p:nvSpPr>
            <p:cNvPr name="Freeform 19" id="19"/>
            <p:cNvSpPr/>
            <p:nvPr/>
          </p:nvSpPr>
          <p:spPr>
            <a:xfrm flipH="false" flipV="false" rot="0">
              <a:off x="0" y="0"/>
              <a:ext cx="923406" cy="1565740"/>
            </a:xfrm>
            <a:custGeom>
              <a:avLst/>
              <a:gdLst/>
              <a:ahLst/>
              <a:cxnLst/>
              <a:rect r="r" b="b" t="t" l="l"/>
              <a:pathLst>
                <a:path h="1565740" w="923406">
                  <a:moveTo>
                    <a:pt x="181257" y="0"/>
                  </a:moveTo>
                  <a:lnTo>
                    <a:pt x="742149" y="0"/>
                  </a:lnTo>
                  <a:cubicBezTo>
                    <a:pt x="842255" y="0"/>
                    <a:pt x="923406" y="81151"/>
                    <a:pt x="923406" y="181257"/>
                  </a:cubicBezTo>
                  <a:lnTo>
                    <a:pt x="923406" y="1384483"/>
                  </a:lnTo>
                  <a:cubicBezTo>
                    <a:pt x="923406" y="1484588"/>
                    <a:pt x="842255" y="1565740"/>
                    <a:pt x="742149" y="1565740"/>
                  </a:cubicBezTo>
                  <a:lnTo>
                    <a:pt x="181257" y="1565740"/>
                  </a:lnTo>
                  <a:cubicBezTo>
                    <a:pt x="81151" y="1565740"/>
                    <a:pt x="0" y="1484588"/>
                    <a:pt x="0" y="1384483"/>
                  </a:cubicBezTo>
                  <a:lnTo>
                    <a:pt x="0" y="181257"/>
                  </a:lnTo>
                  <a:cubicBezTo>
                    <a:pt x="0" y="81151"/>
                    <a:pt x="81151" y="0"/>
                    <a:pt x="181257" y="0"/>
                  </a:cubicBezTo>
                  <a:close/>
                </a:path>
              </a:pathLst>
            </a:custGeom>
            <a:solidFill>
              <a:srgbClr val="0C3571"/>
            </a:solidFill>
          </p:spPr>
        </p:sp>
        <p:sp>
          <p:nvSpPr>
            <p:cNvPr name="TextBox 20" id="20"/>
            <p:cNvSpPr txBox="true"/>
            <p:nvPr/>
          </p:nvSpPr>
          <p:spPr>
            <a:xfrm>
              <a:off x="0" y="-38100"/>
              <a:ext cx="923406" cy="1603840"/>
            </a:xfrm>
            <a:prstGeom prst="rect">
              <a:avLst/>
            </a:prstGeom>
          </p:spPr>
          <p:txBody>
            <a:bodyPr anchor="ctr" rtlCol="false" tIns="53059" lIns="53059" bIns="53059" rIns="53059"/>
            <a:lstStyle/>
            <a:p>
              <a:pPr algn="ctr">
                <a:lnSpc>
                  <a:spcPts val="2660"/>
                </a:lnSpc>
              </a:pPr>
            </a:p>
          </p:txBody>
        </p:sp>
      </p:grpSp>
      <p:grpSp>
        <p:nvGrpSpPr>
          <p:cNvPr name="Group 21" id="21"/>
          <p:cNvGrpSpPr/>
          <p:nvPr/>
        </p:nvGrpSpPr>
        <p:grpSpPr>
          <a:xfrm rot="0">
            <a:off x="11375942" y="3492302"/>
            <a:ext cx="2055853" cy="1027926"/>
            <a:chOff x="0" y="0"/>
            <a:chExt cx="812800" cy="406400"/>
          </a:xfrm>
        </p:grpSpPr>
        <p:sp>
          <p:nvSpPr>
            <p:cNvPr name="Freeform 22" id="2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3" id="23"/>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Standard</a:t>
              </a:r>
            </a:p>
          </p:txBody>
        </p:sp>
      </p:grpSp>
      <p:grpSp>
        <p:nvGrpSpPr>
          <p:cNvPr name="Group 24" id="24"/>
          <p:cNvGrpSpPr/>
          <p:nvPr/>
        </p:nvGrpSpPr>
        <p:grpSpPr>
          <a:xfrm rot="0">
            <a:off x="14490518" y="4232433"/>
            <a:ext cx="3068222" cy="5173778"/>
            <a:chOff x="0" y="0"/>
            <a:chExt cx="934257" cy="1575387"/>
          </a:xfrm>
        </p:grpSpPr>
        <p:sp>
          <p:nvSpPr>
            <p:cNvPr name="Freeform 25" id="25"/>
            <p:cNvSpPr/>
            <p:nvPr/>
          </p:nvSpPr>
          <p:spPr>
            <a:xfrm flipH="false" flipV="false" rot="0">
              <a:off x="0" y="0"/>
              <a:ext cx="934257" cy="1575387"/>
            </a:xfrm>
            <a:custGeom>
              <a:avLst/>
              <a:gdLst/>
              <a:ahLst/>
              <a:cxnLst/>
              <a:rect r="r" b="b" t="t" l="l"/>
              <a:pathLst>
                <a:path h="1575387" w="934257">
                  <a:moveTo>
                    <a:pt x="179151" y="0"/>
                  </a:moveTo>
                  <a:lnTo>
                    <a:pt x="755105" y="0"/>
                  </a:lnTo>
                  <a:cubicBezTo>
                    <a:pt x="802619" y="0"/>
                    <a:pt x="848187" y="18875"/>
                    <a:pt x="881785" y="52472"/>
                  </a:cubicBezTo>
                  <a:cubicBezTo>
                    <a:pt x="915382" y="86070"/>
                    <a:pt x="934257" y="131637"/>
                    <a:pt x="934257" y="179151"/>
                  </a:cubicBezTo>
                  <a:lnTo>
                    <a:pt x="934257" y="1396236"/>
                  </a:lnTo>
                  <a:cubicBezTo>
                    <a:pt x="934257" y="1495178"/>
                    <a:pt x="854048" y="1575387"/>
                    <a:pt x="755105" y="1575387"/>
                  </a:cubicBezTo>
                  <a:lnTo>
                    <a:pt x="179151" y="1575387"/>
                  </a:lnTo>
                  <a:cubicBezTo>
                    <a:pt x="131637" y="1575387"/>
                    <a:pt x="86070" y="1556512"/>
                    <a:pt x="52472" y="1522915"/>
                  </a:cubicBezTo>
                  <a:cubicBezTo>
                    <a:pt x="18875" y="1489317"/>
                    <a:pt x="0" y="1443749"/>
                    <a:pt x="0" y="1396236"/>
                  </a:cubicBezTo>
                  <a:lnTo>
                    <a:pt x="0" y="179151"/>
                  </a:lnTo>
                  <a:cubicBezTo>
                    <a:pt x="0" y="80209"/>
                    <a:pt x="80209" y="0"/>
                    <a:pt x="179151" y="0"/>
                  </a:cubicBezTo>
                  <a:close/>
                </a:path>
              </a:pathLst>
            </a:custGeom>
            <a:solidFill>
              <a:srgbClr val="0C3571"/>
            </a:solidFill>
          </p:spPr>
        </p:sp>
        <p:sp>
          <p:nvSpPr>
            <p:cNvPr name="TextBox 26" id="26"/>
            <p:cNvSpPr txBox="true"/>
            <p:nvPr/>
          </p:nvSpPr>
          <p:spPr>
            <a:xfrm>
              <a:off x="0" y="-38100"/>
              <a:ext cx="934257" cy="1613487"/>
            </a:xfrm>
            <a:prstGeom prst="rect">
              <a:avLst/>
            </a:prstGeom>
          </p:spPr>
          <p:txBody>
            <a:bodyPr anchor="ctr" rtlCol="false" tIns="53059" lIns="53059" bIns="53059" rIns="53059"/>
            <a:lstStyle/>
            <a:p>
              <a:pPr algn="ctr">
                <a:lnSpc>
                  <a:spcPts val="2660"/>
                </a:lnSpc>
              </a:pPr>
            </a:p>
          </p:txBody>
        </p:sp>
      </p:grpSp>
      <p:grpSp>
        <p:nvGrpSpPr>
          <p:cNvPr name="Group 27" id="27"/>
          <p:cNvGrpSpPr/>
          <p:nvPr/>
        </p:nvGrpSpPr>
        <p:grpSpPr>
          <a:xfrm rot="0">
            <a:off x="15006227" y="3492302"/>
            <a:ext cx="2055853" cy="1027926"/>
            <a:chOff x="0" y="0"/>
            <a:chExt cx="812800" cy="406400"/>
          </a:xfrm>
        </p:grpSpPr>
        <p:sp>
          <p:nvSpPr>
            <p:cNvPr name="Freeform 28" id="2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9" id="29"/>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Pro</a:t>
              </a:r>
            </a:p>
          </p:txBody>
        </p:sp>
      </p:grpSp>
      <p:grpSp>
        <p:nvGrpSpPr>
          <p:cNvPr name="Group 30" id="30"/>
          <p:cNvGrpSpPr/>
          <p:nvPr/>
        </p:nvGrpSpPr>
        <p:grpSpPr>
          <a:xfrm rot="0">
            <a:off x="7455641" y="4174194"/>
            <a:ext cx="3068222" cy="5181339"/>
            <a:chOff x="0" y="0"/>
            <a:chExt cx="934257" cy="1577689"/>
          </a:xfrm>
        </p:grpSpPr>
        <p:sp>
          <p:nvSpPr>
            <p:cNvPr name="Freeform 31" id="31"/>
            <p:cNvSpPr/>
            <p:nvPr/>
          </p:nvSpPr>
          <p:spPr>
            <a:xfrm flipH="false" flipV="false" rot="0">
              <a:off x="0" y="0"/>
              <a:ext cx="934257" cy="1577689"/>
            </a:xfrm>
            <a:custGeom>
              <a:avLst/>
              <a:gdLst/>
              <a:ahLst/>
              <a:cxnLst/>
              <a:rect r="r" b="b" t="t" l="l"/>
              <a:pathLst>
                <a:path h="1577689" w="934257">
                  <a:moveTo>
                    <a:pt x="179151" y="0"/>
                  </a:moveTo>
                  <a:lnTo>
                    <a:pt x="755105" y="0"/>
                  </a:lnTo>
                  <a:cubicBezTo>
                    <a:pt x="802619" y="0"/>
                    <a:pt x="848187" y="18875"/>
                    <a:pt x="881785" y="52472"/>
                  </a:cubicBezTo>
                  <a:cubicBezTo>
                    <a:pt x="915382" y="86070"/>
                    <a:pt x="934257" y="131637"/>
                    <a:pt x="934257" y="179151"/>
                  </a:cubicBezTo>
                  <a:lnTo>
                    <a:pt x="934257" y="1398538"/>
                  </a:lnTo>
                  <a:cubicBezTo>
                    <a:pt x="934257" y="1446052"/>
                    <a:pt x="915382" y="1491620"/>
                    <a:pt x="881785" y="1525217"/>
                  </a:cubicBezTo>
                  <a:cubicBezTo>
                    <a:pt x="848187" y="1558814"/>
                    <a:pt x="802619" y="1577689"/>
                    <a:pt x="755105" y="1577689"/>
                  </a:cubicBezTo>
                  <a:lnTo>
                    <a:pt x="179151" y="1577689"/>
                  </a:lnTo>
                  <a:cubicBezTo>
                    <a:pt x="80209" y="1577689"/>
                    <a:pt x="0" y="1497480"/>
                    <a:pt x="0" y="1398538"/>
                  </a:cubicBezTo>
                  <a:lnTo>
                    <a:pt x="0" y="179151"/>
                  </a:lnTo>
                  <a:cubicBezTo>
                    <a:pt x="0" y="80209"/>
                    <a:pt x="80209" y="0"/>
                    <a:pt x="179151" y="0"/>
                  </a:cubicBezTo>
                  <a:close/>
                </a:path>
              </a:pathLst>
            </a:custGeom>
            <a:solidFill>
              <a:srgbClr val="0C3571"/>
            </a:solidFill>
          </p:spPr>
        </p:sp>
        <p:sp>
          <p:nvSpPr>
            <p:cNvPr name="TextBox 32" id="32"/>
            <p:cNvSpPr txBox="true"/>
            <p:nvPr/>
          </p:nvSpPr>
          <p:spPr>
            <a:xfrm>
              <a:off x="0" y="-28575"/>
              <a:ext cx="934257" cy="1606264"/>
            </a:xfrm>
            <a:prstGeom prst="rect">
              <a:avLst/>
            </a:prstGeom>
          </p:spPr>
          <p:txBody>
            <a:bodyPr anchor="ctr" rtlCol="false" tIns="53059" lIns="53059" bIns="53059" rIns="53059"/>
            <a:lstStyle/>
            <a:p>
              <a:pPr algn="ctr">
                <a:lnSpc>
                  <a:spcPts val="2520"/>
                </a:lnSpc>
              </a:pPr>
            </a:p>
          </p:txBody>
        </p:sp>
      </p:grpSp>
      <p:grpSp>
        <p:nvGrpSpPr>
          <p:cNvPr name="Group 33" id="33"/>
          <p:cNvGrpSpPr/>
          <p:nvPr/>
        </p:nvGrpSpPr>
        <p:grpSpPr>
          <a:xfrm rot="0">
            <a:off x="7904768" y="3492302"/>
            <a:ext cx="2055853" cy="1027926"/>
            <a:chOff x="0" y="0"/>
            <a:chExt cx="812800" cy="406400"/>
          </a:xfrm>
        </p:grpSpPr>
        <p:sp>
          <p:nvSpPr>
            <p:cNvPr name="Freeform 34" id="34"/>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35" id="35"/>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sz="2095" b="true">
                  <a:solidFill>
                    <a:srgbClr val="FFFFFF"/>
                  </a:solidFill>
                  <a:latin typeface="Now Bold"/>
                  <a:ea typeface="Now Bold"/>
                  <a:cs typeface="Now Bold"/>
                  <a:sym typeface="Now Bold"/>
                </a:rPr>
                <a:t>Silver</a:t>
              </a:r>
            </a:p>
            <a:p>
              <a:pPr algn="ctr">
                <a:lnSpc>
                  <a:spcPts val="2556"/>
                </a:lnSpc>
              </a:pPr>
              <a:r>
                <a:rPr lang="en-US" b="true" sz="2095">
                  <a:solidFill>
                    <a:srgbClr val="FFFFFF"/>
                  </a:solidFill>
                  <a:latin typeface="Now Bold"/>
                  <a:ea typeface="Now Bold"/>
                  <a:cs typeface="Now Bold"/>
                  <a:sym typeface="Now Bold"/>
                </a:rPr>
                <a:t>Basic</a:t>
              </a:r>
            </a:p>
          </p:txBody>
        </p:sp>
      </p:grpSp>
      <p:sp>
        <p:nvSpPr>
          <p:cNvPr name="TextBox 36" id="36"/>
          <p:cNvSpPr txBox="true"/>
          <p:nvPr/>
        </p:nvSpPr>
        <p:spPr>
          <a:xfrm rot="0">
            <a:off x="7443757" y="4691678"/>
            <a:ext cx="3001030"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100 Containers/Per Month</a:t>
            </a:r>
          </a:p>
        </p:txBody>
      </p:sp>
      <p:sp>
        <p:nvSpPr>
          <p:cNvPr name="TextBox 37" id="37"/>
          <p:cNvSpPr txBox="true"/>
          <p:nvPr/>
        </p:nvSpPr>
        <p:spPr>
          <a:xfrm rot="0">
            <a:off x="10962999" y="4691678"/>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300 Containers/Per Month</a:t>
            </a:r>
          </a:p>
        </p:txBody>
      </p:sp>
      <p:sp>
        <p:nvSpPr>
          <p:cNvPr name="TextBox 38" id="38"/>
          <p:cNvSpPr txBox="true"/>
          <p:nvPr/>
        </p:nvSpPr>
        <p:spPr>
          <a:xfrm rot="0">
            <a:off x="14555572" y="4691678"/>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500 Containers/Per Month</a:t>
            </a:r>
          </a:p>
        </p:txBody>
      </p:sp>
      <p:sp>
        <p:nvSpPr>
          <p:cNvPr name="TextBox 39" id="39"/>
          <p:cNvSpPr txBox="true"/>
          <p:nvPr/>
        </p:nvSpPr>
        <p:spPr>
          <a:xfrm rot="0">
            <a:off x="7597071" y="7090792"/>
            <a:ext cx="2773990" cy="350776"/>
          </a:xfrm>
          <a:prstGeom prst="rect">
            <a:avLst/>
          </a:prstGeom>
        </p:spPr>
        <p:txBody>
          <a:bodyPr anchor="t" rtlCol="false" tIns="0" lIns="0" bIns="0" rIns="0">
            <a:spAutoFit/>
          </a:bodyPr>
          <a:lstStyle/>
          <a:p>
            <a:pPr algn="ctr">
              <a:lnSpc>
                <a:spcPts val="3051"/>
              </a:lnSpc>
            </a:pPr>
            <a:r>
              <a:rPr lang="en-US" b="true" sz="1907" spc="61">
                <a:solidFill>
                  <a:srgbClr val="FFFFFF"/>
                </a:solidFill>
                <a:latin typeface="Open Sauce Bold"/>
                <a:ea typeface="Open Sauce Bold"/>
                <a:cs typeface="Open Sauce Bold"/>
                <a:sym typeface="Open Sauce Bold"/>
              </a:rPr>
              <a:t>API Services</a:t>
            </a:r>
          </a:p>
        </p:txBody>
      </p:sp>
      <p:sp>
        <p:nvSpPr>
          <p:cNvPr name="TextBox 40" id="40"/>
          <p:cNvSpPr txBox="true"/>
          <p:nvPr/>
        </p:nvSpPr>
        <p:spPr>
          <a:xfrm rot="0">
            <a:off x="11065911" y="7142834"/>
            <a:ext cx="2732287" cy="350647"/>
          </a:xfrm>
          <a:prstGeom prst="rect">
            <a:avLst/>
          </a:prstGeom>
        </p:spPr>
        <p:txBody>
          <a:bodyPr anchor="t" rtlCol="false" tIns="0" lIns="0" bIns="0" rIns="0">
            <a:spAutoFit/>
          </a:bodyPr>
          <a:lstStyle/>
          <a:p>
            <a:pPr algn="ctr">
              <a:lnSpc>
                <a:spcPts val="3056"/>
              </a:lnSpc>
            </a:pPr>
            <a:r>
              <a:rPr lang="en-US" b="true" sz="1910">
                <a:solidFill>
                  <a:srgbClr val="FFFFFF"/>
                </a:solidFill>
                <a:latin typeface="Open Sauce Bold"/>
                <a:ea typeface="Open Sauce Bold"/>
                <a:cs typeface="Open Sauce Bold"/>
                <a:sym typeface="Open Sauce Bold"/>
              </a:rPr>
              <a:t>API Services</a:t>
            </a:r>
          </a:p>
        </p:txBody>
      </p:sp>
      <p:sp>
        <p:nvSpPr>
          <p:cNvPr name="TextBox 41" id="41"/>
          <p:cNvSpPr txBox="true"/>
          <p:nvPr/>
        </p:nvSpPr>
        <p:spPr>
          <a:xfrm rot="0">
            <a:off x="14658290" y="7090792"/>
            <a:ext cx="2732677" cy="350647"/>
          </a:xfrm>
          <a:prstGeom prst="rect">
            <a:avLst/>
          </a:prstGeom>
        </p:spPr>
        <p:txBody>
          <a:bodyPr anchor="t" rtlCol="false" tIns="0" lIns="0" bIns="0" rIns="0">
            <a:spAutoFit/>
          </a:bodyPr>
          <a:lstStyle/>
          <a:p>
            <a:pPr algn="ctr">
              <a:lnSpc>
                <a:spcPts val="3056"/>
              </a:lnSpc>
            </a:pPr>
            <a:r>
              <a:rPr lang="en-US" b="true" sz="1910">
                <a:solidFill>
                  <a:srgbClr val="FFFFFF"/>
                </a:solidFill>
                <a:latin typeface="Open Sauce Bold"/>
                <a:ea typeface="Open Sauce Bold"/>
                <a:cs typeface="Open Sauce Bold"/>
                <a:sym typeface="Open Sauce Bold"/>
              </a:rPr>
              <a:t>API Services</a:t>
            </a:r>
          </a:p>
        </p:txBody>
      </p:sp>
      <p:sp>
        <p:nvSpPr>
          <p:cNvPr name="Freeform 42" id="42"/>
          <p:cNvSpPr/>
          <p:nvPr/>
        </p:nvSpPr>
        <p:spPr>
          <a:xfrm flipH="false" flipV="false" rot="0">
            <a:off x="8516333" y="5952524"/>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3" id="43"/>
          <p:cNvGrpSpPr/>
          <p:nvPr/>
        </p:nvGrpSpPr>
        <p:grpSpPr>
          <a:xfrm rot="0">
            <a:off x="11698822" y="5437608"/>
            <a:ext cx="1446601" cy="144660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45" id="4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2</a:t>
              </a:r>
            </a:p>
          </p:txBody>
        </p:sp>
      </p:grpSp>
      <p:sp>
        <p:nvSpPr>
          <p:cNvPr name="Freeform 46" id="46"/>
          <p:cNvSpPr/>
          <p:nvPr/>
        </p:nvSpPr>
        <p:spPr>
          <a:xfrm flipH="false" flipV="false" rot="0">
            <a:off x="12071572" y="5952524"/>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7" id="47"/>
          <p:cNvSpPr txBox="true"/>
          <p:nvPr/>
        </p:nvSpPr>
        <p:spPr>
          <a:xfrm rot="0">
            <a:off x="11853754" y="6293542"/>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48" id="48"/>
          <p:cNvGrpSpPr/>
          <p:nvPr/>
        </p:nvGrpSpPr>
        <p:grpSpPr>
          <a:xfrm rot="0">
            <a:off x="15234638" y="5437608"/>
            <a:ext cx="1446601" cy="144660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0" id="50"/>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1.5</a:t>
              </a:r>
            </a:p>
          </p:txBody>
        </p:sp>
      </p:grpSp>
      <p:sp>
        <p:nvSpPr>
          <p:cNvPr name="Freeform 51" id="51"/>
          <p:cNvSpPr/>
          <p:nvPr/>
        </p:nvSpPr>
        <p:spPr>
          <a:xfrm flipH="false" flipV="false" rot="0">
            <a:off x="15607388" y="5952524"/>
            <a:ext cx="250399" cy="369593"/>
          </a:xfrm>
          <a:custGeom>
            <a:avLst/>
            <a:gdLst/>
            <a:ahLst/>
            <a:cxnLst/>
            <a:rect r="r" b="b" t="t" l="l"/>
            <a:pathLst>
              <a:path h="369593" w="250399">
                <a:moveTo>
                  <a:pt x="0" y="0"/>
                </a:moveTo>
                <a:lnTo>
                  <a:pt x="250400" y="0"/>
                </a:lnTo>
                <a:lnTo>
                  <a:pt x="250400"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2" id="52"/>
          <p:cNvSpPr txBox="true"/>
          <p:nvPr/>
        </p:nvSpPr>
        <p:spPr>
          <a:xfrm rot="0">
            <a:off x="15389570" y="6293542"/>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53" id="53"/>
          <p:cNvGrpSpPr/>
          <p:nvPr/>
        </p:nvGrpSpPr>
        <p:grpSpPr>
          <a:xfrm rot="0">
            <a:off x="8220971" y="5446709"/>
            <a:ext cx="1446601" cy="144660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5" id="5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2.5</a:t>
              </a:r>
            </a:p>
          </p:txBody>
        </p:sp>
      </p:grpSp>
      <p:sp>
        <p:nvSpPr>
          <p:cNvPr name="TextBox 56" id="56"/>
          <p:cNvSpPr txBox="true"/>
          <p:nvPr/>
        </p:nvSpPr>
        <p:spPr>
          <a:xfrm rot="0">
            <a:off x="8375903" y="6302643"/>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sp>
        <p:nvSpPr>
          <p:cNvPr name="Freeform 57" id="57"/>
          <p:cNvSpPr/>
          <p:nvPr/>
        </p:nvSpPr>
        <p:spPr>
          <a:xfrm flipH="false" flipV="false" rot="0">
            <a:off x="8628268" y="5952524"/>
            <a:ext cx="250399" cy="369593"/>
          </a:xfrm>
          <a:custGeom>
            <a:avLst/>
            <a:gdLst/>
            <a:ahLst/>
            <a:cxnLst/>
            <a:rect r="r" b="b" t="t" l="l"/>
            <a:pathLst>
              <a:path h="369593" w="250399">
                <a:moveTo>
                  <a:pt x="0" y="0"/>
                </a:moveTo>
                <a:lnTo>
                  <a:pt x="250400" y="0"/>
                </a:lnTo>
                <a:lnTo>
                  <a:pt x="250400"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66750">
            <a:off x="-11405229" y="-2626522"/>
            <a:ext cx="18546456" cy="7092819"/>
          </a:xfrm>
          <a:custGeom>
            <a:avLst/>
            <a:gdLst/>
            <a:ahLst/>
            <a:cxnLst/>
            <a:rect r="r" b="b" t="t" l="l"/>
            <a:pathLst>
              <a:path h="7092819" w="18546456">
                <a:moveTo>
                  <a:pt x="0" y="7092819"/>
                </a:moveTo>
                <a:lnTo>
                  <a:pt x="18546457" y="7092819"/>
                </a:lnTo>
                <a:lnTo>
                  <a:pt x="18546457" y="0"/>
                </a:lnTo>
                <a:lnTo>
                  <a:pt x="0" y="0"/>
                </a:lnTo>
                <a:lnTo>
                  <a:pt x="0" y="7092819"/>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TextBox 3" id="3"/>
          <p:cNvSpPr txBox="true"/>
          <p:nvPr/>
        </p:nvSpPr>
        <p:spPr>
          <a:xfrm rot="0">
            <a:off x="7770848" y="1837581"/>
            <a:ext cx="9740267" cy="105410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At SITS, w</a:t>
            </a:r>
            <a:r>
              <a:rPr lang="en-US" sz="2000">
                <a:solidFill>
                  <a:srgbClr val="000000"/>
                </a:solidFill>
                <a:latin typeface="Open Sauce"/>
                <a:ea typeface="Open Sauce"/>
                <a:cs typeface="Open Sauce"/>
                <a:sym typeface="Open Sauce"/>
              </a:rPr>
              <a:t>e believe in transparent pricing that scales with your business needs. Our pricing is designed to deliver immediate ROI while providing the flexibility to grow with your supply chain operations.</a:t>
            </a:r>
          </a:p>
        </p:txBody>
      </p:sp>
      <p:sp>
        <p:nvSpPr>
          <p:cNvPr name="Freeform 4" id="4"/>
          <p:cNvSpPr/>
          <p:nvPr/>
        </p:nvSpPr>
        <p:spPr>
          <a:xfrm flipH="false" flipV="false" rot="866750">
            <a:off x="-12329424" y="5254825"/>
            <a:ext cx="18546456" cy="7092819"/>
          </a:xfrm>
          <a:custGeom>
            <a:avLst/>
            <a:gdLst/>
            <a:ahLst/>
            <a:cxnLst/>
            <a:rect r="r" b="b" t="t" l="l"/>
            <a:pathLst>
              <a:path h="7092819" w="18546456">
                <a:moveTo>
                  <a:pt x="0" y="0"/>
                </a:moveTo>
                <a:lnTo>
                  <a:pt x="18546457" y="0"/>
                </a:lnTo>
                <a:lnTo>
                  <a:pt x="18546457" y="7092820"/>
                </a:lnTo>
                <a:lnTo>
                  <a:pt x="0" y="7092820"/>
                </a:lnTo>
                <a:lnTo>
                  <a:pt x="0" y="0"/>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5" id="5"/>
          <p:cNvSpPr/>
          <p:nvPr/>
        </p:nvSpPr>
        <p:spPr>
          <a:xfrm flipH="false" flipV="false" rot="0">
            <a:off x="-527622" y="388449"/>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6" id="6"/>
          <p:cNvGrpSpPr/>
          <p:nvPr/>
        </p:nvGrpSpPr>
        <p:grpSpPr>
          <a:xfrm rot="0">
            <a:off x="386107" y="1056606"/>
            <a:ext cx="4983406" cy="5216787"/>
            <a:chOff x="0" y="0"/>
            <a:chExt cx="6644542" cy="6955716"/>
          </a:xfrm>
        </p:grpSpPr>
        <p:pic>
          <p:nvPicPr>
            <p:cNvPr name="Picture 7" id="7"/>
            <p:cNvPicPr>
              <a:picLocks noChangeAspect="true"/>
            </p:cNvPicPr>
            <p:nvPr/>
          </p:nvPicPr>
          <p:blipFill>
            <a:blip r:embed="rId5"/>
            <a:srcRect l="18128" t="0" r="18128" b="0"/>
            <a:stretch>
              <a:fillRect/>
            </a:stretch>
          </p:blipFill>
          <p:spPr>
            <a:xfrm flipH="false" flipV="false">
              <a:off x="0" y="0"/>
              <a:ext cx="6644542" cy="6955716"/>
            </a:xfrm>
            <a:prstGeom prst="rect">
              <a:avLst/>
            </a:prstGeom>
          </p:spPr>
        </p:pic>
      </p:grpSp>
      <p:sp>
        <p:nvSpPr>
          <p:cNvPr name="Freeform 8" id="8"/>
          <p:cNvSpPr/>
          <p:nvPr/>
        </p:nvSpPr>
        <p:spPr>
          <a:xfrm flipH="false" flipV="false" rot="0">
            <a:off x="243903" y="4306065"/>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9" id="9"/>
          <p:cNvGrpSpPr/>
          <p:nvPr/>
        </p:nvGrpSpPr>
        <p:grpSpPr>
          <a:xfrm rot="0">
            <a:off x="1243357" y="4774922"/>
            <a:ext cx="4983406" cy="5216787"/>
            <a:chOff x="0" y="0"/>
            <a:chExt cx="6644542" cy="6955716"/>
          </a:xfrm>
        </p:grpSpPr>
        <p:pic>
          <p:nvPicPr>
            <p:cNvPr name="Picture 10" id="10"/>
            <p:cNvPicPr>
              <a:picLocks noChangeAspect="true"/>
            </p:cNvPicPr>
            <p:nvPr/>
          </p:nvPicPr>
          <p:blipFill>
            <a:blip r:embed="rId6"/>
            <a:srcRect l="18128" t="0" r="18128" b="0"/>
            <a:stretch>
              <a:fillRect/>
            </a:stretch>
          </p:blipFill>
          <p:spPr>
            <a:xfrm flipH="false" flipV="false">
              <a:off x="0" y="0"/>
              <a:ext cx="6644542" cy="6955716"/>
            </a:xfrm>
            <a:prstGeom prst="rect">
              <a:avLst/>
            </a:prstGeom>
          </p:spPr>
        </p:pic>
      </p:grpSp>
      <p:sp>
        <p:nvSpPr>
          <p:cNvPr name="Freeform 11" id="11"/>
          <p:cNvSpPr/>
          <p:nvPr/>
        </p:nvSpPr>
        <p:spPr>
          <a:xfrm flipH="false" flipV="false" rot="0">
            <a:off x="9452930" y="919888"/>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628126" y="9229725"/>
            <a:ext cx="9935687" cy="321221"/>
            <a:chOff x="0" y="0"/>
            <a:chExt cx="13247583" cy="428294"/>
          </a:xfrm>
        </p:grpSpPr>
        <p:sp>
          <p:nvSpPr>
            <p:cNvPr name="Freeform 13" id="13"/>
            <p:cNvSpPr/>
            <p:nvPr/>
          </p:nvSpPr>
          <p:spPr>
            <a:xfrm flipH="false" flipV="false" rot="0">
              <a:off x="0" y="0"/>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4" id="14"/>
            <p:cNvSpPr/>
            <p:nvPr/>
          </p:nvSpPr>
          <p:spPr>
            <a:xfrm flipH="false" flipV="false" rot="0">
              <a:off x="4720734"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5" id="15"/>
            <p:cNvSpPr/>
            <p:nvPr/>
          </p:nvSpPr>
          <p:spPr>
            <a:xfrm flipH="false" flipV="false" rot="0">
              <a:off x="9483020"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grpSp>
      <p:sp>
        <p:nvSpPr>
          <p:cNvPr name="TextBox 16" id="16"/>
          <p:cNvSpPr txBox="true"/>
          <p:nvPr/>
        </p:nvSpPr>
        <p:spPr>
          <a:xfrm rot="0">
            <a:off x="10444787" y="1008981"/>
            <a:ext cx="6976545" cy="794722"/>
          </a:xfrm>
          <a:prstGeom prst="rect">
            <a:avLst/>
          </a:prstGeom>
        </p:spPr>
        <p:txBody>
          <a:bodyPr anchor="t" rtlCol="false" tIns="0" lIns="0" bIns="0" rIns="0">
            <a:spAutoFit/>
          </a:bodyPr>
          <a:lstStyle/>
          <a:p>
            <a:pPr algn="r">
              <a:lnSpc>
                <a:spcPts val="6400"/>
              </a:lnSpc>
            </a:pPr>
            <a:r>
              <a:rPr lang="en-US" b="true" sz="4923">
                <a:solidFill>
                  <a:srgbClr val="0F5995"/>
                </a:solidFill>
                <a:latin typeface="Open Sauce Bold"/>
                <a:ea typeface="Open Sauce Bold"/>
                <a:cs typeface="Open Sauce Bold"/>
                <a:sym typeface="Open Sauce Bold"/>
              </a:rPr>
              <a:t>PRICING MODAL TWO</a:t>
            </a:r>
          </a:p>
        </p:txBody>
      </p:sp>
      <p:sp>
        <p:nvSpPr>
          <p:cNvPr name="TextBox 17" id="17"/>
          <p:cNvSpPr txBox="true"/>
          <p:nvPr/>
        </p:nvSpPr>
        <p:spPr>
          <a:xfrm rot="0">
            <a:off x="8421304" y="9604359"/>
            <a:ext cx="8177881" cy="34925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If more than 500 containers contact sales team for more details</a:t>
            </a:r>
          </a:p>
        </p:txBody>
      </p:sp>
      <p:grpSp>
        <p:nvGrpSpPr>
          <p:cNvPr name="Group 18" id="18"/>
          <p:cNvGrpSpPr/>
          <p:nvPr/>
        </p:nvGrpSpPr>
        <p:grpSpPr>
          <a:xfrm rot="0">
            <a:off x="10943809" y="3774686"/>
            <a:ext cx="3032587" cy="5474089"/>
            <a:chOff x="0" y="0"/>
            <a:chExt cx="923406" cy="1666830"/>
          </a:xfrm>
        </p:grpSpPr>
        <p:sp>
          <p:nvSpPr>
            <p:cNvPr name="Freeform 19" id="19"/>
            <p:cNvSpPr/>
            <p:nvPr/>
          </p:nvSpPr>
          <p:spPr>
            <a:xfrm flipH="false" flipV="false" rot="0">
              <a:off x="0" y="0"/>
              <a:ext cx="923406" cy="1666830"/>
            </a:xfrm>
            <a:custGeom>
              <a:avLst/>
              <a:gdLst/>
              <a:ahLst/>
              <a:cxnLst/>
              <a:rect r="r" b="b" t="t" l="l"/>
              <a:pathLst>
                <a:path h="1666830" w="923406">
                  <a:moveTo>
                    <a:pt x="181257" y="0"/>
                  </a:moveTo>
                  <a:lnTo>
                    <a:pt x="742149" y="0"/>
                  </a:lnTo>
                  <a:cubicBezTo>
                    <a:pt x="842255" y="0"/>
                    <a:pt x="923406" y="81151"/>
                    <a:pt x="923406" y="181257"/>
                  </a:cubicBezTo>
                  <a:lnTo>
                    <a:pt x="923406" y="1485573"/>
                  </a:lnTo>
                  <a:cubicBezTo>
                    <a:pt x="923406" y="1585679"/>
                    <a:pt x="842255" y="1666830"/>
                    <a:pt x="742149" y="1666830"/>
                  </a:cubicBezTo>
                  <a:lnTo>
                    <a:pt x="181257" y="1666830"/>
                  </a:lnTo>
                  <a:cubicBezTo>
                    <a:pt x="81151" y="1666830"/>
                    <a:pt x="0" y="1585679"/>
                    <a:pt x="0" y="1485573"/>
                  </a:cubicBezTo>
                  <a:lnTo>
                    <a:pt x="0" y="181257"/>
                  </a:lnTo>
                  <a:cubicBezTo>
                    <a:pt x="0" y="81151"/>
                    <a:pt x="81151" y="0"/>
                    <a:pt x="181257" y="0"/>
                  </a:cubicBezTo>
                  <a:close/>
                </a:path>
              </a:pathLst>
            </a:custGeom>
            <a:solidFill>
              <a:srgbClr val="0C3571"/>
            </a:solidFill>
          </p:spPr>
        </p:sp>
        <p:sp>
          <p:nvSpPr>
            <p:cNvPr name="TextBox 20" id="20"/>
            <p:cNvSpPr txBox="true"/>
            <p:nvPr/>
          </p:nvSpPr>
          <p:spPr>
            <a:xfrm>
              <a:off x="0" y="-38100"/>
              <a:ext cx="923406" cy="1704930"/>
            </a:xfrm>
            <a:prstGeom prst="rect">
              <a:avLst/>
            </a:prstGeom>
          </p:spPr>
          <p:txBody>
            <a:bodyPr anchor="ctr" rtlCol="false" tIns="53059" lIns="53059" bIns="53059" rIns="53059"/>
            <a:lstStyle/>
            <a:p>
              <a:pPr algn="ctr">
                <a:lnSpc>
                  <a:spcPts val="2660"/>
                </a:lnSpc>
              </a:pPr>
            </a:p>
          </p:txBody>
        </p:sp>
      </p:grpSp>
      <p:grpSp>
        <p:nvGrpSpPr>
          <p:cNvPr name="Group 21" id="21"/>
          <p:cNvGrpSpPr/>
          <p:nvPr/>
        </p:nvGrpSpPr>
        <p:grpSpPr>
          <a:xfrm rot="0">
            <a:off x="11384939" y="3034556"/>
            <a:ext cx="2055853" cy="1027926"/>
            <a:chOff x="0" y="0"/>
            <a:chExt cx="812800" cy="406400"/>
          </a:xfrm>
        </p:grpSpPr>
        <p:sp>
          <p:nvSpPr>
            <p:cNvPr name="Freeform 22" id="2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3" id="23"/>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Standard</a:t>
              </a:r>
            </a:p>
          </p:txBody>
        </p:sp>
      </p:grpSp>
      <p:grpSp>
        <p:nvGrpSpPr>
          <p:cNvPr name="Group 24" id="24"/>
          <p:cNvGrpSpPr/>
          <p:nvPr/>
        </p:nvGrpSpPr>
        <p:grpSpPr>
          <a:xfrm rot="0">
            <a:off x="14499514" y="3774686"/>
            <a:ext cx="3068222" cy="5474089"/>
            <a:chOff x="0" y="0"/>
            <a:chExt cx="934257" cy="1666830"/>
          </a:xfrm>
        </p:grpSpPr>
        <p:sp>
          <p:nvSpPr>
            <p:cNvPr name="Freeform 25" id="25"/>
            <p:cNvSpPr/>
            <p:nvPr/>
          </p:nvSpPr>
          <p:spPr>
            <a:xfrm flipH="false" flipV="false" rot="0">
              <a:off x="0" y="0"/>
              <a:ext cx="934257" cy="1666830"/>
            </a:xfrm>
            <a:custGeom>
              <a:avLst/>
              <a:gdLst/>
              <a:ahLst/>
              <a:cxnLst/>
              <a:rect r="r" b="b" t="t" l="l"/>
              <a:pathLst>
                <a:path h="1666830" w="934257">
                  <a:moveTo>
                    <a:pt x="179151" y="0"/>
                  </a:moveTo>
                  <a:lnTo>
                    <a:pt x="755105" y="0"/>
                  </a:lnTo>
                  <a:cubicBezTo>
                    <a:pt x="802619" y="0"/>
                    <a:pt x="848187" y="18875"/>
                    <a:pt x="881785" y="52472"/>
                  </a:cubicBezTo>
                  <a:cubicBezTo>
                    <a:pt x="915382" y="86070"/>
                    <a:pt x="934257" y="131637"/>
                    <a:pt x="934257" y="179151"/>
                  </a:cubicBezTo>
                  <a:lnTo>
                    <a:pt x="934257" y="1487678"/>
                  </a:lnTo>
                  <a:cubicBezTo>
                    <a:pt x="934257" y="1586621"/>
                    <a:pt x="854048" y="1666830"/>
                    <a:pt x="755105" y="1666830"/>
                  </a:cubicBezTo>
                  <a:lnTo>
                    <a:pt x="179151" y="1666830"/>
                  </a:lnTo>
                  <a:cubicBezTo>
                    <a:pt x="131637" y="1666830"/>
                    <a:pt x="86070" y="1647955"/>
                    <a:pt x="52472" y="1614358"/>
                  </a:cubicBezTo>
                  <a:cubicBezTo>
                    <a:pt x="18875" y="1580760"/>
                    <a:pt x="0" y="1535192"/>
                    <a:pt x="0" y="1487678"/>
                  </a:cubicBezTo>
                  <a:lnTo>
                    <a:pt x="0" y="179151"/>
                  </a:lnTo>
                  <a:cubicBezTo>
                    <a:pt x="0" y="80209"/>
                    <a:pt x="80209" y="0"/>
                    <a:pt x="179151" y="0"/>
                  </a:cubicBezTo>
                  <a:close/>
                </a:path>
              </a:pathLst>
            </a:custGeom>
            <a:solidFill>
              <a:srgbClr val="0C3571"/>
            </a:solidFill>
          </p:spPr>
        </p:sp>
        <p:sp>
          <p:nvSpPr>
            <p:cNvPr name="TextBox 26" id="26"/>
            <p:cNvSpPr txBox="true"/>
            <p:nvPr/>
          </p:nvSpPr>
          <p:spPr>
            <a:xfrm>
              <a:off x="0" y="-38100"/>
              <a:ext cx="934257" cy="1704930"/>
            </a:xfrm>
            <a:prstGeom prst="rect">
              <a:avLst/>
            </a:prstGeom>
          </p:spPr>
          <p:txBody>
            <a:bodyPr anchor="ctr" rtlCol="false" tIns="53059" lIns="53059" bIns="53059" rIns="53059"/>
            <a:lstStyle/>
            <a:p>
              <a:pPr algn="ctr">
                <a:lnSpc>
                  <a:spcPts val="2660"/>
                </a:lnSpc>
              </a:pPr>
            </a:p>
          </p:txBody>
        </p:sp>
      </p:grpSp>
      <p:grpSp>
        <p:nvGrpSpPr>
          <p:cNvPr name="Group 27" id="27"/>
          <p:cNvGrpSpPr/>
          <p:nvPr/>
        </p:nvGrpSpPr>
        <p:grpSpPr>
          <a:xfrm rot="0">
            <a:off x="15015224" y="3034556"/>
            <a:ext cx="2055853" cy="1027926"/>
            <a:chOff x="0" y="0"/>
            <a:chExt cx="812800" cy="406400"/>
          </a:xfrm>
        </p:grpSpPr>
        <p:sp>
          <p:nvSpPr>
            <p:cNvPr name="Freeform 28" id="2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9" id="29"/>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Pro</a:t>
              </a:r>
            </a:p>
          </p:txBody>
        </p:sp>
      </p:grpSp>
      <p:grpSp>
        <p:nvGrpSpPr>
          <p:cNvPr name="Group 30" id="30"/>
          <p:cNvGrpSpPr/>
          <p:nvPr/>
        </p:nvGrpSpPr>
        <p:grpSpPr>
          <a:xfrm rot="0">
            <a:off x="7464638" y="3716447"/>
            <a:ext cx="3068222" cy="5541853"/>
            <a:chOff x="0" y="0"/>
            <a:chExt cx="934257" cy="1687464"/>
          </a:xfrm>
        </p:grpSpPr>
        <p:sp>
          <p:nvSpPr>
            <p:cNvPr name="Freeform 31" id="31"/>
            <p:cNvSpPr/>
            <p:nvPr/>
          </p:nvSpPr>
          <p:spPr>
            <a:xfrm flipH="false" flipV="false" rot="0">
              <a:off x="0" y="0"/>
              <a:ext cx="934257" cy="1687464"/>
            </a:xfrm>
            <a:custGeom>
              <a:avLst/>
              <a:gdLst/>
              <a:ahLst/>
              <a:cxnLst/>
              <a:rect r="r" b="b" t="t" l="l"/>
              <a:pathLst>
                <a:path h="1687464" w="934257">
                  <a:moveTo>
                    <a:pt x="179151" y="0"/>
                  </a:moveTo>
                  <a:lnTo>
                    <a:pt x="755105" y="0"/>
                  </a:lnTo>
                  <a:cubicBezTo>
                    <a:pt x="802619" y="0"/>
                    <a:pt x="848187" y="18875"/>
                    <a:pt x="881785" y="52472"/>
                  </a:cubicBezTo>
                  <a:cubicBezTo>
                    <a:pt x="915382" y="86070"/>
                    <a:pt x="934257" y="131637"/>
                    <a:pt x="934257" y="179151"/>
                  </a:cubicBezTo>
                  <a:lnTo>
                    <a:pt x="934257" y="1508312"/>
                  </a:lnTo>
                  <a:cubicBezTo>
                    <a:pt x="934257" y="1555826"/>
                    <a:pt x="915382" y="1601394"/>
                    <a:pt x="881785" y="1634991"/>
                  </a:cubicBezTo>
                  <a:cubicBezTo>
                    <a:pt x="848187" y="1668589"/>
                    <a:pt x="802619" y="1687464"/>
                    <a:pt x="755105" y="1687464"/>
                  </a:cubicBezTo>
                  <a:lnTo>
                    <a:pt x="179151" y="1687464"/>
                  </a:lnTo>
                  <a:cubicBezTo>
                    <a:pt x="80209" y="1687464"/>
                    <a:pt x="0" y="1607255"/>
                    <a:pt x="0" y="1508312"/>
                  </a:cubicBezTo>
                  <a:lnTo>
                    <a:pt x="0" y="179151"/>
                  </a:lnTo>
                  <a:cubicBezTo>
                    <a:pt x="0" y="80209"/>
                    <a:pt x="80209" y="0"/>
                    <a:pt x="179151" y="0"/>
                  </a:cubicBezTo>
                  <a:close/>
                </a:path>
              </a:pathLst>
            </a:custGeom>
            <a:solidFill>
              <a:srgbClr val="0C3571"/>
            </a:solidFill>
          </p:spPr>
        </p:sp>
        <p:sp>
          <p:nvSpPr>
            <p:cNvPr name="TextBox 32" id="32"/>
            <p:cNvSpPr txBox="true"/>
            <p:nvPr/>
          </p:nvSpPr>
          <p:spPr>
            <a:xfrm>
              <a:off x="0" y="-28575"/>
              <a:ext cx="934257" cy="1716039"/>
            </a:xfrm>
            <a:prstGeom prst="rect">
              <a:avLst/>
            </a:prstGeom>
          </p:spPr>
          <p:txBody>
            <a:bodyPr anchor="ctr" rtlCol="false" tIns="53059" lIns="53059" bIns="53059" rIns="53059"/>
            <a:lstStyle/>
            <a:p>
              <a:pPr algn="ctr">
                <a:lnSpc>
                  <a:spcPts val="2520"/>
                </a:lnSpc>
              </a:pPr>
            </a:p>
          </p:txBody>
        </p:sp>
      </p:grpSp>
      <p:grpSp>
        <p:nvGrpSpPr>
          <p:cNvPr name="Group 33" id="33"/>
          <p:cNvGrpSpPr/>
          <p:nvPr/>
        </p:nvGrpSpPr>
        <p:grpSpPr>
          <a:xfrm rot="0">
            <a:off x="7913765" y="3034556"/>
            <a:ext cx="2055853" cy="1027926"/>
            <a:chOff x="0" y="0"/>
            <a:chExt cx="812800" cy="406400"/>
          </a:xfrm>
        </p:grpSpPr>
        <p:sp>
          <p:nvSpPr>
            <p:cNvPr name="Freeform 34" id="34"/>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35" id="35"/>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sz="2095" b="true">
                  <a:solidFill>
                    <a:srgbClr val="FFFFFF"/>
                  </a:solidFill>
                  <a:latin typeface="Now Bold"/>
                  <a:ea typeface="Now Bold"/>
                  <a:cs typeface="Now Bold"/>
                  <a:sym typeface="Now Bold"/>
                </a:rPr>
                <a:t>Gold</a:t>
              </a:r>
            </a:p>
            <a:p>
              <a:pPr algn="ctr">
                <a:lnSpc>
                  <a:spcPts val="2556"/>
                </a:lnSpc>
              </a:pPr>
              <a:r>
                <a:rPr lang="en-US" b="true" sz="2095">
                  <a:solidFill>
                    <a:srgbClr val="FFFFFF"/>
                  </a:solidFill>
                  <a:latin typeface="Now Bold"/>
                  <a:ea typeface="Now Bold"/>
                  <a:cs typeface="Now Bold"/>
                  <a:sym typeface="Now Bold"/>
                </a:rPr>
                <a:t>Basic</a:t>
              </a:r>
            </a:p>
          </p:txBody>
        </p:sp>
      </p:grpSp>
      <p:sp>
        <p:nvSpPr>
          <p:cNvPr name="TextBox 36" id="36"/>
          <p:cNvSpPr txBox="true"/>
          <p:nvPr/>
        </p:nvSpPr>
        <p:spPr>
          <a:xfrm rot="0">
            <a:off x="7452754" y="4233932"/>
            <a:ext cx="3001030"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100 Containers/Per Month</a:t>
            </a:r>
          </a:p>
        </p:txBody>
      </p:sp>
      <p:sp>
        <p:nvSpPr>
          <p:cNvPr name="TextBox 37" id="37"/>
          <p:cNvSpPr txBox="true"/>
          <p:nvPr/>
        </p:nvSpPr>
        <p:spPr>
          <a:xfrm rot="0">
            <a:off x="10971995" y="4233932"/>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300 Containers/Per Month</a:t>
            </a:r>
          </a:p>
        </p:txBody>
      </p:sp>
      <p:sp>
        <p:nvSpPr>
          <p:cNvPr name="TextBox 38" id="38"/>
          <p:cNvSpPr txBox="true"/>
          <p:nvPr/>
        </p:nvSpPr>
        <p:spPr>
          <a:xfrm rot="0">
            <a:off x="14564569" y="4233932"/>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500 Containers/Per Month</a:t>
            </a:r>
          </a:p>
        </p:txBody>
      </p:sp>
      <p:sp>
        <p:nvSpPr>
          <p:cNvPr name="TextBox 39" id="39"/>
          <p:cNvSpPr txBox="true"/>
          <p:nvPr/>
        </p:nvSpPr>
        <p:spPr>
          <a:xfrm rot="0">
            <a:off x="7606068" y="6516202"/>
            <a:ext cx="2773990" cy="2255776"/>
          </a:xfrm>
          <a:prstGeom prst="rect">
            <a:avLst/>
          </a:prstGeom>
        </p:spPr>
        <p:txBody>
          <a:bodyPr anchor="t" rtlCol="false" tIns="0" lIns="0" bIns="0" rIns="0">
            <a:spAutoFit/>
          </a:bodyPr>
          <a:lstStyle/>
          <a:p>
            <a:pPr algn="ctr">
              <a:lnSpc>
                <a:spcPts val="3051"/>
              </a:lnSpc>
            </a:pPr>
            <a:r>
              <a:rPr lang="en-US" b="true" sz="1907" spc="61">
                <a:solidFill>
                  <a:srgbClr val="FFFFFF"/>
                </a:solidFill>
                <a:latin typeface="Open Sauce Bold"/>
                <a:ea typeface="Open Sauce Bold"/>
                <a:cs typeface="Open Sauce Bold"/>
                <a:sym typeface="Open Sauce Bold"/>
              </a:rPr>
              <a:t>Application</a:t>
            </a:r>
          </a:p>
          <a:p>
            <a:pPr algn="ctr">
              <a:lnSpc>
                <a:spcPts val="3051"/>
              </a:lnSpc>
            </a:pPr>
            <a:r>
              <a:rPr lang="en-US" b="true" sz="1907" spc="61">
                <a:solidFill>
                  <a:srgbClr val="FFFFFF"/>
                </a:solidFill>
                <a:latin typeface="Open Sauce Bold"/>
                <a:ea typeface="Open Sauce Bold"/>
                <a:cs typeface="Open Sauce Bold"/>
                <a:sym typeface="Open Sauce Bold"/>
              </a:rPr>
              <a:t>Dashboard</a:t>
            </a:r>
          </a:p>
          <a:p>
            <a:pPr algn="ctr">
              <a:lnSpc>
                <a:spcPts val="3051"/>
              </a:lnSpc>
            </a:pPr>
            <a:r>
              <a:rPr lang="en-US" b="true" sz="1907" spc="61">
                <a:solidFill>
                  <a:srgbClr val="FFFFFF"/>
                </a:solidFill>
                <a:latin typeface="Open Sauce Bold"/>
                <a:ea typeface="Open Sauce Bold"/>
                <a:cs typeface="Open Sauce Bold"/>
                <a:sym typeface="Open Sauce Bold"/>
              </a:rPr>
              <a:t>Reports</a:t>
            </a:r>
          </a:p>
          <a:p>
            <a:pPr algn="ctr">
              <a:lnSpc>
                <a:spcPts val="3051"/>
              </a:lnSpc>
            </a:pPr>
            <a:r>
              <a:rPr lang="en-US" b="true" sz="1907" spc="61">
                <a:solidFill>
                  <a:srgbClr val="FFFFFF"/>
                </a:solidFill>
                <a:latin typeface="Open Sauce Bold"/>
                <a:ea typeface="Open Sauce Bold"/>
                <a:cs typeface="Open Sauce Bold"/>
                <a:sym typeface="Open Sauce Bold"/>
              </a:rPr>
              <a:t>Email Support</a:t>
            </a:r>
          </a:p>
          <a:p>
            <a:pPr algn="ctr">
              <a:lnSpc>
                <a:spcPts val="3051"/>
              </a:lnSpc>
            </a:pPr>
            <a:r>
              <a:rPr lang="en-US" b="true" sz="1907" spc="61">
                <a:solidFill>
                  <a:srgbClr val="FFFFFF"/>
                </a:solidFill>
                <a:latin typeface="Open Sauce Bold"/>
                <a:ea typeface="Open Sauce Bold"/>
                <a:cs typeface="Open Sauce Bold"/>
                <a:sym typeface="Open Sauce Bold"/>
              </a:rPr>
              <a:t>2 Client Logins</a:t>
            </a:r>
          </a:p>
          <a:p>
            <a:pPr algn="ctr">
              <a:lnSpc>
                <a:spcPts val="3051"/>
              </a:lnSpc>
            </a:pPr>
            <a:r>
              <a:rPr lang="en-US" b="true" sz="1907" spc="61">
                <a:solidFill>
                  <a:srgbClr val="FFFFFF"/>
                </a:solidFill>
                <a:latin typeface="Open Sauce Bold"/>
                <a:ea typeface="Open Sauce Bold"/>
                <a:cs typeface="Open Sauce Bold"/>
                <a:sym typeface="Open Sauce Bold"/>
              </a:rPr>
              <a:t>API Services</a:t>
            </a:r>
          </a:p>
        </p:txBody>
      </p:sp>
      <p:sp>
        <p:nvSpPr>
          <p:cNvPr name="TextBox 40" id="40"/>
          <p:cNvSpPr txBox="true"/>
          <p:nvPr/>
        </p:nvSpPr>
        <p:spPr>
          <a:xfrm rot="0">
            <a:off x="11074908" y="6559812"/>
            <a:ext cx="2732287" cy="2255647"/>
          </a:xfrm>
          <a:prstGeom prst="rect">
            <a:avLst/>
          </a:prstGeom>
        </p:spPr>
        <p:txBody>
          <a:bodyPr anchor="t" rtlCol="false" tIns="0" lIns="0" bIns="0" rIns="0">
            <a:spAutoFit/>
          </a:bodyPr>
          <a:lstStyle/>
          <a:p>
            <a:pPr algn="ctr">
              <a:lnSpc>
                <a:spcPts val="3056"/>
              </a:lnSpc>
            </a:pPr>
            <a:r>
              <a:rPr lang="en-US" sz="1910" b="true">
                <a:solidFill>
                  <a:srgbClr val="FFFFFF"/>
                </a:solidFill>
                <a:latin typeface="Open Sauce Bold"/>
                <a:ea typeface="Open Sauce Bold"/>
                <a:cs typeface="Open Sauce Bold"/>
                <a:sym typeface="Open Sauce Bold"/>
              </a:rPr>
              <a:t>Dashboard</a:t>
            </a:r>
          </a:p>
          <a:p>
            <a:pPr algn="ctr">
              <a:lnSpc>
                <a:spcPts val="3056"/>
              </a:lnSpc>
            </a:pPr>
            <a:r>
              <a:rPr lang="en-US" sz="1910" b="true">
                <a:solidFill>
                  <a:srgbClr val="FFFFFF"/>
                </a:solidFill>
                <a:latin typeface="Open Sauce Bold"/>
                <a:ea typeface="Open Sauce Bold"/>
                <a:cs typeface="Open Sauce Bold"/>
                <a:sym typeface="Open Sauce Bold"/>
              </a:rPr>
              <a:t>Reports</a:t>
            </a:r>
          </a:p>
          <a:p>
            <a:pPr algn="ctr">
              <a:lnSpc>
                <a:spcPts val="3056"/>
              </a:lnSpc>
            </a:pPr>
            <a:r>
              <a:rPr lang="en-US" sz="1910" b="true">
                <a:solidFill>
                  <a:srgbClr val="FFFFFF"/>
                </a:solidFill>
                <a:latin typeface="Open Sauce Bold"/>
                <a:ea typeface="Open Sauce Bold"/>
                <a:cs typeface="Open Sauce Bold"/>
                <a:sym typeface="Open Sauce Bold"/>
              </a:rPr>
              <a:t>Milestone Integration</a:t>
            </a:r>
          </a:p>
          <a:p>
            <a:pPr algn="ctr">
              <a:lnSpc>
                <a:spcPts val="3056"/>
              </a:lnSpc>
            </a:pPr>
            <a:r>
              <a:rPr lang="en-US" sz="1910" b="true">
                <a:solidFill>
                  <a:srgbClr val="FFFFFF"/>
                </a:solidFill>
                <a:latin typeface="Open Sauce Bold"/>
                <a:ea typeface="Open Sauce Bold"/>
                <a:cs typeface="Open Sauce Bold"/>
                <a:sym typeface="Open Sauce Bold"/>
              </a:rPr>
              <a:t>5 Client Logins</a:t>
            </a:r>
          </a:p>
          <a:p>
            <a:pPr algn="ctr">
              <a:lnSpc>
                <a:spcPts val="3056"/>
              </a:lnSpc>
            </a:pPr>
            <a:r>
              <a:rPr lang="en-US" sz="1910" b="true">
                <a:solidFill>
                  <a:srgbClr val="FFFFFF"/>
                </a:solidFill>
                <a:latin typeface="Open Sauce Bold"/>
                <a:ea typeface="Open Sauce Bold"/>
                <a:cs typeface="Open Sauce Bold"/>
                <a:sym typeface="Open Sauce Bold"/>
              </a:rPr>
              <a:t>Ticketing Priority</a:t>
            </a:r>
          </a:p>
          <a:p>
            <a:pPr algn="ctr">
              <a:lnSpc>
                <a:spcPts val="3056"/>
              </a:lnSpc>
            </a:pPr>
            <a:r>
              <a:rPr lang="en-US" b="true" sz="1910">
                <a:solidFill>
                  <a:srgbClr val="FFFFFF"/>
                </a:solidFill>
                <a:latin typeface="Open Sauce Bold"/>
                <a:ea typeface="Open Sauce Bold"/>
                <a:cs typeface="Open Sauce Bold"/>
                <a:sym typeface="Open Sauce Bold"/>
              </a:rPr>
              <a:t>API Services</a:t>
            </a:r>
          </a:p>
        </p:txBody>
      </p:sp>
      <p:sp>
        <p:nvSpPr>
          <p:cNvPr name="TextBox 41" id="41"/>
          <p:cNvSpPr txBox="true"/>
          <p:nvPr/>
        </p:nvSpPr>
        <p:spPr>
          <a:xfrm rot="0">
            <a:off x="14667287" y="6633045"/>
            <a:ext cx="2732677" cy="1874647"/>
          </a:xfrm>
          <a:prstGeom prst="rect">
            <a:avLst/>
          </a:prstGeom>
        </p:spPr>
        <p:txBody>
          <a:bodyPr anchor="t" rtlCol="false" tIns="0" lIns="0" bIns="0" rIns="0">
            <a:spAutoFit/>
          </a:bodyPr>
          <a:lstStyle/>
          <a:p>
            <a:pPr algn="ctr">
              <a:lnSpc>
                <a:spcPts val="3056"/>
              </a:lnSpc>
            </a:pPr>
            <a:r>
              <a:rPr lang="en-US" sz="1910" b="true">
                <a:solidFill>
                  <a:srgbClr val="FFFFFF"/>
                </a:solidFill>
                <a:latin typeface="Open Sauce Bold"/>
                <a:ea typeface="Open Sauce Bold"/>
                <a:cs typeface="Open Sauce Bold"/>
                <a:sym typeface="Open Sauce Bold"/>
              </a:rPr>
              <a:t>Access To All Features</a:t>
            </a:r>
          </a:p>
          <a:p>
            <a:pPr algn="ctr">
              <a:lnSpc>
                <a:spcPts val="3056"/>
              </a:lnSpc>
            </a:pPr>
            <a:r>
              <a:rPr lang="en-US" sz="1910" b="true">
                <a:solidFill>
                  <a:srgbClr val="FFFFFF"/>
                </a:solidFill>
                <a:latin typeface="Open Sauce Bold"/>
                <a:ea typeface="Open Sauce Bold"/>
                <a:cs typeface="Open Sauce Bold"/>
                <a:sym typeface="Open Sauce Bold"/>
              </a:rPr>
              <a:t>10 Client Logins</a:t>
            </a:r>
          </a:p>
          <a:p>
            <a:pPr algn="ctr">
              <a:lnSpc>
                <a:spcPts val="3056"/>
              </a:lnSpc>
            </a:pPr>
            <a:r>
              <a:rPr lang="en-US" sz="1910" b="true">
                <a:solidFill>
                  <a:srgbClr val="FFFFFF"/>
                </a:solidFill>
                <a:latin typeface="Open Sauce Bold"/>
                <a:ea typeface="Open Sauce Bold"/>
                <a:cs typeface="Open Sauce Bold"/>
                <a:sym typeface="Open Sauce Bold"/>
              </a:rPr>
              <a:t>Priority Support</a:t>
            </a:r>
          </a:p>
          <a:p>
            <a:pPr algn="ctr">
              <a:lnSpc>
                <a:spcPts val="3056"/>
              </a:lnSpc>
            </a:pPr>
            <a:r>
              <a:rPr lang="en-US" b="true" sz="1910">
                <a:solidFill>
                  <a:srgbClr val="FFFFFF"/>
                </a:solidFill>
                <a:latin typeface="Open Sauce Bold"/>
                <a:ea typeface="Open Sauce Bold"/>
                <a:cs typeface="Open Sauce Bold"/>
                <a:sym typeface="Open Sauce Bold"/>
              </a:rPr>
              <a:t>API Services</a:t>
            </a:r>
          </a:p>
        </p:txBody>
      </p:sp>
      <p:sp>
        <p:nvSpPr>
          <p:cNvPr name="Freeform 42" id="42"/>
          <p:cNvSpPr/>
          <p:nvPr/>
        </p:nvSpPr>
        <p:spPr>
          <a:xfrm flipH="false" flipV="false" rot="0">
            <a:off x="8525330" y="5494777"/>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3" id="43"/>
          <p:cNvGrpSpPr/>
          <p:nvPr/>
        </p:nvGrpSpPr>
        <p:grpSpPr>
          <a:xfrm rot="0">
            <a:off x="11707819" y="4979861"/>
            <a:ext cx="1446601" cy="144660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45" id="4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3.5</a:t>
              </a:r>
            </a:p>
          </p:txBody>
        </p:sp>
      </p:grpSp>
      <p:sp>
        <p:nvSpPr>
          <p:cNvPr name="Freeform 46" id="46"/>
          <p:cNvSpPr/>
          <p:nvPr/>
        </p:nvSpPr>
        <p:spPr>
          <a:xfrm flipH="false" flipV="false" rot="0">
            <a:off x="12080569" y="5494777"/>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7" id="47"/>
          <p:cNvSpPr txBox="true"/>
          <p:nvPr/>
        </p:nvSpPr>
        <p:spPr>
          <a:xfrm rot="0">
            <a:off x="11862751" y="5835795"/>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48" id="48"/>
          <p:cNvGrpSpPr/>
          <p:nvPr/>
        </p:nvGrpSpPr>
        <p:grpSpPr>
          <a:xfrm rot="0">
            <a:off x="15243635" y="4979861"/>
            <a:ext cx="1446601" cy="144660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0" id="50"/>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3</a:t>
              </a:r>
            </a:p>
          </p:txBody>
        </p:sp>
      </p:grpSp>
      <p:sp>
        <p:nvSpPr>
          <p:cNvPr name="Freeform 51" id="51"/>
          <p:cNvSpPr/>
          <p:nvPr/>
        </p:nvSpPr>
        <p:spPr>
          <a:xfrm flipH="false" flipV="false" rot="0">
            <a:off x="15616385" y="5494777"/>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2" id="52"/>
          <p:cNvSpPr txBox="true"/>
          <p:nvPr/>
        </p:nvSpPr>
        <p:spPr>
          <a:xfrm rot="0">
            <a:off x="15398567" y="5835795"/>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53" id="53"/>
          <p:cNvGrpSpPr/>
          <p:nvPr/>
        </p:nvGrpSpPr>
        <p:grpSpPr>
          <a:xfrm rot="0">
            <a:off x="8229968" y="4988962"/>
            <a:ext cx="1446601" cy="144660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5" id="5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4</a:t>
              </a:r>
            </a:p>
          </p:txBody>
        </p:sp>
      </p:grpSp>
      <p:sp>
        <p:nvSpPr>
          <p:cNvPr name="TextBox 56" id="56"/>
          <p:cNvSpPr txBox="true"/>
          <p:nvPr/>
        </p:nvSpPr>
        <p:spPr>
          <a:xfrm rot="0">
            <a:off x="8384900" y="5844897"/>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sp>
        <p:nvSpPr>
          <p:cNvPr name="Freeform 57" id="57"/>
          <p:cNvSpPr/>
          <p:nvPr/>
        </p:nvSpPr>
        <p:spPr>
          <a:xfrm flipH="false" flipV="false" rot="0">
            <a:off x="8637265" y="5494777"/>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866750">
            <a:off x="-11347509" y="-2626522"/>
            <a:ext cx="18546456" cy="7092819"/>
          </a:xfrm>
          <a:custGeom>
            <a:avLst/>
            <a:gdLst/>
            <a:ahLst/>
            <a:cxnLst/>
            <a:rect r="r" b="b" t="t" l="l"/>
            <a:pathLst>
              <a:path h="7092819" w="18546456">
                <a:moveTo>
                  <a:pt x="0" y="7092819"/>
                </a:moveTo>
                <a:lnTo>
                  <a:pt x="18546457" y="7092819"/>
                </a:lnTo>
                <a:lnTo>
                  <a:pt x="18546457" y="0"/>
                </a:lnTo>
                <a:lnTo>
                  <a:pt x="0" y="0"/>
                </a:lnTo>
                <a:lnTo>
                  <a:pt x="0" y="7092819"/>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TextBox 3" id="3"/>
          <p:cNvSpPr txBox="true"/>
          <p:nvPr/>
        </p:nvSpPr>
        <p:spPr>
          <a:xfrm rot="0">
            <a:off x="7770848" y="1603543"/>
            <a:ext cx="9740267" cy="105410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At SITS, w</a:t>
            </a:r>
            <a:r>
              <a:rPr lang="en-US" sz="2000">
                <a:solidFill>
                  <a:srgbClr val="000000"/>
                </a:solidFill>
                <a:latin typeface="Open Sauce"/>
                <a:ea typeface="Open Sauce"/>
                <a:cs typeface="Open Sauce"/>
                <a:sym typeface="Open Sauce"/>
              </a:rPr>
              <a:t>e believe in transparent pricing that scales with your business needs. Our pricing is designed to deliver immediate ROI while providing the flexibility to grow with your supply chain operations.</a:t>
            </a:r>
          </a:p>
        </p:txBody>
      </p:sp>
      <p:sp>
        <p:nvSpPr>
          <p:cNvPr name="Freeform 4" id="4"/>
          <p:cNvSpPr/>
          <p:nvPr/>
        </p:nvSpPr>
        <p:spPr>
          <a:xfrm flipH="false" flipV="false" rot="866750">
            <a:off x="-12329424" y="5254825"/>
            <a:ext cx="18546456" cy="7092819"/>
          </a:xfrm>
          <a:custGeom>
            <a:avLst/>
            <a:gdLst/>
            <a:ahLst/>
            <a:cxnLst/>
            <a:rect r="r" b="b" t="t" l="l"/>
            <a:pathLst>
              <a:path h="7092819" w="18546456">
                <a:moveTo>
                  <a:pt x="0" y="0"/>
                </a:moveTo>
                <a:lnTo>
                  <a:pt x="18546457" y="0"/>
                </a:lnTo>
                <a:lnTo>
                  <a:pt x="18546457" y="7092820"/>
                </a:lnTo>
                <a:lnTo>
                  <a:pt x="0" y="7092820"/>
                </a:lnTo>
                <a:lnTo>
                  <a:pt x="0" y="0"/>
                </a:lnTo>
                <a:close/>
              </a:path>
            </a:pathLst>
          </a:custGeom>
          <a:blipFill>
            <a:blip r:embed="rId2">
              <a:extLst>
                <a:ext uri="{96DAC541-7B7A-43D3-8B79-37D633B846F1}">
                  <asvg:svgBlip xmlns:asvg="http://schemas.microsoft.com/office/drawing/2016/SVG/main" r:embed="rId3"/>
                </a:ext>
              </a:extLst>
            </a:blip>
            <a:stretch>
              <a:fillRect l="0" t="-79322" r="0" b="-82160"/>
            </a:stretch>
          </a:blipFill>
        </p:spPr>
      </p:sp>
      <p:sp>
        <p:nvSpPr>
          <p:cNvPr name="Freeform 5" id="5"/>
          <p:cNvSpPr/>
          <p:nvPr/>
        </p:nvSpPr>
        <p:spPr>
          <a:xfrm flipH="false" flipV="false" rot="0">
            <a:off x="-527622" y="388449"/>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6" id="6"/>
          <p:cNvGrpSpPr/>
          <p:nvPr/>
        </p:nvGrpSpPr>
        <p:grpSpPr>
          <a:xfrm rot="0">
            <a:off x="386107" y="1056606"/>
            <a:ext cx="4983406" cy="5216787"/>
            <a:chOff x="0" y="0"/>
            <a:chExt cx="6644542" cy="6955716"/>
          </a:xfrm>
        </p:grpSpPr>
        <p:pic>
          <p:nvPicPr>
            <p:cNvPr name="Picture 7" id="7"/>
            <p:cNvPicPr>
              <a:picLocks noChangeAspect="true"/>
            </p:cNvPicPr>
            <p:nvPr/>
          </p:nvPicPr>
          <p:blipFill>
            <a:blip r:embed="rId5"/>
            <a:srcRect l="18128" t="0" r="18128" b="0"/>
            <a:stretch>
              <a:fillRect/>
            </a:stretch>
          </p:blipFill>
          <p:spPr>
            <a:xfrm flipH="false" flipV="false">
              <a:off x="0" y="0"/>
              <a:ext cx="6644542" cy="6955716"/>
            </a:xfrm>
            <a:prstGeom prst="rect">
              <a:avLst/>
            </a:prstGeom>
          </p:spPr>
        </p:pic>
      </p:grpSp>
      <p:sp>
        <p:nvSpPr>
          <p:cNvPr name="Freeform 8" id="8"/>
          <p:cNvSpPr/>
          <p:nvPr/>
        </p:nvSpPr>
        <p:spPr>
          <a:xfrm flipH="false" flipV="false" rot="0">
            <a:off x="243903" y="4306065"/>
            <a:ext cx="6821060" cy="6821060"/>
          </a:xfrm>
          <a:custGeom>
            <a:avLst/>
            <a:gdLst/>
            <a:ahLst/>
            <a:cxnLst/>
            <a:rect r="r" b="b" t="t" l="l"/>
            <a:pathLst>
              <a:path h="6821060" w="6821060">
                <a:moveTo>
                  <a:pt x="0" y="0"/>
                </a:moveTo>
                <a:lnTo>
                  <a:pt x="6821060" y="0"/>
                </a:lnTo>
                <a:lnTo>
                  <a:pt x="6821060" y="6821060"/>
                </a:lnTo>
                <a:lnTo>
                  <a:pt x="0" y="6821060"/>
                </a:lnTo>
                <a:lnTo>
                  <a:pt x="0" y="0"/>
                </a:lnTo>
                <a:close/>
              </a:path>
            </a:pathLst>
          </a:custGeom>
          <a:blipFill>
            <a:blip r:embed="rId4"/>
            <a:stretch>
              <a:fillRect l="0" t="0" r="0" b="0"/>
            </a:stretch>
          </a:blipFill>
        </p:spPr>
      </p:sp>
      <p:grpSp>
        <p:nvGrpSpPr>
          <p:cNvPr name="Group 9" id="9"/>
          <p:cNvGrpSpPr/>
          <p:nvPr/>
        </p:nvGrpSpPr>
        <p:grpSpPr>
          <a:xfrm rot="0">
            <a:off x="1243357" y="4774922"/>
            <a:ext cx="4983406" cy="5216787"/>
            <a:chOff x="0" y="0"/>
            <a:chExt cx="6644542" cy="6955716"/>
          </a:xfrm>
        </p:grpSpPr>
        <p:pic>
          <p:nvPicPr>
            <p:cNvPr name="Picture 10" id="10"/>
            <p:cNvPicPr>
              <a:picLocks noChangeAspect="true"/>
            </p:cNvPicPr>
            <p:nvPr/>
          </p:nvPicPr>
          <p:blipFill>
            <a:blip r:embed="rId6"/>
            <a:srcRect l="18128" t="0" r="18128" b="0"/>
            <a:stretch>
              <a:fillRect/>
            </a:stretch>
          </p:blipFill>
          <p:spPr>
            <a:xfrm flipH="false" flipV="false">
              <a:off x="0" y="0"/>
              <a:ext cx="6644542" cy="6955716"/>
            </a:xfrm>
            <a:prstGeom prst="rect">
              <a:avLst/>
            </a:prstGeom>
          </p:spPr>
        </p:pic>
      </p:grpSp>
      <p:sp>
        <p:nvSpPr>
          <p:cNvPr name="Freeform 11" id="11"/>
          <p:cNvSpPr/>
          <p:nvPr/>
        </p:nvSpPr>
        <p:spPr>
          <a:xfrm flipH="false" flipV="false" rot="0">
            <a:off x="9452930" y="628330"/>
            <a:ext cx="742704" cy="742704"/>
          </a:xfrm>
          <a:custGeom>
            <a:avLst/>
            <a:gdLst/>
            <a:ahLst/>
            <a:cxnLst/>
            <a:rect r="r" b="b" t="t" l="l"/>
            <a:pathLst>
              <a:path h="742704" w="742704">
                <a:moveTo>
                  <a:pt x="0" y="0"/>
                </a:moveTo>
                <a:lnTo>
                  <a:pt x="742704" y="0"/>
                </a:lnTo>
                <a:lnTo>
                  <a:pt x="742704" y="742705"/>
                </a:lnTo>
                <a:lnTo>
                  <a:pt x="0" y="7427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7623052" y="9374794"/>
            <a:ext cx="9935687" cy="321221"/>
            <a:chOff x="0" y="0"/>
            <a:chExt cx="13247583" cy="428294"/>
          </a:xfrm>
        </p:grpSpPr>
        <p:sp>
          <p:nvSpPr>
            <p:cNvPr name="Freeform 13" id="13"/>
            <p:cNvSpPr/>
            <p:nvPr/>
          </p:nvSpPr>
          <p:spPr>
            <a:xfrm flipH="false" flipV="false" rot="0">
              <a:off x="0" y="0"/>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4" id="14"/>
            <p:cNvSpPr/>
            <p:nvPr/>
          </p:nvSpPr>
          <p:spPr>
            <a:xfrm flipH="false" flipV="false" rot="0">
              <a:off x="4720734"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sp>
          <p:nvSpPr>
            <p:cNvPr name="Freeform 15" id="15"/>
            <p:cNvSpPr/>
            <p:nvPr/>
          </p:nvSpPr>
          <p:spPr>
            <a:xfrm flipH="false" flipV="false" rot="0">
              <a:off x="9483020" y="4781"/>
              <a:ext cx="3764563" cy="423513"/>
            </a:xfrm>
            <a:custGeom>
              <a:avLst/>
              <a:gdLst/>
              <a:ahLst/>
              <a:cxnLst/>
              <a:rect r="r" b="b" t="t" l="l"/>
              <a:pathLst>
                <a:path h="423513" w="3764563">
                  <a:moveTo>
                    <a:pt x="0" y="0"/>
                  </a:moveTo>
                  <a:lnTo>
                    <a:pt x="3764563" y="0"/>
                  </a:lnTo>
                  <a:lnTo>
                    <a:pt x="3764563" y="423513"/>
                  </a:lnTo>
                  <a:lnTo>
                    <a:pt x="0" y="423513"/>
                  </a:lnTo>
                  <a:lnTo>
                    <a:pt x="0" y="0"/>
                  </a:lnTo>
                  <a:close/>
                </a:path>
              </a:pathLst>
            </a:custGeom>
            <a:blipFill>
              <a:blip r:embed="rId9"/>
              <a:stretch>
                <a:fillRect l="0" t="0" r="0" b="0"/>
              </a:stretch>
            </a:blipFill>
          </p:spPr>
        </p:sp>
      </p:grpSp>
      <p:sp>
        <p:nvSpPr>
          <p:cNvPr name="TextBox 16" id="16"/>
          <p:cNvSpPr txBox="true"/>
          <p:nvPr/>
        </p:nvSpPr>
        <p:spPr>
          <a:xfrm rot="0">
            <a:off x="10444787" y="671562"/>
            <a:ext cx="6976545" cy="794722"/>
          </a:xfrm>
          <a:prstGeom prst="rect">
            <a:avLst/>
          </a:prstGeom>
        </p:spPr>
        <p:txBody>
          <a:bodyPr anchor="t" rtlCol="false" tIns="0" lIns="0" bIns="0" rIns="0">
            <a:spAutoFit/>
          </a:bodyPr>
          <a:lstStyle/>
          <a:p>
            <a:pPr algn="r">
              <a:lnSpc>
                <a:spcPts val="6400"/>
              </a:lnSpc>
            </a:pPr>
            <a:r>
              <a:rPr lang="en-US" b="true" sz="4923">
                <a:solidFill>
                  <a:srgbClr val="0F5995"/>
                </a:solidFill>
                <a:latin typeface="Open Sauce Bold"/>
                <a:ea typeface="Open Sauce Bold"/>
                <a:cs typeface="Open Sauce Bold"/>
                <a:sym typeface="Open Sauce Bold"/>
              </a:rPr>
              <a:t>PRICING MODAL TWO</a:t>
            </a:r>
          </a:p>
        </p:txBody>
      </p:sp>
      <p:sp>
        <p:nvSpPr>
          <p:cNvPr name="TextBox 17" id="17"/>
          <p:cNvSpPr txBox="true"/>
          <p:nvPr/>
        </p:nvSpPr>
        <p:spPr>
          <a:xfrm rot="0">
            <a:off x="8421304" y="9705540"/>
            <a:ext cx="8177881" cy="349250"/>
          </a:xfrm>
          <a:prstGeom prst="rect">
            <a:avLst/>
          </a:prstGeom>
        </p:spPr>
        <p:txBody>
          <a:bodyPr anchor="t" rtlCol="false" tIns="0" lIns="0" bIns="0" rIns="0">
            <a:spAutoFit/>
          </a:bodyPr>
          <a:lstStyle/>
          <a:p>
            <a:pPr algn="ctr">
              <a:lnSpc>
                <a:spcPts val="2800"/>
              </a:lnSpc>
              <a:spcBef>
                <a:spcPct val="0"/>
              </a:spcBef>
            </a:pPr>
            <a:r>
              <a:rPr lang="en-US" sz="2000">
                <a:solidFill>
                  <a:srgbClr val="000000"/>
                </a:solidFill>
                <a:latin typeface="Open Sauce"/>
                <a:ea typeface="Open Sauce"/>
                <a:cs typeface="Open Sauce"/>
                <a:sym typeface="Open Sauce"/>
              </a:rPr>
              <a:t>If more than 500 containers contact sales team for more details</a:t>
            </a:r>
          </a:p>
        </p:txBody>
      </p:sp>
      <p:grpSp>
        <p:nvGrpSpPr>
          <p:cNvPr name="Group 18" id="18"/>
          <p:cNvGrpSpPr/>
          <p:nvPr/>
        </p:nvGrpSpPr>
        <p:grpSpPr>
          <a:xfrm rot="0">
            <a:off x="10934812" y="3493024"/>
            <a:ext cx="3032587" cy="5900820"/>
            <a:chOff x="0" y="0"/>
            <a:chExt cx="923406" cy="1796767"/>
          </a:xfrm>
        </p:grpSpPr>
        <p:sp>
          <p:nvSpPr>
            <p:cNvPr name="Freeform 19" id="19"/>
            <p:cNvSpPr/>
            <p:nvPr/>
          </p:nvSpPr>
          <p:spPr>
            <a:xfrm flipH="false" flipV="false" rot="0">
              <a:off x="0" y="0"/>
              <a:ext cx="923406" cy="1796767"/>
            </a:xfrm>
            <a:custGeom>
              <a:avLst/>
              <a:gdLst/>
              <a:ahLst/>
              <a:cxnLst/>
              <a:rect r="r" b="b" t="t" l="l"/>
              <a:pathLst>
                <a:path h="1796767" w="923406">
                  <a:moveTo>
                    <a:pt x="181257" y="0"/>
                  </a:moveTo>
                  <a:lnTo>
                    <a:pt x="742149" y="0"/>
                  </a:lnTo>
                  <a:cubicBezTo>
                    <a:pt x="842255" y="0"/>
                    <a:pt x="923406" y="81151"/>
                    <a:pt x="923406" y="181257"/>
                  </a:cubicBezTo>
                  <a:lnTo>
                    <a:pt x="923406" y="1615511"/>
                  </a:lnTo>
                  <a:cubicBezTo>
                    <a:pt x="923406" y="1715616"/>
                    <a:pt x="842255" y="1796767"/>
                    <a:pt x="742149" y="1796767"/>
                  </a:cubicBezTo>
                  <a:lnTo>
                    <a:pt x="181257" y="1796767"/>
                  </a:lnTo>
                  <a:cubicBezTo>
                    <a:pt x="81151" y="1796767"/>
                    <a:pt x="0" y="1715616"/>
                    <a:pt x="0" y="1615511"/>
                  </a:cubicBezTo>
                  <a:lnTo>
                    <a:pt x="0" y="181257"/>
                  </a:lnTo>
                  <a:cubicBezTo>
                    <a:pt x="0" y="81151"/>
                    <a:pt x="81151" y="0"/>
                    <a:pt x="181257" y="0"/>
                  </a:cubicBezTo>
                  <a:close/>
                </a:path>
              </a:pathLst>
            </a:custGeom>
            <a:solidFill>
              <a:srgbClr val="0C3571"/>
            </a:solidFill>
          </p:spPr>
        </p:sp>
        <p:sp>
          <p:nvSpPr>
            <p:cNvPr name="TextBox 20" id="20"/>
            <p:cNvSpPr txBox="true"/>
            <p:nvPr/>
          </p:nvSpPr>
          <p:spPr>
            <a:xfrm>
              <a:off x="0" y="-38100"/>
              <a:ext cx="923406" cy="1834867"/>
            </a:xfrm>
            <a:prstGeom prst="rect">
              <a:avLst/>
            </a:prstGeom>
          </p:spPr>
          <p:txBody>
            <a:bodyPr anchor="ctr" rtlCol="false" tIns="53059" lIns="53059" bIns="53059" rIns="53059"/>
            <a:lstStyle/>
            <a:p>
              <a:pPr algn="ctr">
                <a:lnSpc>
                  <a:spcPts val="2660"/>
                </a:lnSpc>
              </a:pPr>
            </a:p>
          </p:txBody>
        </p:sp>
      </p:grpSp>
      <p:grpSp>
        <p:nvGrpSpPr>
          <p:cNvPr name="Group 21" id="21"/>
          <p:cNvGrpSpPr/>
          <p:nvPr/>
        </p:nvGrpSpPr>
        <p:grpSpPr>
          <a:xfrm rot="0">
            <a:off x="11375942" y="2752893"/>
            <a:ext cx="2055853" cy="1027926"/>
            <a:chOff x="0" y="0"/>
            <a:chExt cx="812800" cy="406400"/>
          </a:xfrm>
        </p:grpSpPr>
        <p:sp>
          <p:nvSpPr>
            <p:cNvPr name="Freeform 22" id="22"/>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3" id="23"/>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Standard</a:t>
              </a:r>
            </a:p>
          </p:txBody>
        </p:sp>
      </p:grpSp>
      <p:grpSp>
        <p:nvGrpSpPr>
          <p:cNvPr name="Group 24" id="24"/>
          <p:cNvGrpSpPr/>
          <p:nvPr/>
        </p:nvGrpSpPr>
        <p:grpSpPr>
          <a:xfrm rot="0">
            <a:off x="14490518" y="3493024"/>
            <a:ext cx="3068222" cy="5900820"/>
            <a:chOff x="0" y="0"/>
            <a:chExt cx="934257" cy="1796767"/>
          </a:xfrm>
        </p:grpSpPr>
        <p:sp>
          <p:nvSpPr>
            <p:cNvPr name="Freeform 25" id="25"/>
            <p:cNvSpPr/>
            <p:nvPr/>
          </p:nvSpPr>
          <p:spPr>
            <a:xfrm flipH="false" flipV="false" rot="0">
              <a:off x="0" y="0"/>
              <a:ext cx="934257" cy="1796767"/>
            </a:xfrm>
            <a:custGeom>
              <a:avLst/>
              <a:gdLst/>
              <a:ahLst/>
              <a:cxnLst/>
              <a:rect r="r" b="b" t="t" l="l"/>
              <a:pathLst>
                <a:path h="1796767" w="934257">
                  <a:moveTo>
                    <a:pt x="179151" y="0"/>
                  </a:moveTo>
                  <a:lnTo>
                    <a:pt x="755105" y="0"/>
                  </a:lnTo>
                  <a:cubicBezTo>
                    <a:pt x="802619" y="0"/>
                    <a:pt x="848187" y="18875"/>
                    <a:pt x="881785" y="52472"/>
                  </a:cubicBezTo>
                  <a:cubicBezTo>
                    <a:pt x="915382" y="86070"/>
                    <a:pt x="934257" y="131637"/>
                    <a:pt x="934257" y="179151"/>
                  </a:cubicBezTo>
                  <a:lnTo>
                    <a:pt x="934257" y="1617616"/>
                  </a:lnTo>
                  <a:cubicBezTo>
                    <a:pt x="934257" y="1665130"/>
                    <a:pt x="915382" y="1710698"/>
                    <a:pt x="881785" y="1744295"/>
                  </a:cubicBezTo>
                  <a:cubicBezTo>
                    <a:pt x="848187" y="1777892"/>
                    <a:pt x="802619" y="1796767"/>
                    <a:pt x="755105" y="1796767"/>
                  </a:cubicBezTo>
                  <a:lnTo>
                    <a:pt x="179151" y="1796767"/>
                  </a:lnTo>
                  <a:cubicBezTo>
                    <a:pt x="80209" y="1796767"/>
                    <a:pt x="0" y="1716558"/>
                    <a:pt x="0" y="1617616"/>
                  </a:cubicBezTo>
                  <a:lnTo>
                    <a:pt x="0" y="179151"/>
                  </a:lnTo>
                  <a:cubicBezTo>
                    <a:pt x="0" y="80209"/>
                    <a:pt x="80209" y="0"/>
                    <a:pt x="179151" y="0"/>
                  </a:cubicBezTo>
                  <a:close/>
                </a:path>
              </a:pathLst>
            </a:custGeom>
            <a:solidFill>
              <a:srgbClr val="0C3571"/>
            </a:solidFill>
          </p:spPr>
        </p:sp>
        <p:sp>
          <p:nvSpPr>
            <p:cNvPr name="TextBox 26" id="26"/>
            <p:cNvSpPr txBox="true"/>
            <p:nvPr/>
          </p:nvSpPr>
          <p:spPr>
            <a:xfrm>
              <a:off x="0" y="-38100"/>
              <a:ext cx="934257" cy="1834867"/>
            </a:xfrm>
            <a:prstGeom prst="rect">
              <a:avLst/>
            </a:prstGeom>
          </p:spPr>
          <p:txBody>
            <a:bodyPr anchor="ctr" rtlCol="false" tIns="53059" lIns="53059" bIns="53059" rIns="53059"/>
            <a:lstStyle/>
            <a:p>
              <a:pPr algn="ctr">
                <a:lnSpc>
                  <a:spcPts val="2660"/>
                </a:lnSpc>
              </a:pPr>
            </a:p>
          </p:txBody>
        </p:sp>
      </p:grpSp>
      <p:grpSp>
        <p:nvGrpSpPr>
          <p:cNvPr name="Group 27" id="27"/>
          <p:cNvGrpSpPr/>
          <p:nvPr/>
        </p:nvGrpSpPr>
        <p:grpSpPr>
          <a:xfrm rot="0">
            <a:off x="15006227" y="2752893"/>
            <a:ext cx="2055853" cy="1027926"/>
            <a:chOff x="0" y="0"/>
            <a:chExt cx="812800" cy="406400"/>
          </a:xfrm>
        </p:grpSpPr>
        <p:sp>
          <p:nvSpPr>
            <p:cNvPr name="Freeform 28" id="28"/>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29" id="29"/>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b="true" sz="2095">
                  <a:solidFill>
                    <a:srgbClr val="FFFFFF"/>
                  </a:solidFill>
                  <a:latin typeface="Now Bold"/>
                  <a:ea typeface="Now Bold"/>
                  <a:cs typeface="Now Bold"/>
                  <a:sym typeface="Now Bold"/>
                </a:rPr>
                <a:t>Pro</a:t>
              </a:r>
            </a:p>
          </p:txBody>
        </p:sp>
      </p:grpSp>
      <p:grpSp>
        <p:nvGrpSpPr>
          <p:cNvPr name="Group 30" id="30"/>
          <p:cNvGrpSpPr/>
          <p:nvPr/>
        </p:nvGrpSpPr>
        <p:grpSpPr>
          <a:xfrm rot="0">
            <a:off x="7455641" y="3434784"/>
            <a:ext cx="3068222" cy="5959060"/>
            <a:chOff x="0" y="0"/>
            <a:chExt cx="934257" cy="1814501"/>
          </a:xfrm>
        </p:grpSpPr>
        <p:sp>
          <p:nvSpPr>
            <p:cNvPr name="Freeform 31" id="31"/>
            <p:cNvSpPr/>
            <p:nvPr/>
          </p:nvSpPr>
          <p:spPr>
            <a:xfrm flipH="false" flipV="false" rot="0">
              <a:off x="0" y="0"/>
              <a:ext cx="934257" cy="1814501"/>
            </a:xfrm>
            <a:custGeom>
              <a:avLst/>
              <a:gdLst/>
              <a:ahLst/>
              <a:cxnLst/>
              <a:rect r="r" b="b" t="t" l="l"/>
              <a:pathLst>
                <a:path h="1814501" w="934257">
                  <a:moveTo>
                    <a:pt x="179151" y="0"/>
                  </a:moveTo>
                  <a:lnTo>
                    <a:pt x="755105" y="0"/>
                  </a:lnTo>
                  <a:cubicBezTo>
                    <a:pt x="802619" y="0"/>
                    <a:pt x="848187" y="18875"/>
                    <a:pt x="881785" y="52472"/>
                  </a:cubicBezTo>
                  <a:cubicBezTo>
                    <a:pt x="915382" y="86070"/>
                    <a:pt x="934257" y="131637"/>
                    <a:pt x="934257" y="179151"/>
                  </a:cubicBezTo>
                  <a:lnTo>
                    <a:pt x="934257" y="1635349"/>
                  </a:lnTo>
                  <a:cubicBezTo>
                    <a:pt x="934257" y="1734292"/>
                    <a:pt x="854048" y="1814501"/>
                    <a:pt x="755105" y="1814501"/>
                  </a:cubicBezTo>
                  <a:lnTo>
                    <a:pt x="179151" y="1814501"/>
                  </a:lnTo>
                  <a:cubicBezTo>
                    <a:pt x="131637" y="1814501"/>
                    <a:pt x="86070" y="1795626"/>
                    <a:pt x="52472" y="1762029"/>
                  </a:cubicBezTo>
                  <a:cubicBezTo>
                    <a:pt x="18875" y="1728431"/>
                    <a:pt x="0" y="1682863"/>
                    <a:pt x="0" y="1635349"/>
                  </a:cubicBezTo>
                  <a:lnTo>
                    <a:pt x="0" y="179151"/>
                  </a:lnTo>
                  <a:cubicBezTo>
                    <a:pt x="0" y="80209"/>
                    <a:pt x="80209" y="0"/>
                    <a:pt x="179151" y="0"/>
                  </a:cubicBezTo>
                  <a:close/>
                </a:path>
              </a:pathLst>
            </a:custGeom>
            <a:solidFill>
              <a:srgbClr val="0C3571"/>
            </a:solidFill>
          </p:spPr>
        </p:sp>
        <p:sp>
          <p:nvSpPr>
            <p:cNvPr name="TextBox 32" id="32"/>
            <p:cNvSpPr txBox="true"/>
            <p:nvPr/>
          </p:nvSpPr>
          <p:spPr>
            <a:xfrm>
              <a:off x="0" y="-28575"/>
              <a:ext cx="934257" cy="1843076"/>
            </a:xfrm>
            <a:prstGeom prst="rect">
              <a:avLst/>
            </a:prstGeom>
          </p:spPr>
          <p:txBody>
            <a:bodyPr anchor="ctr" rtlCol="false" tIns="53059" lIns="53059" bIns="53059" rIns="53059"/>
            <a:lstStyle/>
            <a:p>
              <a:pPr algn="ctr">
                <a:lnSpc>
                  <a:spcPts val="2520"/>
                </a:lnSpc>
              </a:pPr>
            </a:p>
          </p:txBody>
        </p:sp>
      </p:grpSp>
      <p:grpSp>
        <p:nvGrpSpPr>
          <p:cNvPr name="Group 33" id="33"/>
          <p:cNvGrpSpPr/>
          <p:nvPr/>
        </p:nvGrpSpPr>
        <p:grpSpPr>
          <a:xfrm rot="0">
            <a:off x="7904768" y="2752893"/>
            <a:ext cx="2055853" cy="1027926"/>
            <a:chOff x="0" y="0"/>
            <a:chExt cx="812800" cy="406400"/>
          </a:xfrm>
        </p:grpSpPr>
        <p:sp>
          <p:nvSpPr>
            <p:cNvPr name="Freeform 34" id="34"/>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0071BC"/>
            </a:solidFill>
          </p:spPr>
        </p:sp>
        <p:sp>
          <p:nvSpPr>
            <p:cNvPr name="TextBox 35" id="35"/>
            <p:cNvSpPr txBox="true"/>
            <p:nvPr/>
          </p:nvSpPr>
          <p:spPr>
            <a:xfrm>
              <a:off x="0" y="0"/>
              <a:ext cx="812800" cy="406400"/>
            </a:xfrm>
            <a:prstGeom prst="rect">
              <a:avLst/>
            </a:prstGeom>
          </p:spPr>
          <p:txBody>
            <a:bodyPr anchor="ctr" rtlCol="false" tIns="53059" lIns="53059" bIns="53059" rIns="53059"/>
            <a:lstStyle/>
            <a:p>
              <a:pPr algn="ctr">
                <a:lnSpc>
                  <a:spcPts val="2556"/>
                </a:lnSpc>
              </a:pPr>
              <a:r>
                <a:rPr lang="en-US" sz="2095" b="true">
                  <a:solidFill>
                    <a:srgbClr val="FFFFFF"/>
                  </a:solidFill>
                  <a:latin typeface="Now Bold"/>
                  <a:ea typeface="Now Bold"/>
                  <a:cs typeface="Now Bold"/>
                  <a:sym typeface="Now Bold"/>
                </a:rPr>
                <a:t>Platinum</a:t>
              </a:r>
            </a:p>
            <a:p>
              <a:pPr algn="ctr">
                <a:lnSpc>
                  <a:spcPts val="2556"/>
                </a:lnSpc>
              </a:pPr>
              <a:r>
                <a:rPr lang="en-US" b="true" sz="2095">
                  <a:solidFill>
                    <a:srgbClr val="FFFFFF"/>
                  </a:solidFill>
                  <a:latin typeface="Now Bold"/>
                  <a:ea typeface="Now Bold"/>
                  <a:cs typeface="Now Bold"/>
                  <a:sym typeface="Now Bold"/>
                </a:rPr>
                <a:t>Basic</a:t>
              </a:r>
            </a:p>
          </p:txBody>
        </p:sp>
      </p:grpSp>
      <p:sp>
        <p:nvSpPr>
          <p:cNvPr name="TextBox 36" id="36"/>
          <p:cNvSpPr txBox="true"/>
          <p:nvPr/>
        </p:nvSpPr>
        <p:spPr>
          <a:xfrm rot="0">
            <a:off x="7443757" y="3952269"/>
            <a:ext cx="3001030"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100 Containers/Per Month</a:t>
            </a:r>
          </a:p>
        </p:txBody>
      </p:sp>
      <p:sp>
        <p:nvSpPr>
          <p:cNvPr name="TextBox 37" id="37"/>
          <p:cNvSpPr txBox="true"/>
          <p:nvPr/>
        </p:nvSpPr>
        <p:spPr>
          <a:xfrm rot="0">
            <a:off x="10962999" y="3952269"/>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300 Containers/Per Month</a:t>
            </a:r>
          </a:p>
        </p:txBody>
      </p:sp>
      <p:sp>
        <p:nvSpPr>
          <p:cNvPr name="TextBox 38" id="38"/>
          <p:cNvSpPr txBox="true"/>
          <p:nvPr/>
        </p:nvSpPr>
        <p:spPr>
          <a:xfrm rot="0">
            <a:off x="14555572" y="3952269"/>
            <a:ext cx="2938113" cy="545904"/>
          </a:xfrm>
          <a:prstGeom prst="rect">
            <a:avLst/>
          </a:prstGeom>
        </p:spPr>
        <p:txBody>
          <a:bodyPr anchor="t" rtlCol="false" tIns="0" lIns="0" bIns="0" rIns="0">
            <a:spAutoFit/>
          </a:bodyPr>
          <a:lstStyle/>
          <a:p>
            <a:pPr algn="ctr">
              <a:lnSpc>
                <a:spcPts val="2193"/>
              </a:lnSpc>
              <a:spcBef>
                <a:spcPct val="0"/>
              </a:spcBef>
            </a:pPr>
            <a:r>
              <a:rPr lang="en-US" sz="1566">
                <a:solidFill>
                  <a:srgbClr val="FFFFFF"/>
                </a:solidFill>
                <a:latin typeface="Open Sauce"/>
                <a:ea typeface="Open Sauce"/>
                <a:cs typeface="Open Sauce"/>
                <a:sym typeface="Open Sauce"/>
              </a:rPr>
              <a:t>Upto 500 Containers/Per Month</a:t>
            </a:r>
          </a:p>
        </p:txBody>
      </p:sp>
      <p:sp>
        <p:nvSpPr>
          <p:cNvPr name="TextBox 39" id="39"/>
          <p:cNvSpPr txBox="true"/>
          <p:nvPr/>
        </p:nvSpPr>
        <p:spPr>
          <a:xfrm rot="0">
            <a:off x="7549446" y="6376759"/>
            <a:ext cx="2926792" cy="2636776"/>
          </a:xfrm>
          <a:prstGeom prst="rect">
            <a:avLst/>
          </a:prstGeom>
        </p:spPr>
        <p:txBody>
          <a:bodyPr anchor="t" rtlCol="false" tIns="0" lIns="0" bIns="0" rIns="0">
            <a:spAutoFit/>
          </a:bodyPr>
          <a:lstStyle/>
          <a:p>
            <a:pPr algn="ctr">
              <a:lnSpc>
                <a:spcPts val="3051"/>
              </a:lnSpc>
            </a:pPr>
            <a:r>
              <a:rPr lang="en-US" b="true" sz="1907" spc="61">
                <a:solidFill>
                  <a:srgbClr val="FFFFFF"/>
                </a:solidFill>
                <a:latin typeface="Open Sauce Bold"/>
                <a:ea typeface="Open Sauce Bold"/>
                <a:cs typeface="Open Sauce Bold"/>
                <a:sym typeface="Open Sauce Bold"/>
              </a:rPr>
              <a:t>Application</a:t>
            </a:r>
          </a:p>
          <a:p>
            <a:pPr algn="ctr">
              <a:lnSpc>
                <a:spcPts val="3051"/>
              </a:lnSpc>
            </a:pPr>
            <a:r>
              <a:rPr lang="en-US" b="true" sz="1907" spc="61">
                <a:solidFill>
                  <a:srgbClr val="FFFFFF"/>
                </a:solidFill>
                <a:latin typeface="Open Sauce Bold"/>
                <a:ea typeface="Open Sauce Bold"/>
                <a:cs typeface="Open Sauce Bold"/>
                <a:sym typeface="Open Sauce Bold"/>
              </a:rPr>
              <a:t>Dashboard</a:t>
            </a:r>
          </a:p>
          <a:p>
            <a:pPr algn="ctr">
              <a:lnSpc>
                <a:spcPts val="3051"/>
              </a:lnSpc>
            </a:pPr>
            <a:r>
              <a:rPr lang="en-US" b="true" sz="1907" spc="61">
                <a:solidFill>
                  <a:srgbClr val="FFFFFF"/>
                </a:solidFill>
                <a:latin typeface="Open Sauce Bold"/>
                <a:ea typeface="Open Sauce Bold"/>
                <a:cs typeface="Open Sauce Bold"/>
                <a:sym typeface="Open Sauce Bold"/>
              </a:rPr>
              <a:t>Reports</a:t>
            </a:r>
          </a:p>
          <a:p>
            <a:pPr algn="ctr">
              <a:lnSpc>
                <a:spcPts val="3051"/>
              </a:lnSpc>
            </a:pPr>
            <a:r>
              <a:rPr lang="en-US" b="true" sz="1907" spc="61">
                <a:solidFill>
                  <a:srgbClr val="FFFFFF"/>
                </a:solidFill>
                <a:latin typeface="Open Sauce Bold"/>
                <a:ea typeface="Open Sauce Bold"/>
                <a:cs typeface="Open Sauce Bold"/>
                <a:sym typeface="Open Sauce Bold"/>
              </a:rPr>
              <a:t>Email Support</a:t>
            </a:r>
          </a:p>
          <a:p>
            <a:pPr algn="ctr">
              <a:lnSpc>
                <a:spcPts val="3051"/>
              </a:lnSpc>
            </a:pPr>
            <a:r>
              <a:rPr lang="en-US" b="true" sz="1907" spc="61">
                <a:solidFill>
                  <a:srgbClr val="FFFFFF"/>
                </a:solidFill>
                <a:latin typeface="Open Sauce Bold"/>
                <a:ea typeface="Open Sauce Bold"/>
                <a:cs typeface="Open Sauce Bold"/>
                <a:sym typeface="Open Sauce Bold"/>
              </a:rPr>
              <a:t>2 Client Logins</a:t>
            </a:r>
          </a:p>
          <a:p>
            <a:pPr algn="ctr">
              <a:lnSpc>
                <a:spcPts val="3051"/>
              </a:lnSpc>
            </a:pPr>
            <a:r>
              <a:rPr lang="en-US" b="true" sz="1907" spc="61">
                <a:solidFill>
                  <a:srgbClr val="FFFFFF"/>
                </a:solidFill>
                <a:latin typeface="Open Sauce Bold"/>
                <a:ea typeface="Open Sauce Bold"/>
                <a:cs typeface="Open Sauce Bold"/>
                <a:sym typeface="Open Sauce Bold"/>
              </a:rPr>
              <a:t>API Services</a:t>
            </a:r>
          </a:p>
          <a:p>
            <a:pPr algn="ctr">
              <a:lnSpc>
                <a:spcPts val="3051"/>
              </a:lnSpc>
            </a:pPr>
            <a:r>
              <a:rPr lang="en-US" b="true" sz="1907" spc="61">
                <a:solidFill>
                  <a:srgbClr val="FFFFFF"/>
                </a:solidFill>
                <a:latin typeface="Open Sauce Bold"/>
                <a:ea typeface="Open Sauce Bold"/>
                <a:cs typeface="Open Sauce Bold"/>
                <a:sym typeface="Open Sauce Bold"/>
              </a:rPr>
              <a:t>Cargowise integration</a:t>
            </a:r>
          </a:p>
        </p:txBody>
      </p:sp>
      <p:sp>
        <p:nvSpPr>
          <p:cNvPr name="TextBox 40" id="40"/>
          <p:cNvSpPr txBox="true"/>
          <p:nvPr/>
        </p:nvSpPr>
        <p:spPr>
          <a:xfrm rot="0">
            <a:off x="11065911" y="6278149"/>
            <a:ext cx="2732287" cy="2636647"/>
          </a:xfrm>
          <a:prstGeom prst="rect">
            <a:avLst/>
          </a:prstGeom>
        </p:spPr>
        <p:txBody>
          <a:bodyPr anchor="t" rtlCol="false" tIns="0" lIns="0" bIns="0" rIns="0">
            <a:spAutoFit/>
          </a:bodyPr>
          <a:lstStyle/>
          <a:p>
            <a:pPr algn="ctr">
              <a:lnSpc>
                <a:spcPts val="3056"/>
              </a:lnSpc>
            </a:pPr>
            <a:r>
              <a:rPr lang="en-US" sz="1910" b="true">
                <a:solidFill>
                  <a:srgbClr val="FFFFFF"/>
                </a:solidFill>
                <a:latin typeface="Open Sauce Bold"/>
                <a:ea typeface="Open Sauce Bold"/>
                <a:cs typeface="Open Sauce Bold"/>
                <a:sym typeface="Open Sauce Bold"/>
              </a:rPr>
              <a:t>Dashboard</a:t>
            </a:r>
          </a:p>
          <a:p>
            <a:pPr algn="ctr">
              <a:lnSpc>
                <a:spcPts val="3056"/>
              </a:lnSpc>
            </a:pPr>
            <a:r>
              <a:rPr lang="en-US" sz="1910" b="true">
                <a:solidFill>
                  <a:srgbClr val="FFFFFF"/>
                </a:solidFill>
                <a:latin typeface="Open Sauce Bold"/>
                <a:ea typeface="Open Sauce Bold"/>
                <a:cs typeface="Open Sauce Bold"/>
                <a:sym typeface="Open Sauce Bold"/>
              </a:rPr>
              <a:t>Reports</a:t>
            </a:r>
          </a:p>
          <a:p>
            <a:pPr algn="ctr">
              <a:lnSpc>
                <a:spcPts val="3056"/>
              </a:lnSpc>
            </a:pPr>
            <a:r>
              <a:rPr lang="en-US" sz="1910" b="true">
                <a:solidFill>
                  <a:srgbClr val="FFFFFF"/>
                </a:solidFill>
                <a:latin typeface="Open Sauce Bold"/>
                <a:ea typeface="Open Sauce Bold"/>
                <a:cs typeface="Open Sauce Bold"/>
                <a:sym typeface="Open Sauce Bold"/>
              </a:rPr>
              <a:t>Milestone Integration</a:t>
            </a:r>
          </a:p>
          <a:p>
            <a:pPr algn="ctr">
              <a:lnSpc>
                <a:spcPts val="3056"/>
              </a:lnSpc>
            </a:pPr>
            <a:r>
              <a:rPr lang="en-US" sz="1910" b="true">
                <a:solidFill>
                  <a:srgbClr val="FFFFFF"/>
                </a:solidFill>
                <a:latin typeface="Open Sauce Bold"/>
                <a:ea typeface="Open Sauce Bold"/>
                <a:cs typeface="Open Sauce Bold"/>
                <a:sym typeface="Open Sauce Bold"/>
              </a:rPr>
              <a:t>5 Client Logins</a:t>
            </a:r>
          </a:p>
          <a:p>
            <a:pPr algn="ctr">
              <a:lnSpc>
                <a:spcPts val="3056"/>
              </a:lnSpc>
            </a:pPr>
            <a:r>
              <a:rPr lang="en-US" sz="1910" b="true">
                <a:solidFill>
                  <a:srgbClr val="FFFFFF"/>
                </a:solidFill>
                <a:latin typeface="Open Sauce Bold"/>
                <a:ea typeface="Open Sauce Bold"/>
                <a:cs typeface="Open Sauce Bold"/>
                <a:sym typeface="Open Sauce Bold"/>
              </a:rPr>
              <a:t>Ticketing Priority</a:t>
            </a:r>
          </a:p>
          <a:p>
            <a:pPr algn="ctr">
              <a:lnSpc>
                <a:spcPts val="3056"/>
              </a:lnSpc>
            </a:pPr>
            <a:r>
              <a:rPr lang="en-US" sz="1910" b="true">
                <a:solidFill>
                  <a:srgbClr val="FFFFFF"/>
                </a:solidFill>
                <a:latin typeface="Open Sauce Bold"/>
                <a:ea typeface="Open Sauce Bold"/>
                <a:cs typeface="Open Sauce Bold"/>
                <a:sym typeface="Open Sauce Bold"/>
              </a:rPr>
              <a:t>API Services</a:t>
            </a:r>
          </a:p>
          <a:p>
            <a:pPr algn="ctr">
              <a:lnSpc>
                <a:spcPts val="3056"/>
              </a:lnSpc>
            </a:pPr>
            <a:r>
              <a:rPr lang="en-US" b="true" sz="1910">
                <a:solidFill>
                  <a:srgbClr val="FFFFFF"/>
                </a:solidFill>
                <a:latin typeface="Open Sauce Bold"/>
                <a:ea typeface="Open Sauce Bold"/>
                <a:cs typeface="Open Sauce Bold"/>
                <a:sym typeface="Open Sauce Bold"/>
              </a:rPr>
              <a:t>Cargowise integration</a:t>
            </a:r>
          </a:p>
        </p:txBody>
      </p:sp>
      <p:sp>
        <p:nvSpPr>
          <p:cNvPr name="TextBox 41" id="41"/>
          <p:cNvSpPr txBox="true"/>
          <p:nvPr/>
        </p:nvSpPr>
        <p:spPr>
          <a:xfrm rot="0">
            <a:off x="14658290" y="6347639"/>
            <a:ext cx="2732677" cy="2255647"/>
          </a:xfrm>
          <a:prstGeom prst="rect">
            <a:avLst/>
          </a:prstGeom>
        </p:spPr>
        <p:txBody>
          <a:bodyPr anchor="t" rtlCol="false" tIns="0" lIns="0" bIns="0" rIns="0">
            <a:spAutoFit/>
          </a:bodyPr>
          <a:lstStyle/>
          <a:p>
            <a:pPr algn="ctr">
              <a:lnSpc>
                <a:spcPts val="3056"/>
              </a:lnSpc>
            </a:pPr>
            <a:r>
              <a:rPr lang="en-US" sz="1910" b="true">
                <a:solidFill>
                  <a:srgbClr val="FFFFFF"/>
                </a:solidFill>
                <a:latin typeface="Open Sauce Bold"/>
                <a:ea typeface="Open Sauce Bold"/>
                <a:cs typeface="Open Sauce Bold"/>
                <a:sym typeface="Open Sauce Bold"/>
              </a:rPr>
              <a:t>Access To All Features</a:t>
            </a:r>
          </a:p>
          <a:p>
            <a:pPr algn="ctr">
              <a:lnSpc>
                <a:spcPts val="3056"/>
              </a:lnSpc>
            </a:pPr>
            <a:r>
              <a:rPr lang="en-US" sz="1910" b="true">
                <a:solidFill>
                  <a:srgbClr val="FFFFFF"/>
                </a:solidFill>
                <a:latin typeface="Open Sauce Bold"/>
                <a:ea typeface="Open Sauce Bold"/>
                <a:cs typeface="Open Sauce Bold"/>
                <a:sym typeface="Open Sauce Bold"/>
              </a:rPr>
              <a:t>10 Client Logins</a:t>
            </a:r>
          </a:p>
          <a:p>
            <a:pPr algn="ctr">
              <a:lnSpc>
                <a:spcPts val="3056"/>
              </a:lnSpc>
            </a:pPr>
            <a:r>
              <a:rPr lang="en-US" sz="1910" b="true">
                <a:solidFill>
                  <a:srgbClr val="FFFFFF"/>
                </a:solidFill>
                <a:latin typeface="Open Sauce Bold"/>
                <a:ea typeface="Open Sauce Bold"/>
                <a:cs typeface="Open Sauce Bold"/>
                <a:sym typeface="Open Sauce Bold"/>
              </a:rPr>
              <a:t>Priority Support</a:t>
            </a:r>
          </a:p>
          <a:p>
            <a:pPr algn="ctr">
              <a:lnSpc>
                <a:spcPts val="3056"/>
              </a:lnSpc>
            </a:pPr>
            <a:r>
              <a:rPr lang="en-US" sz="1910" b="true">
                <a:solidFill>
                  <a:srgbClr val="FFFFFF"/>
                </a:solidFill>
                <a:latin typeface="Open Sauce Bold"/>
                <a:ea typeface="Open Sauce Bold"/>
                <a:cs typeface="Open Sauce Bold"/>
                <a:sym typeface="Open Sauce Bold"/>
              </a:rPr>
              <a:t>API Services</a:t>
            </a:r>
          </a:p>
          <a:p>
            <a:pPr algn="ctr">
              <a:lnSpc>
                <a:spcPts val="3056"/>
              </a:lnSpc>
            </a:pPr>
            <a:r>
              <a:rPr lang="en-US" b="true" sz="1910">
                <a:solidFill>
                  <a:srgbClr val="FFFFFF"/>
                </a:solidFill>
                <a:latin typeface="Open Sauce Bold"/>
                <a:ea typeface="Open Sauce Bold"/>
                <a:cs typeface="Open Sauce Bold"/>
                <a:sym typeface="Open Sauce Bold"/>
              </a:rPr>
              <a:t>Cargowise integration</a:t>
            </a:r>
          </a:p>
        </p:txBody>
      </p:sp>
      <p:sp>
        <p:nvSpPr>
          <p:cNvPr name="Freeform 42" id="42"/>
          <p:cNvSpPr/>
          <p:nvPr/>
        </p:nvSpPr>
        <p:spPr>
          <a:xfrm flipH="false" flipV="false" rot="0">
            <a:off x="8516333" y="5213115"/>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43" id="43"/>
          <p:cNvGrpSpPr/>
          <p:nvPr/>
        </p:nvGrpSpPr>
        <p:grpSpPr>
          <a:xfrm rot="0">
            <a:off x="11698822" y="4698198"/>
            <a:ext cx="1446601" cy="144660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45" id="4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5.5</a:t>
              </a:r>
            </a:p>
          </p:txBody>
        </p:sp>
      </p:grpSp>
      <p:sp>
        <p:nvSpPr>
          <p:cNvPr name="Freeform 46" id="46"/>
          <p:cNvSpPr/>
          <p:nvPr/>
        </p:nvSpPr>
        <p:spPr>
          <a:xfrm flipH="false" flipV="false" rot="0">
            <a:off x="12071572" y="5213115"/>
            <a:ext cx="250399" cy="369593"/>
          </a:xfrm>
          <a:custGeom>
            <a:avLst/>
            <a:gdLst/>
            <a:ahLst/>
            <a:cxnLst/>
            <a:rect r="r" b="b" t="t" l="l"/>
            <a:pathLst>
              <a:path h="369593" w="250399">
                <a:moveTo>
                  <a:pt x="0" y="0"/>
                </a:moveTo>
                <a:lnTo>
                  <a:pt x="250399" y="0"/>
                </a:lnTo>
                <a:lnTo>
                  <a:pt x="250399"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7" id="47"/>
          <p:cNvSpPr txBox="true"/>
          <p:nvPr/>
        </p:nvSpPr>
        <p:spPr>
          <a:xfrm rot="0">
            <a:off x="11853754" y="5554133"/>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48" id="48"/>
          <p:cNvGrpSpPr/>
          <p:nvPr/>
        </p:nvGrpSpPr>
        <p:grpSpPr>
          <a:xfrm rot="0">
            <a:off x="15234638" y="4698198"/>
            <a:ext cx="1446601" cy="144660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0" id="50"/>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5</a:t>
              </a:r>
            </a:p>
          </p:txBody>
        </p:sp>
      </p:grpSp>
      <p:sp>
        <p:nvSpPr>
          <p:cNvPr name="Freeform 51" id="51"/>
          <p:cNvSpPr/>
          <p:nvPr/>
        </p:nvSpPr>
        <p:spPr>
          <a:xfrm flipH="false" flipV="false" rot="0">
            <a:off x="15607388" y="5213115"/>
            <a:ext cx="250399" cy="369593"/>
          </a:xfrm>
          <a:custGeom>
            <a:avLst/>
            <a:gdLst/>
            <a:ahLst/>
            <a:cxnLst/>
            <a:rect r="r" b="b" t="t" l="l"/>
            <a:pathLst>
              <a:path h="369593" w="250399">
                <a:moveTo>
                  <a:pt x="0" y="0"/>
                </a:moveTo>
                <a:lnTo>
                  <a:pt x="250400" y="0"/>
                </a:lnTo>
                <a:lnTo>
                  <a:pt x="250400"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2" id="52"/>
          <p:cNvSpPr txBox="true"/>
          <p:nvPr/>
        </p:nvSpPr>
        <p:spPr>
          <a:xfrm rot="0">
            <a:off x="15389570" y="5554133"/>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grpSp>
        <p:nvGrpSpPr>
          <p:cNvPr name="Group 53" id="53"/>
          <p:cNvGrpSpPr/>
          <p:nvPr/>
        </p:nvGrpSpPr>
        <p:grpSpPr>
          <a:xfrm rot="0">
            <a:off x="8220971" y="4707300"/>
            <a:ext cx="1446601" cy="144660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1BC"/>
            </a:solidFill>
          </p:spPr>
        </p:sp>
        <p:sp>
          <p:nvSpPr>
            <p:cNvPr name="TextBox 55" id="55"/>
            <p:cNvSpPr txBox="true"/>
            <p:nvPr/>
          </p:nvSpPr>
          <p:spPr>
            <a:xfrm>
              <a:off x="76200" y="66675"/>
              <a:ext cx="660400" cy="669925"/>
            </a:xfrm>
            <a:prstGeom prst="rect">
              <a:avLst/>
            </a:prstGeom>
          </p:spPr>
          <p:txBody>
            <a:bodyPr anchor="ctr" rtlCol="false" tIns="53059" lIns="53059" bIns="53059" rIns="53059"/>
            <a:lstStyle/>
            <a:p>
              <a:pPr algn="ctr">
                <a:lnSpc>
                  <a:spcPts val="3654"/>
                </a:lnSpc>
              </a:pPr>
              <a:r>
                <a:rPr lang="en-US" b="true" sz="2995">
                  <a:solidFill>
                    <a:srgbClr val="FFFFFF"/>
                  </a:solidFill>
                  <a:latin typeface="Now Bold"/>
                  <a:ea typeface="Now Bold"/>
                  <a:cs typeface="Now Bold"/>
                  <a:sym typeface="Now Bold"/>
                </a:rPr>
                <a:t>  6</a:t>
              </a:r>
            </a:p>
          </p:txBody>
        </p:sp>
      </p:grpSp>
      <p:sp>
        <p:nvSpPr>
          <p:cNvPr name="TextBox 56" id="56"/>
          <p:cNvSpPr txBox="true"/>
          <p:nvPr/>
        </p:nvSpPr>
        <p:spPr>
          <a:xfrm rot="0">
            <a:off x="8375903" y="5563234"/>
            <a:ext cx="1216326" cy="232853"/>
          </a:xfrm>
          <a:prstGeom prst="rect">
            <a:avLst/>
          </a:prstGeom>
        </p:spPr>
        <p:txBody>
          <a:bodyPr anchor="t" rtlCol="false" tIns="0" lIns="0" bIns="0" rIns="0">
            <a:spAutoFit/>
          </a:bodyPr>
          <a:lstStyle/>
          <a:p>
            <a:pPr algn="just">
              <a:lnSpc>
                <a:spcPts val="1900"/>
              </a:lnSpc>
              <a:spcBef>
                <a:spcPct val="0"/>
              </a:spcBef>
            </a:pPr>
            <a:r>
              <a:rPr lang="en-US" sz="1357">
                <a:solidFill>
                  <a:srgbClr val="FFFFFF"/>
                </a:solidFill>
                <a:latin typeface="Open Sauce"/>
                <a:ea typeface="Open Sauce"/>
                <a:cs typeface="Open Sauce"/>
                <a:sym typeface="Open Sauce"/>
              </a:rPr>
              <a:t>Per Container</a:t>
            </a:r>
          </a:p>
        </p:txBody>
      </p:sp>
      <p:sp>
        <p:nvSpPr>
          <p:cNvPr name="Freeform 57" id="57"/>
          <p:cNvSpPr/>
          <p:nvPr/>
        </p:nvSpPr>
        <p:spPr>
          <a:xfrm flipH="false" flipV="false" rot="0">
            <a:off x="8628268" y="5213115"/>
            <a:ext cx="250399" cy="369593"/>
          </a:xfrm>
          <a:custGeom>
            <a:avLst/>
            <a:gdLst/>
            <a:ahLst/>
            <a:cxnLst/>
            <a:rect r="r" b="b" t="t" l="l"/>
            <a:pathLst>
              <a:path h="369593" w="250399">
                <a:moveTo>
                  <a:pt x="0" y="0"/>
                </a:moveTo>
                <a:lnTo>
                  <a:pt x="250400" y="0"/>
                </a:lnTo>
                <a:lnTo>
                  <a:pt x="250400" y="369593"/>
                </a:lnTo>
                <a:lnTo>
                  <a:pt x="0" y="36959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0" y="0"/>
            <a:ext cx="18288000" cy="4038239"/>
          </a:xfrm>
          <a:prstGeom prst="rect">
            <a:avLst/>
          </a:prstGeom>
          <a:solidFill>
            <a:srgbClr val="191919"/>
          </a:solidFill>
        </p:spPr>
      </p:sp>
      <p:grpSp>
        <p:nvGrpSpPr>
          <p:cNvPr name="Group 3" id="3"/>
          <p:cNvGrpSpPr/>
          <p:nvPr/>
        </p:nvGrpSpPr>
        <p:grpSpPr>
          <a:xfrm rot="0">
            <a:off x="417620" y="3379868"/>
            <a:ext cx="17452760" cy="5878432"/>
            <a:chOff x="0" y="0"/>
            <a:chExt cx="23270346" cy="7837909"/>
          </a:xfrm>
        </p:grpSpPr>
        <p:sp>
          <p:nvSpPr>
            <p:cNvPr name="AutoShape 4" id="4"/>
            <p:cNvSpPr/>
            <p:nvPr/>
          </p:nvSpPr>
          <p:spPr>
            <a:xfrm rot="0">
              <a:off x="4449891" y="0"/>
              <a:ext cx="3560891" cy="1771802"/>
            </a:xfrm>
            <a:prstGeom prst="rect">
              <a:avLst/>
            </a:prstGeom>
            <a:solidFill>
              <a:srgbClr val="13538A"/>
            </a:solidFill>
          </p:spPr>
        </p:sp>
        <p:sp>
          <p:nvSpPr>
            <p:cNvPr name="AutoShape 5" id="5"/>
            <p:cNvSpPr/>
            <p:nvPr/>
          </p:nvSpPr>
          <p:spPr>
            <a:xfrm rot="0">
              <a:off x="0" y="2025802"/>
              <a:ext cx="4195891" cy="1263802"/>
            </a:xfrm>
            <a:prstGeom prst="rect">
              <a:avLst/>
            </a:prstGeom>
            <a:solidFill>
              <a:srgbClr val="86EAE9">
                <a:alpha val="80000"/>
              </a:srgbClr>
            </a:solidFill>
          </p:spPr>
        </p:sp>
        <p:sp>
          <p:nvSpPr>
            <p:cNvPr name="AutoShape 6" id="6"/>
            <p:cNvSpPr/>
            <p:nvPr/>
          </p:nvSpPr>
          <p:spPr>
            <a:xfrm rot="0">
              <a:off x="0" y="3543605"/>
              <a:ext cx="4195891" cy="1263802"/>
            </a:xfrm>
            <a:prstGeom prst="rect">
              <a:avLst/>
            </a:prstGeom>
            <a:solidFill>
              <a:srgbClr val="86EAE9">
                <a:alpha val="80000"/>
              </a:srgbClr>
            </a:solidFill>
          </p:spPr>
        </p:sp>
        <p:sp>
          <p:nvSpPr>
            <p:cNvPr name="AutoShape 7" id="7"/>
            <p:cNvSpPr/>
            <p:nvPr/>
          </p:nvSpPr>
          <p:spPr>
            <a:xfrm rot="0">
              <a:off x="0" y="5056305"/>
              <a:ext cx="4195891" cy="1263802"/>
            </a:xfrm>
            <a:prstGeom prst="rect">
              <a:avLst/>
            </a:prstGeom>
            <a:solidFill>
              <a:srgbClr val="86EAE9">
                <a:alpha val="80000"/>
              </a:srgbClr>
            </a:solidFill>
          </p:spPr>
        </p:sp>
        <p:sp>
          <p:nvSpPr>
            <p:cNvPr name="AutoShape 8" id="8"/>
            <p:cNvSpPr/>
            <p:nvPr/>
          </p:nvSpPr>
          <p:spPr>
            <a:xfrm rot="0">
              <a:off x="4449891" y="2025802"/>
              <a:ext cx="3560891" cy="1263802"/>
            </a:xfrm>
            <a:prstGeom prst="rect">
              <a:avLst/>
            </a:prstGeom>
            <a:solidFill>
              <a:srgbClr val="13538A">
                <a:alpha val="40000"/>
              </a:srgbClr>
            </a:solidFill>
          </p:spPr>
        </p:sp>
        <p:sp>
          <p:nvSpPr>
            <p:cNvPr name="AutoShape 9" id="9"/>
            <p:cNvSpPr/>
            <p:nvPr/>
          </p:nvSpPr>
          <p:spPr>
            <a:xfrm rot="0">
              <a:off x="12079673" y="2025802"/>
              <a:ext cx="3560891" cy="1263802"/>
            </a:xfrm>
            <a:prstGeom prst="rect">
              <a:avLst/>
            </a:prstGeom>
            <a:solidFill>
              <a:srgbClr val="37C9EF">
                <a:alpha val="40000"/>
              </a:srgbClr>
            </a:solidFill>
          </p:spPr>
        </p:sp>
        <p:sp>
          <p:nvSpPr>
            <p:cNvPr name="AutoShape 10" id="10"/>
            <p:cNvSpPr/>
            <p:nvPr/>
          </p:nvSpPr>
          <p:spPr>
            <a:xfrm rot="0">
              <a:off x="8264782" y="2025802"/>
              <a:ext cx="3560891" cy="1263802"/>
            </a:xfrm>
            <a:prstGeom prst="rect">
              <a:avLst/>
            </a:prstGeom>
            <a:solidFill>
              <a:srgbClr val="2C92D5">
                <a:alpha val="40000"/>
              </a:srgbClr>
            </a:solidFill>
          </p:spPr>
        </p:sp>
        <p:sp>
          <p:nvSpPr>
            <p:cNvPr name="AutoShape 11" id="11"/>
            <p:cNvSpPr/>
            <p:nvPr/>
          </p:nvSpPr>
          <p:spPr>
            <a:xfrm rot="0">
              <a:off x="15894564" y="2025802"/>
              <a:ext cx="3560891" cy="1263802"/>
            </a:xfrm>
            <a:prstGeom prst="rect">
              <a:avLst/>
            </a:prstGeom>
            <a:solidFill>
              <a:srgbClr val="3EDAD8">
                <a:alpha val="40000"/>
              </a:srgbClr>
            </a:solidFill>
          </p:spPr>
        </p:sp>
        <p:sp>
          <p:nvSpPr>
            <p:cNvPr name="AutoShape 12" id="12"/>
            <p:cNvSpPr/>
            <p:nvPr/>
          </p:nvSpPr>
          <p:spPr>
            <a:xfrm rot="0">
              <a:off x="19709455" y="2025802"/>
              <a:ext cx="3560891" cy="1263802"/>
            </a:xfrm>
            <a:prstGeom prst="rect">
              <a:avLst/>
            </a:prstGeom>
            <a:solidFill>
              <a:srgbClr val="86EAE9">
                <a:alpha val="40000"/>
              </a:srgbClr>
            </a:solidFill>
          </p:spPr>
        </p:sp>
        <p:sp>
          <p:nvSpPr>
            <p:cNvPr name="AutoShape 13" id="13"/>
            <p:cNvSpPr/>
            <p:nvPr/>
          </p:nvSpPr>
          <p:spPr>
            <a:xfrm rot="0">
              <a:off x="4449891" y="3543605"/>
              <a:ext cx="3560891" cy="1263802"/>
            </a:xfrm>
            <a:prstGeom prst="rect">
              <a:avLst/>
            </a:prstGeom>
            <a:solidFill>
              <a:srgbClr val="13538A">
                <a:alpha val="40000"/>
              </a:srgbClr>
            </a:solidFill>
          </p:spPr>
        </p:sp>
        <p:sp>
          <p:nvSpPr>
            <p:cNvPr name="AutoShape 14" id="14"/>
            <p:cNvSpPr/>
            <p:nvPr/>
          </p:nvSpPr>
          <p:spPr>
            <a:xfrm rot="0">
              <a:off x="12079673" y="3543605"/>
              <a:ext cx="3560891" cy="1263802"/>
            </a:xfrm>
            <a:prstGeom prst="rect">
              <a:avLst/>
            </a:prstGeom>
            <a:solidFill>
              <a:srgbClr val="37C9EF">
                <a:alpha val="40000"/>
              </a:srgbClr>
            </a:solidFill>
          </p:spPr>
        </p:sp>
        <p:sp>
          <p:nvSpPr>
            <p:cNvPr name="AutoShape 15" id="15"/>
            <p:cNvSpPr/>
            <p:nvPr/>
          </p:nvSpPr>
          <p:spPr>
            <a:xfrm rot="0">
              <a:off x="8264782" y="3543605"/>
              <a:ext cx="3560891" cy="1263802"/>
            </a:xfrm>
            <a:prstGeom prst="rect">
              <a:avLst/>
            </a:prstGeom>
            <a:solidFill>
              <a:srgbClr val="2C92D5">
                <a:alpha val="40000"/>
              </a:srgbClr>
            </a:solidFill>
          </p:spPr>
        </p:sp>
        <p:sp>
          <p:nvSpPr>
            <p:cNvPr name="AutoShape 16" id="16"/>
            <p:cNvSpPr/>
            <p:nvPr/>
          </p:nvSpPr>
          <p:spPr>
            <a:xfrm rot="0">
              <a:off x="15894564" y="3543605"/>
              <a:ext cx="3560891" cy="1263802"/>
            </a:xfrm>
            <a:prstGeom prst="rect">
              <a:avLst/>
            </a:prstGeom>
            <a:solidFill>
              <a:srgbClr val="3EDAD8">
                <a:alpha val="40000"/>
              </a:srgbClr>
            </a:solidFill>
          </p:spPr>
        </p:sp>
        <p:sp>
          <p:nvSpPr>
            <p:cNvPr name="AutoShape 17" id="17"/>
            <p:cNvSpPr/>
            <p:nvPr/>
          </p:nvSpPr>
          <p:spPr>
            <a:xfrm rot="0">
              <a:off x="19709455" y="3543605"/>
              <a:ext cx="3560891" cy="1263802"/>
            </a:xfrm>
            <a:prstGeom prst="rect">
              <a:avLst/>
            </a:prstGeom>
            <a:solidFill>
              <a:srgbClr val="86EAE9">
                <a:alpha val="40000"/>
              </a:srgbClr>
            </a:solidFill>
          </p:spPr>
        </p:sp>
        <p:sp>
          <p:nvSpPr>
            <p:cNvPr name="AutoShape 18" id="18"/>
            <p:cNvSpPr/>
            <p:nvPr/>
          </p:nvSpPr>
          <p:spPr>
            <a:xfrm rot="0">
              <a:off x="4449891" y="5056305"/>
              <a:ext cx="3560891" cy="1263802"/>
            </a:xfrm>
            <a:prstGeom prst="rect">
              <a:avLst/>
            </a:prstGeom>
            <a:solidFill>
              <a:srgbClr val="13538A">
                <a:alpha val="40000"/>
              </a:srgbClr>
            </a:solidFill>
          </p:spPr>
        </p:sp>
        <p:sp>
          <p:nvSpPr>
            <p:cNvPr name="AutoShape 19" id="19"/>
            <p:cNvSpPr/>
            <p:nvPr/>
          </p:nvSpPr>
          <p:spPr>
            <a:xfrm rot="0">
              <a:off x="12079673" y="5056305"/>
              <a:ext cx="3560891" cy="1263802"/>
            </a:xfrm>
            <a:prstGeom prst="rect">
              <a:avLst/>
            </a:prstGeom>
            <a:solidFill>
              <a:srgbClr val="37C9EF">
                <a:alpha val="40000"/>
              </a:srgbClr>
            </a:solidFill>
          </p:spPr>
        </p:sp>
        <p:sp>
          <p:nvSpPr>
            <p:cNvPr name="AutoShape 20" id="20"/>
            <p:cNvSpPr/>
            <p:nvPr/>
          </p:nvSpPr>
          <p:spPr>
            <a:xfrm rot="0">
              <a:off x="8264782" y="5056305"/>
              <a:ext cx="3560891" cy="1263802"/>
            </a:xfrm>
            <a:prstGeom prst="rect">
              <a:avLst/>
            </a:prstGeom>
            <a:solidFill>
              <a:srgbClr val="2C92D5">
                <a:alpha val="40000"/>
              </a:srgbClr>
            </a:solidFill>
          </p:spPr>
        </p:sp>
        <p:sp>
          <p:nvSpPr>
            <p:cNvPr name="AutoShape 21" id="21"/>
            <p:cNvSpPr/>
            <p:nvPr/>
          </p:nvSpPr>
          <p:spPr>
            <a:xfrm rot="0">
              <a:off x="15894564" y="5056305"/>
              <a:ext cx="3560891" cy="1263802"/>
            </a:xfrm>
            <a:prstGeom prst="rect">
              <a:avLst/>
            </a:prstGeom>
            <a:solidFill>
              <a:srgbClr val="3EDAD8">
                <a:alpha val="40000"/>
              </a:srgbClr>
            </a:solidFill>
          </p:spPr>
        </p:sp>
        <p:sp>
          <p:nvSpPr>
            <p:cNvPr name="AutoShape 22" id="22"/>
            <p:cNvSpPr/>
            <p:nvPr/>
          </p:nvSpPr>
          <p:spPr>
            <a:xfrm rot="0">
              <a:off x="19709455" y="5056305"/>
              <a:ext cx="3560891" cy="1263802"/>
            </a:xfrm>
            <a:prstGeom prst="rect">
              <a:avLst/>
            </a:prstGeom>
            <a:solidFill>
              <a:srgbClr val="86EAE9">
                <a:alpha val="40000"/>
              </a:srgbClr>
            </a:solidFill>
          </p:spPr>
        </p:sp>
        <p:sp>
          <p:nvSpPr>
            <p:cNvPr name="AutoShape 23" id="23"/>
            <p:cNvSpPr/>
            <p:nvPr/>
          </p:nvSpPr>
          <p:spPr>
            <a:xfrm rot="0">
              <a:off x="4449891" y="6574107"/>
              <a:ext cx="3560891" cy="1263802"/>
            </a:xfrm>
            <a:prstGeom prst="rect">
              <a:avLst/>
            </a:prstGeom>
            <a:solidFill>
              <a:srgbClr val="13538A">
                <a:alpha val="40000"/>
              </a:srgbClr>
            </a:solidFill>
          </p:spPr>
        </p:sp>
        <p:sp>
          <p:nvSpPr>
            <p:cNvPr name="AutoShape 24" id="24"/>
            <p:cNvSpPr/>
            <p:nvPr/>
          </p:nvSpPr>
          <p:spPr>
            <a:xfrm rot="0">
              <a:off x="12079673" y="6574107"/>
              <a:ext cx="3560891" cy="1263802"/>
            </a:xfrm>
            <a:prstGeom prst="rect">
              <a:avLst/>
            </a:prstGeom>
            <a:solidFill>
              <a:srgbClr val="37C9EF">
                <a:alpha val="40000"/>
              </a:srgbClr>
            </a:solidFill>
          </p:spPr>
        </p:sp>
        <p:sp>
          <p:nvSpPr>
            <p:cNvPr name="AutoShape 25" id="25"/>
            <p:cNvSpPr/>
            <p:nvPr/>
          </p:nvSpPr>
          <p:spPr>
            <a:xfrm rot="0">
              <a:off x="8264782" y="6574107"/>
              <a:ext cx="3560891" cy="1263802"/>
            </a:xfrm>
            <a:prstGeom prst="rect">
              <a:avLst/>
            </a:prstGeom>
            <a:solidFill>
              <a:srgbClr val="2C92D5">
                <a:alpha val="40000"/>
              </a:srgbClr>
            </a:solidFill>
          </p:spPr>
        </p:sp>
        <p:sp>
          <p:nvSpPr>
            <p:cNvPr name="AutoShape 26" id="26"/>
            <p:cNvSpPr/>
            <p:nvPr/>
          </p:nvSpPr>
          <p:spPr>
            <a:xfrm rot="0">
              <a:off x="15894564" y="6574107"/>
              <a:ext cx="3560891" cy="1263802"/>
            </a:xfrm>
            <a:prstGeom prst="rect">
              <a:avLst/>
            </a:prstGeom>
            <a:solidFill>
              <a:srgbClr val="3EDAD8">
                <a:alpha val="40000"/>
              </a:srgbClr>
            </a:solidFill>
          </p:spPr>
        </p:sp>
        <p:sp>
          <p:nvSpPr>
            <p:cNvPr name="AutoShape 27" id="27"/>
            <p:cNvSpPr/>
            <p:nvPr/>
          </p:nvSpPr>
          <p:spPr>
            <a:xfrm rot="0">
              <a:off x="19709455" y="6574107"/>
              <a:ext cx="3560891" cy="1263802"/>
            </a:xfrm>
            <a:prstGeom prst="rect">
              <a:avLst/>
            </a:prstGeom>
            <a:solidFill>
              <a:srgbClr val="86EAE9">
                <a:alpha val="40000"/>
              </a:srgbClr>
            </a:solidFill>
          </p:spPr>
        </p:sp>
        <p:sp>
          <p:nvSpPr>
            <p:cNvPr name="AutoShape 28" id="28"/>
            <p:cNvSpPr/>
            <p:nvPr/>
          </p:nvSpPr>
          <p:spPr>
            <a:xfrm rot="0">
              <a:off x="0" y="6574107"/>
              <a:ext cx="4195891" cy="1263802"/>
            </a:xfrm>
            <a:prstGeom prst="rect">
              <a:avLst/>
            </a:prstGeom>
            <a:solidFill>
              <a:srgbClr val="86EAE9">
                <a:alpha val="80000"/>
              </a:srgbClr>
            </a:solidFill>
          </p:spPr>
        </p:sp>
        <p:sp>
          <p:nvSpPr>
            <p:cNvPr name="AutoShape 29" id="29"/>
            <p:cNvSpPr/>
            <p:nvPr/>
          </p:nvSpPr>
          <p:spPr>
            <a:xfrm rot="0">
              <a:off x="0" y="0"/>
              <a:ext cx="4195891" cy="1771802"/>
            </a:xfrm>
            <a:prstGeom prst="rect">
              <a:avLst/>
            </a:prstGeom>
            <a:solidFill>
              <a:srgbClr val="FFFFFF"/>
            </a:solidFill>
          </p:spPr>
        </p:sp>
        <p:sp>
          <p:nvSpPr>
            <p:cNvPr name="AutoShape 30" id="30"/>
            <p:cNvSpPr/>
            <p:nvPr/>
          </p:nvSpPr>
          <p:spPr>
            <a:xfrm rot="0">
              <a:off x="8264782" y="0"/>
              <a:ext cx="3560891" cy="1771802"/>
            </a:xfrm>
            <a:prstGeom prst="rect">
              <a:avLst/>
            </a:prstGeom>
            <a:solidFill>
              <a:srgbClr val="2C92D5"/>
            </a:solidFill>
          </p:spPr>
        </p:sp>
        <p:sp>
          <p:nvSpPr>
            <p:cNvPr name="AutoShape 31" id="31"/>
            <p:cNvSpPr/>
            <p:nvPr/>
          </p:nvSpPr>
          <p:spPr>
            <a:xfrm rot="0">
              <a:off x="12079673" y="0"/>
              <a:ext cx="3560891" cy="1771802"/>
            </a:xfrm>
            <a:prstGeom prst="rect">
              <a:avLst/>
            </a:prstGeom>
            <a:solidFill>
              <a:srgbClr val="37C9EF"/>
            </a:solidFill>
          </p:spPr>
        </p:sp>
        <p:sp>
          <p:nvSpPr>
            <p:cNvPr name="AutoShape 32" id="32"/>
            <p:cNvSpPr/>
            <p:nvPr/>
          </p:nvSpPr>
          <p:spPr>
            <a:xfrm rot="0">
              <a:off x="15894564" y="0"/>
              <a:ext cx="3560891" cy="1771802"/>
            </a:xfrm>
            <a:prstGeom prst="rect">
              <a:avLst/>
            </a:prstGeom>
            <a:solidFill>
              <a:srgbClr val="3EDAD8"/>
            </a:solidFill>
          </p:spPr>
        </p:sp>
        <p:sp>
          <p:nvSpPr>
            <p:cNvPr name="AutoShape 33" id="33"/>
            <p:cNvSpPr/>
            <p:nvPr/>
          </p:nvSpPr>
          <p:spPr>
            <a:xfrm rot="0">
              <a:off x="19709455" y="0"/>
              <a:ext cx="3560891" cy="1771802"/>
            </a:xfrm>
            <a:prstGeom prst="rect">
              <a:avLst/>
            </a:prstGeom>
            <a:solidFill>
              <a:srgbClr val="86EAE9"/>
            </a:solidFill>
          </p:spPr>
        </p:sp>
      </p:grpSp>
      <p:sp>
        <p:nvSpPr>
          <p:cNvPr name="TextBox 34" id="34"/>
          <p:cNvSpPr txBox="true"/>
          <p:nvPr/>
        </p:nvSpPr>
        <p:spPr>
          <a:xfrm rot="0">
            <a:off x="3945538" y="3828199"/>
            <a:ext cx="2289668" cy="361950"/>
          </a:xfrm>
          <a:prstGeom prst="rect">
            <a:avLst/>
          </a:prstGeom>
        </p:spPr>
        <p:txBody>
          <a:bodyPr anchor="t" rtlCol="false" tIns="0" lIns="0" bIns="0" rIns="0">
            <a:spAutoFit/>
          </a:bodyPr>
          <a:lstStyle/>
          <a:p>
            <a:pPr algn="ctr">
              <a:lnSpc>
                <a:spcPts val="2879"/>
              </a:lnSpc>
            </a:pPr>
            <a:r>
              <a:rPr lang="en-US" b="true" sz="2400" spc="240">
                <a:solidFill>
                  <a:srgbClr val="FFFFFF"/>
                </a:solidFill>
                <a:latin typeface="Aileron Bold"/>
                <a:ea typeface="Aileron Bold"/>
                <a:cs typeface="Aileron Bold"/>
                <a:sym typeface="Aileron Bold"/>
              </a:rPr>
              <a:t>PRICE</a:t>
            </a:r>
          </a:p>
        </p:txBody>
      </p:sp>
      <p:sp>
        <p:nvSpPr>
          <p:cNvPr name="TextBox 35" id="35"/>
          <p:cNvSpPr txBox="true"/>
          <p:nvPr/>
        </p:nvSpPr>
        <p:spPr>
          <a:xfrm rot="0">
            <a:off x="6806707" y="3828199"/>
            <a:ext cx="2289668" cy="361950"/>
          </a:xfrm>
          <a:prstGeom prst="rect">
            <a:avLst/>
          </a:prstGeom>
        </p:spPr>
        <p:txBody>
          <a:bodyPr anchor="t" rtlCol="false" tIns="0" lIns="0" bIns="0" rIns="0">
            <a:spAutoFit/>
          </a:bodyPr>
          <a:lstStyle/>
          <a:p>
            <a:pPr algn="ctr">
              <a:lnSpc>
                <a:spcPts val="2879"/>
              </a:lnSpc>
            </a:pPr>
            <a:r>
              <a:rPr lang="en-US" b="true" sz="2400" spc="240">
                <a:solidFill>
                  <a:srgbClr val="FFFFFF"/>
                </a:solidFill>
                <a:latin typeface="Aileron Bold"/>
                <a:ea typeface="Aileron Bold"/>
                <a:cs typeface="Aileron Bold"/>
                <a:sym typeface="Aileron Bold"/>
              </a:rPr>
              <a:t>TASTE</a:t>
            </a:r>
          </a:p>
        </p:txBody>
      </p:sp>
      <p:sp>
        <p:nvSpPr>
          <p:cNvPr name="TextBox 36" id="36"/>
          <p:cNvSpPr txBox="true"/>
          <p:nvPr/>
        </p:nvSpPr>
        <p:spPr>
          <a:xfrm rot="0">
            <a:off x="9667875" y="3828199"/>
            <a:ext cx="2289668" cy="361950"/>
          </a:xfrm>
          <a:prstGeom prst="rect">
            <a:avLst/>
          </a:prstGeom>
        </p:spPr>
        <p:txBody>
          <a:bodyPr anchor="t" rtlCol="false" tIns="0" lIns="0" bIns="0" rIns="0">
            <a:spAutoFit/>
          </a:bodyPr>
          <a:lstStyle/>
          <a:p>
            <a:pPr algn="ctr">
              <a:lnSpc>
                <a:spcPts val="2879"/>
              </a:lnSpc>
            </a:pPr>
            <a:r>
              <a:rPr lang="en-US" b="true" sz="2400" spc="240">
                <a:solidFill>
                  <a:srgbClr val="FFFFFF"/>
                </a:solidFill>
                <a:latin typeface="Aileron Bold"/>
                <a:ea typeface="Aileron Bold"/>
                <a:cs typeface="Aileron Bold"/>
                <a:sym typeface="Aileron Bold"/>
              </a:rPr>
              <a:t>AMBIENCE</a:t>
            </a:r>
          </a:p>
        </p:txBody>
      </p:sp>
      <p:sp>
        <p:nvSpPr>
          <p:cNvPr name="TextBox 37" id="37"/>
          <p:cNvSpPr txBox="true"/>
          <p:nvPr/>
        </p:nvSpPr>
        <p:spPr>
          <a:xfrm rot="0">
            <a:off x="12529043" y="3828199"/>
            <a:ext cx="2289668" cy="361950"/>
          </a:xfrm>
          <a:prstGeom prst="rect">
            <a:avLst/>
          </a:prstGeom>
        </p:spPr>
        <p:txBody>
          <a:bodyPr anchor="t" rtlCol="false" tIns="0" lIns="0" bIns="0" rIns="0">
            <a:spAutoFit/>
          </a:bodyPr>
          <a:lstStyle/>
          <a:p>
            <a:pPr algn="ctr">
              <a:lnSpc>
                <a:spcPts val="2879"/>
              </a:lnSpc>
            </a:pPr>
            <a:r>
              <a:rPr lang="en-US" b="true" sz="2400" spc="240">
                <a:solidFill>
                  <a:srgbClr val="FFFFFF"/>
                </a:solidFill>
                <a:latin typeface="Aileron Bold"/>
                <a:ea typeface="Aileron Bold"/>
                <a:cs typeface="Aileron Bold"/>
                <a:sym typeface="Aileron Bold"/>
              </a:rPr>
              <a:t>PARKING</a:t>
            </a:r>
          </a:p>
        </p:txBody>
      </p:sp>
      <p:sp>
        <p:nvSpPr>
          <p:cNvPr name="TextBox 38" id="38"/>
          <p:cNvSpPr txBox="true"/>
          <p:nvPr/>
        </p:nvSpPr>
        <p:spPr>
          <a:xfrm rot="0">
            <a:off x="15390212" y="3828199"/>
            <a:ext cx="2289668" cy="361950"/>
          </a:xfrm>
          <a:prstGeom prst="rect">
            <a:avLst/>
          </a:prstGeom>
        </p:spPr>
        <p:txBody>
          <a:bodyPr anchor="t" rtlCol="false" tIns="0" lIns="0" bIns="0" rIns="0">
            <a:spAutoFit/>
          </a:bodyPr>
          <a:lstStyle/>
          <a:p>
            <a:pPr algn="ctr">
              <a:lnSpc>
                <a:spcPts val="2879"/>
              </a:lnSpc>
            </a:pPr>
            <a:r>
              <a:rPr lang="en-US" b="true" sz="2400" spc="240">
                <a:solidFill>
                  <a:srgbClr val="FFFFFF"/>
                </a:solidFill>
                <a:latin typeface="Aileron Bold"/>
                <a:ea typeface="Aileron Bold"/>
                <a:cs typeface="Aileron Bold"/>
                <a:sym typeface="Aileron Bold"/>
              </a:rPr>
              <a:t>SERVICE</a:t>
            </a:r>
          </a:p>
        </p:txBody>
      </p:sp>
      <p:grpSp>
        <p:nvGrpSpPr>
          <p:cNvPr name="Group 39" id="39"/>
          <p:cNvGrpSpPr/>
          <p:nvPr/>
        </p:nvGrpSpPr>
        <p:grpSpPr>
          <a:xfrm rot="0">
            <a:off x="4762861" y="1010920"/>
            <a:ext cx="8762277" cy="1126490"/>
            <a:chOff x="0" y="0"/>
            <a:chExt cx="11683037" cy="1501987"/>
          </a:xfrm>
        </p:grpSpPr>
        <p:sp>
          <p:nvSpPr>
            <p:cNvPr name="TextBox 40" id="40"/>
            <p:cNvSpPr txBox="true"/>
            <p:nvPr/>
          </p:nvSpPr>
          <p:spPr>
            <a:xfrm rot="0">
              <a:off x="0" y="-38100"/>
              <a:ext cx="11683037" cy="764540"/>
            </a:xfrm>
            <a:prstGeom prst="rect">
              <a:avLst/>
            </a:prstGeom>
          </p:spPr>
          <p:txBody>
            <a:bodyPr anchor="t" rtlCol="false" tIns="0" lIns="0" bIns="0" rIns="0">
              <a:spAutoFit/>
            </a:bodyPr>
            <a:lstStyle/>
            <a:p>
              <a:pPr algn="ctr">
                <a:lnSpc>
                  <a:spcPts val="4680"/>
                </a:lnSpc>
              </a:pPr>
              <a:r>
                <a:rPr lang="en-US" b="true" sz="3600" spc="107">
                  <a:solidFill>
                    <a:srgbClr val="3EDAD8"/>
                  </a:solidFill>
                  <a:latin typeface="Aileron Heavy"/>
                  <a:ea typeface="Aileron Heavy"/>
                  <a:cs typeface="Aileron Heavy"/>
                  <a:sym typeface="Aileron Heavy"/>
                </a:rPr>
                <a:t>Restaurant Comparison</a:t>
              </a:r>
            </a:p>
          </p:txBody>
        </p:sp>
        <p:sp>
          <p:nvSpPr>
            <p:cNvPr name="TextBox 41" id="41"/>
            <p:cNvSpPr txBox="true"/>
            <p:nvPr/>
          </p:nvSpPr>
          <p:spPr>
            <a:xfrm rot="0">
              <a:off x="0" y="923290"/>
              <a:ext cx="11683037" cy="578697"/>
            </a:xfrm>
            <a:prstGeom prst="rect">
              <a:avLst/>
            </a:prstGeom>
          </p:spPr>
          <p:txBody>
            <a:bodyPr anchor="t" rtlCol="false" tIns="0" lIns="0" bIns="0" rIns="0">
              <a:spAutoFit/>
            </a:bodyPr>
            <a:lstStyle/>
            <a:p>
              <a:pPr algn="ctr">
                <a:lnSpc>
                  <a:spcPts val="3640"/>
                </a:lnSpc>
              </a:pPr>
              <a:r>
                <a:rPr lang="en-US" sz="2600" spc="130">
                  <a:solidFill>
                    <a:srgbClr val="FFFFFF"/>
                  </a:solidFill>
                  <a:latin typeface="Aileron"/>
                  <a:ea typeface="Aileron"/>
                  <a:cs typeface="Aileron"/>
                  <a:sym typeface="Aileron"/>
                </a:rPr>
                <a:t>Pizza Restaurants</a:t>
              </a:r>
            </a:p>
          </p:txBody>
        </p:sp>
      </p:grpSp>
      <p:sp>
        <p:nvSpPr>
          <p:cNvPr name="TextBox 42" id="42"/>
          <p:cNvSpPr txBox="true"/>
          <p:nvPr/>
        </p:nvSpPr>
        <p:spPr>
          <a:xfrm rot="0">
            <a:off x="707585" y="5006116"/>
            <a:ext cx="2566988" cy="715010"/>
          </a:xfrm>
          <a:prstGeom prst="rect">
            <a:avLst/>
          </a:prstGeom>
        </p:spPr>
        <p:txBody>
          <a:bodyPr anchor="t" rtlCol="false" tIns="0" lIns="0" bIns="0" rIns="0">
            <a:spAutoFit/>
          </a:bodyPr>
          <a:lstStyle/>
          <a:p>
            <a:pPr algn="ctr">
              <a:lnSpc>
                <a:spcPts val="2859"/>
              </a:lnSpc>
            </a:pPr>
            <a:r>
              <a:rPr lang="en-US" sz="2199" spc="109">
                <a:solidFill>
                  <a:srgbClr val="191919"/>
                </a:solidFill>
                <a:latin typeface="Aileron"/>
                <a:ea typeface="Aileron"/>
                <a:cs typeface="Aileron"/>
                <a:sym typeface="Aileron"/>
              </a:rPr>
              <a:t>Cheese Please</a:t>
            </a:r>
          </a:p>
          <a:p>
            <a:pPr algn="ctr">
              <a:lnSpc>
                <a:spcPts val="2860"/>
              </a:lnSpc>
            </a:pPr>
            <a:r>
              <a:rPr lang="en-US" sz="2200" spc="109">
                <a:solidFill>
                  <a:srgbClr val="191919"/>
                </a:solidFill>
                <a:latin typeface="Aileron"/>
                <a:ea typeface="Aileron"/>
                <a:cs typeface="Aileron"/>
                <a:sym typeface="Aileron"/>
              </a:rPr>
              <a:t>Pizza Joint</a:t>
            </a:r>
          </a:p>
        </p:txBody>
      </p:sp>
      <p:sp>
        <p:nvSpPr>
          <p:cNvPr name="TextBox 43" id="43"/>
          <p:cNvSpPr txBox="true"/>
          <p:nvPr/>
        </p:nvSpPr>
        <p:spPr>
          <a:xfrm rot="0">
            <a:off x="707585" y="6325442"/>
            <a:ext cx="2566988" cy="353060"/>
          </a:xfrm>
          <a:prstGeom prst="rect">
            <a:avLst/>
          </a:prstGeom>
        </p:spPr>
        <p:txBody>
          <a:bodyPr anchor="t" rtlCol="false" tIns="0" lIns="0" bIns="0" rIns="0">
            <a:spAutoFit/>
          </a:bodyPr>
          <a:lstStyle/>
          <a:p>
            <a:pPr algn="ctr">
              <a:lnSpc>
                <a:spcPts val="2860"/>
              </a:lnSpc>
            </a:pPr>
            <a:r>
              <a:rPr lang="en-US" sz="2200" spc="109">
                <a:solidFill>
                  <a:srgbClr val="191919"/>
                </a:solidFill>
                <a:latin typeface="Aileron"/>
                <a:ea typeface="Aileron"/>
                <a:cs typeface="Aileron"/>
                <a:sym typeface="Aileron"/>
              </a:rPr>
              <a:t>Mario's Pizzeria</a:t>
            </a:r>
          </a:p>
        </p:txBody>
      </p:sp>
      <p:sp>
        <p:nvSpPr>
          <p:cNvPr name="TextBox 44" id="44"/>
          <p:cNvSpPr txBox="true"/>
          <p:nvPr/>
        </p:nvSpPr>
        <p:spPr>
          <a:xfrm rot="0">
            <a:off x="707585" y="7459967"/>
            <a:ext cx="2566988" cy="353060"/>
          </a:xfrm>
          <a:prstGeom prst="rect">
            <a:avLst/>
          </a:prstGeom>
        </p:spPr>
        <p:txBody>
          <a:bodyPr anchor="t" rtlCol="false" tIns="0" lIns="0" bIns="0" rIns="0">
            <a:spAutoFit/>
          </a:bodyPr>
          <a:lstStyle/>
          <a:p>
            <a:pPr algn="ctr">
              <a:lnSpc>
                <a:spcPts val="2860"/>
              </a:lnSpc>
            </a:pPr>
            <a:r>
              <a:rPr lang="en-US" sz="2200" spc="109">
                <a:solidFill>
                  <a:srgbClr val="191919"/>
                </a:solidFill>
                <a:latin typeface="Aileron"/>
                <a:ea typeface="Aileron"/>
                <a:cs typeface="Aileron"/>
                <a:sym typeface="Aileron"/>
              </a:rPr>
              <a:t>5M Pizza</a:t>
            </a:r>
          </a:p>
        </p:txBody>
      </p:sp>
      <p:sp>
        <p:nvSpPr>
          <p:cNvPr name="TextBox 45" id="45"/>
          <p:cNvSpPr txBox="true"/>
          <p:nvPr/>
        </p:nvSpPr>
        <p:spPr>
          <a:xfrm rot="0">
            <a:off x="707585" y="8598319"/>
            <a:ext cx="2566988" cy="353060"/>
          </a:xfrm>
          <a:prstGeom prst="rect">
            <a:avLst/>
          </a:prstGeom>
        </p:spPr>
        <p:txBody>
          <a:bodyPr anchor="t" rtlCol="false" tIns="0" lIns="0" bIns="0" rIns="0">
            <a:spAutoFit/>
          </a:bodyPr>
          <a:lstStyle/>
          <a:p>
            <a:pPr algn="ctr">
              <a:lnSpc>
                <a:spcPts val="2860"/>
              </a:lnSpc>
            </a:pPr>
            <a:r>
              <a:rPr lang="en-US" sz="2200" spc="109">
                <a:solidFill>
                  <a:srgbClr val="191919"/>
                </a:solidFill>
                <a:latin typeface="Aileron"/>
                <a:ea typeface="Aileron"/>
                <a:cs typeface="Aileron"/>
                <a:sym typeface="Aileron"/>
              </a:rPr>
              <a:t>Celia's Pizza Stop</a:t>
            </a:r>
          </a:p>
        </p:txBody>
      </p:sp>
      <p:sp>
        <p:nvSpPr>
          <p:cNvPr name="TextBox 46" id="46"/>
          <p:cNvSpPr txBox="true"/>
          <p:nvPr/>
        </p:nvSpPr>
        <p:spPr>
          <a:xfrm rot="0">
            <a:off x="707585" y="3682344"/>
            <a:ext cx="2566988" cy="723900"/>
          </a:xfrm>
          <a:prstGeom prst="rect">
            <a:avLst/>
          </a:prstGeom>
        </p:spPr>
        <p:txBody>
          <a:bodyPr anchor="t" rtlCol="false" tIns="0" lIns="0" bIns="0" rIns="0">
            <a:spAutoFit/>
          </a:bodyPr>
          <a:lstStyle/>
          <a:p>
            <a:pPr algn="ctr">
              <a:lnSpc>
                <a:spcPts val="2879"/>
              </a:lnSpc>
            </a:pPr>
            <a:r>
              <a:rPr lang="en-US" b="true" sz="2400" spc="240">
                <a:solidFill>
                  <a:srgbClr val="191919"/>
                </a:solidFill>
                <a:latin typeface="Aileron Bold"/>
                <a:ea typeface="Aileron Bold"/>
                <a:cs typeface="Aileron Bold"/>
                <a:sym typeface="Aileron Bold"/>
              </a:rPr>
              <a:t>PLAN STRUCTURE</a:t>
            </a:r>
          </a:p>
        </p:txBody>
      </p:sp>
      <p:sp>
        <p:nvSpPr>
          <p:cNvPr name="Freeform 47" id="47"/>
          <p:cNvSpPr/>
          <p:nvPr/>
        </p:nvSpPr>
        <p:spPr>
          <a:xfrm flipH="false" flipV="false" rot="0">
            <a:off x="10600837" y="8617369"/>
            <a:ext cx="423744" cy="334010"/>
          </a:xfrm>
          <a:custGeom>
            <a:avLst/>
            <a:gdLst/>
            <a:ahLst/>
            <a:cxnLst/>
            <a:rect r="r" b="b" t="t" l="l"/>
            <a:pathLst>
              <a:path h="334010" w="423744">
                <a:moveTo>
                  <a:pt x="0" y="0"/>
                </a:moveTo>
                <a:lnTo>
                  <a:pt x="423744" y="0"/>
                </a:lnTo>
                <a:lnTo>
                  <a:pt x="423744" y="334010"/>
                </a:lnTo>
                <a:lnTo>
                  <a:pt x="0" y="334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8" id="48"/>
          <p:cNvSpPr/>
          <p:nvPr/>
        </p:nvSpPr>
        <p:spPr>
          <a:xfrm flipH="false" flipV="false" rot="0">
            <a:off x="4878501" y="7479017"/>
            <a:ext cx="423744" cy="334010"/>
          </a:xfrm>
          <a:custGeom>
            <a:avLst/>
            <a:gdLst/>
            <a:ahLst/>
            <a:cxnLst/>
            <a:rect r="r" b="b" t="t" l="l"/>
            <a:pathLst>
              <a:path h="334010" w="423744">
                <a:moveTo>
                  <a:pt x="0" y="0"/>
                </a:moveTo>
                <a:lnTo>
                  <a:pt x="423744" y="0"/>
                </a:lnTo>
                <a:lnTo>
                  <a:pt x="423744" y="334010"/>
                </a:lnTo>
                <a:lnTo>
                  <a:pt x="0" y="334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9" id="49"/>
          <p:cNvSpPr/>
          <p:nvPr/>
        </p:nvSpPr>
        <p:spPr>
          <a:xfrm flipH="false" flipV="false" rot="0">
            <a:off x="13462005" y="7479017"/>
            <a:ext cx="423744" cy="334010"/>
          </a:xfrm>
          <a:custGeom>
            <a:avLst/>
            <a:gdLst/>
            <a:ahLst/>
            <a:cxnLst/>
            <a:rect r="r" b="b" t="t" l="l"/>
            <a:pathLst>
              <a:path h="334010" w="423744">
                <a:moveTo>
                  <a:pt x="0" y="0"/>
                </a:moveTo>
                <a:lnTo>
                  <a:pt x="423744" y="0"/>
                </a:lnTo>
                <a:lnTo>
                  <a:pt x="423744" y="334010"/>
                </a:lnTo>
                <a:lnTo>
                  <a:pt x="0" y="334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0" id="50"/>
          <p:cNvSpPr/>
          <p:nvPr/>
        </p:nvSpPr>
        <p:spPr>
          <a:xfrm flipH="false" flipV="false" rot="0">
            <a:off x="7738958" y="5205580"/>
            <a:ext cx="425166" cy="335131"/>
          </a:xfrm>
          <a:custGeom>
            <a:avLst/>
            <a:gdLst/>
            <a:ahLst/>
            <a:cxnLst/>
            <a:rect r="r" b="b" t="t" l="l"/>
            <a:pathLst>
              <a:path h="335131" w="425166">
                <a:moveTo>
                  <a:pt x="0" y="0"/>
                </a:moveTo>
                <a:lnTo>
                  <a:pt x="425166" y="0"/>
                </a:lnTo>
                <a:lnTo>
                  <a:pt x="425166" y="335131"/>
                </a:lnTo>
                <a:lnTo>
                  <a:pt x="0" y="335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1" id="51"/>
          <p:cNvSpPr/>
          <p:nvPr/>
        </p:nvSpPr>
        <p:spPr>
          <a:xfrm flipH="false" flipV="false" rot="0">
            <a:off x="16323174" y="6344492"/>
            <a:ext cx="423744" cy="334010"/>
          </a:xfrm>
          <a:custGeom>
            <a:avLst/>
            <a:gdLst/>
            <a:ahLst/>
            <a:cxnLst/>
            <a:rect r="r" b="b" t="t" l="l"/>
            <a:pathLst>
              <a:path h="334010" w="423744">
                <a:moveTo>
                  <a:pt x="0" y="0"/>
                </a:moveTo>
                <a:lnTo>
                  <a:pt x="423744" y="0"/>
                </a:lnTo>
                <a:lnTo>
                  <a:pt x="423744" y="334010"/>
                </a:lnTo>
                <a:lnTo>
                  <a:pt x="0" y="3340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2484000">
            <a:off x="8541915" y="10604944"/>
            <a:ext cx="15613996" cy="4079156"/>
          </a:xfrm>
          <a:custGeom>
            <a:avLst/>
            <a:gdLst/>
            <a:ahLst/>
            <a:cxnLst/>
            <a:rect r="r" b="b" t="t" l="l"/>
            <a:pathLst>
              <a:path h="4079156" w="15613996">
                <a:moveTo>
                  <a:pt x="15613996" y="0"/>
                </a:moveTo>
                <a:lnTo>
                  <a:pt x="0" y="0"/>
                </a:lnTo>
                <a:lnTo>
                  <a:pt x="0" y="4079157"/>
                </a:lnTo>
                <a:lnTo>
                  <a:pt x="15613996" y="4079157"/>
                </a:lnTo>
                <a:lnTo>
                  <a:pt x="15613996"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10795831" y="-2151101"/>
            <a:ext cx="1128067" cy="15855350"/>
            <a:chOff x="0" y="0"/>
            <a:chExt cx="297104" cy="4175895"/>
          </a:xfrm>
        </p:grpSpPr>
        <p:sp>
          <p:nvSpPr>
            <p:cNvPr name="Freeform 4" id="4"/>
            <p:cNvSpPr/>
            <p:nvPr/>
          </p:nvSpPr>
          <p:spPr>
            <a:xfrm flipH="false" flipV="false" rot="0">
              <a:off x="0" y="0"/>
              <a:ext cx="297104" cy="4175895"/>
            </a:xfrm>
            <a:custGeom>
              <a:avLst/>
              <a:gdLst/>
              <a:ahLst/>
              <a:cxnLst/>
              <a:rect r="r" b="b" t="t" l="l"/>
              <a:pathLst>
                <a:path h="4175895" w="297104">
                  <a:moveTo>
                    <a:pt x="0" y="0"/>
                  </a:moveTo>
                  <a:lnTo>
                    <a:pt x="297104" y="0"/>
                  </a:lnTo>
                  <a:lnTo>
                    <a:pt x="297104" y="4175895"/>
                  </a:lnTo>
                  <a:lnTo>
                    <a:pt x="0" y="4175895"/>
                  </a:ln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5" id="5"/>
            <p:cNvSpPr txBox="true"/>
            <p:nvPr/>
          </p:nvSpPr>
          <p:spPr>
            <a:xfrm>
              <a:off x="0" y="-38100"/>
              <a:ext cx="297104" cy="42139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0" y="-932637"/>
            <a:ext cx="11408609" cy="12152274"/>
            <a:chOff x="0" y="0"/>
            <a:chExt cx="5325529" cy="5672671"/>
          </a:xfrm>
        </p:grpSpPr>
        <p:sp>
          <p:nvSpPr>
            <p:cNvPr name="Freeform 7" id="7"/>
            <p:cNvSpPr/>
            <p:nvPr/>
          </p:nvSpPr>
          <p:spPr>
            <a:xfrm flipH="false" flipV="false" rot="0">
              <a:off x="0" y="0"/>
              <a:ext cx="5325491" cy="5672709"/>
            </a:xfrm>
            <a:custGeom>
              <a:avLst/>
              <a:gdLst/>
              <a:ahLst/>
              <a:cxnLst/>
              <a:rect r="r" b="b" t="t" l="l"/>
              <a:pathLst>
                <a:path h="5672709" w="5325491">
                  <a:moveTo>
                    <a:pt x="0" y="0"/>
                  </a:moveTo>
                  <a:lnTo>
                    <a:pt x="0" y="5672709"/>
                  </a:lnTo>
                  <a:lnTo>
                    <a:pt x="5325491" y="5672709"/>
                  </a:lnTo>
                  <a:lnTo>
                    <a:pt x="0" y="0"/>
                  </a:lnTo>
                  <a:close/>
                </a:path>
              </a:pathLst>
            </a:custGeom>
            <a:blipFill>
              <a:blip r:embed="rId4"/>
              <a:stretch>
                <a:fillRect l="-29939" t="0" r="-29939" b="0"/>
              </a:stretch>
            </a:blipFill>
          </p:spPr>
        </p:sp>
      </p:grpSp>
      <p:grpSp>
        <p:nvGrpSpPr>
          <p:cNvPr name="Group 8" id="8"/>
          <p:cNvGrpSpPr/>
          <p:nvPr/>
        </p:nvGrpSpPr>
        <p:grpSpPr>
          <a:xfrm rot="-2612396">
            <a:off x="6128633" y="-3006422"/>
            <a:ext cx="1291100" cy="18309165"/>
            <a:chOff x="0" y="0"/>
            <a:chExt cx="340043" cy="4822167"/>
          </a:xfrm>
        </p:grpSpPr>
        <p:sp>
          <p:nvSpPr>
            <p:cNvPr name="Freeform 9" id="9"/>
            <p:cNvSpPr/>
            <p:nvPr/>
          </p:nvSpPr>
          <p:spPr>
            <a:xfrm flipH="false" flipV="false" rot="0">
              <a:off x="0" y="0"/>
              <a:ext cx="340043" cy="4822167"/>
            </a:xfrm>
            <a:custGeom>
              <a:avLst/>
              <a:gdLst/>
              <a:ahLst/>
              <a:cxnLst/>
              <a:rect r="r" b="b" t="t" l="l"/>
              <a:pathLst>
                <a:path h="4822167" w="340043">
                  <a:moveTo>
                    <a:pt x="0" y="0"/>
                  </a:moveTo>
                  <a:lnTo>
                    <a:pt x="340043" y="0"/>
                  </a:lnTo>
                  <a:lnTo>
                    <a:pt x="340043" y="4822167"/>
                  </a:lnTo>
                  <a:lnTo>
                    <a:pt x="0" y="4822167"/>
                  </a:ln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10" id="10"/>
            <p:cNvSpPr txBox="true"/>
            <p:nvPr/>
          </p:nvSpPr>
          <p:spPr>
            <a:xfrm>
              <a:off x="0" y="-38100"/>
              <a:ext cx="340043" cy="4860267"/>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true" flipV="false" rot="0">
            <a:off x="2679593" y="1929995"/>
            <a:ext cx="6049424" cy="6427011"/>
          </a:xfrm>
          <a:custGeom>
            <a:avLst/>
            <a:gdLst/>
            <a:ahLst/>
            <a:cxnLst/>
            <a:rect r="r" b="b" t="t" l="l"/>
            <a:pathLst>
              <a:path h="6427011" w="6049424">
                <a:moveTo>
                  <a:pt x="6049424" y="0"/>
                </a:moveTo>
                <a:lnTo>
                  <a:pt x="0" y="0"/>
                </a:lnTo>
                <a:lnTo>
                  <a:pt x="0" y="6427010"/>
                </a:lnTo>
                <a:lnTo>
                  <a:pt x="6049424" y="6427010"/>
                </a:lnTo>
                <a:lnTo>
                  <a:pt x="6049424"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3432189" y="2871384"/>
            <a:ext cx="4544232" cy="454423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6" t="0" r="-25046" b="0"/>
              </a:stretch>
            </a:blipFill>
          </p:spPr>
        </p:sp>
      </p:grpSp>
      <p:sp>
        <p:nvSpPr>
          <p:cNvPr name="TextBox 14" id="14"/>
          <p:cNvSpPr txBox="true"/>
          <p:nvPr/>
        </p:nvSpPr>
        <p:spPr>
          <a:xfrm rot="0">
            <a:off x="9144000" y="2327544"/>
            <a:ext cx="8115300" cy="2261359"/>
          </a:xfrm>
          <a:prstGeom prst="rect">
            <a:avLst/>
          </a:prstGeom>
        </p:spPr>
        <p:txBody>
          <a:bodyPr anchor="t" rtlCol="false" tIns="0" lIns="0" bIns="0" rIns="0">
            <a:spAutoFit/>
          </a:bodyPr>
          <a:lstStyle/>
          <a:p>
            <a:pPr algn="r">
              <a:lnSpc>
                <a:spcPts val="8915"/>
              </a:lnSpc>
            </a:pPr>
            <a:r>
              <a:rPr lang="en-US" b="true" sz="7429" spc="-156">
                <a:solidFill>
                  <a:srgbClr val="0F5995"/>
                </a:solidFill>
                <a:latin typeface="Open Sauce Heavy"/>
                <a:ea typeface="Open Sauce Heavy"/>
                <a:cs typeface="Open Sauce Heavy"/>
                <a:sym typeface="Open Sauce Heavy"/>
              </a:rPr>
              <a:t>Question And Answer Session</a:t>
            </a:r>
          </a:p>
        </p:txBody>
      </p:sp>
      <p:sp>
        <p:nvSpPr>
          <p:cNvPr name="Freeform 15" id="15"/>
          <p:cNvSpPr/>
          <p:nvPr/>
        </p:nvSpPr>
        <p:spPr>
          <a:xfrm flipH="false" flipV="false" rot="0">
            <a:off x="7319551" y="951572"/>
            <a:ext cx="656870" cy="656870"/>
          </a:xfrm>
          <a:custGeom>
            <a:avLst/>
            <a:gdLst/>
            <a:ahLst/>
            <a:cxnLst/>
            <a:rect r="r" b="b" t="t" l="l"/>
            <a:pathLst>
              <a:path h="656870" w="656870">
                <a:moveTo>
                  <a:pt x="0" y="0"/>
                </a:moveTo>
                <a:lnTo>
                  <a:pt x="656870" y="0"/>
                </a:lnTo>
                <a:lnTo>
                  <a:pt x="656870" y="656870"/>
                </a:lnTo>
                <a:lnTo>
                  <a:pt x="0" y="6568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0029553" y="2569422"/>
            <a:ext cx="656870" cy="656870"/>
          </a:xfrm>
          <a:custGeom>
            <a:avLst/>
            <a:gdLst/>
            <a:ahLst/>
            <a:cxnLst/>
            <a:rect r="r" b="b" t="t" l="l"/>
            <a:pathLst>
              <a:path h="656870" w="656870">
                <a:moveTo>
                  <a:pt x="0" y="0"/>
                </a:moveTo>
                <a:lnTo>
                  <a:pt x="656870" y="0"/>
                </a:lnTo>
                <a:lnTo>
                  <a:pt x="656870" y="656870"/>
                </a:lnTo>
                <a:lnTo>
                  <a:pt x="0" y="6568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7" id="17"/>
          <p:cNvGrpSpPr/>
          <p:nvPr/>
        </p:nvGrpSpPr>
        <p:grpSpPr>
          <a:xfrm rot="-8100000">
            <a:off x="-1113178" y="-4917156"/>
            <a:ext cx="4584947" cy="9887645"/>
            <a:chOff x="0" y="0"/>
            <a:chExt cx="1207558" cy="2604153"/>
          </a:xfrm>
        </p:grpSpPr>
        <p:sp>
          <p:nvSpPr>
            <p:cNvPr name="Freeform 18" id="18"/>
            <p:cNvSpPr/>
            <p:nvPr/>
          </p:nvSpPr>
          <p:spPr>
            <a:xfrm flipH="false" flipV="false" rot="0">
              <a:off x="0" y="0"/>
              <a:ext cx="1207558" cy="2604153"/>
            </a:xfrm>
            <a:custGeom>
              <a:avLst/>
              <a:gdLst/>
              <a:ahLst/>
              <a:cxnLst/>
              <a:rect r="r" b="b" t="t" l="l"/>
              <a:pathLst>
                <a:path h="2604153" w="1207558">
                  <a:moveTo>
                    <a:pt x="0" y="0"/>
                  </a:moveTo>
                  <a:lnTo>
                    <a:pt x="1207558" y="0"/>
                  </a:lnTo>
                  <a:lnTo>
                    <a:pt x="1207558" y="2604153"/>
                  </a:lnTo>
                  <a:lnTo>
                    <a:pt x="0" y="2604153"/>
                  </a:lnTo>
                  <a:close/>
                </a:path>
              </a:pathLst>
            </a:custGeom>
            <a:gradFill rotWithShape="true">
              <a:gsLst>
                <a:gs pos="0">
                  <a:srgbClr val="0B5285">
                    <a:alpha val="100000"/>
                  </a:srgbClr>
                </a:gs>
                <a:gs pos="50000">
                  <a:srgbClr val="0B5285">
                    <a:alpha val="71000"/>
                  </a:srgbClr>
                </a:gs>
                <a:gs pos="100000">
                  <a:srgbClr val="0B51AE">
                    <a:alpha val="0"/>
                  </a:srgbClr>
                </a:gs>
              </a:gsLst>
              <a:lin ang="5400000"/>
            </a:gradFill>
          </p:spPr>
        </p:sp>
        <p:sp>
          <p:nvSpPr>
            <p:cNvPr name="TextBox 19" id="19"/>
            <p:cNvSpPr txBox="true"/>
            <p:nvPr/>
          </p:nvSpPr>
          <p:spPr>
            <a:xfrm>
              <a:off x="0" y="-38100"/>
              <a:ext cx="1207558" cy="264225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8100000">
            <a:off x="-550618" y="-3627283"/>
            <a:ext cx="3158636" cy="6487180"/>
            <a:chOff x="0" y="0"/>
            <a:chExt cx="831904" cy="1708558"/>
          </a:xfrm>
        </p:grpSpPr>
        <p:sp>
          <p:nvSpPr>
            <p:cNvPr name="Freeform 21" id="21"/>
            <p:cNvSpPr/>
            <p:nvPr/>
          </p:nvSpPr>
          <p:spPr>
            <a:xfrm flipH="false" flipV="false" rot="0">
              <a:off x="0" y="0"/>
              <a:ext cx="831904" cy="1708558"/>
            </a:xfrm>
            <a:custGeom>
              <a:avLst/>
              <a:gdLst/>
              <a:ahLst/>
              <a:cxnLst/>
              <a:rect r="r" b="b" t="t" l="l"/>
              <a:pathLst>
                <a:path h="1708558" w="831904">
                  <a:moveTo>
                    <a:pt x="0" y="0"/>
                  </a:moveTo>
                  <a:lnTo>
                    <a:pt x="831904" y="0"/>
                  </a:lnTo>
                  <a:lnTo>
                    <a:pt x="831904" y="1708558"/>
                  </a:lnTo>
                  <a:lnTo>
                    <a:pt x="0" y="1708558"/>
                  </a:lnTo>
                  <a:close/>
                </a:path>
              </a:pathLst>
            </a:custGeom>
            <a:gradFill rotWithShape="true">
              <a:gsLst>
                <a:gs pos="0">
                  <a:srgbClr val="FFFFFF">
                    <a:alpha val="100000"/>
                  </a:srgbClr>
                </a:gs>
                <a:gs pos="50000">
                  <a:srgbClr val="FFFFFF">
                    <a:alpha val="71000"/>
                  </a:srgbClr>
                </a:gs>
                <a:gs pos="100000">
                  <a:srgbClr val="0B51AE">
                    <a:alpha val="0"/>
                  </a:srgbClr>
                </a:gs>
              </a:gsLst>
              <a:lin ang="5400000"/>
            </a:gradFill>
          </p:spPr>
        </p:sp>
        <p:sp>
          <p:nvSpPr>
            <p:cNvPr name="TextBox 22" id="22"/>
            <p:cNvSpPr txBox="true"/>
            <p:nvPr/>
          </p:nvSpPr>
          <p:spPr>
            <a:xfrm>
              <a:off x="0" y="-38100"/>
              <a:ext cx="831904" cy="1746658"/>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1843172" y="1929995"/>
            <a:ext cx="2595839" cy="2592594"/>
          </a:xfrm>
          <a:custGeom>
            <a:avLst/>
            <a:gdLst/>
            <a:ahLst/>
            <a:cxnLst/>
            <a:rect r="r" b="b" t="t" l="l"/>
            <a:pathLst>
              <a:path h="2592594" w="2595839">
                <a:moveTo>
                  <a:pt x="0" y="0"/>
                </a:moveTo>
                <a:lnTo>
                  <a:pt x="2595839" y="0"/>
                </a:lnTo>
                <a:lnTo>
                  <a:pt x="2595839" y="2592594"/>
                </a:lnTo>
                <a:lnTo>
                  <a:pt x="0" y="2592594"/>
                </a:lnTo>
                <a:lnTo>
                  <a:pt x="0" y="0"/>
                </a:lnTo>
                <a:close/>
              </a:path>
            </a:pathLst>
          </a:custGeom>
          <a:blipFill>
            <a:blip r:embed="rId10"/>
            <a:stretch>
              <a:fillRect l="0" t="0" r="0" b="0"/>
            </a:stretch>
          </a:blipFill>
        </p:spPr>
      </p:sp>
      <p:sp>
        <p:nvSpPr>
          <p:cNvPr name="Freeform 24" id="24"/>
          <p:cNvSpPr/>
          <p:nvPr/>
        </p:nvSpPr>
        <p:spPr>
          <a:xfrm flipH="false" flipV="false" rot="0">
            <a:off x="6548161" y="6072028"/>
            <a:ext cx="2595839" cy="2592594"/>
          </a:xfrm>
          <a:custGeom>
            <a:avLst/>
            <a:gdLst/>
            <a:ahLst/>
            <a:cxnLst/>
            <a:rect r="r" b="b" t="t" l="l"/>
            <a:pathLst>
              <a:path h="2592594" w="2595839">
                <a:moveTo>
                  <a:pt x="0" y="0"/>
                </a:moveTo>
                <a:lnTo>
                  <a:pt x="2595839" y="0"/>
                </a:lnTo>
                <a:lnTo>
                  <a:pt x="2595839" y="2592594"/>
                </a:lnTo>
                <a:lnTo>
                  <a:pt x="0" y="2592594"/>
                </a:lnTo>
                <a:lnTo>
                  <a:pt x="0" y="0"/>
                </a:lnTo>
                <a:close/>
              </a:path>
            </a:pathLst>
          </a:custGeom>
          <a:blipFill>
            <a:blip r:embed="rId10"/>
            <a:stretch>
              <a:fillRect l="0" t="0" r="0" b="0"/>
            </a:stretch>
          </a:blipFill>
        </p:spPr>
      </p:sp>
      <p:sp>
        <p:nvSpPr>
          <p:cNvPr name="TextBox 25" id="25"/>
          <p:cNvSpPr txBox="true"/>
          <p:nvPr/>
        </p:nvSpPr>
        <p:spPr>
          <a:xfrm rot="0">
            <a:off x="10029553" y="5408053"/>
            <a:ext cx="7229747" cy="663975"/>
          </a:xfrm>
          <a:prstGeom prst="rect">
            <a:avLst/>
          </a:prstGeom>
        </p:spPr>
        <p:txBody>
          <a:bodyPr anchor="t" rtlCol="false" tIns="0" lIns="0" bIns="0" rIns="0">
            <a:spAutoFit/>
          </a:bodyPr>
          <a:lstStyle/>
          <a:p>
            <a:pPr algn="r">
              <a:lnSpc>
                <a:spcPts val="5402"/>
              </a:lnSpc>
              <a:spcBef>
                <a:spcPct val="0"/>
              </a:spcBef>
            </a:pPr>
            <a:r>
              <a:rPr lang="en-US" b="true" sz="3859">
                <a:solidFill>
                  <a:srgbClr val="FFFFFF"/>
                </a:solidFill>
                <a:latin typeface="Open Sauce Bold"/>
                <a:ea typeface="Open Sauce Bold"/>
                <a:cs typeface="Open Sauce Bold"/>
                <a:sym typeface="Open Sauce Bold"/>
              </a:rPr>
              <a:t>Thank You For Your Attention</a:t>
            </a:r>
          </a:p>
        </p:txBody>
      </p:sp>
      <p:grpSp>
        <p:nvGrpSpPr>
          <p:cNvPr name="Group 26" id="26"/>
          <p:cNvGrpSpPr/>
          <p:nvPr/>
        </p:nvGrpSpPr>
        <p:grpSpPr>
          <a:xfrm rot="0">
            <a:off x="7641488" y="6806670"/>
            <a:ext cx="9894055" cy="1867603"/>
            <a:chOff x="0" y="0"/>
            <a:chExt cx="13192073" cy="2490137"/>
          </a:xfrm>
        </p:grpSpPr>
        <p:sp>
          <p:nvSpPr>
            <p:cNvPr name="Freeform 27" id="27"/>
            <p:cNvSpPr/>
            <p:nvPr/>
          </p:nvSpPr>
          <p:spPr>
            <a:xfrm flipH="false" flipV="false" rot="0">
              <a:off x="6600254" y="0"/>
              <a:ext cx="643745" cy="643745"/>
            </a:xfrm>
            <a:custGeom>
              <a:avLst/>
              <a:gdLst/>
              <a:ahLst/>
              <a:cxnLst/>
              <a:rect r="r" b="b" t="t" l="l"/>
              <a:pathLst>
                <a:path h="643745" w="643745">
                  <a:moveTo>
                    <a:pt x="0" y="0"/>
                  </a:moveTo>
                  <a:lnTo>
                    <a:pt x="643745" y="0"/>
                  </a:lnTo>
                  <a:lnTo>
                    <a:pt x="643745" y="643745"/>
                  </a:lnTo>
                  <a:lnTo>
                    <a:pt x="0" y="6437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8" id="28"/>
            <p:cNvSpPr/>
            <p:nvPr/>
          </p:nvSpPr>
          <p:spPr>
            <a:xfrm flipH="false" flipV="false" rot="0">
              <a:off x="6600254" y="918045"/>
              <a:ext cx="643745" cy="643745"/>
            </a:xfrm>
            <a:custGeom>
              <a:avLst/>
              <a:gdLst/>
              <a:ahLst/>
              <a:cxnLst/>
              <a:rect r="r" b="b" t="t" l="l"/>
              <a:pathLst>
                <a:path h="643745" w="643745">
                  <a:moveTo>
                    <a:pt x="0" y="0"/>
                  </a:moveTo>
                  <a:lnTo>
                    <a:pt x="643745" y="0"/>
                  </a:lnTo>
                  <a:lnTo>
                    <a:pt x="643745" y="643745"/>
                  </a:lnTo>
                  <a:lnTo>
                    <a:pt x="0" y="6437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9" id="29"/>
            <p:cNvSpPr/>
            <p:nvPr/>
          </p:nvSpPr>
          <p:spPr>
            <a:xfrm flipH="false" flipV="false" rot="0">
              <a:off x="6607919" y="1841190"/>
              <a:ext cx="636080" cy="636080"/>
            </a:xfrm>
            <a:custGeom>
              <a:avLst/>
              <a:gdLst/>
              <a:ahLst/>
              <a:cxnLst/>
              <a:rect r="r" b="b" t="t" l="l"/>
              <a:pathLst>
                <a:path h="636080" w="636080">
                  <a:moveTo>
                    <a:pt x="0" y="0"/>
                  </a:moveTo>
                  <a:lnTo>
                    <a:pt x="636080" y="0"/>
                  </a:lnTo>
                  <a:lnTo>
                    <a:pt x="636080" y="636079"/>
                  </a:lnTo>
                  <a:lnTo>
                    <a:pt x="0" y="6360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0" id="30"/>
            <p:cNvSpPr txBox="true"/>
            <p:nvPr/>
          </p:nvSpPr>
          <p:spPr>
            <a:xfrm rot="0">
              <a:off x="8663" y="23160"/>
              <a:ext cx="6416584" cy="461708"/>
            </a:xfrm>
            <a:prstGeom prst="rect">
              <a:avLst/>
            </a:prstGeom>
          </p:spPr>
          <p:txBody>
            <a:bodyPr anchor="t" rtlCol="false" tIns="0" lIns="0" bIns="0" rIns="0">
              <a:spAutoFit/>
            </a:bodyPr>
            <a:lstStyle/>
            <a:p>
              <a:pPr algn="r">
                <a:lnSpc>
                  <a:spcPts val="2936"/>
                </a:lnSpc>
                <a:spcBef>
                  <a:spcPct val="0"/>
                </a:spcBef>
              </a:pPr>
              <a:r>
                <a:rPr lang="en-US" sz="2097">
                  <a:solidFill>
                    <a:srgbClr val="000000"/>
                  </a:solidFill>
                  <a:latin typeface="Now"/>
                  <a:ea typeface="Now"/>
                  <a:cs typeface="Now"/>
                  <a:sym typeface="Now"/>
                </a:rPr>
                <a:t>www.infologia.in</a:t>
              </a:r>
            </a:p>
          </p:txBody>
        </p:sp>
        <p:sp>
          <p:nvSpPr>
            <p:cNvPr name="TextBox 31" id="31"/>
            <p:cNvSpPr txBox="true"/>
            <p:nvPr/>
          </p:nvSpPr>
          <p:spPr>
            <a:xfrm rot="0">
              <a:off x="0" y="1856702"/>
              <a:ext cx="6425247" cy="462280"/>
            </a:xfrm>
            <a:prstGeom prst="rect">
              <a:avLst/>
            </a:prstGeom>
          </p:spPr>
          <p:txBody>
            <a:bodyPr anchor="t" rtlCol="false" tIns="0" lIns="0" bIns="0" rIns="0">
              <a:spAutoFit/>
            </a:bodyPr>
            <a:lstStyle/>
            <a:p>
              <a:pPr algn="r">
                <a:lnSpc>
                  <a:spcPts val="2940"/>
                </a:lnSpc>
                <a:spcBef>
                  <a:spcPct val="0"/>
                </a:spcBef>
              </a:pPr>
              <a:r>
                <a:rPr lang="en-US" sz="2100">
                  <a:solidFill>
                    <a:srgbClr val="000000"/>
                  </a:solidFill>
                  <a:latin typeface="Now"/>
                  <a:ea typeface="Now"/>
                  <a:cs typeface="Now"/>
                  <a:sym typeface="Now"/>
                </a:rPr>
                <a:t>info@infologia.in</a:t>
              </a:r>
            </a:p>
          </p:txBody>
        </p:sp>
        <p:sp>
          <p:nvSpPr>
            <p:cNvPr name="AutoShape 32" id="32"/>
            <p:cNvSpPr/>
            <p:nvPr/>
          </p:nvSpPr>
          <p:spPr>
            <a:xfrm flipV="true">
              <a:off x="7736840" y="12868"/>
              <a:ext cx="0" cy="2477269"/>
            </a:xfrm>
            <a:prstGeom prst="line">
              <a:avLst/>
            </a:prstGeom>
            <a:ln cap="flat" w="50800">
              <a:solidFill>
                <a:srgbClr val="004E7A"/>
              </a:solidFill>
              <a:prstDash val="solid"/>
              <a:headEnd type="none" len="sm" w="sm"/>
              <a:tailEnd type="none" len="sm" w="sm"/>
            </a:ln>
          </p:spPr>
        </p:sp>
        <p:sp>
          <p:nvSpPr>
            <p:cNvPr name="Freeform 33" id="33"/>
            <p:cNvSpPr/>
            <p:nvPr/>
          </p:nvSpPr>
          <p:spPr>
            <a:xfrm flipH="false" flipV="false" rot="0">
              <a:off x="8297847" y="943988"/>
              <a:ext cx="643745" cy="643745"/>
            </a:xfrm>
            <a:custGeom>
              <a:avLst/>
              <a:gdLst/>
              <a:ahLst/>
              <a:cxnLst/>
              <a:rect r="r" b="b" t="t" l="l"/>
              <a:pathLst>
                <a:path h="643745" w="643745">
                  <a:moveTo>
                    <a:pt x="0" y="0"/>
                  </a:moveTo>
                  <a:lnTo>
                    <a:pt x="643745" y="0"/>
                  </a:lnTo>
                  <a:lnTo>
                    <a:pt x="643745" y="643745"/>
                  </a:lnTo>
                  <a:lnTo>
                    <a:pt x="0" y="6437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4" id="34"/>
            <p:cNvSpPr/>
            <p:nvPr/>
          </p:nvSpPr>
          <p:spPr>
            <a:xfrm flipH="false" flipV="false" rot="0">
              <a:off x="8255080" y="0"/>
              <a:ext cx="686512" cy="686512"/>
            </a:xfrm>
            <a:custGeom>
              <a:avLst/>
              <a:gdLst/>
              <a:ahLst/>
              <a:cxnLst/>
              <a:rect r="r" b="b" t="t" l="l"/>
              <a:pathLst>
                <a:path h="686512" w="686512">
                  <a:moveTo>
                    <a:pt x="0" y="0"/>
                  </a:moveTo>
                  <a:lnTo>
                    <a:pt x="686512" y="0"/>
                  </a:lnTo>
                  <a:lnTo>
                    <a:pt x="686512" y="686512"/>
                  </a:lnTo>
                  <a:lnTo>
                    <a:pt x="0" y="68651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35" id="35"/>
            <p:cNvSpPr txBox="true"/>
            <p:nvPr/>
          </p:nvSpPr>
          <p:spPr>
            <a:xfrm rot="0">
              <a:off x="2637691" y="940632"/>
              <a:ext cx="3787556" cy="462280"/>
            </a:xfrm>
            <a:prstGeom prst="rect">
              <a:avLst/>
            </a:prstGeom>
          </p:spPr>
          <p:txBody>
            <a:bodyPr anchor="t" rtlCol="false" tIns="0" lIns="0" bIns="0" rIns="0">
              <a:spAutoFit/>
            </a:bodyPr>
            <a:lstStyle/>
            <a:p>
              <a:pPr algn="r">
                <a:lnSpc>
                  <a:spcPts val="2940"/>
                </a:lnSpc>
                <a:spcBef>
                  <a:spcPct val="0"/>
                </a:spcBef>
              </a:pPr>
              <a:r>
                <a:rPr lang="en-US" sz="2100">
                  <a:solidFill>
                    <a:srgbClr val="000000"/>
                  </a:solidFill>
                  <a:latin typeface="Now"/>
                  <a:ea typeface="Now"/>
                  <a:cs typeface="Now"/>
                  <a:sym typeface="Now"/>
                </a:rPr>
                <a:t>+91 4435558065</a:t>
              </a:r>
            </a:p>
          </p:txBody>
        </p:sp>
        <p:sp>
          <p:nvSpPr>
            <p:cNvPr name="TextBox 36" id="36"/>
            <p:cNvSpPr txBox="true"/>
            <p:nvPr/>
          </p:nvSpPr>
          <p:spPr>
            <a:xfrm rot="0">
              <a:off x="9482775" y="-12352"/>
              <a:ext cx="3275416" cy="957676"/>
            </a:xfrm>
            <a:prstGeom prst="rect">
              <a:avLst/>
            </a:prstGeom>
          </p:spPr>
          <p:txBody>
            <a:bodyPr anchor="t" rtlCol="false" tIns="0" lIns="0" bIns="0" rIns="0">
              <a:spAutoFit/>
            </a:bodyPr>
            <a:lstStyle/>
            <a:p>
              <a:pPr algn="just">
                <a:lnSpc>
                  <a:spcPts val="2936"/>
                </a:lnSpc>
              </a:pPr>
              <a:r>
                <a:rPr lang="en-US" sz="2097">
                  <a:solidFill>
                    <a:srgbClr val="000000"/>
                  </a:solidFill>
                  <a:latin typeface="Now"/>
                  <a:ea typeface="Now"/>
                  <a:cs typeface="Now"/>
                  <a:sym typeface="Now"/>
                </a:rPr>
                <a:t>Naresh Arumugam</a:t>
              </a:r>
            </a:p>
            <a:p>
              <a:pPr algn="just">
                <a:lnSpc>
                  <a:spcPts val="2936"/>
                </a:lnSpc>
                <a:spcBef>
                  <a:spcPct val="0"/>
                </a:spcBef>
              </a:pPr>
              <a:r>
                <a:rPr lang="en-US" sz="2097">
                  <a:solidFill>
                    <a:srgbClr val="000000"/>
                  </a:solidFill>
                  <a:latin typeface="Now"/>
                  <a:ea typeface="Now"/>
                  <a:cs typeface="Now"/>
                  <a:sym typeface="Now"/>
                </a:rPr>
                <a:t>D</a:t>
              </a:r>
              <a:r>
                <a:rPr lang="en-US" sz="2097">
                  <a:solidFill>
                    <a:srgbClr val="000000"/>
                  </a:solidFill>
                  <a:latin typeface="Now"/>
                  <a:ea typeface="Now"/>
                  <a:cs typeface="Now"/>
                  <a:sym typeface="Now"/>
                </a:rPr>
                <a:t>irector of Sales</a:t>
              </a:r>
            </a:p>
          </p:txBody>
        </p:sp>
        <p:sp>
          <p:nvSpPr>
            <p:cNvPr name="TextBox 37" id="37"/>
            <p:cNvSpPr txBox="true"/>
            <p:nvPr/>
          </p:nvSpPr>
          <p:spPr>
            <a:xfrm rot="0">
              <a:off x="9404517" y="989727"/>
              <a:ext cx="3787556" cy="957580"/>
            </a:xfrm>
            <a:prstGeom prst="rect">
              <a:avLst/>
            </a:prstGeom>
          </p:spPr>
          <p:txBody>
            <a:bodyPr anchor="t" rtlCol="false" tIns="0" lIns="0" bIns="0" rIns="0">
              <a:spAutoFit/>
            </a:bodyPr>
            <a:lstStyle/>
            <a:p>
              <a:pPr algn="just">
                <a:lnSpc>
                  <a:spcPts val="2940"/>
                </a:lnSpc>
                <a:spcBef>
                  <a:spcPct val="0"/>
                </a:spcBef>
              </a:pPr>
              <a:r>
                <a:rPr lang="en-US" sz="2100">
                  <a:solidFill>
                    <a:srgbClr val="000000"/>
                  </a:solidFill>
                  <a:latin typeface="Now"/>
                  <a:ea typeface="Now"/>
                  <a:cs typeface="Now"/>
                  <a:sym typeface="Now"/>
                </a:rPr>
                <a:t>+91 9585777728 / 9962677728</a:t>
              </a:r>
            </a:p>
          </p:txBody>
        </p:sp>
        <p:sp>
          <p:nvSpPr>
            <p:cNvPr name="TextBox 38" id="38"/>
            <p:cNvSpPr txBox="true"/>
            <p:nvPr/>
          </p:nvSpPr>
          <p:spPr>
            <a:xfrm rot="0">
              <a:off x="9404517" y="1921907"/>
              <a:ext cx="3406532" cy="462280"/>
            </a:xfrm>
            <a:prstGeom prst="rect">
              <a:avLst/>
            </a:prstGeom>
          </p:spPr>
          <p:txBody>
            <a:bodyPr anchor="t" rtlCol="false" tIns="0" lIns="0" bIns="0" rIns="0">
              <a:spAutoFit/>
            </a:bodyPr>
            <a:lstStyle/>
            <a:p>
              <a:pPr algn="just">
                <a:lnSpc>
                  <a:spcPts val="2940"/>
                </a:lnSpc>
                <a:spcBef>
                  <a:spcPct val="0"/>
                </a:spcBef>
              </a:pPr>
              <a:r>
                <a:rPr lang="en-US" sz="2100">
                  <a:solidFill>
                    <a:srgbClr val="000000"/>
                  </a:solidFill>
                  <a:latin typeface="Now"/>
                  <a:ea typeface="Now"/>
                  <a:cs typeface="Now"/>
                  <a:sym typeface="Now"/>
                </a:rPr>
                <a:t>naresh@infologia.in</a:t>
              </a:r>
            </a:p>
          </p:txBody>
        </p:sp>
        <p:sp>
          <p:nvSpPr>
            <p:cNvPr name="Freeform 39" id="39"/>
            <p:cNvSpPr/>
            <p:nvPr/>
          </p:nvSpPr>
          <p:spPr>
            <a:xfrm flipH="false" flipV="false" rot="0">
              <a:off x="8305513" y="1854057"/>
              <a:ext cx="636080" cy="636080"/>
            </a:xfrm>
            <a:custGeom>
              <a:avLst/>
              <a:gdLst/>
              <a:ahLst/>
              <a:cxnLst/>
              <a:rect r="r" b="b" t="t" l="l"/>
              <a:pathLst>
                <a:path h="636080" w="636080">
                  <a:moveTo>
                    <a:pt x="0" y="0"/>
                  </a:moveTo>
                  <a:lnTo>
                    <a:pt x="636079" y="0"/>
                  </a:lnTo>
                  <a:lnTo>
                    <a:pt x="636079" y="636080"/>
                  </a:lnTo>
                  <a:lnTo>
                    <a:pt x="0" y="63608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DAGz9P_2VeU</dc:identifier>
  <dcterms:modified xsi:type="dcterms:W3CDTF">2011-08-01T06:04:30Z</dcterms:modified>
  <cp:revision>1</cp:revision>
  <dc:title>SITS Product document</dc:title>
</cp:coreProperties>
</file>